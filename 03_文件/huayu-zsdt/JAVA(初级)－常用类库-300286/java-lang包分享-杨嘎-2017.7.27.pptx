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302" r:id="rId3"/>
    <p:sldId id="283" r:id="rId4"/>
    <p:sldId id="284" r:id="rId5"/>
    <p:sldId id="285" r:id="rId6"/>
    <p:sldId id="286" r:id="rId7"/>
    <p:sldId id="287" r:id="rId8"/>
    <p:sldId id="303" r:id="rId9"/>
    <p:sldId id="304" r:id="rId10"/>
    <p:sldId id="288" r:id="rId11"/>
    <p:sldId id="294" r:id="rId12"/>
    <p:sldId id="295" r:id="rId13"/>
    <p:sldId id="296" r:id="rId14"/>
    <p:sldId id="292" r:id="rId15"/>
    <p:sldId id="293" r:id="rId16"/>
    <p:sldId id="291" r:id="rId17"/>
    <p:sldId id="297" r:id="rId18"/>
    <p:sldId id="298" r:id="rId19"/>
    <p:sldId id="299" r:id="rId20"/>
    <p:sldId id="300" r:id="rId21"/>
    <p:sldId id="301" r:id="rId22"/>
    <p:sldId id="289" r:id="rId23"/>
    <p:sldId id="282" r:id="rId2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459">
          <p15:clr>
            <a:srgbClr val="A4A3A4"/>
          </p15:clr>
        </p15:guide>
        <p15:guide id="2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757"/>
    <a:srgbClr val="7ECEF4"/>
    <a:srgbClr val="0062AD"/>
    <a:srgbClr val="000000"/>
    <a:srgbClr val="66FFFF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2" autoAdjust="0"/>
    <p:restoredTop sz="92161" autoAdjust="0"/>
  </p:normalViewPr>
  <p:slideViewPr>
    <p:cSldViewPr showGuides="1">
      <p:cViewPr>
        <p:scale>
          <a:sx n="125" d="100"/>
          <a:sy n="125" d="100"/>
        </p:scale>
        <p:origin x="366" y="300"/>
      </p:cViewPr>
      <p:guideLst>
        <p:guide orient="horz" pos="459"/>
        <p:guide pos="521"/>
      </p:guideLst>
    </p:cSldViewPr>
  </p:slideViewPr>
  <p:outlineViewPr>
    <p:cViewPr>
      <p:scale>
        <a:sx n="33" d="100"/>
        <a:sy n="33" d="100"/>
      </p:scale>
      <p:origin x="84" y="219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43D383-601C-49DF-A412-49D6A837806B}" type="datetimeFigureOut">
              <a:rPr lang="zh-CN" altLang="en-US" smtClean="0"/>
              <a:pPr/>
              <a:t>2017/7/27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A752CB-F267-409C-B428-174C2912518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37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201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主要讲解的内容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642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java </a:t>
            </a:r>
            <a:r>
              <a:rPr lang="en-US" altLang="zh-CN" dirty="0" err="1" smtClean="0"/>
              <a:t>lang</a:t>
            </a:r>
            <a:r>
              <a:rPr lang="en-US" altLang="zh-CN" dirty="0" smtClean="0"/>
              <a:t> </a:t>
            </a:r>
            <a:r>
              <a:rPr lang="zh-CN" altLang="en-US" dirty="0" smtClean="0"/>
              <a:t>概览  引用类型：类、接口、数组</a:t>
            </a:r>
            <a:r>
              <a:rPr lang="zh-CN" altLang="en-US" baseline="0" dirty="0" smtClean="0"/>
              <a:t>   基本数据类型：</a:t>
            </a:r>
            <a:r>
              <a:rPr lang="en-US" altLang="zh-CN" baseline="0" dirty="0" err="1" smtClean="0"/>
              <a:t>boolean</a:t>
            </a:r>
            <a:r>
              <a:rPr lang="en-US" altLang="zh-CN" baseline="0" dirty="0" smtClean="0"/>
              <a:t> char  byte short  long </a:t>
            </a:r>
            <a:r>
              <a:rPr lang="en-US" altLang="zh-CN" baseline="0" dirty="0" err="1" smtClean="0"/>
              <a:t>int</a:t>
            </a:r>
            <a:r>
              <a:rPr lang="en-US" altLang="zh-CN" baseline="0" dirty="0" smtClean="0"/>
              <a:t> float double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642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既然</a:t>
            </a:r>
            <a:r>
              <a:rPr lang="en-US" altLang="zh-CN" dirty="0" smtClean="0"/>
              <a:t>Object</a:t>
            </a:r>
            <a:r>
              <a:rPr lang="zh-CN" altLang="en-US" dirty="0" smtClean="0"/>
              <a:t>类是所有类的父类，在什么时候指派？</a:t>
            </a:r>
            <a:endParaRPr lang="en-US" altLang="zh-CN" dirty="0" smtClean="0"/>
          </a:p>
          <a:p>
            <a:r>
              <a:rPr lang="zh-CN" altLang="en-US" dirty="0" smtClean="0"/>
              <a:t>那么它是数组的父类</a:t>
            </a:r>
            <a:r>
              <a:rPr lang="zh-CN" altLang="en-US" baseline="0" dirty="0" smtClean="0"/>
              <a:t>吗？是接口的父类吗？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050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运行时类并不是说运行时类型发生了改变，而是能在运行时检测、操作对象的类，可以用</a:t>
            </a:r>
            <a:r>
              <a:rPr lang="en-US" altLang="zh-CN" dirty="0" err="1" smtClean="0"/>
              <a:t>getClass</a:t>
            </a:r>
            <a:r>
              <a:rPr lang="en-US" altLang="zh-CN" dirty="0" smtClean="0"/>
              <a:t>()</a:t>
            </a:r>
            <a:r>
              <a:rPr lang="zh-CN" altLang="en-US" dirty="0" smtClean="0"/>
              <a:t>获取一个对象的类，也可以由这个类生成新的实例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363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Class</a:t>
            </a:r>
            <a:r>
              <a:rPr lang="zh-CN" altLang="en-US" sz="1200" dirty="0" smtClean="0">
                <a:solidFill>
                  <a:schemeClr val="tx1"/>
                </a:solidFill>
              </a:rPr>
              <a:t>没有公有构造方法，程序是无法直接调用这个构造函数，只能通过</a:t>
            </a:r>
            <a:r>
              <a:rPr lang="en-US" altLang="zh-CN" sz="1200" dirty="0" smtClean="0">
                <a:solidFill>
                  <a:schemeClr val="tx1"/>
                </a:solidFill>
              </a:rPr>
              <a:t>JVM</a:t>
            </a:r>
            <a:r>
              <a:rPr lang="zh-CN" altLang="en-US" sz="1200" dirty="0" smtClean="0">
                <a:solidFill>
                  <a:schemeClr val="tx1"/>
                </a:solidFill>
              </a:rPr>
              <a:t>来调用它，构造一个</a:t>
            </a:r>
            <a:r>
              <a:rPr lang="en-US" altLang="zh-CN" sz="1200" dirty="0" smtClean="0">
                <a:solidFill>
                  <a:schemeClr val="tx1"/>
                </a:solidFill>
              </a:rPr>
              <a:t>Class</a:t>
            </a:r>
            <a:r>
              <a:rPr lang="zh-CN" altLang="en-US" sz="1200" dirty="0" smtClean="0">
                <a:solidFill>
                  <a:schemeClr val="tx1"/>
                </a:solidFill>
              </a:rPr>
              <a:t>实例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526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构造方法为私有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931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java</a:t>
            </a:r>
            <a:r>
              <a:rPr lang="zh-CN" altLang="en-US" dirty="0" smtClean="0"/>
              <a:t>会有一个字符串常量池，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在程序执行的时候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常量池会储存在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 Area,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而不是堆中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dirty="0" smtClean="0"/>
              <a:t>用于字符串的共享，字符串在连接</a:t>
            </a:r>
            <a:r>
              <a:rPr lang="en-US" altLang="zh-CN" dirty="0" smtClean="0"/>
              <a:t>”+”</a:t>
            </a:r>
            <a:r>
              <a:rPr lang="zh-CN" altLang="en-US" dirty="0" smtClean="0"/>
              <a:t>时，被优化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816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直接子类</a:t>
            </a:r>
            <a:r>
              <a:rPr lang="en-US" altLang="zh-CN" dirty="0" smtClean="0"/>
              <a:t>Error</a:t>
            </a:r>
            <a:r>
              <a:rPr lang="zh-CN" altLang="en-US" baseline="0" dirty="0" smtClean="0"/>
              <a:t>、</a:t>
            </a:r>
            <a:r>
              <a:rPr lang="en-US" altLang="zh-CN" baseline="0" dirty="0" smtClean="0"/>
              <a:t>Exception</a:t>
            </a:r>
            <a:r>
              <a:rPr lang="zh-CN" altLang="en-US" baseline="0" dirty="0" smtClean="0"/>
              <a:t>，</a:t>
            </a:r>
            <a:r>
              <a:rPr lang="en-US" altLang="zh-CN" baseline="0" dirty="0" smtClean="0"/>
              <a:t>Exception</a:t>
            </a:r>
            <a:r>
              <a:rPr lang="zh-CN" altLang="en-US" baseline="0" dirty="0" smtClean="0"/>
              <a:t>又派生出</a:t>
            </a:r>
            <a:r>
              <a:rPr lang="en-US" altLang="zh-CN" baseline="0" dirty="0" smtClean="0"/>
              <a:t>Runtime Exception</a:t>
            </a:r>
            <a:r>
              <a:rPr lang="zh-CN" altLang="en-US" baseline="0" dirty="0" smtClean="0"/>
              <a:t>和</a:t>
            </a:r>
            <a:r>
              <a:rPr lang="en-US" altLang="zh-CN" baseline="0" dirty="0" err="1" smtClean="0"/>
              <a:t>IOException</a:t>
            </a:r>
            <a:endParaRPr lang="en-US" altLang="zh-CN" dirty="0" smtClean="0"/>
          </a:p>
          <a:p>
            <a:r>
              <a:rPr lang="zh-CN" altLang="en-US" dirty="0" smtClean="0"/>
              <a:t>派生于</a:t>
            </a:r>
            <a:r>
              <a:rPr lang="en-US" altLang="zh-CN" dirty="0" err="1" smtClean="0"/>
              <a:t>RuntimeException</a:t>
            </a:r>
            <a:r>
              <a:rPr lang="en-US" altLang="zh-CN" dirty="0" smtClean="0"/>
              <a:t> </a:t>
            </a:r>
            <a:r>
              <a:rPr lang="zh-CN" altLang="en-US" dirty="0" smtClean="0"/>
              <a:t>包括：错误的类型装换、数据访问越界、空指针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165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什么情况下抛出异常</a:t>
            </a:r>
            <a:endParaRPr lang="en-US" altLang="zh-CN" dirty="0" smtClean="0"/>
          </a:p>
          <a:p>
            <a:r>
              <a:rPr lang="zh-CN" altLang="en-US" dirty="0" smtClean="0"/>
              <a:t>方法参数非法可能导致某个功能异常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7769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进程：每个运行中的程序就是一个进程</a:t>
            </a:r>
            <a:endParaRPr lang="en-US" altLang="zh-CN" dirty="0" smtClean="0"/>
          </a:p>
          <a:p>
            <a:r>
              <a:rPr lang="zh-CN" altLang="en-US" dirty="0" smtClean="0"/>
              <a:t>线程：线程是一个程序里边不同的执行路径</a:t>
            </a:r>
            <a:endParaRPr lang="en-US" altLang="zh-CN" dirty="0" smtClean="0"/>
          </a:p>
          <a:p>
            <a:r>
              <a:rPr lang="zh-CN" altLang="en-US" dirty="0" smtClean="0"/>
              <a:t>线程的实现：</a:t>
            </a:r>
            <a:r>
              <a:rPr lang="en-US" altLang="zh-CN" dirty="0" err="1" smtClean="0"/>
              <a:t>java.lang.Thread</a:t>
            </a:r>
            <a:r>
              <a:rPr lang="zh-CN" altLang="en-US" dirty="0" smtClean="0"/>
              <a:t>实现，每一个</a:t>
            </a:r>
            <a:r>
              <a:rPr lang="en-US" altLang="zh-CN" dirty="0" smtClean="0"/>
              <a:t>Thread</a:t>
            </a:r>
            <a:r>
              <a:rPr lang="zh-CN" altLang="en-US" dirty="0" smtClean="0"/>
              <a:t>对象代表一个新的线程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1304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线程同步案例分享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248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243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3"/>
          <p:cNvGrpSpPr>
            <a:grpSpLocks/>
          </p:cNvGrpSpPr>
          <p:nvPr userDrawn="1"/>
        </p:nvGrpSpPr>
        <p:grpSpPr bwMode="auto">
          <a:xfrm>
            <a:off x="-17463" y="2228850"/>
            <a:ext cx="9159876" cy="4171950"/>
            <a:chOff x="-26775" y="3348455"/>
            <a:chExt cx="14427135" cy="72000"/>
          </a:xfrm>
        </p:grpSpPr>
        <p:sp>
          <p:nvSpPr>
            <p:cNvPr id="17" name="矩形 14"/>
            <p:cNvSpPr>
              <a:spLocks noChangeArrowheads="1"/>
            </p:cNvSpPr>
            <p:nvPr userDrawn="1"/>
          </p:nvSpPr>
          <p:spPr bwMode="auto">
            <a:xfrm>
              <a:off x="382492" y="3348455"/>
              <a:ext cx="1305245" cy="72000"/>
            </a:xfrm>
            <a:prstGeom prst="rect">
              <a:avLst/>
            </a:prstGeom>
            <a:solidFill>
              <a:srgbClr val="00A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579438"/>
              <a:endParaRPr lang="zh-CN" altLang="en-US" sz="1300"/>
            </a:p>
          </p:txBody>
        </p:sp>
        <p:sp>
          <p:nvSpPr>
            <p:cNvPr id="19" name="矩形 15"/>
            <p:cNvSpPr>
              <a:spLocks noChangeArrowheads="1"/>
            </p:cNvSpPr>
            <p:nvPr userDrawn="1"/>
          </p:nvSpPr>
          <p:spPr bwMode="auto">
            <a:xfrm>
              <a:off x="1796795" y="3348455"/>
              <a:ext cx="1305245" cy="72000"/>
            </a:xfrm>
            <a:prstGeom prst="rect">
              <a:avLst/>
            </a:prstGeom>
            <a:solidFill>
              <a:srgbClr val="0062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579438"/>
              <a:endParaRPr lang="zh-CN" altLang="en-US" sz="1300"/>
            </a:p>
          </p:txBody>
        </p:sp>
        <p:sp>
          <p:nvSpPr>
            <p:cNvPr id="20" name="矩形 16"/>
            <p:cNvSpPr>
              <a:spLocks noChangeArrowheads="1"/>
            </p:cNvSpPr>
            <p:nvPr userDrawn="1"/>
          </p:nvSpPr>
          <p:spPr bwMode="auto">
            <a:xfrm>
              <a:off x="2340360" y="3348455"/>
              <a:ext cx="12060000" cy="72000"/>
            </a:xfrm>
            <a:prstGeom prst="rect">
              <a:avLst/>
            </a:prstGeom>
            <a:solidFill>
              <a:srgbClr val="004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579438"/>
              <a:endParaRPr lang="zh-CN" altLang="en-US" sz="1300"/>
            </a:p>
          </p:txBody>
        </p:sp>
        <p:sp>
          <p:nvSpPr>
            <p:cNvPr id="21" name="矩形 17"/>
            <p:cNvSpPr>
              <a:spLocks noChangeArrowheads="1"/>
            </p:cNvSpPr>
            <p:nvPr userDrawn="1"/>
          </p:nvSpPr>
          <p:spPr bwMode="auto">
            <a:xfrm>
              <a:off x="-26775" y="3348455"/>
              <a:ext cx="1152000" cy="72000"/>
            </a:xfrm>
            <a:prstGeom prst="rect">
              <a:avLst/>
            </a:prstGeom>
            <a:solidFill>
              <a:srgbClr val="008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579438"/>
              <a:endParaRPr lang="zh-CN" altLang="en-US" sz="130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ctrTitle"/>
          </p:nvPr>
        </p:nvSpPr>
        <p:spPr>
          <a:xfrm>
            <a:off x="1624136" y="2130425"/>
            <a:ext cx="7772400" cy="1470025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CD81A037-8D57-41A5-A253-A9E887D684E4}" type="datetime1">
              <a:rPr lang="zh-CN" altLang="en-US" smtClean="0"/>
              <a:pPr/>
              <a:t>2017/7/27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2" name="Picture 7" descr="彩色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" y="539750"/>
            <a:ext cx="25654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9"/>
          <p:cNvSpPr txBox="1">
            <a:spLocks noChangeArrowheads="1"/>
          </p:cNvSpPr>
          <p:nvPr userDrawn="1"/>
        </p:nvSpPr>
        <p:spPr bwMode="auto">
          <a:xfrm>
            <a:off x="7200900" y="714375"/>
            <a:ext cx="1685925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8055" tIns="29028" rIns="58055" bIns="29028">
            <a:spAutoFit/>
          </a:bodyPr>
          <a:lstStyle>
            <a:lvl1pPr defTabSz="1293813" eaLnBrk="0" hangingPunct="0"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1293813" eaLnBrk="0" hangingPunct="0"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1293813" eaLnBrk="0" hangingPunct="0"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1293813" eaLnBrk="0" hangingPunct="0"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1293813" eaLnBrk="0" hangingPunct="0"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1293813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1293813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1293813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1293813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1100" dirty="0">
                <a:solidFill>
                  <a:srgbClr val="0068B7"/>
                </a:solidFill>
                <a:latin typeface="Arial" pitchFamily="34" charset="0"/>
                <a:cs typeface="Arial" pitchFamily="34" charset="0"/>
              </a:rPr>
              <a:t>www.thunisoft.com</a:t>
            </a:r>
            <a:endParaRPr lang="zh-CN" altLang="en-US" sz="1100" dirty="0">
              <a:solidFill>
                <a:srgbClr val="0068B7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Rectangle 11"/>
          <p:cNvSpPr>
            <a:spLocks noChangeArrowheads="1"/>
          </p:cNvSpPr>
          <p:nvPr userDrawn="1"/>
        </p:nvSpPr>
        <p:spPr bwMode="auto">
          <a:xfrm>
            <a:off x="1646238" y="6065838"/>
            <a:ext cx="5429596" cy="212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8055" tIns="29028" rIns="58055" bIns="29028">
            <a:spAutoFit/>
          </a:bodyPr>
          <a:lstStyle/>
          <a:p>
            <a:pPr defTabSz="820738"/>
            <a:r>
              <a:rPr lang="zh-CN" altLang="en-US" sz="1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北京华宇信息技术有限公司</a:t>
            </a:r>
            <a:r>
              <a:rPr lang="zh-CN" altLang="en-US" sz="9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BEIJING THUNISOFT INFORMATION TECHNOLOGY CORPORATION LIMITED</a:t>
            </a:r>
            <a:endParaRPr lang="zh-CN" altLang="en-US" sz="8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 userDrawn="1"/>
        </p:nvSpPr>
        <p:spPr>
          <a:xfrm>
            <a:off x="1638300" y="5553075"/>
            <a:ext cx="21336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i="0" kern="1200" smtClean="0">
                <a:solidFill>
                  <a:schemeClr val="bg1"/>
                </a:solidFill>
                <a:latin typeface="Exo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9329283-96AF-4146-A0DF-F154670DCF22}" type="datetime1">
              <a:rPr lang="zh-CN" altLang="en-US" smtClean="0">
                <a:latin typeface="Arial" pitchFamily="34" charset="0"/>
                <a:cs typeface="Arial" pitchFamily="34" charset="0"/>
              </a:rPr>
              <a:pPr>
                <a:defRPr/>
              </a:pPr>
              <a:t>2017/7/27</a:t>
            </a:fld>
            <a:endParaRPr lang="zh-CN" altLang="zh-CN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369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9572" y="151200"/>
            <a:ext cx="5472608" cy="490066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9572" y="980728"/>
            <a:ext cx="7848872" cy="5328592"/>
          </a:xfrm>
        </p:spPr>
        <p:txBody>
          <a:bodyPr/>
          <a:lstStyle>
            <a:lvl1pPr>
              <a:defRPr b="0">
                <a:solidFill>
                  <a:srgbClr val="595757"/>
                </a:solidFill>
              </a:defRPr>
            </a:lvl1pPr>
            <a:lvl2pPr>
              <a:defRPr>
                <a:solidFill>
                  <a:srgbClr val="595757"/>
                </a:solidFill>
              </a:defRPr>
            </a:lvl2pPr>
            <a:lvl3pPr>
              <a:defRPr sz="2400">
                <a:solidFill>
                  <a:srgbClr val="595757"/>
                </a:solidFill>
              </a:defRPr>
            </a:lvl3pPr>
            <a:lvl4pPr>
              <a:defRPr sz="2000">
                <a:solidFill>
                  <a:srgbClr val="595757"/>
                </a:solidFill>
              </a:defRPr>
            </a:lvl4pPr>
            <a:lvl5pPr>
              <a:defRPr sz="1800">
                <a:solidFill>
                  <a:srgbClr val="595757"/>
                </a:solidFill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9305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Text Box 8"/>
          <p:cNvSpPr txBox="1">
            <a:spLocks noChangeArrowheads="1"/>
          </p:cNvSpPr>
          <p:nvPr userDrawn="1"/>
        </p:nvSpPr>
        <p:spPr bwMode="auto">
          <a:xfrm>
            <a:off x="1223628" y="1592796"/>
            <a:ext cx="4140460" cy="6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8055" tIns="29028" rIns="58055" bIns="29028">
            <a:spAutoFit/>
          </a:bodyPr>
          <a:lstStyle>
            <a:lvl1pPr defTabSz="1293813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1293813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1293813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1293813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1293813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1293813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1293813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1293813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1293813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3000" dirty="0">
                <a:solidFill>
                  <a:srgbClr val="0062AD"/>
                </a:solidFill>
                <a:latin typeface="微软雅黑" pitchFamily="34" charset="-122"/>
                <a:ea typeface="微软雅黑" pitchFamily="34" charset="-122"/>
              </a:rPr>
              <a:t>目 录</a:t>
            </a:r>
            <a:endParaRPr lang="en-US" altLang="zh-CN" sz="3200" dirty="0">
              <a:solidFill>
                <a:schemeClr val="bg1">
                  <a:lumMod val="75000"/>
                </a:schemeClr>
              </a:solidFill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9" name="内容占位符 2"/>
          <p:cNvSpPr>
            <a:spLocks noGrp="1"/>
          </p:cNvSpPr>
          <p:nvPr>
            <p:ph idx="1" hasCustomPrompt="1"/>
          </p:nvPr>
        </p:nvSpPr>
        <p:spPr>
          <a:xfrm>
            <a:off x="1259632" y="2600908"/>
            <a:ext cx="7309320" cy="342038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 b="0" baseline="0">
                <a:solidFill>
                  <a:srgbClr val="595757"/>
                </a:solidFill>
              </a:defRPr>
            </a:lvl1pPr>
            <a:lvl2pPr marL="457200" indent="0">
              <a:buFontTx/>
              <a:buNone/>
              <a:defRPr>
                <a:solidFill>
                  <a:srgbClr val="595757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595757"/>
                </a:solidFill>
              </a:defRPr>
            </a:lvl3pPr>
            <a:lvl4pPr marL="1371600" indent="0">
              <a:buFontTx/>
              <a:buNone/>
              <a:defRPr sz="2000">
                <a:solidFill>
                  <a:srgbClr val="595757"/>
                </a:solidFill>
              </a:defRPr>
            </a:lvl4pPr>
            <a:lvl5pPr marL="1828800" indent="0">
              <a:buFontTx/>
              <a:buNone/>
              <a:defRPr sz="1800">
                <a:solidFill>
                  <a:srgbClr val="595757"/>
                </a:solidFill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一、</a:t>
            </a:r>
            <a:endParaRPr lang="en-US" altLang="zh-CN" dirty="0"/>
          </a:p>
          <a:p>
            <a:pPr lvl="0"/>
            <a:r>
              <a:rPr lang="zh-CN" altLang="en-US" dirty="0"/>
              <a:t>二、</a:t>
            </a:r>
            <a:endParaRPr lang="en-US" altLang="zh-CN" dirty="0"/>
          </a:p>
          <a:p>
            <a:pPr lvl="0"/>
            <a:r>
              <a:rPr lang="zh-CN" altLang="en-US" dirty="0"/>
              <a:t>三、</a:t>
            </a:r>
            <a:endParaRPr lang="en-US" altLang="zh-CN" dirty="0"/>
          </a:p>
          <a:p>
            <a:pPr lvl="0"/>
            <a:r>
              <a:rPr lang="zh-CN" altLang="en-US" dirty="0"/>
              <a:t>四、</a:t>
            </a:r>
          </a:p>
        </p:txBody>
      </p:sp>
    </p:spTree>
    <p:extLst>
      <p:ext uri="{BB962C8B-B14F-4D97-AF65-F5344CB8AC3E}">
        <p14:creationId xmlns:p14="http://schemas.microsoft.com/office/powerpoint/2010/main" val="1567107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13"/>
          <p:cNvGrpSpPr>
            <a:grpSpLocks/>
          </p:cNvGrpSpPr>
          <p:nvPr userDrawn="1"/>
        </p:nvGrpSpPr>
        <p:grpSpPr bwMode="auto">
          <a:xfrm>
            <a:off x="-17463" y="3000375"/>
            <a:ext cx="9159876" cy="3857625"/>
            <a:chOff x="-26775" y="3348455"/>
            <a:chExt cx="14427135" cy="72000"/>
          </a:xfrm>
        </p:grpSpPr>
        <p:sp>
          <p:nvSpPr>
            <p:cNvPr id="8" name="矩形 14"/>
            <p:cNvSpPr>
              <a:spLocks noChangeArrowheads="1"/>
            </p:cNvSpPr>
            <p:nvPr userDrawn="1"/>
          </p:nvSpPr>
          <p:spPr bwMode="auto">
            <a:xfrm>
              <a:off x="382492" y="3348455"/>
              <a:ext cx="1305245" cy="72000"/>
            </a:xfrm>
            <a:prstGeom prst="rect">
              <a:avLst/>
            </a:prstGeom>
            <a:solidFill>
              <a:srgbClr val="00A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579438"/>
              <a:endParaRPr lang="zh-CN" altLang="en-US" sz="1300"/>
            </a:p>
          </p:txBody>
        </p:sp>
        <p:sp>
          <p:nvSpPr>
            <p:cNvPr id="9" name="矩形 15"/>
            <p:cNvSpPr>
              <a:spLocks noChangeArrowheads="1"/>
            </p:cNvSpPr>
            <p:nvPr userDrawn="1"/>
          </p:nvSpPr>
          <p:spPr bwMode="auto">
            <a:xfrm>
              <a:off x="1796795" y="3348455"/>
              <a:ext cx="1305245" cy="72000"/>
            </a:xfrm>
            <a:prstGeom prst="rect">
              <a:avLst/>
            </a:prstGeom>
            <a:solidFill>
              <a:srgbClr val="0062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579438"/>
              <a:endParaRPr lang="zh-CN" altLang="en-US" sz="1300"/>
            </a:p>
          </p:txBody>
        </p:sp>
        <p:sp>
          <p:nvSpPr>
            <p:cNvPr id="10" name="矩形 16"/>
            <p:cNvSpPr>
              <a:spLocks noChangeArrowheads="1"/>
            </p:cNvSpPr>
            <p:nvPr userDrawn="1"/>
          </p:nvSpPr>
          <p:spPr bwMode="auto">
            <a:xfrm>
              <a:off x="2340360" y="3348455"/>
              <a:ext cx="12060000" cy="72000"/>
            </a:xfrm>
            <a:prstGeom prst="rect">
              <a:avLst/>
            </a:prstGeom>
            <a:solidFill>
              <a:srgbClr val="004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579438"/>
              <a:endParaRPr lang="zh-CN" altLang="en-US" sz="1300"/>
            </a:p>
          </p:txBody>
        </p:sp>
        <p:sp>
          <p:nvSpPr>
            <p:cNvPr id="11" name="矩形 17"/>
            <p:cNvSpPr>
              <a:spLocks noChangeArrowheads="1"/>
            </p:cNvSpPr>
            <p:nvPr userDrawn="1"/>
          </p:nvSpPr>
          <p:spPr bwMode="auto">
            <a:xfrm>
              <a:off x="-26775" y="3348455"/>
              <a:ext cx="1152000" cy="72000"/>
            </a:xfrm>
            <a:prstGeom prst="rect">
              <a:avLst/>
            </a:prstGeom>
            <a:solidFill>
              <a:srgbClr val="008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579438"/>
              <a:endParaRPr lang="zh-CN" altLang="en-US" sz="1300"/>
            </a:p>
          </p:txBody>
        </p:sp>
      </p:grpSp>
      <p:sp>
        <p:nvSpPr>
          <p:cNvPr id="12" name="Rectangle 9"/>
          <p:cNvSpPr>
            <a:spLocks noChangeArrowheads="1"/>
          </p:cNvSpPr>
          <p:nvPr userDrawn="1"/>
        </p:nvSpPr>
        <p:spPr bwMode="auto">
          <a:xfrm>
            <a:off x="-72516" y="6315075"/>
            <a:ext cx="9216515" cy="212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8055" tIns="29028" rIns="58055" bIns="29028">
            <a:spAutoFit/>
          </a:bodyPr>
          <a:lstStyle/>
          <a:p>
            <a:pPr algn="ctr" defTabSz="820738"/>
            <a:r>
              <a:rPr lang="zh-CN" altLang="en-US" sz="1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北京华宇信息技术有限公司  </a:t>
            </a:r>
            <a:r>
              <a:rPr lang="en-US" altLang="zh-CN" sz="800" dirty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BEIJING THUNISOFT INFORMATION TECHNOLOGY CORPORATION LIMITED</a:t>
            </a:r>
            <a:endParaRPr lang="zh-CN" altLang="en-US" sz="800" dirty="0">
              <a:solidFill>
                <a:schemeClr val="bg1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pic>
        <p:nvPicPr>
          <p:cNvPr id="13" name="Picture 10" descr="竖版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025" y="650875"/>
            <a:ext cx="182880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1" y="3989946"/>
            <a:ext cx="9144000" cy="953508"/>
          </a:xfrm>
        </p:spPr>
        <p:txBody>
          <a:bodyPr anchor="t">
            <a:noAutofit/>
          </a:bodyPr>
          <a:lstStyle>
            <a:lvl1pPr algn="ctr">
              <a:defRPr sz="6000" b="0" cap="all">
                <a:solidFill>
                  <a:schemeClr val="bg1"/>
                </a:solidFill>
                <a:latin typeface="方正兰亭纤黑_GBK" pitchFamily="2" charset="-122"/>
                <a:ea typeface="方正兰亭纤黑_GBK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9245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92A1F-7F4F-4A9E-AC8E-D70E794B105F}" type="datetime1">
              <a:rPr lang="zh-CN" altLang="en-US" smtClean="0"/>
              <a:pPr/>
              <a:t>2017/7/27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250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6D87D-5373-4AD0-B56A-9967F8C0C571}" type="datetime1">
              <a:rPr lang="zh-CN" altLang="en-US" smtClean="0"/>
              <a:pPr/>
              <a:t>2017/7/27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179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80752-F7E5-44E2-8AA3-21EF20F87492}" type="datetime1">
              <a:rPr lang="zh-CN" altLang="en-US" smtClean="0"/>
              <a:pPr/>
              <a:t>2017/7/27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080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0FE5E-E76A-4B18-92BB-C6BBC29BC225}" type="datetime1">
              <a:rPr lang="zh-CN" altLang="en-US" smtClean="0"/>
              <a:pPr/>
              <a:t>2017/7/27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25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9E165-A031-464B-BD7E-7E82C482BEDF}" type="datetime1">
              <a:rPr lang="zh-CN" altLang="en-US" smtClean="0"/>
              <a:pPr/>
              <a:t>2017/7/27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016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9F04-C1B7-4CEA-9291-EA11D6E04CCC}" type="datetime1">
              <a:rPr lang="zh-CN" altLang="en-US" smtClean="0"/>
              <a:pPr/>
              <a:t>2017/7/27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469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FAF6-3209-4067-A7F8-040A8184C6B7}" type="datetime1">
              <a:rPr lang="zh-CN" altLang="en-US" smtClean="0"/>
              <a:pPr/>
              <a:t>2017/7/27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080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C8505-0372-41F5-B7B2-72EF063B6600}" type="datetime1">
              <a:rPr lang="zh-CN" altLang="en-US" smtClean="0"/>
              <a:pPr/>
              <a:t>2017/7/27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960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19572" y="151200"/>
            <a:ext cx="5472608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9572" y="980728"/>
            <a:ext cx="7848872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4"/>
            <a:endParaRPr lang="en-US" altLang="zh-CN" dirty="0"/>
          </a:p>
          <a:p>
            <a:pPr lvl="4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10208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i="1">
                <a:solidFill>
                  <a:srgbClr val="00B0F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1D3EEC2-3DBC-43AD-837B-AE7C27033FDD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16216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i="1">
                <a:solidFill>
                  <a:srgbClr val="00B0F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5C794E63-F2AF-49E2-AE37-43481CC587E5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7" name="组合 7"/>
          <p:cNvGrpSpPr>
            <a:grpSpLocks/>
          </p:cNvGrpSpPr>
          <p:nvPr/>
        </p:nvGrpSpPr>
        <p:grpSpPr bwMode="auto">
          <a:xfrm>
            <a:off x="0" y="742950"/>
            <a:ext cx="9144000" cy="46038"/>
            <a:chOff x="0" y="1440235"/>
            <a:chExt cx="14401800" cy="72000"/>
          </a:xfrm>
        </p:grpSpPr>
        <p:sp>
          <p:nvSpPr>
            <p:cNvPr id="8" name="矩形 8"/>
            <p:cNvSpPr>
              <a:spLocks noChangeArrowheads="1"/>
            </p:cNvSpPr>
            <p:nvPr userDrawn="1"/>
          </p:nvSpPr>
          <p:spPr bwMode="auto">
            <a:xfrm>
              <a:off x="652622" y="1440235"/>
              <a:ext cx="1305245" cy="72000"/>
            </a:xfrm>
            <a:prstGeom prst="rect">
              <a:avLst/>
            </a:prstGeom>
            <a:solidFill>
              <a:srgbClr val="00A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579438"/>
              <a:endParaRPr lang="zh-CN" altLang="en-US" sz="1300"/>
            </a:p>
          </p:txBody>
        </p:sp>
        <p:sp>
          <p:nvSpPr>
            <p:cNvPr id="9" name="矩形 9"/>
            <p:cNvSpPr>
              <a:spLocks noChangeArrowheads="1"/>
            </p:cNvSpPr>
            <p:nvPr userDrawn="1"/>
          </p:nvSpPr>
          <p:spPr bwMode="auto">
            <a:xfrm>
              <a:off x="2066925" y="1440235"/>
              <a:ext cx="1305245" cy="72000"/>
            </a:xfrm>
            <a:prstGeom prst="rect">
              <a:avLst/>
            </a:prstGeom>
            <a:solidFill>
              <a:srgbClr val="0062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579438"/>
              <a:endParaRPr lang="zh-CN" altLang="en-US" sz="1300"/>
            </a:p>
          </p:txBody>
        </p:sp>
        <p:sp>
          <p:nvSpPr>
            <p:cNvPr id="10" name="矩形 10"/>
            <p:cNvSpPr>
              <a:spLocks noChangeArrowheads="1"/>
            </p:cNvSpPr>
            <p:nvPr userDrawn="1"/>
          </p:nvSpPr>
          <p:spPr bwMode="auto">
            <a:xfrm>
              <a:off x="2880420" y="1440235"/>
              <a:ext cx="11521380" cy="72000"/>
            </a:xfrm>
            <a:prstGeom prst="rect">
              <a:avLst/>
            </a:prstGeom>
            <a:solidFill>
              <a:srgbClr val="004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579438"/>
              <a:endParaRPr lang="zh-CN" altLang="en-US" sz="1300"/>
            </a:p>
          </p:txBody>
        </p:sp>
        <p:sp>
          <p:nvSpPr>
            <p:cNvPr id="11" name="矩形 11"/>
            <p:cNvSpPr>
              <a:spLocks noChangeArrowheads="1"/>
            </p:cNvSpPr>
            <p:nvPr userDrawn="1"/>
          </p:nvSpPr>
          <p:spPr bwMode="auto">
            <a:xfrm>
              <a:off x="0" y="1440235"/>
              <a:ext cx="1305245" cy="72000"/>
            </a:xfrm>
            <a:prstGeom prst="rect">
              <a:avLst/>
            </a:prstGeom>
            <a:solidFill>
              <a:srgbClr val="008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579438"/>
              <a:endParaRPr lang="zh-CN" altLang="en-US" sz="1300"/>
            </a:p>
          </p:txBody>
        </p:sp>
      </p:grpSp>
      <p:pic>
        <p:nvPicPr>
          <p:cNvPr id="12" name="Picture 7" descr="彩色logo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82" y="136525"/>
            <a:ext cx="13271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3416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rgbClr val="595757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just" defTabSz="914400" rtl="0" eaLnBrk="1" latinLnBrk="0" hangingPunct="1">
        <a:lnSpc>
          <a:spcPct val="125000"/>
        </a:lnSpc>
        <a:spcBef>
          <a:spcPts val="300"/>
        </a:spcBef>
        <a:buClr>
          <a:srgbClr val="00479D"/>
        </a:buClr>
        <a:buSzPct val="60000"/>
        <a:buFont typeface="Wingdings" pitchFamily="2" charset="2"/>
        <a:buChar char="n"/>
        <a:defRPr sz="2800" kern="1200">
          <a:solidFill>
            <a:srgbClr val="595757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just" defTabSz="914400" rtl="0" eaLnBrk="1" latinLnBrk="0" hangingPunct="1">
        <a:lnSpc>
          <a:spcPct val="125000"/>
        </a:lnSpc>
        <a:spcBef>
          <a:spcPts val="300"/>
        </a:spcBef>
        <a:buClr>
          <a:srgbClr val="0070C0"/>
        </a:buClr>
        <a:buSzPct val="60000"/>
        <a:buFont typeface="Wingdings" pitchFamily="2" charset="2"/>
        <a:buChar char="p"/>
        <a:defRPr sz="2400" kern="1200">
          <a:solidFill>
            <a:srgbClr val="595757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just" defTabSz="914400" rtl="0" eaLnBrk="1" latinLnBrk="0" hangingPunct="1">
        <a:lnSpc>
          <a:spcPct val="125000"/>
        </a:lnSpc>
        <a:spcBef>
          <a:spcPts val="300"/>
        </a:spcBef>
        <a:buClr>
          <a:srgbClr val="0070C0"/>
        </a:buClr>
        <a:buFont typeface="Arial" pitchFamily="34" charset="0"/>
        <a:buChar char="•"/>
        <a:defRPr sz="2400" kern="1200">
          <a:solidFill>
            <a:srgbClr val="595757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just" defTabSz="914400" rtl="0" eaLnBrk="1" latinLnBrk="0" hangingPunct="1">
        <a:lnSpc>
          <a:spcPct val="125000"/>
        </a:lnSpc>
        <a:spcBef>
          <a:spcPts val="300"/>
        </a:spcBef>
        <a:buClr>
          <a:srgbClr val="0070C0"/>
        </a:buClr>
        <a:buFont typeface="Arial" pitchFamily="34" charset="0"/>
        <a:buChar char="–"/>
        <a:defRPr sz="2000" kern="1200">
          <a:solidFill>
            <a:srgbClr val="595757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just" defTabSz="914400" rtl="0" eaLnBrk="1" latinLnBrk="0" hangingPunct="1">
        <a:lnSpc>
          <a:spcPct val="125000"/>
        </a:lnSpc>
        <a:spcBef>
          <a:spcPts val="300"/>
        </a:spcBef>
        <a:buClr>
          <a:srgbClr val="0070C0"/>
        </a:buClr>
        <a:buFont typeface="Arial" pitchFamily="34" charset="0"/>
        <a:buChar char="»"/>
        <a:defRPr sz="1800" kern="1200">
          <a:solidFill>
            <a:srgbClr val="595757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771800" y="3717032"/>
            <a:ext cx="38164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 smtClean="0">
                <a:latin typeface="微软雅黑" pitchFamily="34" charset="-122"/>
                <a:ea typeface="微软雅黑" pitchFamily="34" charset="-122"/>
              </a:rPr>
              <a:t>java.lang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分享与交流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18284" y="5339100"/>
            <a:ext cx="1407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分享人 杨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嘎</a:t>
            </a:r>
          </a:p>
        </p:txBody>
      </p:sp>
    </p:spTree>
    <p:extLst>
      <p:ext uri="{BB962C8B-B14F-4D97-AF65-F5344CB8AC3E}">
        <p14:creationId xmlns:p14="http://schemas.microsoft.com/office/powerpoint/2010/main" val="129484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一、</a:t>
            </a:r>
            <a:r>
              <a:rPr lang="en-US" altLang="zh-CN" sz="2000" dirty="0">
                <a:solidFill>
                  <a:schemeClr val="tx1"/>
                </a:solidFill>
              </a:rPr>
              <a:t>java </a:t>
            </a:r>
            <a:r>
              <a:rPr lang="en-US" altLang="zh-CN" sz="2000" dirty="0" err="1">
                <a:solidFill>
                  <a:schemeClr val="tx1"/>
                </a:solidFill>
              </a:rPr>
              <a:t>lang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 smtClean="0">
                <a:solidFill>
                  <a:schemeClr val="tx1"/>
                </a:solidFill>
              </a:rPr>
              <a:t>包概览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 smtClean="0">
                <a:solidFill>
                  <a:schemeClr val="tx1"/>
                </a:solidFill>
              </a:rPr>
              <a:t>二、</a:t>
            </a:r>
            <a:r>
              <a:rPr lang="en-US" altLang="zh-CN" sz="2000" dirty="0">
                <a:solidFill>
                  <a:schemeClr val="tx1"/>
                </a:solidFill>
              </a:rPr>
              <a:t>Object</a:t>
            </a:r>
            <a:r>
              <a:rPr lang="zh-CN" altLang="en-US" sz="2000" dirty="0">
                <a:solidFill>
                  <a:schemeClr val="tx1"/>
                </a:solidFill>
              </a:rPr>
              <a:t>类及方法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三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Math</a:t>
            </a:r>
            <a:r>
              <a:rPr lang="zh-CN" altLang="en-US" sz="2000" dirty="0">
                <a:solidFill>
                  <a:schemeClr val="tx1"/>
                </a:solidFill>
              </a:rPr>
              <a:t>类几</a:t>
            </a:r>
            <a:r>
              <a:rPr lang="zh-CN" altLang="en-US" sz="2000" dirty="0" smtClean="0">
                <a:solidFill>
                  <a:schemeClr val="tx1"/>
                </a:solidFill>
              </a:rPr>
              <a:t>方法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四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 smtClean="0">
                <a:solidFill>
                  <a:schemeClr val="tx1"/>
                </a:solidFill>
              </a:rPr>
              <a:t>Class</a:t>
            </a:r>
            <a:r>
              <a:rPr lang="zh-CN" altLang="en-US" sz="2000" dirty="0" smtClean="0">
                <a:solidFill>
                  <a:schemeClr val="tx1"/>
                </a:solidFill>
              </a:rPr>
              <a:t>类几方法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五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 smtClean="0">
                <a:solidFill>
                  <a:schemeClr val="tx1"/>
                </a:solidFill>
              </a:rPr>
              <a:t>System</a:t>
            </a:r>
            <a:r>
              <a:rPr lang="zh-CN" altLang="en-US" sz="2000" dirty="0" smtClean="0">
                <a:solidFill>
                  <a:schemeClr val="tx1"/>
                </a:solidFill>
              </a:rPr>
              <a:t>类几方法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 smtClean="0">
                <a:solidFill>
                  <a:schemeClr val="tx1"/>
                </a:solidFill>
              </a:rPr>
              <a:t>六、</a:t>
            </a:r>
            <a:r>
              <a:rPr lang="en-US" altLang="zh-CN" sz="2000" dirty="0" smtClean="0">
                <a:solidFill>
                  <a:schemeClr val="tx1"/>
                </a:solidFill>
              </a:rPr>
              <a:t>String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StringBuffer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StringBuilder</a:t>
            </a:r>
            <a:r>
              <a:rPr lang="zh-CN" altLang="en-US" sz="2000" dirty="0" smtClean="0">
                <a:solidFill>
                  <a:schemeClr val="tx1"/>
                </a:solidFill>
              </a:rPr>
              <a:t>类及方法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七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Throwable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zh-CN" altLang="en-US" sz="2000" dirty="0" smtClean="0">
                <a:solidFill>
                  <a:schemeClr val="tx1"/>
                </a:solidFill>
              </a:rPr>
              <a:t>异常类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八</a:t>
            </a:r>
            <a:r>
              <a:rPr lang="zh-CN" altLang="en-US" sz="2000" dirty="0" smtClean="0">
                <a:solidFill>
                  <a:schemeClr val="tx1"/>
                </a:solidFill>
              </a:rPr>
              <a:t>、线程</a:t>
            </a:r>
            <a:r>
              <a:rPr lang="en-US" altLang="zh-CN" sz="2000" dirty="0" smtClean="0">
                <a:solidFill>
                  <a:schemeClr val="tx1"/>
                </a:solidFill>
              </a:rPr>
              <a:t>Thread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九</a:t>
            </a:r>
            <a:r>
              <a:rPr lang="zh-CN" altLang="en-US" sz="2000" dirty="0" smtClean="0">
                <a:solidFill>
                  <a:schemeClr val="tx1"/>
                </a:solidFill>
              </a:rPr>
              <a:t>、包装类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833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一、</a:t>
            </a:r>
            <a:r>
              <a:rPr lang="en-US" altLang="zh-CN" dirty="0" smtClean="0"/>
              <a:t>java </a:t>
            </a:r>
            <a:r>
              <a:rPr lang="en-US" altLang="zh-CN" dirty="0" err="1" smtClean="0"/>
              <a:t>lang</a:t>
            </a:r>
            <a:r>
              <a:rPr lang="zh-CN" altLang="en-US" dirty="0"/>
              <a:t>概览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Java</a:t>
            </a:r>
            <a:r>
              <a:rPr lang="zh-CN" altLang="en-US" sz="2000" dirty="0">
                <a:solidFill>
                  <a:schemeClr val="tx1"/>
                </a:solidFill>
              </a:rPr>
              <a:t>核心语言包，</a:t>
            </a:r>
            <a:r>
              <a:rPr lang="zh-CN" altLang="en-US" sz="2000" dirty="0" smtClean="0">
                <a:solidFill>
                  <a:schemeClr val="tx1"/>
                </a:solidFill>
              </a:rPr>
              <a:t>包含</a:t>
            </a:r>
            <a:r>
              <a:rPr lang="en-US" altLang="zh-CN" sz="2000" dirty="0" smtClean="0">
                <a:solidFill>
                  <a:schemeClr val="tx1"/>
                </a:solidFill>
              </a:rPr>
              <a:t>Java</a:t>
            </a:r>
            <a:r>
              <a:rPr lang="zh-CN" altLang="en-US" sz="2000" dirty="0" smtClean="0">
                <a:solidFill>
                  <a:schemeClr val="tx1"/>
                </a:solidFill>
              </a:rPr>
              <a:t>语言所需要的基本的功能类、接口等信息。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1800" dirty="0" smtClean="0"/>
              <a:t>     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3</a:t>
            </a:fld>
            <a:endParaRPr lang="zh-CN" altLang="en-US"/>
          </a:p>
        </p:txBody>
      </p:sp>
      <p:pic>
        <p:nvPicPr>
          <p:cNvPr id="1026" name="Picture 2" descr="C:\Users\Jack\Desktop\2016071609150540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484784"/>
            <a:ext cx="8043262" cy="496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536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二、</a:t>
            </a:r>
            <a:r>
              <a:rPr lang="en-US" altLang="zh-CN" dirty="0" smtClean="0"/>
              <a:t>Object</a:t>
            </a:r>
            <a:r>
              <a:rPr lang="zh-CN" altLang="en-US" dirty="0" smtClean="0"/>
              <a:t>类及方法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 smtClean="0"/>
              <a:t>   </a:t>
            </a:r>
            <a:r>
              <a:rPr lang="en-US" altLang="zh-CN" sz="2000" b="1" dirty="0" smtClean="0"/>
              <a:t>1</a:t>
            </a:r>
            <a:r>
              <a:rPr lang="zh-CN" altLang="en-US" sz="2000" b="1" dirty="0" smtClean="0"/>
              <a:t>、</a:t>
            </a:r>
            <a:r>
              <a:rPr lang="en-US" altLang="zh-CN" sz="2000" b="1" dirty="0" smtClean="0"/>
              <a:t>Object</a:t>
            </a:r>
            <a:r>
              <a:rPr lang="zh-CN" altLang="en-US" sz="2000" b="1" dirty="0" smtClean="0"/>
              <a:t>类</a:t>
            </a:r>
            <a:endParaRPr lang="en-US" altLang="zh-CN" sz="2000" b="1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 Java</a:t>
            </a:r>
            <a:r>
              <a:rPr lang="zh-CN" altLang="en-US" sz="2000" dirty="0" smtClean="0">
                <a:solidFill>
                  <a:schemeClr val="tx1"/>
                </a:solidFill>
              </a:rPr>
              <a:t>中所有类都继承</a:t>
            </a:r>
            <a:r>
              <a:rPr lang="en-US" altLang="zh-CN" sz="2000" dirty="0" smtClean="0">
                <a:solidFill>
                  <a:schemeClr val="tx1"/>
                </a:solidFill>
              </a:rPr>
              <a:t>Object</a:t>
            </a:r>
            <a:r>
              <a:rPr lang="zh-CN" altLang="en-US" sz="2000" dirty="0" smtClean="0">
                <a:solidFill>
                  <a:schemeClr val="tx1"/>
                </a:solidFill>
              </a:rPr>
              <a:t>类，不</a:t>
            </a:r>
            <a:r>
              <a:rPr lang="zh-CN" altLang="en-US" sz="2000" dirty="0" smtClean="0">
                <a:solidFill>
                  <a:schemeClr val="tx1"/>
                </a:solidFill>
              </a:rPr>
              <a:t>需要显示声明</a:t>
            </a:r>
            <a:r>
              <a:rPr lang="en-US" altLang="zh-CN" sz="2000" dirty="0" smtClean="0">
                <a:solidFill>
                  <a:schemeClr val="tx1"/>
                </a:solidFill>
              </a:rPr>
              <a:t>extends</a:t>
            </a:r>
            <a:r>
              <a:rPr lang="zh-CN" altLang="en-US" sz="2000" dirty="0" smtClean="0">
                <a:solidFill>
                  <a:schemeClr val="tx1"/>
                </a:solidFill>
              </a:rPr>
              <a:t>，这个继承在编译阶段就已经确定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000" dirty="0" smtClean="0">
                <a:solidFill>
                  <a:schemeClr val="tx1"/>
                </a:solidFill>
              </a:rPr>
              <a:t>问题</a:t>
            </a:r>
            <a:r>
              <a:rPr lang="zh-CN" altLang="en-US" sz="2000" dirty="0">
                <a:solidFill>
                  <a:schemeClr val="tx1"/>
                </a:solidFill>
              </a:rPr>
              <a:t>：</a:t>
            </a:r>
            <a:r>
              <a:rPr lang="zh-CN" altLang="en-US" sz="2000" dirty="0" smtClean="0">
                <a:solidFill>
                  <a:schemeClr val="tx1"/>
                </a:solidFill>
              </a:rPr>
              <a:t>子类是否继承了</a:t>
            </a:r>
            <a:r>
              <a:rPr lang="en-US" altLang="zh-CN" sz="2000" dirty="0" smtClean="0">
                <a:solidFill>
                  <a:schemeClr val="tx1"/>
                </a:solidFill>
              </a:rPr>
              <a:t>Object</a:t>
            </a:r>
            <a:r>
              <a:rPr lang="zh-CN" altLang="en-US" sz="2000" dirty="0" smtClean="0">
                <a:solidFill>
                  <a:schemeClr val="tx1"/>
                </a:solidFill>
              </a:rPr>
              <a:t>的所有方法包括</a:t>
            </a:r>
            <a:r>
              <a:rPr lang="en-US" altLang="zh-CN" sz="2000" dirty="0" smtClean="0">
                <a:solidFill>
                  <a:schemeClr val="tx1"/>
                </a:solidFill>
              </a:rPr>
              <a:t>private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lvl="1" indent="0">
              <a:lnSpc>
                <a:spcPct val="150000"/>
              </a:lnSpc>
              <a:buClr>
                <a:srgbClr val="00479D"/>
              </a:buClr>
              <a:buNone/>
            </a:pPr>
            <a:r>
              <a:rPr lang="en-US" altLang="zh-CN" dirty="0" smtClean="0"/>
              <a:t>  </a:t>
            </a:r>
            <a:r>
              <a:rPr lang="en-US" altLang="zh-CN" sz="2000" dirty="0" smtClean="0"/>
              <a:t> </a:t>
            </a:r>
            <a:r>
              <a:rPr lang="en-US" altLang="zh-CN" sz="2000" b="1" dirty="0" smtClean="0"/>
              <a:t>2</a:t>
            </a:r>
            <a:r>
              <a:rPr lang="zh-CN" altLang="en-US" sz="2000" b="1" dirty="0" smtClean="0"/>
              <a:t>、所分享的</a:t>
            </a:r>
            <a:r>
              <a:rPr lang="en-US" altLang="zh-CN" sz="2000" b="1" dirty="0" smtClean="0"/>
              <a:t>Object</a:t>
            </a:r>
            <a:r>
              <a:rPr lang="zh-CN" altLang="en-US" sz="2000" b="1" dirty="0" smtClean="0"/>
              <a:t>类</a:t>
            </a:r>
            <a:r>
              <a:rPr lang="zh-CN" altLang="en-US" sz="2000" b="1" dirty="0"/>
              <a:t>的方法</a:t>
            </a:r>
            <a:endParaRPr lang="en-US" altLang="zh-CN" sz="2000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>
                <a:solidFill>
                  <a:schemeClr val="tx1"/>
                </a:solidFill>
              </a:rPr>
              <a:t> </a:t>
            </a:r>
            <a:r>
              <a:rPr lang="zh-CN" altLang="en-US" sz="2000" dirty="0" smtClean="0">
                <a:solidFill>
                  <a:schemeClr val="tx1"/>
                </a:solidFill>
              </a:rPr>
              <a:t>（</a:t>
            </a: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zh-CN" altLang="en-US" sz="2000" dirty="0" smtClean="0">
                <a:solidFill>
                  <a:schemeClr val="tx1"/>
                </a:solidFill>
              </a:rPr>
              <a:t>）</a:t>
            </a:r>
            <a:r>
              <a:rPr lang="en-US" altLang="zh-CN" sz="2000" dirty="0" smtClean="0">
                <a:solidFill>
                  <a:schemeClr val="tx1"/>
                </a:solidFill>
              </a:rPr>
              <a:t> clone() 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zh-CN" altLang="en-US" sz="2000" dirty="0" smtClean="0">
                <a:solidFill>
                  <a:schemeClr val="tx1"/>
                </a:solidFill>
              </a:rPr>
              <a:t>（</a:t>
            </a:r>
            <a:r>
              <a:rPr lang="en-US" altLang="zh-CN" sz="2000" dirty="0" smtClean="0">
                <a:solidFill>
                  <a:schemeClr val="tx1"/>
                </a:solidFill>
              </a:rPr>
              <a:t>2</a:t>
            </a:r>
            <a:r>
              <a:rPr lang="zh-CN" altLang="en-US" sz="2000" dirty="0" smtClean="0">
                <a:solidFill>
                  <a:schemeClr val="tx1"/>
                </a:solidFill>
              </a:rPr>
              <a:t>） </a:t>
            </a:r>
            <a:r>
              <a:rPr lang="en-US" altLang="zh-CN" sz="2000" dirty="0" smtClean="0">
                <a:solidFill>
                  <a:schemeClr val="tx1"/>
                </a:solidFill>
              </a:rPr>
              <a:t>equals()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zh-CN" altLang="en-US" sz="2000" dirty="0" smtClean="0">
                <a:solidFill>
                  <a:schemeClr val="tx1"/>
                </a:solidFill>
              </a:rPr>
              <a:t>（</a:t>
            </a:r>
            <a:r>
              <a:rPr lang="en-US" altLang="zh-CN" sz="2000" dirty="0" smtClean="0">
                <a:solidFill>
                  <a:schemeClr val="tx1"/>
                </a:solidFill>
              </a:rPr>
              <a:t>3</a:t>
            </a:r>
            <a:r>
              <a:rPr lang="zh-CN" altLang="en-US" sz="2000" dirty="0" smtClean="0">
                <a:solidFill>
                  <a:schemeClr val="tx1"/>
                </a:solidFill>
              </a:rPr>
              <a:t>）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hashCode</a:t>
            </a:r>
            <a:r>
              <a:rPr lang="en-US" altLang="zh-CN" sz="2000" dirty="0" smtClean="0">
                <a:solidFill>
                  <a:schemeClr val="tx1"/>
                </a:solidFill>
              </a:rPr>
              <a:t>()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zh-CN" altLang="en-US" sz="2000" dirty="0" smtClean="0">
                <a:solidFill>
                  <a:schemeClr val="tx1"/>
                </a:solidFill>
              </a:rPr>
              <a:t>（</a:t>
            </a:r>
            <a:r>
              <a:rPr lang="en-US" altLang="zh-CN" sz="2000" dirty="0" smtClean="0">
                <a:solidFill>
                  <a:schemeClr val="tx1"/>
                </a:solidFill>
              </a:rPr>
              <a:t>4</a:t>
            </a:r>
            <a:r>
              <a:rPr lang="zh-CN" altLang="en-US" sz="2000" dirty="0" smtClean="0">
                <a:solidFill>
                  <a:schemeClr val="tx1"/>
                </a:solidFill>
              </a:rPr>
              <a:t>）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toString</a:t>
            </a:r>
            <a:r>
              <a:rPr lang="en-US" altLang="zh-CN" sz="2000" dirty="0" smtClean="0">
                <a:solidFill>
                  <a:schemeClr val="tx1"/>
                </a:solidFill>
              </a:rPr>
              <a:t>()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zh-CN" altLang="en-US" sz="2000" dirty="0" smtClean="0">
                <a:solidFill>
                  <a:schemeClr val="tx1"/>
                </a:solidFill>
              </a:rPr>
              <a:t>（</a:t>
            </a:r>
            <a:r>
              <a:rPr lang="en-US" altLang="zh-CN" sz="2000" dirty="0" smtClean="0">
                <a:solidFill>
                  <a:schemeClr val="tx1"/>
                </a:solidFill>
              </a:rPr>
              <a:t>5</a:t>
            </a:r>
            <a:r>
              <a:rPr lang="zh-CN" altLang="en-US" sz="2000" dirty="0" smtClean="0">
                <a:solidFill>
                  <a:schemeClr val="tx1"/>
                </a:solidFill>
              </a:rPr>
              <a:t>）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getClass</a:t>
            </a:r>
            <a:r>
              <a:rPr lang="en-US" altLang="zh-CN" sz="2000" dirty="0" smtClean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141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</a:t>
            </a:r>
            <a:r>
              <a:rPr lang="en-US" altLang="zh-CN" dirty="0"/>
              <a:t>Object</a:t>
            </a:r>
            <a:r>
              <a:rPr lang="zh-CN" altLang="en-US" dirty="0"/>
              <a:t>类及</a:t>
            </a:r>
            <a:r>
              <a:rPr lang="zh-CN" altLang="en-US" dirty="0" smtClean="0"/>
              <a:t>方法</a:t>
            </a:r>
            <a:r>
              <a:rPr lang="en-US" altLang="zh-CN" dirty="0" smtClean="0"/>
              <a:t>-clone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 smtClean="0"/>
              <a:t>    </a:t>
            </a:r>
            <a:r>
              <a:rPr lang="en-US" altLang="zh-CN" sz="2400" dirty="0" smtClean="0"/>
              <a:t>Object clone</a:t>
            </a:r>
            <a:r>
              <a:rPr lang="zh-CN" altLang="en-US" sz="2400" dirty="0"/>
              <a:t>（）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en-US" altLang="zh-CN" sz="2000" b="1" dirty="0" smtClean="0"/>
              <a:t>1</a:t>
            </a:r>
            <a:r>
              <a:rPr lang="zh-CN" altLang="en-US" sz="2000" b="1" dirty="0" smtClean="0"/>
              <a:t>、作用</a:t>
            </a:r>
            <a:endParaRPr lang="en-US" altLang="zh-CN" sz="2000" b="1" dirty="0" smtClean="0"/>
          </a:p>
          <a:p>
            <a:pPr marL="0" indent="0">
              <a:buNone/>
            </a:pPr>
            <a:r>
              <a:rPr lang="en-US" altLang="zh-CN" sz="2000" b="1" dirty="0"/>
              <a:t> </a:t>
            </a:r>
            <a:r>
              <a:rPr lang="en-US" altLang="zh-CN" sz="2000" b="1" dirty="0" smtClean="0"/>
              <a:t>          </a:t>
            </a:r>
            <a:r>
              <a:rPr lang="zh-CN" altLang="en-US" sz="2000" dirty="0" smtClean="0">
                <a:solidFill>
                  <a:schemeClr val="tx1"/>
                </a:solidFill>
              </a:rPr>
              <a:t>快速创建对象的副本，两个对象指向不同的内存地址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b="1" dirty="0" smtClean="0"/>
              <a:t>2</a:t>
            </a:r>
            <a:r>
              <a:rPr lang="zh-CN" altLang="en-US" sz="2000" b="1" dirty="0" smtClean="0"/>
              <a:t>、方法</a:t>
            </a:r>
            <a:endParaRPr lang="en-US" altLang="zh-CN" sz="2000" b="1" dirty="0" smtClean="0"/>
          </a:p>
          <a:p>
            <a:pPr marL="857250" lvl="2" indent="0">
              <a:lnSpc>
                <a:spcPct val="150000"/>
              </a:lnSpc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zh-CN" altLang="en-US" sz="2000" dirty="0" smtClean="0">
                <a:solidFill>
                  <a:schemeClr val="tx1"/>
                </a:solidFill>
              </a:rPr>
              <a:t>、在派生类中实现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Cloneable</a:t>
            </a:r>
            <a:r>
              <a:rPr lang="zh-CN" altLang="en-US" sz="2000" dirty="0" smtClean="0">
                <a:solidFill>
                  <a:schemeClr val="tx1"/>
                </a:solidFill>
              </a:rPr>
              <a:t>接口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857250" lvl="2" indent="0">
              <a:lnSpc>
                <a:spcPct val="150000"/>
              </a:lnSpc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2</a:t>
            </a:r>
            <a:r>
              <a:rPr lang="zh-CN" altLang="en-US" sz="2000" dirty="0" smtClean="0">
                <a:solidFill>
                  <a:schemeClr val="tx1"/>
                </a:solidFill>
              </a:rPr>
              <a:t>、覆盖</a:t>
            </a:r>
            <a:r>
              <a:rPr lang="en-US" altLang="zh-CN" sz="2000" dirty="0" smtClean="0">
                <a:solidFill>
                  <a:schemeClr val="tx1"/>
                </a:solidFill>
              </a:rPr>
              <a:t>clone</a:t>
            </a:r>
            <a:r>
              <a:rPr lang="zh-CN" altLang="en-US" sz="2000" dirty="0" smtClean="0">
                <a:solidFill>
                  <a:schemeClr val="tx1"/>
                </a:solidFill>
              </a:rPr>
              <a:t>方法，调用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super.clone</a:t>
            </a:r>
            <a:r>
              <a:rPr lang="en-US" altLang="zh-CN" sz="2000" dirty="0" smtClean="0">
                <a:solidFill>
                  <a:schemeClr val="tx1"/>
                </a:solidFill>
              </a:rPr>
              <a:t>()    </a:t>
            </a:r>
          </a:p>
          <a:p>
            <a:pPr marL="857250" lvl="2" indent="0">
              <a:lnSpc>
                <a:spcPct val="150000"/>
              </a:lnSpc>
              <a:buNone/>
            </a:pPr>
            <a:r>
              <a:rPr lang="zh-CN" altLang="en-US" sz="2000" dirty="0" smtClean="0">
                <a:solidFill>
                  <a:schemeClr val="tx1"/>
                </a:solidFill>
              </a:rPr>
              <a:t>问题：这种方法复制的对象包括成员变量都是新的一份吗？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 sz="2000" b="1" dirty="0" smtClean="0"/>
              <a:t>3</a:t>
            </a:r>
            <a:r>
              <a:rPr lang="zh-CN" altLang="en-US" sz="2000" b="1" dirty="0" smtClean="0"/>
              <a:t>、浅克隆与深克隆</a:t>
            </a:r>
            <a:endParaRPr lang="en-US" altLang="zh-CN" sz="2000" b="1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800" dirty="0" smtClean="0"/>
              <a:t>     </a:t>
            </a:r>
            <a:r>
              <a:rPr lang="zh-CN" altLang="en-US" sz="2000" dirty="0" smtClean="0">
                <a:solidFill>
                  <a:schemeClr val="tx1"/>
                </a:solidFill>
              </a:rPr>
              <a:t>浅</a:t>
            </a:r>
            <a:r>
              <a:rPr lang="zh-CN" altLang="en-US" sz="2000" dirty="0">
                <a:solidFill>
                  <a:schemeClr val="tx1"/>
                </a:solidFill>
              </a:rPr>
              <a:t>克隆是指复制一个对象的</a:t>
            </a:r>
            <a:r>
              <a:rPr lang="zh-CN" altLang="en-US" sz="2000" dirty="0" smtClean="0">
                <a:solidFill>
                  <a:schemeClr val="tx1"/>
                </a:solidFill>
              </a:rPr>
              <a:t>实例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457200" lvl="1" indent="0" algn="l">
              <a:lnSpc>
                <a:spcPct val="150000"/>
              </a:lnSpc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     </a:t>
            </a:r>
            <a:r>
              <a:rPr lang="zh-CN" altLang="en-US" sz="2000" dirty="0" smtClean="0">
                <a:solidFill>
                  <a:schemeClr val="tx1"/>
                </a:solidFill>
              </a:rPr>
              <a:t>深</a:t>
            </a:r>
            <a:r>
              <a:rPr lang="zh-CN" altLang="en-US" sz="2000" dirty="0">
                <a:solidFill>
                  <a:schemeClr val="tx1"/>
                </a:solidFill>
              </a:rPr>
              <a:t>克隆是指复制一个对象的</a:t>
            </a:r>
            <a:r>
              <a:rPr lang="zh-CN" altLang="en-US" sz="2000" dirty="0" smtClean="0">
                <a:solidFill>
                  <a:schemeClr val="tx1"/>
                </a:solidFill>
              </a:rPr>
              <a:t>实例</a:t>
            </a:r>
            <a:r>
              <a:rPr lang="en-US" altLang="zh-CN" sz="2000" dirty="0" smtClean="0">
                <a:solidFill>
                  <a:schemeClr val="tx1"/>
                </a:solidFill>
              </a:rPr>
              <a:t>,</a:t>
            </a:r>
            <a:r>
              <a:rPr lang="zh-CN" altLang="en-US" sz="2000" dirty="0" smtClean="0">
                <a:solidFill>
                  <a:schemeClr val="tx1"/>
                </a:solidFill>
              </a:rPr>
              <a:t>包括引用类型成员</a:t>
            </a:r>
            <a:r>
              <a:rPr lang="zh-CN" altLang="en-US" sz="2000" dirty="0">
                <a:solidFill>
                  <a:schemeClr val="tx1"/>
                </a:solidFill>
              </a:rPr>
              <a:t>也</a:t>
            </a:r>
            <a:r>
              <a:rPr lang="zh-CN" altLang="en-US" sz="2000" dirty="0" smtClean="0">
                <a:solidFill>
                  <a:schemeClr val="tx1"/>
                </a:solidFill>
              </a:rPr>
              <a:t>复制一    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457200" lvl="1" indent="0" algn="l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    </a:t>
            </a:r>
            <a:r>
              <a:rPr lang="zh-CN" altLang="en-US" sz="2000" dirty="0" smtClean="0">
                <a:solidFill>
                  <a:schemeClr val="tx1"/>
                </a:solidFill>
              </a:rPr>
              <a:t>份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zh-CN" altLang="en-US" sz="2000" dirty="0" smtClean="0">
                <a:solidFill>
                  <a:schemeClr val="tx1"/>
                </a:solidFill>
              </a:rPr>
              <a:t>实现深克隆的方式（</a:t>
            </a: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zh-CN" altLang="en-US" sz="2000" dirty="0" smtClean="0">
                <a:solidFill>
                  <a:schemeClr val="tx1"/>
                </a:solidFill>
              </a:rPr>
              <a:t>）对象复制（</a:t>
            </a:r>
            <a:r>
              <a:rPr lang="en-US" altLang="zh-CN" sz="2000" dirty="0" smtClean="0">
                <a:solidFill>
                  <a:schemeClr val="tx1"/>
                </a:solidFill>
              </a:rPr>
              <a:t>2</a:t>
            </a:r>
            <a:r>
              <a:rPr lang="zh-CN" altLang="en-US" sz="2000" dirty="0" smtClean="0">
                <a:solidFill>
                  <a:schemeClr val="tx1"/>
                </a:solidFill>
              </a:rPr>
              <a:t>）串行化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540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</a:t>
            </a:r>
            <a:r>
              <a:rPr lang="en-US" altLang="zh-CN" dirty="0"/>
              <a:t>Object</a:t>
            </a:r>
            <a:r>
              <a:rPr lang="zh-CN" altLang="en-US" dirty="0"/>
              <a:t>类及方法</a:t>
            </a:r>
            <a:r>
              <a:rPr lang="en-US" altLang="zh-CN" dirty="0" smtClean="0"/>
              <a:t>-equals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 smtClean="0"/>
              <a:t>   </a:t>
            </a:r>
            <a:r>
              <a:rPr lang="en-US" altLang="zh-CN" sz="2400" dirty="0" smtClean="0">
                <a:solidFill>
                  <a:schemeClr val="tx1"/>
                </a:solidFill>
              </a:rPr>
              <a:t>boolean equals</a:t>
            </a:r>
            <a:r>
              <a:rPr lang="zh-CN" altLang="en-US" sz="2400" dirty="0">
                <a:solidFill>
                  <a:schemeClr val="tx1"/>
                </a:solidFill>
              </a:rPr>
              <a:t>（）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</a:t>
            </a:r>
            <a:r>
              <a:rPr lang="en-US" altLang="zh-CN" sz="2000" dirty="0" smtClean="0"/>
              <a:t> </a:t>
            </a:r>
            <a:r>
              <a:rPr lang="en-US" altLang="zh-CN" sz="2000" b="1" dirty="0" smtClean="0"/>
              <a:t>1</a:t>
            </a:r>
            <a:r>
              <a:rPr lang="zh-CN" altLang="en-US" sz="2000" b="1" dirty="0" smtClean="0"/>
              <a:t>、作用</a:t>
            </a:r>
            <a:endParaRPr lang="en-US" altLang="zh-CN" sz="2000" b="1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sz="2000" dirty="0" smtClean="0">
                <a:solidFill>
                  <a:schemeClr val="tx1"/>
                </a:solidFill>
              </a:rPr>
              <a:t>默认实现是比较对象的引用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</a:rPr>
              <a:t>对象的内存地址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dirty="0" smtClean="0"/>
              <a:t>   </a:t>
            </a:r>
            <a:r>
              <a:rPr lang="en-US" altLang="zh-CN" sz="2000" b="1" dirty="0" smtClean="0"/>
              <a:t>2</a:t>
            </a:r>
            <a:r>
              <a:rPr lang="zh-CN" altLang="en-US" sz="2000" b="1" dirty="0" smtClean="0"/>
              <a:t>、规则约定</a:t>
            </a:r>
            <a:endParaRPr lang="en-US" altLang="zh-CN" sz="2000" b="1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000" dirty="0" smtClean="0">
                <a:solidFill>
                  <a:schemeClr val="tx1"/>
                </a:solidFill>
              </a:rPr>
              <a:t>自反性：任何非空引用</a:t>
            </a:r>
            <a:r>
              <a:rPr lang="en-US" altLang="zh-CN" sz="2000" dirty="0" smtClean="0">
                <a:solidFill>
                  <a:schemeClr val="tx1"/>
                </a:solidFill>
              </a:rPr>
              <a:t>x</a:t>
            </a:r>
            <a:r>
              <a:rPr lang="zh-CN" altLang="en-US" sz="2000" dirty="0" smtClean="0">
                <a:solidFill>
                  <a:schemeClr val="tx1"/>
                </a:solidFill>
              </a:rPr>
              <a:t>，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x.equals</a:t>
            </a:r>
            <a:r>
              <a:rPr lang="en-US" altLang="zh-CN" sz="2000" dirty="0" smtClean="0">
                <a:solidFill>
                  <a:schemeClr val="tx1"/>
                </a:solidFill>
              </a:rPr>
              <a:t>(x)</a:t>
            </a:r>
            <a:r>
              <a:rPr lang="zh-CN" altLang="en-US" sz="2000" dirty="0" smtClean="0">
                <a:solidFill>
                  <a:schemeClr val="tx1"/>
                </a:solidFill>
              </a:rPr>
              <a:t>返回为</a:t>
            </a:r>
            <a:r>
              <a:rPr lang="en-US" altLang="zh-CN" sz="2000" dirty="0" smtClean="0">
                <a:solidFill>
                  <a:schemeClr val="tx1"/>
                </a:solidFill>
              </a:rPr>
              <a:t>true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000" dirty="0" smtClean="0">
                <a:solidFill>
                  <a:schemeClr val="tx1"/>
                </a:solidFill>
              </a:rPr>
              <a:t>对称性：任何非空引用</a:t>
            </a:r>
            <a:r>
              <a:rPr lang="en-US" altLang="zh-CN" sz="2000" dirty="0" smtClean="0">
                <a:solidFill>
                  <a:schemeClr val="tx1"/>
                </a:solidFill>
              </a:rPr>
              <a:t>x</a:t>
            </a:r>
            <a:r>
              <a:rPr lang="zh-CN" altLang="en-US" sz="2000" dirty="0" smtClean="0">
                <a:solidFill>
                  <a:schemeClr val="tx1"/>
                </a:solidFill>
              </a:rPr>
              <a:t>和</a:t>
            </a:r>
            <a:r>
              <a:rPr lang="en-US" altLang="zh-CN" sz="2000" dirty="0" smtClean="0">
                <a:solidFill>
                  <a:schemeClr val="tx1"/>
                </a:solidFill>
              </a:rPr>
              <a:t>y</a:t>
            </a:r>
            <a:r>
              <a:rPr lang="zh-CN" altLang="en-US" sz="2000" dirty="0" smtClean="0">
                <a:solidFill>
                  <a:schemeClr val="tx1"/>
                </a:solidFill>
              </a:rPr>
              <a:t>，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x.equals</a:t>
            </a:r>
            <a:r>
              <a:rPr lang="en-US" altLang="zh-CN" sz="2000" dirty="0" smtClean="0">
                <a:solidFill>
                  <a:schemeClr val="tx1"/>
                </a:solidFill>
              </a:rPr>
              <a:t>(y)</a:t>
            </a:r>
            <a:r>
              <a:rPr lang="zh-CN" altLang="en-US" sz="2000" dirty="0" smtClean="0">
                <a:solidFill>
                  <a:schemeClr val="tx1"/>
                </a:solidFill>
              </a:rPr>
              <a:t>返回</a:t>
            </a:r>
            <a:r>
              <a:rPr lang="en-US" altLang="zh-CN" sz="2000" dirty="0" smtClean="0">
                <a:solidFill>
                  <a:schemeClr val="tx1"/>
                </a:solidFill>
              </a:rPr>
              <a:t>true</a:t>
            </a:r>
            <a:r>
              <a:rPr lang="zh-CN" altLang="en-US" sz="2000" dirty="0" smtClean="0">
                <a:solidFill>
                  <a:schemeClr val="tx1"/>
                </a:solidFill>
              </a:rPr>
              <a:t>当且仅当</a:t>
            </a:r>
            <a:r>
              <a:rPr lang="en-US" altLang="zh-CN" sz="2000" dirty="0" smtClean="0">
                <a:solidFill>
                  <a:schemeClr val="tx1"/>
                </a:solidFill>
              </a:rPr>
              <a:t>y.equals(x)</a:t>
            </a:r>
            <a:r>
              <a:rPr lang="zh-CN" altLang="en-US" sz="2000" dirty="0" smtClean="0">
                <a:solidFill>
                  <a:schemeClr val="tx1"/>
                </a:solidFill>
              </a:rPr>
              <a:t>返回</a:t>
            </a:r>
            <a:r>
              <a:rPr lang="en-US" altLang="zh-CN" sz="2000" dirty="0" smtClean="0">
                <a:solidFill>
                  <a:schemeClr val="tx1"/>
                </a:solidFill>
              </a:rPr>
              <a:t>true</a:t>
            </a:r>
          </a:p>
          <a:p>
            <a:pPr marL="457200" lvl="1" indent="0">
              <a:buNone/>
            </a:pPr>
            <a:r>
              <a:rPr lang="zh-CN" altLang="en-US" sz="2000" dirty="0" smtClean="0">
                <a:solidFill>
                  <a:schemeClr val="tx1"/>
                </a:solidFill>
              </a:rPr>
              <a:t>类推性：略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zh-CN" altLang="en-US" sz="2000" dirty="0" smtClean="0">
                <a:solidFill>
                  <a:schemeClr val="tx1"/>
                </a:solidFill>
              </a:rPr>
              <a:t>一致性：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x.equals</a:t>
            </a:r>
            <a:r>
              <a:rPr lang="en-US" altLang="zh-CN" sz="2000" dirty="0" smtClean="0">
                <a:solidFill>
                  <a:schemeClr val="tx1"/>
                </a:solidFill>
              </a:rPr>
              <a:t>(y)</a:t>
            </a:r>
            <a:r>
              <a:rPr lang="zh-CN" altLang="en-US" sz="2000" dirty="0" smtClean="0">
                <a:solidFill>
                  <a:schemeClr val="tx1"/>
                </a:solidFill>
              </a:rPr>
              <a:t>，</a:t>
            </a:r>
            <a:r>
              <a:rPr lang="en-US" altLang="zh-CN" sz="2000" dirty="0" smtClean="0">
                <a:solidFill>
                  <a:schemeClr val="tx1"/>
                </a:solidFill>
              </a:rPr>
              <a:t> x y</a:t>
            </a:r>
            <a:r>
              <a:rPr lang="zh-CN" altLang="en-US" sz="2000" dirty="0" smtClean="0">
                <a:solidFill>
                  <a:schemeClr val="tx1"/>
                </a:solidFill>
              </a:rPr>
              <a:t>内容不变结果应该一致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zh-CN" altLang="en-US" sz="2000" dirty="0" smtClean="0">
                <a:solidFill>
                  <a:schemeClr val="tx1"/>
                </a:solidFill>
              </a:rPr>
              <a:t>约定：</a:t>
            </a:r>
            <a:r>
              <a:rPr lang="zh-CN" altLang="en-US" sz="2000" dirty="0">
                <a:solidFill>
                  <a:schemeClr val="tx1"/>
                </a:solidFill>
              </a:rPr>
              <a:t>对于任何非空引用</a:t>
            </a:r>
            <a:r>
              <a:rPr lang="en-US" altLang="zh-CN" sz="2000" dirty="0">
                <a:solidFill>
                  <a:schemeClr val="tx1"/>
                </a:solidFill>
              </a:rPr>
              <a:t>x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</a:rPr>
              <a:t>x.equals(null)</a:t>
            </a:r>
            <a:r>
              <a:rPr lang="zh-CN" altLang="en-US" sz="2000" dirty="0">
                <a:solidFill>
                  <a:schemeClr val="tx1"/>
                </a:solidFill>
              </a:rPr>
              <a:t>应该返回为</a:t>
            </a:r>
            <a:r>
              <a:rPr lang="en-US" altLang="zh-CN" sz="2000" dirty="0">
                <a:solidFill>
                  <a:schemeClr val="tx1"/>
                </a:solidFill>
              </a:rPr>
              <a:t>false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zh-CN" altLang="en-US" sz="1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87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9571" y="151200"/>
            <a:ext cx="6178769" cy="490066"/>
          </a:xfrm>
        </p:spPr>
        <p:txBody>
          <a:bodyPr/>
          <a:lstStyle/>
          <a:p>
            <a:r>
              <a:rPr lang="zh-CN" altLang="en-US" dirty="0"/>
              <a:t>二、</a:t>
            </a:r>
            <a:r>
              <a:rPr lang="en-US" altLang="zh-CN" dirty="0"/>
              <a:t>Object</a:t>
            </a:r>
            <a:r>
              <a:rPr lang="zh-CN" altLang="en-US" dirty="0"/>
              <a:t>类及方法</a:t>
            </a:r>
            <a:r>
              <a:rPr lang="en-US" altLang="zh-CN" dirty="0" smtClean="0"/>
              <a:t>-</a:t>
            </a:r>
            <a:r>
              <a:rPr lang="en-US" altLang="zh-CN" dirty="0" err="1" smtClean="0"/>
              <a:t>hashCode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en-US" altLang="zh-CN" sz="2400" dirty="0" err="1">
                <a:solidFill>
                  <a:schemeClr val="tx1"/>
                </a:solidFill>
              </a:rPr>
              <a:t>i</a:t>
            </a:r>
            <a:r>
              <a:rPr lang="en-US" altLang="zh-CN" sz="2400" dirty="0" err="1" smtClean="0">
                <a:solidFill>
                  <a:schemeClr val="tx1"/>
                </a:solidFill>
              </a:rPr>
              <a:t>nt</a:t>
            </a:r>
            <a:r>
              <a:rPr lang="en-US" altLang="zh-CN" sz="2400" dirty="0" smtClean="0">
                <a:solidFill>
                  <a:schemeClr val="tx1"/>
                </a:solidFill>
              </a:rPr>
              <a:t> hashCode()</a:t>
            </a:r>
          </a:p>
          <a:p>
            <a:pPr marL="457200" lvl="1" indent="0">
              <a:buNone/>
            </a:pPr>
            <a:r>
              <a:rPr lang="en-US" altLang="zh-CN" sz="2000" b="1" dirty="0" smtClean="0">
                <a:solidFill>
                  <a:schemeClr val="tx1"/>
                </a:solidFill>
              </a:rPr>
              <a:t>1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、作用：</a:t>
            </a:r>
            <a:endParaRPr lang="en-US" altLang="zh-CN" sz="2000" b="1" dirty="0" smtClean="0">
              <a:solidFill>
                <a:schemeClr val="tx1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 </a:t>
            </a:r>
            <a:r>
              <a:rPr lang="zh-CN" altLang="en-US" sz="2000" dirty="0" smtClean="0">
                <a:solidFill>
                  <a:schemeClr val="tx1"/>
                </a:solidFill>
              </a:rPr>
              <a:t>返回</a:t>
            </a:r>
            <a:r>
              <a:rPr lang="zh-CN" altLang="en-US" sz="2000" dirty="0">
                <a:solidFill>
                  <a:schemeClr val="tx1"/>
                </a:solidFill>
              </a:rPr>
              <a:t>调用该方法的对象</a:t>
            </a:r>
            <a:r>
              <a:rPr lang="zh-CN" altLang="en-US" sz="2000" dirty="0" smtClean="0">
                <a:solidFill>
                  <a:schemeClr val="tx1"/>
                </a:solidFill>
              </a:rPr>
              <a:t>的</a:t>
            </a:r>
            <a:r>
              <a:rPr lang="zh-CN" altLang="en-US" sz="2000" dirty="0">
                <a:solidFill>
                  <a:schemeClr val="tx1"/>
                </a:solidFill>
              </a:rPr>
              <a:t>哈希</a:t>
            </a:r>
            <a:r>
              <a:rPr lang="zh-CN" altLang="en-US" sz="2000" dirty="0" smtClean="0">
                <a:solidFill>
                  <a:schemeClr val="tx1"/>
                </a:solidFill>
              </a:rPr>
              <a:t>码值（</a:t>
            </a:r>
            <a:r>
              <a:rPr lang="zh-CN" altLang="en-US" sz="2000" dirty="0">
                <a:solidFill>
                  <a:schemeClr val="tx1"/>
                </a:solidFill>
              </a:rPr>
              <a:t>正</a:t>
            </a:r>
            <a:r>
              <a:rPr lang="zh-CN" altLang="en-US" sz="2000" dirty="0" smtClean="0">
                <a:solidFill>
                  <a:schemeClr val="tx1"/>
                </a:solidFill>
              </a:rPr>
              <a:t>整数形式）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 err="1" smtClean="0">
                <a:solidFill>
                  <a:schemeClr val="tx1"/>
                </a:solidFill>
              </a:rPr>
              <a:t>hashCode</a:t>
            </a:r>
            <a:r>
              <a:rPr lang="zh-CN" altLang="en-US" sz="2000" dirty="0" smtClean="0">
                <a:solidFill>
                  <a:schemeClr val="tx1"/>
                </a:solidFill>
              </a:rPr>
              <a:t>用于查找定位区域，将集合分成若干个区域，每个对象都可以计算出他们的</a:t>
            </a:r>
            <a:r>
              <a:rPr lang="en-US" altLang="zh-CN" sz="2000" dirty="0" smtClean="0">
                <a:solidFill>
                  <a:schemeClr val="tx1"/>
                </a:solidFill>
              </a:rPr>
              <a:t>hash</a:t>
            </a:r>
            <a:r>
              <a:rPr lang="zh-CN" altLang="en-US" sz="2000" dirty="0" smtClean="0">
                <a:solidFill>
                  <a:schemeClr val="tx1"/>
                </a:solidFill>
              </a:rPr>
              <a:t>码，可以将</a:t>
            </a:r>
            <a:r>
              <a:rPr lang="en-US" altLang="zh-CN" sz="2000" dirty="0" smtClean="0">
                <a:solidFill>
                  <a:schemeClr val="tx1"/>
                </a:solidFill>
              </a:rPr>
              <a:t>hash</a:t>
            </a:r>
            <a:r>
              <a:rPr lang="zh-CN" altLang="en-US" sz="2000" dirty="0" smtClean="0">
                <a:solidFill>
                  <a:schemeClr val="tx1"/>
                </a:solidFill>
              </a:rPr>
              <a:t>码分组，每个分组对应着某个存储区域，主要是配合基于散列的集合一起使用包括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HashSet</a:t>
            </a:r>
            <a:r>
              <a:rPr lang="zh-CN" altLang="en-US" sz="2000" dirty="0" smtClean="0">
                <a:solidFill>
                  <a:schemeClr val="tx1"/>
                </a:solidFill>
              </a:rPr>
              <a:t>、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HashMap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HashTable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 sz="2000" b="1" dirty="0" smtClean="0">
                <a:solidFill>
                  <a:schemeClr val="tx1"/>
                </a:solidFill>
              </a:rPr>
              <a:t>2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、与</a:t>
            </a:r>
            <a:r>
              <a:rPr lang="en-US" altLang="zh-CN" sz="2000" b="1" dirty="0" smtClean="0">
                <a:solidFill>
                  <a:schemeClr val="tx1"/>
                </a:solidFill>
              </a:rPr>
              <a:t>equals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的区别</a:t>
            </a:r>
            <a:endParaRPr lang="en-US" altLang="zh-CN" sz="2000" b="1" dirty="0" smtClean="0">
              <a:solidFill>
                <a:schemeClr val="tx1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</a:rPr>
              <a:t>     </a:t>
            </a:r>
            <a:r>
              <a:rPr lang="en-US" altLang="zh-CN" sz="2000" dirty="0" smtClean="0">
                <a:solidFill>
                  <a:schemeClr val="tx1"/>
                </a:solidFill>
              </a:rPr>
              <a:t>equals </a:t>
            </a:r>
            <a:r>
              <a:rPr lang="zh-CN" altLang="en-US" sz="2000" dirty="0" smtClean="0">
                <a:solidFill>
                  <a:schemeClr val="tx1"/>
                </a:solidFill>
              </a:rPr>
              <a:t>用于比较两个对象是否相等</a:t>
            </a:r>
            <a:r>
              <a:rPr lang="en-US" altLang="zh-CN" sz="2000" dirty="0" smtClean="0">
                <a:solidFill>
                  <a:schemeClr val="tx1"/>
                </a:solidFill>
              </a:rPr>
              <a:t>	</a:t>
            </a:r>
          </a:p>
          <a:p>
            <a:pPr marL="457200" lvl="1" indent="0">
              <a:buNone/>
            </a:pP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298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</a:t>
            </a:r>
            <a:r>
              <a:rPr lang="en-US" altLang="zh-CN" dirty="0"/>
              <a:t>Object</a:t>
            </a:r>
            <a:r>
              <a:rPr lang="zh-CN" altLang="en-US" dirty="0"/>
              <a:t>类及方法</a:t>
            </a:r>
            <a:r>
              <a:rPr lang="en-US" altLang="zh-CN" dirty="0" smtClean="0"/>
              <a:t>-</a:t>
            </a:r>
            <a:r>
              <a:rPr lang="en-US" altLang="zh-CN" dirty="0" err="1" smtClean="0"/>
              <a:t>toString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 altLang="zh-CN" sz="1800" dirty="0" smtClean="0"/>
          </a:p>
          <a:p>
            <a:pPr marL="457200" lvl="1" indent="0">
              <a:buNone/>
            </a:pPr>
            <a:r>
              <a:rPr lang="en-US" altLang="zh-CN" dirty="0" smtClean="0">
                <a:solidFill>
                  <a:schemeClr val="tx1"/>
                </a:solidFill>
              </a:rPr>
              <a:t>String </a:t>
            </a:r>
            <a:r>
              <a:rPr lang="en-US" altLang="zh-CN" dirty="0" err="1">
                <a:solidFill>
                  <a:schemeClr val="tx1"/>
                </a:solidFill>
              </a:rPr>
              <a:t>toString</a:t>
            </a:r>
            <a:r>
              <a:rPr lang="en-US" altLang="zh-CN" dirty="0" smtClean="0">
                <a:solidFill>
                  <a:schemeClr val="tx1"/>
                </a:solidFill>
              </a:rPr>
              <a:t>()</a:t>
            </a:r>
          </a:p>
          <a:p>
            <a:pPr marL="457200" lvl="1" indent="0">
              <a:buNone/>
            </a:pPr>
            <a:r>
              <a:rPr lang="en-US" altLang="zh-CN" sz="2000" b="1" dirty="0" smtClean="0"/>
              <a:t>1</a:t>
            </a:r>
            <a:r>
              <a:rPr lang="zh-CN" altLang="en-US" sz="2000" b="1" dirty="0" smtClean="0"/>
              <a:t>、作用</a:t>
            </a:r>
            <a:endParaRPr lang="en-US" altLang="zh-CN" sz="2000" b="1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en-US" altLang="zh-CN" sz="2000" dirty="0" smtClean="0"/>
              <a:t>  </a:t>
            </a:r>
            <a:r>
              <a:rPr lang="zh-CN" altLang="en-US" sz="2000" dirty="0" smtClean="0">
                <a:solidFill>
                  <a:schemeClr val="tx1"/>
                </a:solidFill>
              </a:rPr>
              <a:t>返回该对象的字符串表示</a:t>
            </a:r>
            <a:r>
              <a:rPr lang="en-US" altLang="zh-CN" sz="2000" dirty="0" smtClean="0">
                <a:solidFill>
                  <a:schemeClr val="tx1"/>
                </a:solidFill>
              </a:rPr>
              <a:t>,Object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toString</a:t>
            </a:r>
            <a:r>
              <a:rPr lang="en-US" altLang="zh-CN" sz="2000" dirty="0" smtClean="0">
                <a:solidFill>
                  <a:schemeClr val="tx1"/>
                </a:solidFill>
              </a:rPr>
              <a:t>()</a:t>
            </a:r>
            <a:r>
              <a:rPr lang="zh-CN" altLang="en-US" sz="2000" dirty="0" smtClean="0">
                <a:solidFill>
                  <a:schemeClr val="tx1"/>
                </a:solidFill>
              </a:rPr>
              <a:t>方法默认返回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000" dirty="0" smtClean="0">
                <a:solidFill>
                  <a:schemeClr val="tx1"/>
                </a:solidFill>
              </a:rPr>
              <a:t>对象类名</a:t>
            </a:r>
            <a:r>
              <a:rPr lang="en-US" altLang="zh-CN" sz="2000" dirty="0" smtClean="0">
                <a:solidFill>
                  <a:schemeClr val="tx1"/>
                </a:solidFill>
              </a:rPr>
              <a:t>@</a:t>
            </a:r>
            <a:r>
              <a:rPr lang="zh-CN" altLang="en-US" sz="2000" dirty="0" smtClean="0">
                <a:solidFill>
                  <a:schemeClr val="tx1"/>
                </a:solidFill>
              </a:rPr>
              <a:t>对象哈希码的无符号十六进制对象表示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altLang="zh-CN" sz="2000" b="1" dirty="0" smtClean="0"/>
              <a:t>2</a:t>
            </a:r>
            <a:r>
              <a:rPr lang="zh-CN" altLang="en-US" sz="2000" b="1" dirty="0" smtClean="0"/>
              <a:t>、应用</a:t>
            </a:r>
            <a:endParaRPr lang="en-US" altLang="zh-CN" sz="2000" b="1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b="1" dirty="0"/>
              <a:t> </a:t>
            </a:r>
            <a:r>
              <a:rPr lang="en-US" altLang="zh-CN" sz="2000" b="1" dirty="0" smtClean="0"/>
              <a:t>      </a:t>
            </a:r>
            <a:r>
              <a:rPr lang="zh-CN" altLang="en-US" sz="2000" dirty="0" smtClean="0">
                <a:solidFill>
                  <a:schemeClr val="tx1"/>
                </a:solidFill>
              </a:rPr>
              <a:t>重写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toString</a:t>
            </a:r>
            <a:r>
              <a:rPr lang="zh-CN" altLang="en-US" sz="2000" dirty="0" smtClean="0">
                <a:solidFill>
                  <a:schemeClr val="tx1"/>
                </a:solidFill>
              </a:rPr>
              <a:t>（）方法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       </a:t>
            </a:r>
            <a:r>
              <a:rPr lang="zh-CN" altLang="en-US" sz="2000" dirty="0" smtClean="0">
                <a:solidFill>
                  <a:schemeClr val="tx1"/>
                </a:solidFill>
              </a:rPr>
              <a:t>打印输出时的调用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sz="2000" b="1" dirty="0" smtClean="0">
                <a:solidFill>
                  <a:schemeClr val="tx1"/>
                </a:solidFill>
              </a:rPr>
              <a:t>   </a:t>
            </a:r>
            <a:r>
              <a:rPr lang="en-US" altLang="zh-CN" sz="2000" dirty="0" smtClean="0">
                <a:solidFill>
                  <a:schemeClr val="tx1"/>
                </a:solidFill>
              </a:rPr>
              <a:t> 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System.out.println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Obj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altLang="zh-CN" sz="1800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473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</a:t>
            </a:r>
            <a:r>
              <a:rPr lang="en-US" altLang="zh-CN" dirty="0"/>
              <a:t>Object</a:t>
            </a:r>
            <a:r>
              <a:rPr lang="zh-CN" altLang="en-US" dirty="0"/>
              <a:t>类及方法</a:t>
            </a:r>
            <a:r>
              <a:rPr lang="en-US" altLang="zh-CN" dirty="0" smtClean="0"/>
              <a:t>-</a:t>
            </a:r>
            <a:r>
              <a:rPr lang="en-US" altLang="zh-CN" dirty="0" err="1" smtClean="0"/>
              <a:t>getClass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Class&lt;?&gt; </a:t>
            </a:r>
            <a:r>
              <a:rPr lang="en-US" altLang="zh-CN" dirty="0" err="1">
                <a:solidFill>
                  <a:schemeClr val="tx1"/>
                </a:solidFill>
              </a:rPr>
              <a:t>getClass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</a:p>
          <a:p>
            <a:pPr marL="457200" lvl="1" indent="0" algn="l">
              <a:buNone/>
            </a:pPr>
            <a:r>
              <a:rPr lang="en-US" altLang="zh-CN" sz="2000" b="1" dirty="0" smtClean="0">
                <a:solidFill>
                  <a:schemeClr val="tx1"/>
                </a:solidFill>
              </a:rPr>
              <a:t>1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、作用</a:t>
            </a:r>
            <a:endParaRPr lang="en-US" altLang="zh-CN" sz="2000" b="1" dirty="0" smtClean="0">
              <a:solidFill>
                <a:schemeClr val="tx1"/>
              </a:solidFill>
            </a:endParaRPr>
          </a:p>
          <a:p>
            <a:pPr marL="457200" lvl="1" indent="0" algn="l">
              <a:lnSpc>
                <a:spcPct val="150000"/>
              </a:lnSpc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</a:rPr>
              <a:t>    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zh-CN" altLang="en-US" sz="2000" dirty="0" smtClean="0">
                <a:solidFill>
                  <a:schemeClr val="tx1"/>
                </a:solidFill>
              </a:rPr>
              <a:t>获取一</a:t>
            </a:r>
            <a:r>
              <a:rPr lang="zh-CN" altLang="en-US" sz="2000" dirty="0">
                <a:solidFill>
                  <a:schemeClr val="tx1"/>
                </a:solidFill>
              </a:rPr>
              <a:t>个类的定义信息</a:t>
            </a:r>
            <a:r>
              <a:rPr lang="zh-CN" altLang="en-US" sz="2000" dirty="0" smtClean="0">
                <a:solidFill>
                  <a:schemeClr val="tx1"/>
                </a:solidFill>
              </a:rPr>
              <a:t>，运行时期访问对象</a:t>
            </a:r>
            <a:r>
              <a:rPr lang="zh-CN" altLang="en-US" sz="2000" dirty="0">
                <a:solidFill>
                  <a:schemeClr val="tx1"/>
                </a:solidFill>
              </a:rPr>
              <a:t>类型</a:t>
            </a:r>
            <a:r>
              <a:rPr lang="zh-CN" altLang="en-US" sz="2000" dirty="0" smtClean="0">
                <a:solidFill>
                  <a:schemeClr val="tx1"/>
                </a:solidFill>
              </a:rPr>
              <a:t>信息</a:t>
            </a:r>
            <a:r>
              <a:rPr lang="en-US" altLang="zh-CN" sz="2000" dirty="0">
                <a:solidFill>
                  <a:schemeClr val="tx1"/>
                </a:solidFill>
              </a:rPr>
              <a:t>(</a:t>
            </a:r>
            <a:r>
              <a:rPr lang="zh-CN" altLang="en-US" sz="2000" dirty="0">
                <a:solidFill>
                  <a:schemeClr val="tx1"/>
                </a:solidFill>
              </a:rPr>
              <a:t>包括函数和</a:t>
            </a:r>
            <a:r>
              <a:rPr lang="zh-CN" altLang="en-US" sz="2000" dirty="0" smtClean="0">
                <a:solidFill>
                  <a:schemeClr val="tx1"/>
                </a:solidFill>
              </a:rPr>
              <a:t>字段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r>
              <a:rPr lang="zh-CN" altLang="en-US" sz="2000" dirty="0" smtClean="0">
                <a:solidFill>
                  <a:schemeClr val="tx1"/>
                </a:solidFill>
              </a:rPr>
              <a:t>，返回该对象 的运行时类的一个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java.lang.Class</a:t>
            </a:r>
            <a:r>
              <a:rPr lang="zh-CN" altLang="en-US" sz="2000" dirty="0" smtClean="0">
                <a:solidFill>
                  <a:schemeClr val="tx1"/>
                </a:solidFill>
              </a:rPr>
              <a:t>对象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457200" lvl="1" indent="0" algn="l">
              <a:lnSpc>
                <a:spcPct val="150000"/>
              </a:lnSpc>
              <a:buNone/>
            </a:pPr>
            <a:r>
              <a:rPr lang="zh-CN" altLang="en-US" sz="2000" dirty="0" smtClean="0">
                <a:solidFill>
                  <a:schemeClr val="tx1"/>
                </a:solidFill>
              </a:rPr>
              <a:t>问题：什么是运行时类</a:t>
            </a:r>
            <a:r>
              <a:rPr lang="zh-CN" altLang="en-US" sz="1800" dirty="0">
                <a:solidFill>
                  <a:schemeClr val="tx1"/>
                </a:solidFill>
              </a:rPr>
              <a:t/>
            </a:r>
            <a:br>
              <a:rPr lang="zh-CN" altLang="en-US" sz="1800" dirty="0">
                <a:solidFill>
                  <a:schemeClr val="tx1"/>
                </a:solidFill>
              </a:rPr>
            </a:b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altLang="zh-CN" sz="1800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732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三、</a:t>
            </a:r>
            <a:r>
              <a:rPr lang="en-US" altLang="zh-CN" dirty="0" smtClean="0"/>
              <a:t>Math</a:t>
            </a:r>
            <a:r>
              <a:rPr lang="zh-CN" altLang="en-US" dirty="0" smtClean="0"/>
              <a:t>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Math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f</a:t>
            </a:r>
            <a:r>
              <a:rPr lang="en-US" altLang="zh-CN" sz="2000" dirty="0" smtClean="0"/>
              <a:t>loor()  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000" dirty="0" smtClean="0">
                <a:solidFill>
                  <a:schemeClr val="tx1"/>
                </a:solidFill>
              </a:rPr>
              <a:t>取</a:t>
            </a:r>
            <a:r>
              <a:rPr lang="zh-CN" altLang="en-US" sz="2000" dirty="0">
                <a:solidFill>
                  <a:schemeClr val="tx1"/>
                </a:solidFill>
              </a:rPr>
              <a:t>整，返回小于目标数的最大整数 </a:t>
            </a:r>
            <a:r>
              <a:rPr lang="zh-CN" altLang="en-US" sz="2000" dirty="0"/>
              <a:t> </a:t>
            </a:r>
            <a:endParaRPr lang="en-US" altLang="zh-CN" sz="2000" dirty="0" smtClean="0"/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c</a:t>
            </a:r>
            <a:r>
              <a:rPr lang="en-US" altLang="zh-CN" sz="2000" dirty="0" smtClean="0"/>
              <a:t>eil()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取整，</a:t>
            </a:r>
            <a:r>
              <a:rPr lang="zh-CN" altLang="en-US" sz="2000" dirty="0" smtClean="0">
                <a:solidFill>
                  <a:schemeClr val="tx1"/>
                </a:solidFill>
              </a:rPr>
              <a:t>返回大于目标</a:t>
            </a:r>
            <a:r>
              <a:rPr lang="zh-CN" altLang="en-US" sz="2000" dirty="0">
                <a:solidFill>
                  <a:schemeClr val="tx1"/>
                </a:solidFill>
              </a:rPr>
              <a:t>数的</a:t>
            </a:r>
            <a:r>
              <a:rPr lang="zh-CN" altLang="en-US" sz="2000" dirty="0" smtClean="0">
                <a:solidFill>
                  <a:schemeClr val="tx1"/>
                </a:solidFill>
              </a:rPr>
              <a:t>最小整数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smtClean="0"/>
              <a:t>round()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000" dirty="0" smtClean="0">
                <a:solidFill>
                  <a:schemeClr val="tx1"/>
                </a:solidFill>
              </a:rPr>
              <a:t>四舍五入取整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/>
                </a:solidFill>
              </a:rPr>
              <a:t>角度、弧度互相转换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/>
                </a:solidFill>
              </a:rPr>
              <a:t>三角运算（正弦、余弦、正切等）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altLang="zh-CN" sz="1800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53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四、</a:t>
            </a:r>
            <a:r>
              <a:rPr lang="en-US" altLang="zh-CN" dirty="0" smtClean="0"/>
              <a:t>Class</a:t>
            </a:r>
            <a:r>
              <a:rPr lang="zh-CN" altLang="en-US" dirty="0" smtClean="0"/>
              <a:t>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Class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sz="1800" dirty="0" smtClean="0">
                <a:solidFill>
                  <a:schemeClr val="accent2">
                    <a:lumMod val="75000"/>
                  </a:schemeClr>
                </a:solidFill>
              </a:rPr>
              <a:t>      </a:t>
            </a:r>
            <a:r>
              <a:rPr lang="en-US" altLang="zh-CN" sz="2000" b="1" dirty="0" smtClean="0">
                <a:solidFill>
                  <a:schemeClr val="tx1"/>
                </a:solidFill>
              </a:rPr>
              <a:t>1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、</a:t>
            </a:r>
            <a:r>
              <a:rPr lang="en-US" altLang="zh-CN" sz="2000" b="1" dirty="0" smtClean="0">
                <a:solidFill>
                  <a:schemeClr val="tx1"/>
                </a:solidFill>
              </a:rPr>
              <a:t>Class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类是什么</a:t>
            </a:r>
            <a:endParaRPr lang="en-US" altLang="zh-CN" sz="2000" b="1" dirty="0" smtClean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solidFill>
                  <a:schemeClr val="tx1"/>
                </a:solidFill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</a:rPr>
              <a:t>           </a:t>
            </a:r>
            <a:r>
              <a:rPr lang="zh-CN" altLang="en-US" sz="2000" dirty="0" smtClean="0">
                <a:solidFill>
                  <a:schemeClr val="tx1"/>
                </a:solidFill>
              </a:rPr>
              <a:t>当</a:t>
            </a:r>
            <a:r>
              <a:rPr lang="en-US" altLang="zh-CN" sz="2000" dirty="0">
                <a:solidFill>
                  <a:schemeClr val="tx1"/>
                </a:solidFill>
              </a:rPr>
              <a:t>Java</a:t>
            </a:r>
            <a:r>
              <a:rPr lang="zh-CN" altLang="en-US" sz="2000" dirty="0">
                <a:solidFill>
                  <a:schemeClr val="tx1"/>
                </a:solidFill>
              </a:rPr>
              <a:t>虚拟机载入一个类的时候，它就会自动创建一</a:t>
            </a:r>
            <a:r>
              <a:rPr lang="zh-CN" altLang="en-US" sz="2000" dirty="0" smtClean="0">
                <a:solidFill>
                  <a:schemeClr val="tx1"/>
                </a:solidFill>
              </a:rPr>
              <a:t>个</a:t>
            </a:r>
            <a:r>
              <a:rPr lang="en-US" altLang="zh-CN" sz="2000" dirty="0" smtClean="0">
                <a:solidFill>
                  <a:schemeClr val="tx1"/>
                </a:solidFill>
              </a:rPr>
              <a:t>Class</a:t>
            </a:r>
            <a:r>
              <a:rPr lang="zh-CN" altLang="en-US" sz="2000" dirty="0">
                <a:solidFill>
                  <a:schemeClr val="tx1"/>
                </a:solidFill>
              </a:rPr>
              <a:t>类的</a:t>
            </a:r>
            <a:r>
              <a:rPr lang="zh-CN" altLang="en-US" sz="2000" dirty="0" smtClean="0">
                <a:solidFill>
                  <a:schemeClr val="tx1"/>
                </a:solidFill>
              </a:rPr>
              <a:t>实例</a:t>
            </a:r>
            <a:r>
              <a:rPr lang="zh-CN" altLang="en-US" sz="2000" dirty="0">
                <a:solidFill>
                  <a:schemeClr val="tx1"/>
                </a:solidFill>
              </a:rPr>
              <a:t>来表示这个类，并且是在生成</a:t>
            </a:r>
            <a:r>
              <a:rPr lang="en-US" altLang="zh-CN" sz="2000" dirty="0">
                <a:solidFill>
                  <a:schemeClr val="tx1"/>
                </a:solidFill>
              </a:rPr>
              <a:t>.class</a:t>
            </a:r>
            <a:r>
              <a:rPr lang="zh-CN" altLang="en-US" sz="2000" dirty="0">
                <a:solidFill>
                  <a:schemeClr val="tx1"/>
                </a:solidFill>
              </a:rPr>
              <a:t>文件时创建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b="1" dirty="0" smtClean="0">
                <a:solidFill>
                  <a:schemeClr val="tx1"/>
                </a:solidFill>
              </a:rPr>
              <a:t>      2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、获得实例的</a:t>
            </a:r>
            <a:r>
              <a:rPr lang="en-US" altLang="zh-CN" sz="2000" b="1" dirty="0" smtClean="0">
                <a:solidFill>
                  <a:schemeClr val="tx1"/>
                </a:solidFill>
              </a:rPr>
              <a:t>3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种途径</a:t>
            </a:r>
            <a:r>
              <a:rPr lang="en-US" altLang="zh-CN" sz="2000" b="1" dirty="0" smtClean="0"/>
              <a:t>	</a:t>
            </a:r>
            <a:r>
              <a:rPr lang="en-US" altLang="zh-CN" sz="1400" dirty="0"/>
              <a:t>	</a:t>
            </a:r>
            <a:endParaRPr lang="en-US" altLang="zh-CN" sz="1400" dirty="0" smtClean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18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zh-CN" sz="1800" dirty="0" smtClean="0">
                <a:solidFill>
                  <a:schemeClr val="accent2">
                    <a:lumMod val="75000"/>
                  </a:schemeClr>
                </a:solidFill>
              </a:rPr>
              <a:t>     </a:t>
            </a:r>
            <a:r>
              <a:rPr lang="en-US" altLang="zh-CN" sz="20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zh-CN" altLang="en-US" sz="2000" dirty="0" smtClean="0">
                <a:solidFill>
                  <a:schemeClr val="tx1"/>
                </a:solidFill>
              </a:rPr>
              <a:t>（</a:t>
            </a: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zh-CN" altLang="en-US" sz="2000" dirty="0" smtClean="0">
                <a:solidFill>
                  <a:schemeClr val="tx1"/>
                </a:solidFill>
              </a:rPr>
              <a:t>）对象</a:t>
            </a:r>
            <a:r>
              <a:rPr lang="en-US" altLang="zh-CN" sz="2000" dirty="0" smtClean="0">
                <a:solidFill>
                  <a:schemeClr val="tx1"/>
                </a:solidFill>
              </a:rPr>
              <a:t>.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getClass</a:t>
            </a:r>
            <a:r>
              <a:rPr lang="zh-CN" altLang="en-US" sz="2000" dirty="0" smtClean="0">
                <a:solidFill>
                  <a:schemeClr val="tx1"/>
                </a:solidFill>
              </a:rPr>
              <a:t>（）获取该对象的</a:t>
            </a:r>
            <a:r>
              <a:rPr lang="en-US" altLang="zh-CN" sz="2000" dirty="0" smtClean="0">
                <a:solidFill>
                  <a:schemeClr val="tx1"/>
                </a:solidFill>
              </a:rPr>
              <a:t>Class</a:t>
            </a:r>
            <a:r>
              <a:rPr lang="zh-CN" altLang="en-US" sz="2000" dirty="0">
                <a:solidFill>
                  <a:schemeClr val="tx1"/>
                </a:solidFill>
              </a:rPr>
              <a:t>实例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                Class </a:t>
            </a:r>
            <a:r>
              <a:rPr lang="en-US" altLang="zh-CN" sz="2000" dirty="0" err="1">
                <a:solidFill>
                  <a:schemeClr val="tx1"/>
                </a:solidFill>
              </a:rPr>
              <a:t>classObj</a:t>
            </a:r>
            <a:r>
              <a:rPr lang="en-US" altLang="zh-CN" sz="2000" dirty="0">
                <a:solidFill>
                  <a:schemeClr val="tx1"/>
                </a:solidFill>
              </a:rPr>
              <a:t> =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ClassName.getClass</a:t>
            </a:r>
            <a:r>
              <a:rPr lang="zh-CN" altLang="en-US" sz="2000" dirty="0">
                <a:solidFill>
                  <a:schemeClr val="tx1"/>
                </a:solidFill>
              </a:rPr>
              <a:t>（）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       </a:t>
            </a:r>
            <a:r>
              <a:rPr lang="zh-CN" altLang="en-US" sz="2000" dirty="0" smtClean="0">
                <a:solidFill>
                  <a:schemeClr val="tx1"/>
                </a:solidFill>
              </a:rPr>
              <a:t>（</a:t>
            </a:r>
            <a:r>
              <a:rPr lang="en-US" altLang="zh-CN" sz="2000" dirty="0" smtClean="0">
                <a:solidFill>
                  <a:schemeClr val="tx1"/>
                </a:solidFill>
              </a:rPr>
              <a:t>2</a:t>
            </a:r>
            <a:r>
              <a:rPr lang="zh-CN" altLang="en-US" sz="2000" dirty="0" smtClean="0">
                <a:solidFill>
                  <a:schemeClr val="tx1"/>
                </a:solidFill>
              </a:rPr>
              <a:t>）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Class.forName</a:t>
            </a:r>
            <a:r>
              <a:rPr lang="zh-CN" altLang="en-US" sz="2000" dirty="0" smtClean="0">
                <a:solidFill>
                  <a:schemeClr val="tx1"/>
                </a:solidFill>
              </a:rPr>
              <a:t>（）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400050" lvl="1" indent="0"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       </a:t>
            </a:r>
            <a:r>
              <a:rPr lang="zh-CN" altLang="en-US" sz="2000" dirty="0" smtClean="0">
                <a:solidFill>
                  <a:schemeClr val="tx1"/>
                </a:solidFill>
              </a:rPr>
              <a:t>（</a:t>
            </a:r>
            <a:r>
              <a:rPr lang="en-US" altLang="zh-CN" sz="2000" dirty="0" smtClean="0">
                <a:solidFill>
                  <a:schemeClr val="tx1"/>
                </a:solidFill>
              </a:rPr>
              <a:t>3</a:t>
            </a:r>
            <a:r>
              <a:rPr lang="zh-CN" altLang="en-US" sz="2000" dirty="0" smtClean="0">
                <a:solidFill>
                  <a:schemeClr val="tx1"/>
                </a:solidFill>
              </a:rPr>
              <a:t>）类</a:t>
            </a:r>
            <a:r>
              <a:rPr lang="en-US" altLang="zh-CN" sz="2000" dirty="0" smtClean="0">
                <a:solidFill>
                  <a:schemeClr val="tx1"/>
                </a:solidFill>
              </a:rPr>
              <a:t>.class</a:t>
            </a:r>
          </a:p>
          <a:p>
            <a:pPr marL="400050" lvl="1" indent="0">
              <a:buNone/>
            </a:pPr>
            <a:r>
              <a:rPr lang="en-US" altLang="zh-CN" sz="2000" b="1" dirty="0" smtClean="0">
                <a:solidFill>
                  <a:schemeClr val="tx1"/>
                </a:solidFill>
              </a:rPr>
              <a:t>3</a:t>
            </a:r>
            <a:r>
              <a:rPr lang="zh-CN" altLang="en-US" sz="2000" b="1" dirty="0" smtClean="0">
                <a:solidFill>
                  <a:schemeClr val="tx1"/>
                </a:solidFill>
              </a:rPr>
              <a:t>、作用</a:t>
            </a:r>
            <a:endParaRPr lang="en-US" altLang="zh-CN" sz="2000" b="1" dirty="0" smtClean="0"/>
          </a:p>
          <a:p>
            <a:pPr marL="400050" lvl="1" indent="0">
              <a:lnSpc>
                <a:spcPct val="150000"/>
              </a:lnSpc>
              <a:buNone/>
            </a:pPr>
            <a:r>
              <a:rPr lang="zh-CN" altLang="en-US" sz="1800" dirty="0" smtClean="0"/>
              <a:t>     </a:t>
            </a:r>
            <a:r>
              <a:rPr lang="zh-CN" altLang="en-US" sz="1800" dirty="0" smtClean="0">
                <a:solidFill>
                  <a:schemeClr val="tx1"/>
                </a:solidFill>
              </a:rPr>
              <a:t>  </a:t>
            </a:r>
            <a:r>
              <a:rPr lang="zh-CN" altLang="en-US" sz="2000" dirty="0" smtClean="0">
                <a:solidFill>
                  <a:schemeClr val="tx1"/>
                </a:solidFill>
              </a:rPr>
              <a:t>把</a:t>
            </a:r>
            <a:r>
              <a:rPr lang="en-US" altLang="zh-CN" sz="2000" dirty="0">
                <a:solidFill>
                  <a:schemeClr val="tx1"/>
                </a:solidFill>
              </a:rPr>
              <a:t>Java</a:t>
            </a:r>
            <a:r>
              <a:rPr lang="zh-CN" altLang="en-US" sz="2000" dirty="0">
                <a:solidFill>
                  <a:schemeClr val="tx1"/>
                </a:solidFill>
              </a:rPr>
              <a:t>类中的各种成分映射成相应的</a:t>
            </a:r>
            <a:r>
              <a:rPr lang="en-US" altLang="zh-CN" sz="2000" dirty="0">
                <a:solidFill>
                  <a:schemeClr val="tx1"/>
                </a:solidFill>
              </a:rPr>
              <a:t>java</a:t>
            </a:r>
            <a:r>
              <a:rPr lang="zh-CN" altLang="en-US" sz="2000" dirty="0">
                <a:solidFill>
                  <a:schemeClr val="tx1"/>
                </a:solidFill>
              </a:rPr>
              <a:t>类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400050" lvl="1" indent="0">
              <a:buNone/>
            </a:pPr>
            <a:endParaRPr lang="zh-CN" altLang="en-US" sz="1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539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四、</a:t>
            </a:r>
            <a:r>
              <a:rPr lang="en-US" altLang="zh-CN" dirty="0" smtClean="0"/>
              <a:t>Class</a:t>
            </a:r>
            <a:r>
              <a:rPr lang="zh-CN" altLang="en-US" dirty="0" smtClean="0"/>
              <a:t>类</a:t>
            </a:r>
            <a:r>
              <a:rPr lang="en-US" altLang="zh-CN" dirty="0" smtClean="0"/>
              <a:t>-</a:t>
            </a:r>
            <a:r>
              <a:rPr lang="zh-CN" altLang="en-US" dirty="0" smtClean="0"/>
              <a:t>相关方法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smtClean="0"/>
              <a:t>Class</a:t>
            </a:r>
            <a:r>
              <a:rPr lang="zh-CN" altLang="en-US" sz="2400" dirty="0" smtClean="0"/>
              <a:t>类</a:t>
            </a:r>
            <a:endParaRPr lang="en-US" altLang="zh-CN" sz="2400" dirty="0" smtClean="0"/>
          </a:p>
          <a:p>
            <a:pPr marL="457200" lvl="1" indent="0">
              <a:buNone/>
            </a:pPr>
            <a:r>
              <a:rPr lang="en-US" altLang="zh-CN" sz="2000" b="1" dirty="0" err="1"/>
              <a:t>getSuperclass</a:t>
            </a:r>
            <a:r>
              <a:rPr lang="en-US" altLang="zh-CN" sz="2000" dirty="0" smtClean="0"/>
              <a:t>()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000" dirty="0"/>
              <a:t>这是一</a:t>
            </a:r>
            <a:r>
              <a:rPr lang="zh-CN" altLang="en-US" sz="2000" dirty="0" smtClean="0"/>
              <a:t>个本地方法</a:t>
            </a:r>
            <a:r>
              <a:rPr lang="en-US" altLang="zh-CN" sz="2000" dirty="0" smtClean="0"/>
              <a:t>,</a:t>
            </a:r>
            <a:r>
              <a:rPr lang="zh-CN" altLang="en-US" sz="2000" dirty="0" smtClean="0"/>
              <a:t>获取父类对应的</a:t>
            </a:r>
            <a:r>
              <a:rPr lang="en-US" altLang="zh-CN" sz="2000" dirty="0" smtClean="0"/>
              <a:t>class</a:t>
            </a:r>
            <a:r>
              <a:rPr lang="zh-CN" altLang="en-US" sz="2000" dirty="0" smtClean="0"/>
              <a:t>对象</a:t>
            </a:r>
            <a:endParaRPr lang="en-US" altLang="zh-CN" sz="2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b="1" dirty="0" err="1" smtClean="0"/>
              <a:t>forName</a:t>
            </a:r>
            <a:r>
              <a:rPr lang="zh-CN" altLang="en-US" sz="2000" b="1" dirty="0" smtClean="0"/>
              <a:t>（）</a:t>
            </a:r>
            <a:endParaRPr lang="en-US" altLang="zh-CN" sz="2000" b="1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000" dirty="0"/>
              <a:t>返回与带有给定字符串名的类或接口相关联的 </a:t>
            </a:r>
            <a:r>
              <a:rPr lang="en-US" altLang="zh-CN" sz="2000" dirty="0"/>
              <a:t>Class</a:t>
            </a:r>
            <a:r>
              <a:rPr lang="zh-CN" altLang="en-US" sz="2000" dirty="0"/>
              <a:t> 对象</a:t>
            </a:r>
            <a:endParaRPr lang="en-US" altLang="zh-CN" sz="2000" dirty="0" smtClean="0"/>
          </a:p>
          <a:p>
            <a:pPr marL="457200" lvl="1" indent="0">
              <a:buNone/>
            </a:pPr>
            <a:r>
              <a:rPr lang="en-US" altLang="zh-CN" sz="2000" b="1" dirty="0" err="1" smtClean="0"/>
              <a:t>getMethods</a:t>
            </a:r>
            <a:r>
              <a:rPr lang="zh-CN" altLang="en-US" sz="2000" b="1" dirty="0" smtClean="0"/>
              <a:t>（）</a:t>
            </a:r>
            <a:endParaRPr lang="en-US" altLang="zh-CN" sz="2000" b="1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000" dirty="0"/>
              <a:t>返回 </a:t>
            </a:r>
            <a:r>
              <a:rPr lang="en-US" altLang="zh-CN" sz="2000" dirty="0"/>
              <a:t>Method</a:t>
            </a:r>
            <a:r>
              <a:rPr lang="zh-CN" altLang="en-US" sz="2000" dirty="0"/>
              <a:t> 对象的一个数组，这些对象反映此 </a:t>
            </a:r>
            <a:r>
              <a:rPr lang="en-US" altLang="zh-CN" sz="2000" dirty="0"/>
              <a:t>Class</a:t>
            </a:r>
            <a:r>
              <a:rPr lang="zh-CN" altLang="en-US" sz="2000" dirty="0"/>
              <a:t> 对象表示的类或接口声明的所有方法，包括公共、保护、默认（包）访问和私有方法，但不包括继承的</a:t>
            </a:r>
            <a:r>
              <a:rPr lang="zh-CN" altLang="en-US" sz="2000" dirty="0" smtClean="0"/>
              <a:t>方法</a:t>
            </a:r>
            <a:endParaRPr lang="en-US" altLang="zh-CN" sz="2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b="1" dirty="0" smtClean="0"/>
              <a:t>….</a:t>
            </a:r>
            <a:endParaRPr lang="zh-CN" altLang="en-US" sz="20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27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五、</a:t>
            </a:r>
            <a:r>
              <a:rPr lang="en-US" altLang="zh-CN" dirty="0" smtClean="0"/>
              <a:t>System</a:t>
            </a:r>
            <a:r>
              <a:rPr lang="zh-CN" altLang="en-US" dirty="0" smtClean="0"/>
              <a:t>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System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sz="2000" b="1" dirty="0" smtClean="0"/>
              <a:t>1</a:t>
            </a:r>
            <a:r>
              <a:rPr lang="zh-CN" altLang="en-US" sz="2000" b="1" dirty="0" smtClean="0"/>
              <a:t>、作用</a:t>
            </a:r>
            <a:endParaRPr lang="en-US" altLang="zh-CN" sz="2000" b="1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</a:t>
            </a:r>
            <a:r>
              <a:rPr lang="zh-CN" altLang="en-US" sz="2000" dirty="0" smtClean="0"/>
              <a:t>系统级的很多属性和控制方法都放置在该类的内部</a:t>
            </a:r>
            <a:endParaRPr lang="en-US" altLang="zh-CN" sz="2000" dirty="0" smtClean="0"/>
          </a:p>
          <a:p>
            <a:pPr marL="457200" lvl="1" indent="0">
              <a:buNone/>
            </a:pPr>
            <a:r>
              <a:rPr lang="en-US" altLang="zh-CN" sz="2000" b="1" dirty="0" smtClean="0"/>
              <a:t>2</a:t>
            </a:r>
            <a:r>
              <a:rPr lang="zh-CN" altLang="en-US" sz="2000" b="1" dirty="0" smtClean="0"/>
              <a:t>、常用方法</a:t>
            </a:r>
            <a:endParaRPr lang="en-US" altLang="zh-CN" sz="2000" b="1" dirty="0" smtClean="0"/>
          </a:p>
          <a:p>
            <a:pPr lvl="2"/>
            <a:r>
              <a:rPr lang="en-US" altLang="zh-CN" sz="2000" dirty="0" err="1" smtClean="0"/>
              <a:t>currentTimeMillis</a:t>
            </a:r>
            <a:r>
              <a:rPr lang="en-US" altLang="zh-CN" sz="2000" dirty="0" smtClean="0"/>
              <a:t>()  </a:t>
            </a:r>
            <a:r>
              <a:rPr lang="zh-CN" altLang="en-US" sz="2000" dirty="0" smtClean="0"/>
              <a:t>返回当前计算机时间</a:t>
            </a:r>
            <a:endParaRPr lang="en-US" altLang="zh-CN" sz="2000" dirty="0" smtClean="0"/>
          </a:p>
          <a:p>
            <a:pPr lvl="2"/>
            <a:r>
              <a:rPr lang="en-US" altLang="zh-CN" sz="2000" dirty="0" err="1" smtClean="0"/>
              <a:t>Arraycopy</a:t>
            </a:r>
            <a:r>
              <a:rPr lang="en-US" altLang="zh-CN" sz="2000" dirty="0" smtClean="0"/>
              <a:t>() </a:t>
            </a:r>
            <a:r>
              <a:rPr lang="zh-CN" altLang="en-US" sz="2000" dirty="0" smtClean="0"/>
              <a:t>复制数组</a:t>
            </a:r>
            <a:endParaRPr lang="en-US" altLang="zh-CN" sz="2000" dirty="0" smtClean="0"/>
          </a:p>
          <a:p>
            <a:pPr lvl="2"/>
            <a:r>
              <a:rPr lang="en-US" altLang="zh-CN" sz="2000" dirty="0" err="1"/>
              <a:t>getProperties</a:t>
            </a:r>
            <a:r>
              <a:rPr lang="en-US" altLang="zh-CN" sz="2000" dirty="0" smtClean="0"/>
              <a:t>() </a:t>
            </a:r>
            <a:r>
              <a:rPr lang="zh-CN" altLang="en-US" sz="2000" dirty="0" smtClean="0"/>
              <a:t>获取当前系统的属性</a:t>
            </a:r>
            <a:endParaRPr lang="en-US" altLang="zh-CN" sz="2000" dirty="0" smtClean="0"/>
          </a:p>
          <a:p>
            <a:pPr lvl="2"/>
            <a:r>
              <a:rPr lang="en-US" altLang="zh-CN" sz="2000" dirty="0" err="1"/>
              <a:t>getenv</a:t>
            </a:r>
            <a:r>
              <a:rPr lang="en-US" altLang="zh-CN" sz="2000" dirty="0" smtClean="0"/>
              <a:t>() </a:t>
            </a:r>
            <a:r>
              <a:rPr lang="zh-CN" altLang="en-US" sz="2000" dirty="0" smtClean="0"/>
              <a:t>获取系统环境变量</a:t>
            </a:r>
            <a:endParaRPr lang="en-US" altLang="zh-CN" sz="2000" dirty="0" smtClean="0"/>
          </a:p>
          <a:p>
            <a:pPr lvl="2"/>
            <a:r>
              <a:rPr lang="en-US" altLang="zh-CN" sz="2000" dirty="0"/>
              <a:t>exit</a:t>
            </a:r>
            <a:r>
              <a:rPr lang="en-US" altLang="zh-CN" sz="2000" dirty="0" smtClean="0"/>
              <a:t>()  </a:t>
            </a:r>
            <a:r>
              <a:rPr lang="zh-CN" altLang="en-US" sz="2000" dirty="0" smtClean="0"/>
              <a:t>终止</a:t>
            </a:r>
            <a:r>
              <a:rPr lang="zh-CN" altLang="en-US" sz="2000" dirty="0"/>
              <a:t>当前正在运行的 </a:t>
            </a:r>
            <a:r>
              <a:rPr lang="en-US" altLang="zh-CN" sz="2000" dirty="0"/>
              <a:t>Java </a:t>
            </a:r>
            <a:r>
              <a:rPr lang="zh-CN" altLang="en-US" sz="2000" dirty="0" smtClean="0"/>
              <a:t>虚拟机</a:t>
            </a:r>
            <a:endParaRPr lang="en-US" altLang="zh-CN" sz="2000" dirty="0" smtClean="0"/>
          </a:p>
          <a:p>
            <a:pPr lvl="2"/>
            <a:r>
              <a:rPr lang="en-US" altLang="zh-CN" sz="2000" dirty="0" err="1"/>
              <a:t>gc</a:t>
            </a:r>
            <a:r>
              <a:rPr lang="en-US" altLang="zh-CN" sz="2000" dirty="0" smtClean="0"/>
              <a:t>()  </a:t>
            </a:r>
            <a:r>
              <a:rPr lang="zh-CN" altLang="en-US" sz="2000" dirty="0" smtClean="0"/>
              <a:t>请求系统进行垃圾回收</a:t>
            </a:r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130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9572" y="151200"/>
            <a:ext cx="7092788" cy="490066"/>
          </a:xfrm>
        </p:spPr>
        <p:txBody>
          <a:bodyPr/>
          <a:lstStyle/>
          <a:p>
            <a:r>
              <a:rPr lang="zh-CN" altLang="en-US" sz="2800" dirty="0" smtClean="0"/>
              <a:t>六、</a:t>
            </a:r>
            <a:r>
              <a:rPr lang="en-US" altLang="zh-CN" sz="2800" dirty="0" smtClean="0"/>
              <a:t>String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 smtClean="0"/>
              <a:t>String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    </a:t>
            </a:r>
            <a:r>
              <a:rPr lang="en-US" altLang="zh-CN" sz="2000" dirty="0" smtClean="0"/>
              <a:t>  </a:t>
            </a:r>
            <a:r>
              <a:rPr lang="zh-CN" altLang="en-US" sz="2000" dirty="0" smtClean="0"/>
              <a:t>在</a:t>
            </a:r>
            <a:r>
              <a:rPr lang="en-US" altLang="zh-CN" sz="2000" dirty="0" smtClean="0"/>
              <a:t>java</a:t>
            </a:r>
            <a:r>
              <a:rPr lang="zh-CN" altLang="en-US" sz="2000" dirty="0" smtClean="0"/>
              <a:t>中，采用了一个</a:t>
            </a:r>
            <a:r>
              <a:rPr lang="en-US" altLang="zh-CN" sz="2000" dirty="0" smtClean="0"/>
              <a:t>final char</a:t>
            </a:r>
            <a:r>
              <a:rPr lang="zh-CN" altLang="en-US" sz="2000" dirty="0" smtClean="0"/>
              <a:t>数组实现</a:t>
            </a:r>
            <a:r>
              <a:rPr lang="en-US" altLang="zh-CN" sz="2000" dirty="0" smtClean="0"/>
              <a:t>String</a:t>
            </a:r>
            <a:r>
              <a:rPr lang="zh-CN" altLang="en-US" sz="2000" dirty="0" smtClean="0"/>
              <a:t>，这就意味着一旦</a:t>
            </a:r>
            <a:r>
              <a:rPr lang="en-US" altLang="zh-CN" sz="2000" dirty="0" smtClean="0"/>
              <a:t>String</a:t>
            </a:r>
            <a:r>
              <a:rPr lang="zh-CN" altLang="en-US" sz="2000" dirty="0" smtClean="0"/>
              <a:t>被创建，那么它就是不可变的。除此之外还定义一个</a:t>
            </a:r>
            <a:r>
              <a:rPr lang="en-US" altLang="zh-CN" sz="2000" dirty="0" err="1" smtClean="0"/>
              <a:t>int</a:t>
            </a:r>
            <a:r>
              <a:rPr lang="zh-CN" altLang="en-US" sz="2000" dirty="0" smtClean="0"/>
              <a:t>类型的</a:t>
            </a:r>
            <a:r>
              <a:rPr lang="en-US" altLang="zh-CN" sz="2000" dirty="0" smtClean="0"/>
              <a:t>hash</a:t>
            </a:r>
            <a:r>
              <a:rPr lang="zh-CN" altLang="en-US" sz="2000" dirty="0" smtClean="0"/>
              <a:t>，用来保存该</a:t>
            </a:r>
            <a:r>
              <a:rPr lang="en-US" altLang="zh-CN" sz="2000" dirty="0" smtClean="0"/>
              <a:t>String</a:t>
            </a:r>
            <a:r>
              <a:rPr lang="zh-CN" altLang="en-US" sz="2000" dirty="0" smtClean="0"/>
              <a:t>的</a:t>
            </a:r>
            <a:r>
              <a:rPr lang="en-US" altLang="zh-CN" sz="2000" dirty="0" smtClean="0"/>
              <a:t>hash</a:t>
            </a:r>
            <a:r>
              <a:rPr lang="zh-CN" altLang="en-US" sz="2000" dirty="0" smtClean="0"/>
              <a:t>值。</a:t>
            </a:r>
            <a:endParaRPr lang="en-US" altLang="zh-CN" sz="2000" dirty="0" smtClean="0"/>
          </a:p>
          <a:p>
            <a:endParaRPr lang="en-US" altLang="zh-CN" sz="1800" u="sng" dirty="0" smtClean="0"/>
          </a:p>
          <a:p>
            <a:endParaRPr lang="en-US" altLang="zh-CN" sz="1800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14</a:t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14143"/>
              </p:ext>
            </p:extLst>
          </p:nvPr>
        </p:nvGraphicFramePr>
        <p:xfrm>
          <a:off x="827584" y="3140968"/>
          <a:ext cx="7776864" cy="309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6864"/>
              </a:tblGrid>
              <a:tr h="3096344">
                <a:tc>
                  <a:txBody>
                    <a:bodyPr/>
                    <a:lstStyle/>
                    <a:p>
                      <a:r>
                        <a:rPr lang="en-US" altLang="zh-CN" sz="212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/*String</a:t>
                      </a:r>
                      <a:r>
                        <a:rPr lang="zh-CN" altLang="en-US" sz="212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常量池*</a:t>
                      </a:r>
                      <a:r>
                        <a:rPr lang="en-US" altLang="zh-CN" sz="212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altLang="en-US" sz="2120" b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120" b="0" baseline="0" dirty="0" smtClean="0">
                          <a:solidFill>
                            <a:schemeClr val="tx1"/>
                          </a:solidFill>
                        </a:rPr>
                        <a:t>String s1 = “</a:t>
                      </a:r>
                      <a:r>
                        <a:rPr lang="en-US" altLang="zh-CN" sz="2120" b="0" baseline="0" dirty="0" err="1" smtClean="0">
                          <a:solidFill>
                            <a:schemeClr val="tx1"/>
                          </a:solidFill>
                        </a:rPr>
                        <a:t>ab</a:t>
                      </a:r>
                      <a:r>
                        <a:rPr lang="en-US" altLang="zh-CN" sz="2120" b="0" baseline="0" dirty="0" smtClean="0">
                          <a:solidFill>
                            <a:schemeClr val="tx1"/>
                          </a:solidFill>
                        </a:rPr>
                        <a:t>”;                                       </a:t>
                      </a:r>
                      <a:r>
                        <a:rPr lang="en-US" altLang="zh-CN" sz="2120" b="1" baseline="0" dirty="0" smtClean="0">
                          <a:solidFill>
                            <a:schemeClr val="tx1"/>
                          </a:solidFill>
                        </a:rPr>
                        <a:t>  s5== s2+s1?</a:t>
                      </a:r>
                    </a:p>
                    <a:p>
                      <a:r>
                        <a:rPr lang="en-US" altLang="zh-CN" sz="2120" b="0" baseline="0" dirty="0" smtClean="0">
                          <a:solidFill>
                            <a:schemeClr val="tx1"/>
                          </a:solidFill>
                        </a:rPr>
                        <a:t>String s2 = “</a:t>
                      </a:r>
                      <a:r>
                        <a:rPr lang="en-US" altLang="zh-CN" sz="2120" b="0" baseline="0" dirty="0" err="1" smtClean="0">
                          <a:solidFill>
                            <a:schemeClr val="tx1"/>
                          </a:solidFill>
                        </a:rPr>
                        <a:t>ab</a:t>
                      </a:r>
                      <a:r>
                        <a:rPr lang="en-US" altLang="zh-CN" sz="2120" b="0" baseline="0" dirty="0" smtClean="0">
                          <a:solidFill>
                            <a:schemeClr val="tx1"/>
                          </a:solidFill>
                        </a:rPr>
                        <a:t>”;                                          /**String</a:t>
                      </a:r>
                      <a:r>
                        <a:rPr lang="zh-CN" altLang="en-US" sz="2120" b="0" baseline="0" dirty="0" smtClean="0">
                          <a:solidFill>
                            <a:schemeClr val="tx1"/>
                          </a:solidFill>
                        </a:rPr>
                        <a:t>不可变性</a:t>
                      </a:r>
                      <a:r>
                        <a:rPr lang="en-US" altLang="zh-CN" sz="2120" b="0" baseline="0" dirty="0" smtClean="0">
                          <a:solidFill>
                            <a:schemeClr val="tx1"/>
                          </a:solidFill>
                        </a:rPr>
                        <a:t>*/</a:t>
                      </a:r>
                    </a:p>
                    <a:p>
                      <a:r>
                        <a:rPr lang="en-US" altLang="zh-CN" sz="2120" b="1" baseline="0" dirty="0" smtClean="0">
                          <a:solidFill>
                            <a:schemeClr val="tx1"/>
                          </a:solidFill>
                        </a:rPr>
                        <a:t>s1==s2?                                                         String s = </a:t>
                      </a:r>
                      <a:r>
                        <a:rPr lang="zh-CN" altLang="en-US" sz="2120" b="1" baseline="0" dirty="0" smtClean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en-US" altLang="zh-CN" sz="2120" b="1" baseline="0" dirty="0" err="1" smtClean="0">
                          <a:solidFill>
                            <a:schemeClr val="tx1"/>
                          </a:solidFill>
                        </a:rPr>
                        <a:t>abc</a:t>
                      </a:r>
                      <a:r>
                        <a:rPr lang="en-US" altLang="zh-CN" sz="2120" b="1" baseline="0" dirty="0" smtClean="0">
                          <a:solidFill>
                            <a:schemeClr val="tx1"/>
                          </a:solidFill>
                        </a:rPr>
                        <a:t>”;</a:t>
                      </a:r>
                    </a:p>
                    <a:p>
                      <a:r>
                        <a:rPr lang="en-US" altLang="zh-CN" sz="2120" b="0" baseline="0" dirty="0" smtClean="0">
                          <a:solidFill>
                            <a:schemeClr val="tx1"/>
                          </a:solidFill>
                        </a:rPr>
                        <a:t>String s3 = new String(“</a:t>
                      </a:r>
                      <a:r>
                        <a:rPr lang="en-US" altLang="zh-CN" sz="2120" b="0" baseline="0" dirty="0" err="1" smtClean="0">
                          <a:solidFill>
                            <a:schemeClr val="tx1"/>
                          </a:solidFill>
                        </a:rPr>
                        <a:t>ab</a:t>
                      </a:r>
                      <a:r>
                        <a:rPr lang="en-US" altLang="zh-CN" sz="2120" b="0" baseline="0" dirty="0" smtClean="0">
                          <a:solidFill>
                            <a:schemeClr val="tx1"/>
                          </a:solidFill>
                        </a:rPr>
                        <a:t>”)                      s = s +1;</a:t>
                      </a:r>
                    </a:p>
                    <a:p>
                      <a:r>
                        <a:rPr lang="en-US" altLang="zh-CN" sz="2120" b="0" baseline="0" dirty="0" smtClean="0">
                          <a:solidFill>
                            <a:schemeClr val="tx1"/>
                          </a:solidFill>
                        </a:rPr>
                        <a:t>String s4  = new String(“</a:t>
                      </a:r>
                      <a:r>
                        <a:rPr lang="en-US" altLang="zh-CN" sz="2120" b="0" baseline="0" dirty="0" err="1" smtClean="0">
                          <a:solidFill>
                            <a:schemeClr val="tx1"/>
                          </a:solidFill>
                        </a:rPr>
                        <a:t>ab</a:t>
                      </a:r>
                      <a:r>
                        <a:rPr lang="en-US" altLang="zh-CN" sz="2120" b="0" baseline="0" dirty="0" smtClean="0">
                          <a:solidFill>
                            <a:schemeClr val="tx1"/>
                          </a:solidFill>
                        </a:rPr>
                        <a:t>”)                      </a:t>
                      </a:r>
                      <a:r>
                        <a:rPr lang="en-US" altLang="zh-CN" sz="2120" b="0" baseline="0" dirty="0" err="1" smtClean="0">
                          <a:solidFill>
                            <a:schemeClr val="tx1"/>
                          </a:solidFill>
                        </a:rPr>
                        <a:t>System.out.println</a:t>
                      </a:r>
                      <a:r>
                        <a:rPr lang="en-US" altLang="zh-CN" sz="2120" b="0" baseline="0" dirty="0" smtClean="0">
                          <a:solidFill>
                            <a:schemeClr val="tx1"/>
                          </a:solidFill>
                        </a:rPr>
                        <a:t>(s);</a:t>
                      </a:r>
                    </a:p>
                    <a:p>
                      <a:r>
                        <a:rPr lang="en-US" altLang="zh-CN" sz="2120" b="1" baseline="0" dirty="0" smtClean="0">
                          <a:solidFill>
                            <a:schemeClr val="tx1"/>
                          </a:solidFill>
                        </a:rPr>
                        <a:t>s3==s4?</a:t>
                      </a:r>
                    </a:p>
                    <a:p>
                      <a:r>
                        <a:rPr lang="en-US" altLang="zh-CN" sz="2120" b="0" baseline="0" dirty="0" smtClean="0">
                          <a:solidFill>
                            <a:schemeClr val="tx1"/>
                          </a:solidFill>
                        </a:rPr>
                        <a:t>String s5 = “</a:t>
                      </a:r>
                      <a:r>
                        <a:rPr lang="en-US" altLang="zh-CN" sz="2120" b="0" baseline="0" dirty="0" err="1" smtClean="0">
                          <a:solidFill>
                            <a:schemeClr val="tx1"/>
                          </a:solidFill>
                        </a:rPr>
                        <a:t>abab</a:t>
                      </a:r>
                      <a:r>
                        <a:rPr lang="en-US" altLang="zh-CN" sz="2120" b="0" baseline="0" dirty="0" smtClean="0">
                          <a:solidFill>
                            <a:schemeClr val="tx1"/>
                          </a:solidFill>
                        </a:rPr>
                        <a:t>”</a:t>
                      </a:r>
                    </a:p>
                    <a:p>
                      <a:r>
                        <a:rPr lang="en-US" altLang="zh-CN" sz="2120" b="1" baseline="0" dirty="0" smtClean="0">
                          <a:solidFill>
                            <a:schemeClr val="tx1"/>
                          </a:solidFill>
                        </a:rPr>
                        <a:t>s5==“</a:t>
                      </a:r>
                      <a:r>
                        <a:rPr lang="en-US" altLang="zh-CN" sz="2120" b="1" baseline="0" dirty="0" err="1" smtClean="0">
                          <a:solidFill>
                            <a:schemeClr val="tx1"/>
                          </a:solidFill>
                        </a:rPr>
                        <a:t>ab</a:t>
                      </a:r>
                      <a:r>
                        <a:rPr lang="en-US" altLang="zh-CN" sz="2120" b="1" baseline="0" dirty="0" smtClean="0">
                          <a:solidFill>
                            <a:schemeClr val="tx1"/>
                          </a:solidFill>
                        </a:rPr>
                        <a:t>”+”</a:t>
                      </a:r>
                      <a:r>
                        <a:rPr lang="en-US" altLang="zh-CN" sz="2120" b="1" baseline="0" dirty="0" err="1" smtClean="0">
                          <a:solidFill>
                            <a:schemeClr val="tx1"/>
                          </a:solidFill>
                        </a:rPr>
                        <a:t>ab</a:t>
                      </a:r>
                      <a:r>
                        <a:rPr lang="en-US" altLang="zh-CN" sz="2120" b="1" baseline="0" dirty="0" smtClean="0">
                          <a:solidFill>
                            <a:schemeClr val="tx1"/>
                          </a:solidFill>
                        </a:rPr>
                        <a:t>”?</a:t>
                      </a:r>
                      <a:endParaRPr lang="zh-CN" altLang="en-US" sz="212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7781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9572" y="151200"/>
            <a:ext cx="6372708" cy="490066"/>
          </a:xfrm>
        </p:spPr>
        <p:txBody>
          <a:bodyPr/>
          <a:lstStyle/>
          <a:p>
            <a:r>
              <a:rPr lang="zh-CN" altLang="en-US" dirty="0" smtClean="0"/>
              <a:t>六、</a:t>
            </a:r>
            <a:r>
              <a:rPr lang="en-US" altLang="zh-CN" dirty="0" err="1" smtClean="0"/>
              <a:t>StringBuffer</a:t>
            </a:r>
            <a:r>
              <a:rPr lang="zh-CN" altLang="en-US" dirty="0" smtClean="0"/>
              <a:t>与</a:t>
            </a:r>
            <a:r>
              <a:rPr lang="en-US" altLang="zh-CN" dirty="0" err="1" smtClean="0"/>
              <a:t>StringBuilder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StringBuffer</a:t>
            </a:r>
            <a:r>
              <a:rPr lang="zh-CN" altLang="en-US" dirty="0" smtClean="0"/>
              <a:t>与</a:t>
            </a:r>
            <a:r>
              <a:rPr lang="en-US" altLang="zh-CN" dirty="0" err="1" smtClean="0"/>
              <a:t>StringBuilder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、比较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</a:t>
            </a:r>
            <a:r>
              <a:rPr lang="en-US" altLang="zh-CN" dirty="0" err="1" smtClean="0"/>
              <a:t>StringBuffer</a:t>
            </a:r>
            <a:r>
              <a:rPr lang="zh-CN" altLang="en-US" dirty="0" smtClean="0"/>
              <a:t>是可改变的，以提高字符串的连接效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</a:t>
            </a:r>
            <a:r>
              <a:rPr lang="zh-CN" altLang="en-US" dirty="0" smtClean="0"/>
              <a:t>率并且是线程安全的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en-US" altLang="zh-CN" dirty="0" err="1" smtClean="0"/>
              <a:t>StringBuilder</a:t>
            </a:r>
            <a:r>
              <a:rPr lang="en-US" altLang="zh-CN" dirty="0" smtClean="0"/>
              <a:t> </a:t>
            </a:r>
            <a:r>
              <a:rPr lang="zh-CN" altLang="en-US" dirty="0" smtClean="0"/>
              <a:t>速度较快，但线程不安全，适用于单线程操作字符串缓冲区的大量数据，</a:t>
            </a:r>
            <a:r>
              <a:rPr lang="en-US" altLang="zh-CN" dirty="0" err="1" smtClean="0"/>
              <a:t>StringBuffer</a:t>
            </a:r>
            <a:r>
              <a:rPr lang="zh-CN" altLang="en-US" dirty="0" smtClean="0"/>
              <a:t>则适用于多线程操作字符串缓冲区的的大量数据</a:t>
            </a:r>
            <a:endParaRPr lang="en-US" altLang="zh-CN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50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六 、</a:t>
            </a:r>
            <a:r>
              <a:rPr lang="en-US" altLang="zh-CN" dirty="0" err="1" smtClean="0"/>
              <a:t>StringBuffer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StringBuffer</a:t>
            </a:r>
            <a:r>
              <a:rPr lang="zh-CN" altLang="en-US" dirty="0" smtClean="0"/>
              <a:t>类的方法</a:t>
            </a:r>
            <a:endParaRPr lang="en-US" altLang="zh-CN" dirty="0" smtClean="0"/>
          </a:p>
          <a:p>
            <a:pPr lvl="1"/>
            <a:r>
              <a:rPr lang="zh-CN" altLang="en-US" dirty="0"/>
              <a:t>构造方法：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sz="1900" dirty="0" err="1"/>
              <a:t>StringBuffer</a:t>
            </a:r>
            <a:r>
              <a:rPr lang="en-US" altLang="zh-CN" sz="1900" dirty="0"/>
              <a:t>()</a:t>
            </a:r>
            <a:r>
              <a:rPr lang="zh-CN" altLang="en-US" sz="1900" dirty="0"/>
              <a:t>、</a:t>
            </a:r>
            <a:r>
              <a:rPr lang="en-US" altLang="zh-CN" sz="1900" dirty="0" err="1"/>
              <a:t>StringBuffer</a:t>
            </a:r>
            <a:r>
              <a:rPr lang="en-US" altLang="zh-CN" sz="1900" dirty="0"/>
              <a:t>(</a:t>
            </a:r>
            <a:r>
              <a:rPr lang="en-US" altLang="zh-CN" sz="1900" dirty="0" err="1"/>
              <a:t>int</a:t>
            </a:r>
            <a:r>
              <a:rPr lang="en-US" altLang="zh-CN" sz="1900" dirty="0"/>
              <a:t>)</a:t>
            </a:r>
            <a:r>
              <a:rPr lang="zh-CN" altLang="en-US" sz="1900" dirty="0"/>
              <a:t>、</a:t>
            </a:r>
            <a:r>
              <a:rPr lang="en-US" altLang="zh-CN" sz="1900" dirty="0" err="1"/>
              <a:t>StringBuffer</a:t>
            </a:r>
            <a:r>
              <a:rPr lang="en-US" altLang="zh-CN" sz="1900" dirty="0"/>
              <a:t>(String)</a:t>
            </a:r>
          </a:p>
          <a:p>
            <a:pPr marL="457200" lvl="1" indent="0">
              <a:buNone/>
            </a:pPr>
            <a:r>
              <a:rPr lang="zh-CN" altLang="en-US" sz="1900" dirty="0">
                <a:solidFill>
                  <a:srgbClr val="FFC000"/>
                </a:solidFill>
              </a:rPr>
              <a:t>注：系统为 </a:t>
            </a:r>
            <a:r>
              <a:rPr lang="en-US" altLang="zh-CN" sz="1900" dirty="0">
                <a:solidFill>
                  <a:srgbClr val="FFC000"/>
                </a:solidFill>
              </a:rPr>
              <a:t>String</a:t>
            </a:r>
            <a:r>
              <a:rPr lang="zh-CN" altLang="en-US" sz="1900" dirty="0">
                <a:solidFill>
                  <a:srgbClr val="FFC000"/>
                </a:solidFill>
              </a:rPr>
              <a:t> 类对象分配内存是，按照对象中所含字符的实际个数等量分配。而 </a:t>
            </a:r>
            <a:r>
              <a:rPr lang="en-US" altLang="zh-CN" sz="1900" dirty="0" err="1">
                <a:solidFill>
                  <a:srgbClr val="FFC000"/>
                </a:solidFill>
              </a:rPr>
              <a:t>StringBuffer</a:t>
            </a:r>
            <a:r>
              <a:rPr lang="zh-CN" altLang="en-US" sz="1900" dirty="0">
                <a:solidFill>
                  <a:srgbClr val="FFC000"/>
                </a:solidFill>
              </a:rPr>
              <a:t> 类对象分配内存时，出去字符所占空间外，再另加 </a:t>
            </a:r>
            <a:r>
              <a:rPr lang="en-US" altLang="zh-CN" sz="1900" dirty="0">
                <a:solidFill>
                  <a:srgbClr val="FFC000"/>
                </a:solidFill>
              </a:rPr>
              <a:t>16</a:t>
            </a:r>
            <a:r>
              <a:rPr lang="zh-CN" altLang="en-US" sz="1900" dirty="0">
                <a:solidFill>
                  <a:srgbClr val="FFC000"/>
                </a:solidFill>
              </a:rPr>
              <a:t>个字符大小的</a:t>
            </a:r>
            <a:r>
              <a:rPr lang="zh-CN" altLang="en-US" sz="1900" dirty="0" smtClean="0">
                <a:solidFill>
                  <a:srgbClr val="FFC000"/>
                </a:solidFill>
              </a:rPr>
              <a:t>缓冲区</a:t>
            </a:r>
            <a:endParaRPr lang="en-US" altLang="zh-CN" sz="1900" dirty="0" smtClean="0"/>
          </a:p>
          <a:p>
            <a:pPr lvl="1"/>
            <a:r>
              <a:rPr lang="zh-CN" altLang="en-US" dirty="0"/>
              <a:t>获得长度、容量和设置</a:t>
            </a:r>
            <a:r>
              <a:rPr lang="zh-CN" altLang="en-US" dirty="0" smtClean="0"/>
              <a:t>长度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sz="1800" dirty="0" err="1"/>
              <a:t>int</a:t>
            </a:r>
            <a:r>
              <a:rPr lang="en-US" altLang="zh-CN" sz="1800" dirty="0"/>
              <a:t> capacity</a:t>
            </a:r>
            <a:r>
              <a:rPr lang="en-US" altLang="zh-CN" sz="1800" dirty="0" smtClean="0"/>
              <a:t>()</a:t>
            </a:r>
            <a:r>
              <a:rPr lang="zh-CN" altLang="en-US" sz="1800" dirty="0" smtClean="0"/>
              <a:t>、</a:t>
            </a:r>
            <a:r>
              <a:rPr lang="en-US" altLang="zh-CN" sz="1800" dirty="0"/>
              <a:t> void </a:t>
            </a:r>
            <a:r>
              <a:rPr lang="en-US" altLang="zh-CN" sz="1800" dirty="0" err="1"/>
              <a:t>setLength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)</a:t>
            </a:r>
            <a:r>
              <a:rPr lang="en-US" altLang="zh-CN" sz="1800" dirty="0"/>
              <a:t>  </a:t>
            </a:r>
            <a:r>
              <a:rPr lang="zh-CN" altLang="en-US" sz="1800" dirty="0" smtClean="0"/>
              <a:t>、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length()</a:t>
            </a:r>
            <a:endParaRPr lang="en-US" altLang="zh-CN" sz="1800" dirty="0" smtClean="0"/>
          </a:p>
          <a:p>
            <a:pPr lvl="1"/>
            <a:r>
              <a:rPr lang="zh-CN" altLang="en-US" dirty="0" smtClean="0"/>
              <a:t>添加、替换、反转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sz="1800" dirty="0" smtClean="0"/>
              <a:t>append()</a:t>
            </a:r>
            <a:r>
              <a:rPr lang="zh-CN" altLang="en-US" sz="1800" dirty="0" smtClean="0"/>
              <a:t>、</a:t>
            </a:r>
            <a:r>
              <a:rPr lang="en-US" altLang="zh-CN" sz="1800" dirty="0"/>
              <a:t> </a:t>
            </a:r>
            <a:r>
              <a:rPr lang="en-US" altLang="zh-CN" sz="1800" dirty="0" smtClean="0"/>
              <a:t>replace(</a:t>
            </a:r>
            <a:r>
              <a:rPr lang="en-US" altLang="zh-CN" sz="1800" dirty="0" err="1" smtClean="0"/>
              <a:t>int,int,String</a:t>
            </a:r>
            <a:r>
              <a:rPr lang="en-US" altLang="zh-CN" sz="1800" dirty="0" smtClean="0"/>
              <a:t>)</a:t>
            </a:r>
            <a:r>
              <a:rPr lang="en-US" altLang="zh-CN" sz="1800" dirty="0"/>
              <a:t> </a:t>
            </a:r>
            <a:r>
              <a:rPr lang="zh-CN" altLang="en-US" sz="1800" dirty="0"/>
              <a:t>、</a:t>
            </a:r>
            <a:r>
              <a:rPr lang="en-US" altLang="zh-CN" sz="1800" dirty="0"/>
              <a:t> </a:t>
            </a:r>
            <a:r>
              <a:rPr lang="en-US" altLang="zh-CN" sz="1800" dirty="0" smtClean="0"/>
              <a:t>reverse()</a:t>
            </a:r>
          </a:p>
          <a:p>
            <a:pPr lvl="1"/>
            <a:r>
              <a:rPr lang="zh-CN" altLang="en-US" sz="1800" dirty="0" smtClean="0"/>
              <a:t>插入、删除</a:t>
            </a:r>
            <a:endParaRPr lang="en-US" altLang="zh-CN" sz="1800" dirty="0" smtClean="0"/>
          </a:p>
          <a:p>
            <a:pPr marL="457200" lvl="1" indent="0">
              <a:buNone/>
            </a:pPr>
            <a:r>
              <a:rPr lang="en-US" altLang="zh-CN" sz="1600" dirty="0" smtClean="0"/>
              <a:t>Insert(</a:t>
            </a:r>
            <a:r>
              <a:rPr lang="en-US" altLang="zh-CN" sz="1600" dirty="0" err="1" smtClean="0"/>
              <a:t>int,String</a:t>
            </a:r>
            <a:r>
              <a:rPr lang="en-US" altLang="zh-CN" sz="1600" dirty="0" smtClean="0"/>
              <a:t>)</a:t>
            </a:r>
            <a:r>
              <a:rPr lang="zh-CN" altLang="en-US" sz="1600" dirty="0" smtClean="0"/>
              <a:t>、</a:t>
            </a:r>
            <a:r>
              <a:rPr lang="en-US" altLang="zh-CN" sz="1600" dirty="0" err="1" smtClean="0"/>
              <a:t>setCharAt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int,char</a:t>
            </a:r>
            <a:r>
              <a:rPr lang="en-US" altLang="zh-CN" sz="1600" dirty="0" smtClean="0"/>
              <a:t>) 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delete(</a:t>
            </a:r>
            <a:r>
              <a:rPr lang="en-US" altLang="zh-CN" sz="1600" dirty="0" err="1" smtClean="0"/>
              <a:t>int,int</a:t>
            </a:r>
            <a:r>
              <a:rPr lang="en-US" altLang="zh-CN" sz="1600" dirty="0"/>
              <a:t>)</a:t>
            </a:r>
            <a:r>
              <a:rPr lang="zh-CN" altLang="en-US" sz="1600" dirty="0"/>
              <a:t>、</a:t>
            </a:r>
            <a:r>
              <a:rPr lang="en-US" altLang="zh-CN" sz="1600" dirty="0" err="1"/>
              <a:t>deleteCharAt</a:t>
            </a:r>
            <a:r>
              <a:rPr lang="en-US" altLang="zh-CN" sz="1600" dirty="0"/>
              <a:t>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)</a:t>
            </a:r>
            <a:endParaRPr lang="zh-CN" altLang="en-US" sz="16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98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七、异常类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异常类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Throwable</a:t>
            </a:r>
            <a:r>
              <a:rPr lang="en-US" altLang="zh-CN" dirty="0" smtClean="0"/>
              <a:t>)</a:t>
            </a:r>
          </a:p>
          <a:p>
            <a:pPr lvl="1"/>
            <a:r>
              <a:rPr lang="en-US" altLang="zh-CN" dirty="0" smtClean="0"/>
              <a:t>Error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pPr lvl="2"/>
            <a:r>
              <a:rPr lang="zh-CN" altLang="en-US" sz="1800" dirty="0"/>
              <a:t>代表了编译和系统的错误，不允许</a:t>
            </a:r>
            <a:r>
              <a:rPr lang="zh-CN" altLang="en-US" sz="1800" dirty="0" smtClean="0"/>
              <a:t>捕获</a:t>
            </a:r>
            <a:r>
              <a:rPr lang="en-US" altLang="zh-CN" sz="1800" dirty="0" smtClean="0"/>
              <a:t>,</a:t>
            </a:r>
            <a:r>
              <a:rPr lang="zh-CN" altLang="en-US" sz="1800" dirty="0"/>
              <a:t>程序无法处理的错误，表示运行应用程序中较严重</a:t>
            </a:r>
            <a:r>
              <a:rPr lang="zh-CN" altLang="en-US" sz="1800" dirty="0" smtClean="0"/>
              <a:t>问题</a:t>
            </a:r>
            <a:r>
              <a:rPr lang="en-US" altLang="zh-CN" sz="1800" dirty="0" smtClean="0"/>
              <a:t>,</a:t>
            </a:r>
            <a:r>
              <a:rPr lang="zh-CN" altLang="en-US" sz="1800" dirty="0" smtClean="0"/>
              <a:t>一般指的是</a:t>
            </a:r>
            <a:r>
              <a:rPr lang="en-US" altLang="zh-CN" sz="1800" dirty="0" err="1" smtClean="0"/>
              <a:t>jvm</a:t>
            </a:r>
            <a:r>
              <a:rPr lang="zh-CN" altLang="en-US" sz="1800" dirty="0" smtClean="0"/>
              <a:t>出现的问题，如内存溢出</a:t>
            </a:r>
            <a:endParaRPr lang="en-US" altLang="zh-CN" sz="1800" dirty="0" smtClean="0"/>
          </a:p>
          <a:p>
            <a:pPr lvl="1"/>
            <a:r>
              <a:rPr lang="en-US" altLang="zh-CN" dirty="0" smtClean="0"/>
              <a:t>Exception</a:t>
            </a:r>
            <a:r>
              <a:rPr lang="zh-CN" altLang="en-US" dirty="0" smtClean="0"/>
              <a:t>类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zh-CN" altLang="en-US" sz="1800" dirty="0" smtClean="0"/>
              <a:t>程序本身可以处理的异常</a:t>
            </a:r>
            <a:endParaRPr lang="en-US" altLang="zh-CN" sz="1800" dirty="0" smtClean="0"/>
          </a:p>
          <a:p>
            <a:pPr lvl="2"/>
            <a:r>
              <a:rPr lang="zh-CN" altLang="en-US" sz="1800" dirty="0" smtClean="0"/>
              <a:t>运行时异常类</a:t>
            </a:r>
            <a:endParaRPr lang="en-US" altLang="zh-CN" sz="1800" dirty="0" smtClean="0"/>
          </a:p>
          <a:p>
            <a:pPr marL="914400" lvl="2" indent="0">
              <a:buNone/>
            </a:pPr>
            <a:r>
              <a:rPr lang="zh-CN" altLang="en-US" sz="1800" dirty="0"/>
              <a:t>对应于编译错误，它是指</a:t>
            </a:r>
            <a:r>
              <a:rPr lang="en-US" altLang="zh-CN" sz="1800" dirty="0"/>
              <a:t>Java</a:t>
            </a:r>
            <a:r>
              <a:rPr lang="zh-CN" altLang="en-US" sz="1800" dirty="0"/>
              <a:t>程序在运行时产生的由解释器引发的各种</a:t>
            </a:r>
            <a:r>
              <a:rPr lang="zh-CN" altLang="en-US" sz="1800" dirty="0" smtClean="0"/>
              <a:t>异常，编译器不对异常进行检查</a:t>
            </a:r>
            <a:endParaRPr lang="en-US" altLang="zh-CN" sz="1800" dirty="0" smtClean="0"/>
          </a:p>
          <a:p>
            <a:pPr lvl="2"/>
            <a:r>
              <a:rPr lang="zh-CN" altLang="en-US" sz="1800" dirty="0" smtClean="0"/>
              <a:t>非运行时异常类</a:t>
            </a:r>
            <a:endParaRPr lang="en-US" altLang="zh-CN" sz="1800" dirty="0" smtClean="0"/>
          </a:p>
          <a:p>
            <a:pPr marL="914400" lvl="2" indent="0">
              <a:buNone/>
            </a:pPr>
            <a:r>
              <a:rPr lang="zh-CN" altLang="en-US" sz="1800" dirty="0" smtClean="0"/>
              <a:t>可检查异常</a:t>
            </a:r>
            <a:endParaRPr lang="en-US" altLang="zh-CN" sz="1800" dirty="0" smtClean="0"/>
          </a:p>
          <a:p>
            <a:pPr lvl="2"/>
            <a:endParaRPr lang="en-US" altLang="zh-CN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992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七、异常类及处理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 smtClean="0"/>
              <a:t>异常类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异常处理机制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抛出异常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在什么情况下要抛出异常？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使用</a:t>
            </a:r>
            <a:r>
              <a:rPr lang="en-US" altLang="zh-CN" dirty="0" smtClean="0"/>
              <a:t>throw</a:t>
            </a:r>
            <a:r>
              <a:rPr lang="zh-CN" altLang="en-US" dirty="0" smtClean="0"/>
              <a:t>抛出异常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捕获异常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try-catch-finally</a:t>
            </a:r>
            <a:r>
              <a:rPr lang="zh-CN" altLang="en-US" dirty="0" smtClean="0"/>
              <a:t>机制</a:t>
            </a:r>
            <a:endParaRPr lang="en-US" altLang="zh-CN" dirty="0" smtClean="0"/>
          </a:p>
          <a:p>
            <a:pPr lvl="3"/>
            <a:r>
              <a:rPr lang="zh-CN" altLang="en-US" dirty="0"/>
              <a:t>如果</a:t>
            </a:r>
            <a:r>
              <a:rPr lang="en-US" altLang="zh-CN" dirty="0"/>
              <a:t>try</a:t>
            </a:r>
            <a:r>
              <a:rPr lang="zh-CN" altLang="en-US" dirty="0"/>
              <a:t>、</a:t>
            </a:r>
            <a:r>
              <a:rPr lang="en-US" altLang="zh-CN" dirty="0"/>
              <a:t>catch</a:t>
            </a:r>
            <a:r>
              <a:rPr lang="zh-CN" altLang="en-US" dirty="0"/>
              <a:t>中有</a:t>
            </a:r>
            <a:r>
              <a:rPr lang="en-US" altLang="zh-CN" dirty="0"/>
              <a:t>return</a:t>
            </a:r>
            <a:r>
              <a:rPr lang="zh-CN" altLang="en-US" dirty="0"/>
              <a:t>语句呢？</a:t>
            </a:r>
            <a:endParaRPr lang="en-US" altLang="zh-CN" dirty="0"/>
          </a:p>
          <a:p>
            <a:pPr lvl="3"/>
            <a:r>
              <a:rPr lang="zh-CN" altLang="en-US" dirty="0"/>
              <a:t>除不可抗力因素外，</a:t>
            </a:r>
            <a:r>
              <a:rPr lang="en-US" altLang="zh-CN" dirty="0"/>
              <a:t>finally</a:t>
            </a:r>
            <a:r>
              <a:rPr lang="zh-CN" altLang="en-US" dirty="0"/>
              <a:t>语句是最后</a:t>
            </a:r>
            <a:r>
              <a:rPr lang="zh-CN" altLang="en-US" dirty="0" smtClean="0"/>
              <a:t>执行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常用方法</a:t>
            </a:r>
            <a:endParaRPr lang="en-US" altLang="zh-CN" dirty="0" smtClean="0"/>
          </a:p>
          <a:p>
            <a:pPr lvl="3"/>
            <a:r>
              <a:rPr lang="en-US" altLang="zh-CN" dirty="0" err="1"/>
              <a:t>getCause</a:t>
            </a:r>
            <a:r>
              <a:rPr lang="en-US" altLang="zh-CN" dirty="0"/>
              <a:t>()</a:t>
            </a:r>
            <a:r>
              <a:rPr lang="zh-CN" altLang="en-US" dirty="0"/>
              <a:t>：返回抛出异常的</a:t>
            </a:r>
            <a:r>
              <a:rPr lang="zh-CN" altLang="en-US" dirty="0" smtClean="0"/>
              <a:t>原因</a:t>
            </a:r>
            <a:endParaRPr lang="en-US" altLang="zh-CN" dirty="0" smtClean="0"/>
          </a:p>
          <a:p>
            <a:pPr lvl="3"/>
            <a:r>
              <a:rPr lang="en-US" altLang="zh-CN" dirty="0" err="1" smtClean="0"/>
              <a:t>getMessage</a:t>
            </a:r>
            <a:r>
              <a:rPr lang="en-US" altLang="zh-CN" dirty="0"/>
              <a:t>()</a:t>
            </a:r>
            <a:r>
              <a:rPr lang="zh-CN" altLang="en-US" dirty="0"/>
              <a:t>：返回异常的消息</a:t>
            </a:r>
            <a:r>
              <a:rPr lang="zh-CN" altLang="en-US" dirty="0" smtClean="0"/>
              <a:t>信息</a:t>
            </a:r>
            <a:endParaRPr lang="en-US" altLang="zh-CN" dirty="0" smtClean="0"/>
          </a:p>
          <a:p>
            <a:pPr lvl="3"/>
            <a:r>
              <a:rPr lang="en-US" altLang="zh-CN" dirty="0" err="1"/>
              <a:t>printStackTrace</a:t>
            </a:r>
            <a:r>
              <a:rPr lang="en-US" altLang="zh-CN" dirty="0"/>
              <a:t>()</a:t>
            </a:r>
            <a:r>
              <a:rPr lang="zh-CN" altLang="en-US" dirty="0"/>
              <a:t>：对象的堆栈跟踪输出至错误输出流，作为字段 </a:t>
            </a:r>
            <a:r>
              <a:rPr lang="en-US" altLang="zh-CN" dirty="0" err="1"/>
              <a:t>System.err</a:t>
            </a:r>
            <a:r>
              <a:rPr lang="en-US" altLang="zh-CN" dirty="0"/>
              <a:t> </a:t>
            </a:r>
            <a:r>
              <a:rPr lang="zh-CN" altLang="en-US" dirty="0"/>
              <a:t>的值</a:t>
            </a:r>
            <a:endParaRPr lang="en-US" altLang="zh-CN" dirty="0" smtClean="0"/>
          </a:p>
          <a:p>
            <a:pPr lvl="3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12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八、线程 </a:t>
            </a:r>
            <a:r>
              <a:rPr lang="en-US" altLang="zh-CN" dirty="0" smtClean="0"/>
              <a:t>Thread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dirty="0" smtClean="0"/>
              <a:t>线程</a:t>
            </a:r>
            <a:endParaRPr lang="en-US" altLang="zh-CN" dirty="0" smtClean="0"/>
          </a:p>
          <a:p>
            <a:pPr lvl="1"/>
            <a:r>
              <a:rPr lang="en-US" altLang="zh-CN" sz="2000" dirty="0" smtClean="0"/>
              <a:t>2</a:t>
            </a:r>
            <a:r>
              <a:rPr lang="zh-CN" altLang="en-US" sz="2000" dirty="0" smtClean="0"/>
              <a:t>种方式实现</a:t>
            </a:r>
            <a:endParaRPr lang="en-US" altLang="zh-CN" sz="2000" dirty="0" smtClean="0"/>
          </a:p>
          <a:p>
            <a:pPr lvl="2"/>
            <a:r>
              <a:rPr lang="en-US" altLang="zh-CN" sz="1800" dirty="0" err="1"/>
              <a:t>Ruunable</a:t>
            </a:r>
            <a:r>
              <a:rPr lang="zh-CN" altLang="en-US" sz="1800" dirty="0"/>
              <a:t>接口</a:t>
            </a:r>
            <a:endParaRPr lang="en-US" altLang="zh-CN" sz="1800" dirty="0"/>
          </a:p>
          <a:p>
            <a:pPr lvl="2"/>
            <a:r>
              <a:rPr lang="en-US" altLang="zh-CN" sz="1800" dirty="0"/>
              <a:t>Thread</a:t>
            </a:r>
            <a:r>
              <a:rPr lang="zh-CN" altLang="en-US" sz="1800" dirty="0" smtClean="0"/>
              <a:t>类</a:t>
            </a:r>
            <a:endParaRPr lang="en-US" altLang="zh-CN" sz="1800" dirty="0" smtClean="0"/>
          </a:p>
          <a:p>
            <a:pPr lvl="2"/>
            <a:r>
              <a:rPr lang="en-US" altLang="zh-CN" sz="1800" dirty="0" smtClean="0"/>
              <a:t>2</a:t>
            </a:r>
            <a:r>
              <a:rPr lang="zh-CN" altLang="en-US" sz="1800" dirty="0" smtClean="0"/>
              <a:t>者的区别和联系</a:t>
            </a:r>
            <a:endParaRPr lang="en-US" altLang="zh-CN" sz="1800" dirty="0" smtClean="0"/>
          </a:p>
          <a:p>
            <a:pPr lvl="1"/>
            <a:r>
              <a:rPr lang="zh-CN" altLang="en-US" sz="2000" dirty="0" smtClean="0"/>
              <a:t>何时启动及运行状态</a:t>
            </a:r>
            <a:endParaRPr lang="en-US" altLang="zh-CN" sz="2000" dirty="0" smtClean="0"/>
          </a:p>
          <a:p>
            <a:pPr marL="457200" lvl="1" indent="0">
              <a:buNone/>
            </a:pPr>
            <a:r>
              <a:rPr lang="zh-CN" altLang="en-US" sz="1800" dirty="0" smtClean="0"/>
              <a:t>在线程</a:t>
            </a:r>
            <a:r>
              <a:rPr lang="zh-CN" altLang="en-US" sz="1800" dirty="0"/>
              <a:t>的</a:t>
            </a:r>
            <a:r>
              <a:rPr lang="en-US" altLang="zh-CN" sz="1800" dirty="0"/>
              <a:t>Thread</a:t>
            </a:r>
            <a:r>
              <a:rPr lang="zh-CN" altLang="en-US" sz="1800" dirty="0"/>
              <a:t>对象上调用</a:t>
            </a:r>
            <a:r>
              <a:rPr lang="en-US" altLang="zh-CN" sz="1800" dirty="0"/>
              <a:t>start()</a:t>
            </a:r>
            <a:r>
              <a:rPr lang="zh-CN" altLang="en-US" sz="1800" dirty="0" smtClean="0"/>
              <a:t>方法；</a:t>
            </a:r>
            <a:endParaRPr lang="en-US" altLang="zh-CN" sz="1800" dirty="0" smtClean="0"/>
          </a:p>
          <a:p>
            <a:pPr marL="457200" lvl="1" indent="0">
              <a:buNone/>
            </a:pPr>
            <a:r>
              <a:rPr lang="zh-CN" altLang="en-US" sz="2000" dirty="0" smtClean="0"/>
              <a:t>执行</a:t>
            </a:r>
            <a:r>
              <a:rPr lang="zh-CN" altLang="en-US" dirty="0" smtClean="0"/>
              <a:t>：</a:t>
            </a:r>
            <a:r>
              <a:rPr lang="zh-CN" altLang="en-US" sz="1800" dirty="0"/>
              <a:t>启动新的执行线程（具有新的调用栈</a:t>
            </a:r>
            <a:r>
              <a:rPr lang="zh-CN" altLang="en-US" sz="1800" dirty="0" smtClean="0"/>
              <a:t>）；</a:t>
            </a:r>
            <a:endParaRPr lang="en-US" altLang="zh-CN" sz="1800" dirty="0" smtClean="0"/>
          </a:p>
          <a:p>
            <a:pPr marL="457200" lvl="1" indent="0">
              <a:buNone/>
            </a:pPr>
            <a:r>
              <a:rPr lang="en-US" altLang="zh-CN" sz="1800" dirty="0" smtClean="0"/>
              <a:t>	       </a:t>
            </a:r>
            <a:r>
              <a:rPr lang="zh-CN" altLang="en-US" sz="1800" dirty="0" smtClean="0"/>
              <a:t>该</a:t>
            </a:r>
            <a:r>
              <a:rPr lang="zh-CN" altLang="en-US" sz="1800" dirty="0"/>
              <a:t>线程从新状态转移到可运行状态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 marL="457200" lvl="1" indent="0">
              <a:buNone/>
            </a:pPr>
            <a:r>
              <a:rPr lang="zh-CN" altLang="en-US" sz="1800" dirty="0" smtClean="0"/>
              <a:t>              当</a:t>
            </a:r>
            <a:r>
              <a:rPr lang="zh-CN" altLang="en-US" sz="1800" dirty="0"/>
              <a:t>该线程获得机会执行时，其目标</a:t>
            </a:r>
            <a:r>
              <a:rPr lang="en-US" altLang="zh-CN" sz="1800" dirty="0"/>
              <a:t>run()</a:t>
            </a:r>
            <a:r>
              <a:rPr lang="zh-CN" altLang="en-US" sz="1800" dirty="0"/>
              <a:t>方法将</a:t>
            </a:r>
            <a:r>
              <a:rPr lang="zh-CN" altLang="en-US" sz="1800" dirty="0" smtClean="0"/>
              <a:t>运行</a:t>
            </a:r>
            <a:endParaRPr lang="en-US" altLang="zh-CN" sz="1800" dirty="0" smtClean="0"/>
          </a:p>
          <a:p>
            <a:pPr lvl="1"/>
            <a:r>
              <a:rPr lang="zh-CN" altLang="en-US" sz="2000" dirty="0" smtClean="0"/>
              <a:t>线程的</a:t>
            </a:r>
            <a:r>
              <a:rPr lang="en-US" altLang="zh-CN" sz="2000" dirty="0" smtClean="0"/>
              <a:t>5</a:t>
            </a:r>
            <a:r>
              <a:rPr lang="zh-CN" altLang="en-US" sz="2000" dirty="0" smtClean="0"/>
              <a:t>种状态</a:t>
            </a:r>
            <a:endParaRPr lang="en-US" altLang="zh-CN" sz="2000" dirty="0" smtClean="0"/>
          </a:p>
          <a:p>
            <a:pPr marL="457200" lvl="1" indent="0">
              <a:buNone/>
            </a:pPr>
            <a:r>
              <a:rPr lang="zh-CN" altLang="en-US" sz="2000" dirty="0" smtClean="0"/>
              <a:t>新建状态、就绪状态、运行状态、阻塞状态、死亡状态</a:t>
            </a:r>
            <a:endParaRPr lang="en-US" altLang="zh-CN" sz="2000" dirty="0" smtClean="0"/>
          </a:p>
          <a:p>
            <a:pPr lvl="2"/>
            <a:r>
              <a:rPr lang="zh-CN" altLang="en-US" sz="2000" dirty="0" smtClean="0"/>
              <a:t>阻塞</a:t>
            </a:r>
            <a:r>
              <a:rPr lang="en-US" altLang="zh-CN" sz="2000" dirty="0" smtClean="0"/>
              <a:t>3</a:t>
            </a:r>
            <a:r>
              <a:rPr lang="zh-CN" altLang="en-US" sz="2000" dirty="0" smtClean="0"/>
              <a:t>种类型的状态</a:t>
            </a:r>
            <a:endParaRPr lang="en-US" altLang="zh-CN" sz="2000" dirty="0" smtClean="0"/>
          </a:p>
          <a:p>
            <a:pPr marL="914400" lvl="2" indent="0">
              <a:buNone/>
            </a:pPr>
            <a:r>
              <a:rPr lang="zh-CN" altLang="en-US" sz="2000" dirty="0" smtClean="0"/>
              <a:t>等待阻塞：</a:t>
            </a:r>
            <a:r>
              <a:rPr lang="zh-CN" altLang="en-US" sz="1600" dirty="0">
                <a:solidFill>
                  <a:schemeClr val="accent1">
                    <a:lumMod val="75000"/>
                  </a:schemeClr>
                </a:solidFill>
              </a:rPr>
              <a:t>运行状态中的线程执行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wait()</a:t>
            </a:r>
            <a:r>
              <a:rPr lang="zh-CN" altLang="en-US" sz="1600" dirty="0" smtClean="0">
                <a:solidFill>
                  <a:schemeClr val="accent1">
                    <a:lumMod val="75000"/>
                  </a:schemeClr>
                </a:solidFill>
              </a:rPr>
              <a:t>方法</a:t>
            </a:r>
            <a:endParaRPr lang="en-US" altLang="zh-CN" sz="16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914400" lvl="2" indent="0">
              <a:buNone/>
            </a:pPr>
            <a:r>
              <a:rPr lang="zh-CN" altLang="en-US" sz="2000" dirty="0" smtClean="0"/>
              <a:t>同步阻塞：</a:t>
            </a:r>
            <a:r>
              <a:rPr lang="zh-CN" altLang="en-US" sz="1600" dirty="0">
                <a:solidFill>
                  <a:schemeClr val="accent1">
                    <a:lumMod val="75000"/>
                  </a:schemeClr>
                </a:solidFill>
              </a:rPr>
              <a:t>获取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synchronized</a:t>
            </a:r>
            <a:r>
              <a:rPr lang="zh-CN" altLang="en-US" sz="1600" dirty="0">
                <a:solidFill>
                  <a:schemeClr val="accent1">
                    <a:lumMod val="75000"/>
                  </a:schemeClr>
                </a:solidFill>
              </a:rPr>
              <a:t>同步锁失败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zh-CN" altLang="en-US" sz="1600" dirty="0">
                <a:solidFill>
                  <a:schemeClr val="accent1">
                    <a:lumMod val="75000"/>
                  </a:schemeClr>
                </a:solidFill>
              </a:rPr>
              <a:t>因为锁被其它线程所占用</a:t>
            </a:r>
            <a:r>
              <a:rPr lang="en-US" altLang="zh-CN" sz="1500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en-US" altLang="zh-CN" sz="15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914400" lvl="2" indent="0">
              <a:buNone/>
            </a:pPr>
            <a:r>
              <a:rPr lang="zh-CN" altLang="en-US" sz="2000" dirty="0" smtClean="0"/>
              <a:t>其他</a:t>
            </a:r>
            <a:r>
              <a:rPr lang="zh-CN" altLang="en-US" sz="2000" dirty="0"/>
              <a:t>阻塞：</a:t>
            </a:r>
            <a:r>
              <a:rPr lang="zh-CN" altLang="en-US" sz="1600" dirty="0">
                <a:solidFill>
                  <a:schemeClr val="accent1">
                    <a:lumMod val="75000"/>
                  </a:schemeClr>
                </a:solidFill>
              </a:rPr>
              <a:t>调用线程的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sleep()</a:t>
            </a:r>
            <a:r>
              <a:rPr lang="zh-CN" altLang="en-US" sz="1600" dirty="0">
                <a:solidFill>
                  <a:schemeClr val="accent1">
                    <a:lumMod val="75000"/>
                  </a:schemeClr>
                </a:solidFill>
              </a:rPr>
              <a:t>或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join()</a:t>
            </a:r>
            <a:r>
              <a:rPr lang="zh-CN" altLang="en-US" sz="1600" dirty="0">
                <a:solidFill>
                  <a:schemeClr val="accent1">
                    <a:lumMod val="75000"/>
                  </a:schemeClr>
                </a:solidFill>
              </a:rPr>
              <a:t>或发出了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I/O</a:t>
            </a:r>
            <a:r>
              <a:rPr lang="zh-CN" altLang="en-US" sz="1600" dirty="0">
                <a:solidFill>
                  <a:schemeClr val="accent1">
                    <a:lumMod val="75000"/>
                  </a:schemeClr>
                </a:solidFill>
              </a:rPr>
              <a:t>请求时，线程会进入到阻塞状态。当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sleep()</a:t>
            </a:r>
            <a:r>
              <a:rPr lang="zh-CN" altLang="en-US" sz="1600" dirty="0">
                <a:solidFill>
                  <a:schemeClr val="accent1">
                    <a:lumMod val="75000"/>
                  </a:schemeClr>
                </a:solidFill>
              </a:rPr>
              <a:t>状态超时、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join()</a:t>
            </a:r>
            <a:r>
              <a:rPr lang="zh-CN" altLang="en-US" sz="1600" dirty="0">
                <a:solidFill>
                  <a:schemeClr val="accent1">
                    <a:lumMod val="75000"/>
                  </a:schemeClr>
                </a:solidFill>
              </a:rPr>
              <a:t>等待线程终止或者超时、或者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</a:rPr>
              <a:t>I/O</a:t>
            </a:r>
            <a:r>
              <a:rPr lang="zh-CN" altLang="en-US" sz="1600" dirty="0">
                <a:solidFill>
                  <a:schemeClr val="accent1">
                    <a:lumMod val="75000"/>
                  </a:schemeClr>
                </a:solidFill>
              </a:rPr>
              <a:t>处理完毕时，线程重新转入就绪状态</a:t>
            </a:r>
            <a:endParaRPr lang="en-US" altLang="zh-CN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23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八、线程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 smtClean="0"/>
              <a:t>线程</a:t>
            </a:r>
            <a:endParaRPr lang="en-US" altLang="zh-CN" dirty="0" smtClean="0"/>
          </a:p>
          <a:p>
            <a:pPr lvl="1"/>
            <a:r>
              <a:rPr lang="zh-CN" altLang="en-US" sz="2000" dirty="0" smtClean="0"/>
              <a:t>并行和并发的概念</a:t>
            </a:r>
            <a:endParaRPr lang="en-US" altLang="zh-CN" sz="2000" dirty="0" smtClean="0"/>
          </a:p>
          <a:p>
            <a:pPr marL="457200" lvl="1" indent="0">
              <a:buNone/>
            </a:pPr>
            <a:r>
              <a:rPr lang="zh-CN" altLang="en-US" sz="1600" dirty="0" smtClean="0"/>
              <a:t>并行指多</a:t>
            </a:r>
            <a:r>
              <a:rPr lang="zh-CN" altLang="en-US" sz="1600" dirty="0"/>
              <a:t>个</a:t>
            </a:r>
            <a:r>
              <a:rPr lang="en-US" altLang="zh-CN" sz="1600" dirty="0" err="1"/>
              <a:t>cpu</a:t>
            </a:r>
            <a:r>
              <a:rPr lang="zh-CN" altLang="en-US" sz="1600" dirty="0"/>
              <a:t>实例或者多台机器同时执行一段处理逻辑，是真正的</a:t>
            </a:r>
            <a:r>
              <a:rPr lang="zh-CN" altLang="en-US" sz="1600" dirty="0" smtClean="0"/>
              <a:t>同时；</a:t>
            </a:r>
            <a:endParaRPr lang="en-US" altLang="zh-CN" sz="1600" dirty="0" smtClean="0"/>
          </a:p>
          <a:p>
            <a:pPr marL="457200" lvl="1" indent="0">
              <a:buNone/>
            </a:pPr>
            <a:r>
              <a:rPr lang="zh-CN" altLang="en-US" sz="1600" dirty="0" smtClean="0"/>
              <a:t>并发指通过</a:t>
            </a:r>
            <a:r>
              <a:rPr lang="en-US" altLang="zh-CN" sz="1600" dirty="0" err="1"/>
              <a:t>cpu</a:t>
            </a:r>
            <a:r>
              <a:rPr lang="zh-CN" altLang="en-US" sz="1600" dirty="0"/>
              <a:t>调度算法，让用户看上去同时执行，实际上从</a:t>
            </a:r>
            <a:r>
              <a:rPr lang="en-US" altLang="zh-CN" sz="1600" dirty="0" err="1"/>
              <a:t>cpu</a:t>
            </a:r>
            <a:r>
              <a:rPr lang="zh-CN" altLang="en-US" sz="1600" dirty="0"/>
              <a:t>操作层面不是真正的</a:t>
            </a:r>
            <a:r>
              <a:rPr lang="zh-CN" altLang="en-US" sz="1600" dirty="0" smtClean="0"/>
              <a:t>同时</a:t>
            </a:r>
            <a:endParaRPr lang="en-US" altLang="zh-CN" sz="1600" dirty="0" smtClean="0"/>
          </a:p>
          <a:p>
            <a:pPr lvl="1"/>
            <a:r>
              <a:rPr lang="zh-CN" altLang="en-US" sz="2000" dirty="0" smtClean="0"/>
              <a:t>在</a:t>
            </a:r>
            <a:r>
              <a:rPr lang="en-US" altLang="zh-CN" sz="2000" dirty="0" smtClean="0"/>
              <a:t>java</a:t>
            </a:r>
            <a:r>
              <a:rPr lang="zh-CN" altLang="en-US" sz="2000" dirty="0" smtClean="0"/>
              <a:t>中，每次程序运行至少启动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个线程，一个</a:t>
            </a:r>
            <a:r>
              <a:rPr lang="en-US" altLang="zh-CN" sz="2000" dirty="0" smtClean="0"/>
              <a:t>main</a:t>
            </a:r>
            <a:r>
              <a:rPr lang="zh-CN" altLang="en-US" sz="2000" dirty="0" smtClean="0"/>
              <a:t>、一个垃圾收集线程</a:t>
            </a:r>
            <a:endParaRPr lang="en-US" altLang="zh-CN" sz="2000" dirty="0"/>
          </a:p>
          <a:p>
            <a:pPr lvl="1"/>
            <a:r>
              <a:rPr lang="zh-CN" altLang="en-US" sz="2000" dirty="0" smtClean="0"/>
              <a:t>常用方法</a:t>
            </a:r>
            <a:endParaRPr lang="en-US" altLang="zh-CN" sz="2000" dirty="0" smtClean="0"/>
          </a:p>
          <a:p>
            <a:pPr lvl="2"/>
            <a:r>
              <a:rPr lang="en-US" altLang="zh-CN" sz="1800" dirty="0"/>
              <a:t>s</a:t>
            </a:r>
            <a:r>
              <a:rPr lang="en-US" altLang="zh-CN" sz="1800" dirty="0" smtClean="0"/>
              <a:t>leep():</a:t>
            </a:r>
            <a:r>
              <a:rPr lang="zh-CN" altLang="en-US" sz="1800" dirty="0" smtClean="0"/>
              <a:t>强迫一个线程睡眠</a:t>
            </a:r>
            <a:r>
              <a:rPr lang="en-US" altLang="zh-CN" sz="1800" dirty="0" smtClean="0"/>
              <a:t>N</a:t>
            </a:r>
            <a:r>
              <a:rPr lang="zh-CN" altLang="en-US" sz="1800" dirty="0" smtClean="0"/>
              <a:t>毫秒</a:t>
            </a:r>
            <a:endParaRPr lang="en-US" altLang="zh-CN" sz="1800" dirty="0" smtClean="0"/>
          </a:p>
          <a:p>
            <a:pPr lvl="2"/>
            <a:r>
              <a:rPr lang="en-US" altLang="zh-CN" sz="1800" dirty="0" err="1" smtClean="0"/>
              <a:t>isAlive</a:t>
            </a:r>
            <a:r>
              <a:rPr lang="en-US" altLang="zh-CN" sz="1800" dirty="0" smtClean="0"/>
              <a:t>():</a:t>
            </a:r>
            <a:r>
              <a:rPr lang="zh-CN" altLang="en-US" sz="1800" dirty="0" smtClean="0"/>
              <a:t>判断一个线程是否存活</a:t>
            </a:r>
            <a:endParaRPr lang="en-US" altLang="zh-CN" sz="1800" dirty="0" smtClean="0"/>
          </a:p>
          <a:p>
            <a:pPr lvl="2"/>
            <a:r>
              <a:rPr lang="en-US" altLang="zh-CN" sz="1800" dirty="0" err="1" smtClean="0"/>
              <a:t>activeCount</a:t>
            </a:r>
            <a:r>
              <a:rPr lang="en-US" altLang="zh-CN" sz="1800" dirty="0" smtClean="0"/>
              <a:t>():</a:t>
            </a:r>
            <a:r>
              <a:rPr lang="zh-CN" altLang="en-US" sz="1800" dirty="0" smtClean="0"/>
              <a:t>程序中活跃的线程数</a:t>
            </a:r>
            <a:endParaRPr lang="en-US" altLang="zh-CN" sz="1800" dirty="0" smtClean="0"/>
          </a:p>
          <a:p>
            <a:pPr lvl="2"/>
            <a:r>
              <a:rPr lang="en-US" altLang="zh-CN" sz="1800" dirty="0" err="1" smtClean="0"/>
              <a:t>currentThread</a:t>
            </a:r>
            <a:r>
              <a:rPr lang="en-US" altLang="zh-CN" sz="1800" dirty="0" smtClean="0"/>
              <a:t>():</a:t>
            </a:r>
            <a:r>
              <a:rPr lang="zh-CN" altLang="en-US" sz="1800" dirty="0" smtClean="0"/>
              <a:t>得到当前线程</a:t>
            </a:r>
            <a:endParaRPr lang="en-US" altLang="zh-CN" sz="1800" dirty="0" smtClean="0"/>
          </a:p>
          <a:p>
            <a:pPr lvl="2"/>
            <a:r>
              <a:rPr lang="en-US" altLang="zh-CN" sz="1800" dirty="0" err="1" smtClean="0"/>
              <a:t>setName</a:t>
            </a:r>
            <a:r>
              <a:rPr lang="en-US" altLang="zh-CN" sz="1800" dirty="0" smtClean="0"/>
              <a:t>():</a:t>
            </a:r>
            <a:r>
              <a:rPr lang="zh-CN" altLang="en-US" sz="1800" dirty="0" smtClean="0"/>
              <a:t>为线程设置一个名字</a:t>
            </a:r>
            <a:endParaRPr lang="en-US" altLang="zh-CN" sz="1800" dirty="0" smtClean="0"/>
          </a:p>
          <a:p>
            <a:pPr lvl="2"/>
            <a:r>
              <a:rPr lang="en-US" altLang="zh-CN" sz="1800" dirty="0"/>
              <a:t>w</a:t>
            </a:r>
            <a:r>
              <a:rPr lang="en-US" altLang="zh-CN" sz="1800" dirty="0" smtClean="0"/>
              <a:t>ait():</a:t>
            </a:r>
            <a:r>
              <a:rPr lang="zh-CN" altLang="en-US" sz="1800" dirty="0" smtClean="0"/>
              <a:t>强迫一个线程等待</a:t>
            </a:r>
            <a:endParaRPr lang="en-US" altLang="zh-CN" sz="1800" dirty="0" smtClean="0"/>
          </a:p>
          <a:p>
            <a:pPr lvl="2"/>
            <a:r>
              <a:rPr lang="en-US" altLang="zh-CN" sz="1800" dirty="0" smtClean="0"/>
              <a:t>notify():</a:t>
            </a:r>
            <a:r>
              <a:rPr lang="zh-CN" altLang="en-US" sz="1800" dirty="0" smtClean="0"/>
              <a:t>通知一个线程继续运行</a:t>
            </a:r>
            <a:endParaRPr lang="en-US" altLang="zh-CN" sz="1800" dirty="0" smtClean="0"/>
          </a:p>
          <a:p>
            <a:pPr lvl="2"/>
            <a:r>
              <a:rPr lang="en-US" altLang="zh-CN" sz="1800" dirty="0" err="1" smtClean="0"/>
              <a:t>setPriority</a:t>
            </a:r>
            <a:r>
              <a:rPr lang="en-US" altLang="zh-CN" sz="1800" dirty="0" smtClean="0"/>
              <a:t>():</a:t>
            </a:r>
            <a:r>
              <a:rPr lang="zh-CN" altLang="en-US" sz="1800" dirty="0" smtClean="0"/>
              <a:t>设置一个线程的优先级</a:t>
            </a:r>
            <a:endParaRPr lang="zh-CN" altLang="en-US" sz="1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704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八、线程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线程</a:t>
            </a:r>
            <a:endParaRPr lang="en-US" altLang="zh-CN" dirty="0" smtClean="0"/>
          </a:p>
          <a:p>
            <a:pPr lvl="1"/>
            <a:r>
              <a:rPr lang="en-US" altLang="zh-CN" sz="2000" dirty="0" smtClean="0"/>
              <a:t>sleep()</a:t>
            </a:r>
            <a:r>
              <a:rPr lang="zh-CN" altLang="en-US" sz="2000" dirty="0" smtClean="0"/>
              <a:t>和</a:t>
            </a:r>
            <a:r>
              <a:rPr lang="en-US" altLang="zh-CN" sz="2000" dirty="0" smtClean="0"/>
              <a:t> wait()</a:t>
            </a:r>
            <a:r>
              <a:rPr lang="zh-CN" altLang="en-US" sz="2000" dirty="0" smtClean="0"/>
              <a:t>的区别</a:t>
            </a:r>
            <a:endParaRPr lang="en-US" altLang="zh-CN" sz="2000" dirty="0" smtClean="0"/>
          </a:p>
          <a:p>
            <a:pPr marL="457200" lvl="1" indent="0">
              <a:buNone/>
            </a:pPr>
            <a:r>
              <a:rPr lang="zh-CN" altLang="en-US" sz="1800" dirty="0" smtClean="0"/>
              <a:t>前者睡眠时保持对象锁，仍然占有；后者则释放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线程同步</a:t>
            </a:r>
            <a:r>
              <a:rPr lang="en-US" altLang="zh-CN" sz="1800" dirty="0" smtClean="0"/>
              <a:t>(</a:t>
            </a:r>
            <a:r>
              <a:rPr lang="en-US" altLang="zh-CN" sz="1800" dirty="0"/>
              <a:t>synchronized </a:t>
            </a:r>
            <a:r>
              <a:rPr lang="en-US" altLang="zh-CN" sz="1800" dirty="0" smtClean="0"/>
              <a:t>)</a:t>
            </a:r>
            <a:endParaRPr lang="zh-CN" altLang="en-US" sz="1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18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九、包装类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 smtClean="0"/>
              <a:t>包装类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pPr/>
              <a:t>2017/7/27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pPr/>
              <a:t>22</a:t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673" y="1556792"/>
            <a:ext cx="4505357" cy="4726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3574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" y="3989946"/>
            <a:ext cx="9144000" cy="953508"/>
          </a:xfrm>
        </p:spPr>
        <p:txBody>
          <a:bodyPr>
            <a:noAutofit/>
          </a:bodyPr>
          <a:lstStyle/>
          <a:p>
            <a:r>
              <a:rPr lang="zh-CN" altLang="en-US" sz="6000" dirty="0">
                <a:latin typeface="微软雅黑" pitchFamily="34" charset="-122"/>
                <a:ea typeface="微软雅黑" pitchFamily="34" charset="-122"/>
              </a:rPr>
              <a:t>谢 谢</a:t>
            </a:r>
          </a:p>
        </p:txBody>
      </p:sp>
    </p:spTree>
    <p:extLst>
      <p:ext uri="{BB962C8B-B14F-4D97-AF65-F5344CB8AC3E}">
        <p14:creationId xmlns:p14="http://schemas.microsoft.com/office/powerpoint/2010/main" val="642570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如何做好需求工作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如何做好需求工作</Template>
  <TotalTime>9361</TotalTime>
  <Words>1729</Words>
  <Application>Microsoft Office PowerPoint</Application>
  <PresentationFormat>全屏显示(4:3)</PresentationFormat>
  <Paragraphs>277</Paragraphs>
  <Slides>23</Slides>
  <Notes>13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4" baseType="lpstr">
      <vt:lpstr>如何做好需求工作</vt:lpstr>
      <vt:lpstr>PowerPoint 演示文稿</vt:lpstr>
      <vt:lpstr>目录 </vt:lpstr>
      <vt:lpstr>一、java lang概览</vt:lpstr>
      <vt:lpstr>二、Object类及方法</vt:lpstr>
      <vt:lpstr>二、Object类及方法-clone</vt:lpstr>
      <vt:lpstr>二、Object类及方法-equals</vt:lpstr>
      <vt:lpstr>二、Object类及方法-hashCode</vt:lpstr>
      <vt:lpstr>二、Object类及方法-toString</vt:lpstr>
      <vt:lpstr>二、Object类及方法-getClass</vt:lpstr>
      <vt:lpstr>三、Math类</vt:lpstr>
      <vt:lpstr>四、Class类</vt:lpstr>
      <vt:lpstr>四、Class类-相关方法</vt:lpstr>
      <vt:lpstr>五、System类</vt:lpstr>
      <vt:lpstr>六、String</vt:lpstr>
      <vt:lpstr>六、StringBuffer与StringBuilder</vt:lpstr>
      <vt:lpstr>六 、StringBuffer</vt:lpstr>
      <vt:lpstr>七、异常类</vt:lpstr>
      <vt:lpstr>七、异常类及处理</vt:lpstr>
      <vt:lpstr>八、线程 Thread</vt:lpstr>
      <vt:lpstr>八、线程</vt:lpstr>
      <vt:lpstr>八、线程</vt:lpstr>
      <vt:lpstr>九、包装类</vt:lpstr>
      <vt:lpstr>谢 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邢攸勋</dc:creator>
  <cp:lastModifiedBy>hy</cp:lastModifiedBy>
  <cp:revision>637</cp:revision>
  <dcterms:created xsi:type="dcterms:W3CDTF">2014-06-07T02:18:37Z</dcterms:created>
  <dcterms:modified xsi:type="dcterms:W3CDTF">2017-07-27T05:51:15Z</dcterms:modified>
</cp:coreProperties>
</file>