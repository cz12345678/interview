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47" r:id="rId3"/>
    <p:sldId id="362" r:id="rId4"/>
    <p:sldId id="378" r:id="rId5"/>
    <p:sldId id="376" r:id="rId6"/>
    <p:sldId id="366" r:id="rId7"/>
    <p:sldId id="375" r:id="rId8"/>
    <p:sldId id="377" r:id="rId9"/>
    <p:sldId id="380" r:id="rId10"/>
    <p:sldId id="381" r:id="rId11"/>
    <p:sldId id="369" r:id="rId12"/>
    <p:sldId id="373" r:id="rId13"/>
    <p:sldId id="379" r:id="rId14"/>
    <p:sldId id="351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俎向朋" initials="俎向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6FF"/>
    <a:srgbClr val="595757"/>
    <a:srgbClr val="7ECEF4"/>
    <a:srgbClr val="0062AD"/>
    <a:srgbClr val="66FF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78877" autoAdjust="0"/>
  </p:normalViewPr>
  <p:slideViewPr>
    <p:cSldViewPr showGuides="1">
      <p:cViewPr>
        <p:scale>
          <a:sx n="100" d="100"/>
          <a:sy n="100" d="100"/>
        </p:scale>
        <p:origin x="-1944" y="-432"/>
      </p:cViewPr>
      <p:guideLst>
        <p:guide orient="horz" pos="459"/>
        <p:guide pos="5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3D383-601C-49DF-A412-49D6A837806B}" type="datetimeFigureOut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752CB-F267-409C-B428-174C29125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6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3"/>
          <p:cNvGrpSpPr/>
          <p:nvPr userDrawn="1"/>
        </p:nvGrpSpPr>
        <p:grpSpPr bwMode="auto">
          <a:xfrm>
            <a:off x="-17463" y="2228850"/>
            <a:ext cx="9159876" cy="4171950"/>
            <a:chOff x="-26775" y="3348455"/>
            <a:chExt cx="14427135" cy="72000"/>
          </a:xfrm>
        </p:grpSpPr>
        <p:sp>
          <p:nvSpPr>
            <p:cNvPr id="17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2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2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1624136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D81A037-8D57-41A5-A253-A9E887D684E4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7" descr="彩色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539750"/>
            <a:ext cx="25654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9"/>
          <p:cNvSpPr txBox="1">
            <a:spLocks noChangeArrowheads="1"/>
          </p:cNvSpPr>
          <p:nvPr userDrawn="1"/>
        </p:nvSpPr>
        <p:spPr bwMode="auto">
          <a:xfrm>
            <a:off x="7200900" y="714375"/>
            <a:ext cx="168592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1100" dirty="0" smtClean="0">
                <a:solidFill>
                  <a:srgbClr val="0068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www.thunisoft.com</a:t>
            </a:r>
            <a:endParaRPr lang="zh-CN" altLang="en-US" sz="1100" dirty="0" smtClean="0">
              <a:solidFill>
                <a:srgbClr val="0068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 userDrawn="1"/>
        </p:nvSpPr>
        <p:spPr bwMode="auto">
          <a:xfrm>
            <a:off x="1646238" y="6065838"/>
            <a:ext cx="5429596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055" tIns="29028" rIns="58055" bIns="29028">
            <a:spAutoFit/>
          </a:bodyPr>
          <a:lstStyle/>
          <a:p>
            <a:pPr defTabSz="820420"/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 userDrawn="1"/>
        </p:nvSpPr>
        <p:spPr>
          <a:xfrm>
            <a:off x="1638300" y="555307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i="0" kern="1200" smtClean="0">
                <a:solidFill>
                  <a:schemeClr val="bg1"/>
                </a:solidFill>
                <a:latin typeface="Exo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9329283-96AF-4146-A0DF-F154670DCF22}" type="datetime1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2017/8/15</a:t>
            </a:fld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5472608" cy="490066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572" y="980728"/>
            <a:ext cx="7848872" cy="5328592"/>
          </a:xfrm>
        </p:spPr>
        <p:txBody>
          <a:bodyPr/>
          <a:lstStyle>
            <a:lvl1pPr>
              <a:defRPr b="0"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 sz="2400">
                <a:solidFill>
                  <a:srgbClr val="595757"/>
                </a:solidFill>
              </a:defRPr>
            </a:lvl3pPr>
            <a:lvl4pPr>
              <a:defRPr sz="2000">
                <a:solidFill>
                  <a:srgbClr val="595757"/>
                </a:solidFill>
              </a:defRPr>
            </a:lvl4pPr>
            <a:lvl5pPr>
              <a:defRPr sz="180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1223628" y="1592796"/>
            <a:ext cx="4140460" cy="6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000" dirty="0" smtClean="0">
                <a:solidFill>
                  <a:srgbClr val="0062A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1259632" y="2600908"/>
            <a:ext cx="7309320" cy="34203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 b="0" baseline="0">
                <a:solidFill>
                  <a:srgbClr val="595757"/>
                </a:solidFill>
              </a:defRPr>
            </a:lvl1pPr>
            <a:lvl2pPr marL="457200" indent="0">
              <a:buFontTx/>
              <a:buNone/>
              <a:defRPr>
                <a:solidFill>
                  <a:srgbClr val="595757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595757"/>
                </a:solidFill>
              </a:defRPr>
            </a:lvl3pPr>
            <a:lvl4pPr marL="1371600" indent="0">
              <a:buFontTx/>
              <a:buNone/>
              <a:defRPr sz="2000">
                <a:solidFill>
                  <a:srgbClr val="595757"/>
                </a:solidFill>
              </a:defRPr>
            </a:lvl4pPr>
            <a:lvl5pPr marL="1828800" indent="0">
              <a:buFontTx/>
              <a:buNone/>
              <a:defRPr sz="180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一、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二、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三、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四、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13"/>
          <p:cNvGrpSpPr/>
          <p:nvPr userDrawn="1"/>
        </p:nvGrpSpPr>
        <p:grpSpPr bwMode="auto">
          <a:xfrm>
            <a:off x="-17463" y="3000375"/>
            <a:ext cx="9159876" cy="3857625"/>
            <a:chOff x="-26775" y="3348455"/>
            <a:chExt cx="14427135" cy="72000"/>
          </a:xfrm>
        </p:grpSpPr>
        <p:sp>
          <p:nvSpPr>
            <p:cNvPr id="8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</p:grp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-72516" y="6315075"/>
            <a:ext cx="9216515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/>
          <a:p>
            <a:pPr algn="ctr" defTabSz="820420"/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  </a:t>
            </a:r>
            <a:r>
              <a:rPr lang="en-US" altLang="zh-CN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Picture 10" descr="竖版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650875"/>
            <a:ext cx="18288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</p:spPr>
        <p:txBody>
          <a:bodyPr anchor="t">
            <a:noAutofit/>
          </a:bodyPr>
          <a:lstStyle>
            <a:lvl1pPr algn="ctr">
              <a:defRPr sz="6000" b="0" cap="all">
                <a:solidFill>
                  <a:schemeClr val="bg1"/>
                </a:solidFill>
                <a:latin typeface="方正兰亭纤黑_GBK" pitchFamily="2" charset="-122"/>
                <a:ea typeface="方正兰亭纤黑_GBK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2A1F-7F4F-4A9E-AC8E-D70E794B105F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6D87D-5373-4AD0-B56A-9967F8C0C571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0752-F7E5-44E2-8AA3-21EF20F87492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FE5E-E76A-4B18-92BB-C6BBC29BC225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9E165-A031-464B-BD7E-7E82C482BEDF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9F04-C1B7-4CEA-9291-EA11D6E04CCC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FAF6-3209-4067-A7F8-040A8184C6B7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505-0372-41F5-B7B2-72EF063B6600}" type="datetime1">
              <a:rPr lang="zh-CN" altLang="en-US" smtClean="0"/>
              <a:t>2017/8/15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5472608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9572" y="980728"/>
            <a:ext cx="7848872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102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i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D3EEC2-3DBC-43AD-837B-AE7C27033FDD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1621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i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C794E63-F2AF-49E2-AE37-43481CC587E5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7" name="组合 7"/>
          <p:cNvGrpSpPr/>
          <p:nvPr/>
        </p:nvGrpSpPr>
        <p:grpSpPr bwMode="auto">
          <a:xfrm>
            <a:off x="0" y="742950"/>
            <a:ext cx="9144000" cy="46038"/>
            <a:chOff x="0" y="1440235"/>
            <a:chExt cx="14401800" cy="72000"/>
          </a:xfrm>
        </p:grpSpPr>
        <p:sp>
          <p:nvSpPr>
            <p:cNvPr id="8" name="矩形 8"/>
            <p:cNvSpPr>
              <a:spLocks noChangeArrowheads="1"/>
            </p:cNvSpPr>
            <p:nvPr userDrawn="1"/>
          </p:nvSpPr>
          <p:spPr bwMode="auto">
            <a:xfrm>
              <a:off x="652622" y="144023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9" name="矩形 9"/>
            <p:cNvSpPr>
              <a:spLocks noChangeArrowheads="1"/>
            </p:cNvSpPr>
            <p:nvPr userDrawn="1"/>
          </p:nvSpPr>
          <p:spPr bwMode="auto">
            <a:xfrm>
              <a:off x="2066925" y="144023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0" name="矩形 10"/>
            <p:cNvSpPr>
              <a:spLocks noChangeArrowheads="1"/>
            </p:cNvSpPr>
            <p:nvPr userDrawn="1"/>
          </p:nvSpPr>
          <p:spPr bwMode="auto">
            <a:xfrm>
              <a:off x="2880420" y="1440235"/>
              <a:ext cx="1152138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1" name="矩形 11"/>
            <p:cNvSpPr>
              <a:spLocks noChangeArrowheads="1"/>
            </p:cNvSpPr>
            <p:nvPr userDrawn="1"/>
          </p:nvSpPr>
          <p:spPr bwMode="auto">
            <a:xfrm>
              <a:off x="0" y="1440235"/>
              <a:ext cx="1305245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</p:grpSp>
      <p:pic>
        <p:nvPicPr>
          <p:cNvPr id="12" name="Picture 7" descr="彩色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82" y="136525"/>
            <a:ext cx="1327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just" defTabSz="914400" rtl="0" eaLnBrk="1" latinLnBrk="0" hangingPunct="1">
        <a:lnSpc>
          <a:spcPct val="125000"/>
        </a:lnSpc>
        <a:spcBef>
          <a:spcPts val="300"/>
        </a:spcBef>
        <a:buClr>
          <a:srgbClr val="00479D"/>
        </a:buClr>
        <a:buSzPct val="60000"/>
        <a:buFont typeface="Wingdings" panose="05000000000000000000" pitchFamily="2" charset="2"/>
        <a:buChar char="n"/>
        <a:defRPr sz="28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SzPct val="60000"/>
        <a:buFont typeface="Wingdings" panose="05000000000000000000" pitchFamily="2" charset="2"/>
        <a:buChar char="p"/>
        <a:defRPr sz="24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anose="020B0604020202020204" pitchFamily="34" charset="0"/>
        <a:buChar char="•"/>
        <a:defRPr sz="24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anose="020B0604020202020204" pitchFamily="34" charset="0"/>
        <a:buChar char="–"/>
        <a:defRPr sz="20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anose="020B0604020202020204" pitchFamily="34" charset="0"/>
        <a:buChar char="»"/>
        <a:defRPr sz="18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ool.oschina.net/uploads/apidocs/jdk-zh/java/text/SimpleDateFormat.html#year" TargetMode="External"/><Relationship Id="rId7" Type="http://schemas.openxmlformats.org/officeDocument/2006/relationships/hyperlink" Target="http://tool.oschina.net/uploads/apidocs/jdk-zh/java/text/SimpleDateFormat.html#rfc822timezone" TargetMode="External"/><Relationship Id="rId2" Type="http://schemas.openxmlformats.org/officeDocument/2006/relationships/hyperlink" Target="http://tool.oschina.net/uploads/apidocs/jdk-zh/java/text/SimpleDateFormat.html#tex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ool.oschina.net/uploads/apidocs/jdk-zh/java/text/SimpleDateFormat.html#timezone" TargetMode="External"/><Relationship Id="rId5" Type="http://schemas.openxmlformats.org/officeDocument/2006/relationships/hyperlink" Target="http://tool.oschina.net/uploads/apidocs/jdk-zh/java/text/SimpleDateFormat.html#number" TargetMode="External"/><Relationship Id="rId4" Type="http://schemas.openxmlformats.org/officeDocument/2006/relationships/hyperlink" Target="http://tool.oschina.net/uploads/apidocs/jdk-zh/java/text/SimpleDateFormat.html#month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avase/6/docs/api/java/util/Calendar.html?is-external=true" TargetMode="External"/><Relationship Id="rId2" Type="http://schemas.openxmlformats.org/officeDocument/2006/relationships/hyperlink" Target="http://tool.oschina.net/uploads/apidocs/commons-lang/org/apache/commons/lang/time/DateUtils.html#getFragmentInDays(java.util.Calendar, int)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403648" y="2790300"/>
            <a:ext cx="7163424" cy="48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Java.util.date</a:t>
            </a:r>
          </a:p>
        </p:txBody>
      </p:sp>
      <p:sp>
        <p:nvSpPr>
          <p:cNvPr id="3" name="文本框 1"/>
          <p:cNvSpPr txBox="1"/>
          <p:nvPr/>
        </p:nvSpPr>
        <p:spPr>
          <a:xfrm>
            <a:off x="6827361" y="4957043"/>
            <a:ext cx="1080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刘彦磊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Java.util.Date</a:t>
            </a:r>
            <a:endParaRPr lang="zh-CN" altLang="en-US" dirty="0" err="1" smtClean="0"/>
          </a:p>
          <a:p>
            <a:r>
              <a:rPr lang="en-US" altLang="zh-CN" dirty="0" smtClean="0"/>
              <a:t>Java.util.Timer</a:t>
            </a:r>
          </a:p>
          <a:p>
            <a:r>
              <a:rPr lang="en-US" altLang="zh-CN" dirty="0" smtClean="0"/>
              <a:t>quartz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springtask</a:t>
            </a:r>
          </a:p>
          <a:p>
            <a:pPr marL="0" indent="0">
              <a:buNone/>
            </a:pPr>
            <a:r>
              <a:rPr lang="en-US" altLang="zh-CN" dirty="0" smtClean="0"/>
              <a:t>	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Java.util.date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基本方法：</a:t>
            </a:r>
          </a:p>
          <a:p>
            <a:pPr lvl="1"/>
            <a:r>
              <a:rPr lang="en-US" altLang="zh-CN" dirty="0" err="1" smtClean="0"/>
              <a:t>boolean</a:t>
            </a:r>
            <a:r>
              <a:rPr lang="en-US" altLang="zh-CN" b="1" dirty="0" smtClean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after</a:t>
            </a:r>
            <a:r>
              <a:rPr lang="en-US" altLang="zh-CN" dirty="0"/>
              <a:t>(Date </a:t>
            </a:r>
            <a:r>
              <a:rPr lang="en-US" altLang="zh-CN" dirty="0" smtClean="0"/>
              <a:t>date) </a:t>
            </a:r>
          </a:p>
          <a:p>
            <a:pPr lvl="1"/>
            <a:r>
              <a:rPr lang="en-US" altLang="zh-CN" dirty="0" err="1" smtClean="0"/>
              <a:t>boolean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before</a:t>
            </a:r>
            <a:r>
              <a:rPr lang="en-US" altLang="zh-CN" dirty="0" smtClean="0"/>
              <a:t>(Date date) 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C</a:t>
            </a:r>
            <a:r>
              <a:rPr lang="zh-CN" altLang="en-US" dirty="0" smtClean="0"/>
              <a:t>lone</a:t>
            </a:r>
            <a:r>
              <a:rPr lang="en-US" altLang="zh-CN" dirty="0" smtClean="0"/>
              <a:t>()</a:t>
            </a:r>
            <a:endParaRPr lang="zh-CN" altLang="en-US" dirty="0" smtClean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compareTo</a:t>
            </a:r>
            <a:r>
              <a:rPr lang="en-US" altLang="zh-CN" dirty="0"/>
              <a:t>(Date </a:t>
            </a:r>
            <a:r>
              <a:rPr lang="en-US" altLang="zh-CN" dirty="0" err="1"/>
              <a:t>anotherDate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equals</a:t>
            </a:r>
            <a:r>
              <a:rPr lang="en-US" altLang="zh-CN" dirty="0"/>
              <a:t>(Object </a:t>
            </a:r>
            <a:r>
              <a:rPr lang="en-US" altLang="zh-CN" dirty="0" err="1"/>
              <a:t>obj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getTime</a:t>
            </a:r>
            <a:r>
              <a:rPr lang="en-US" altLang="zh-CN" dirty="0" smtClean="0"/>
              <a:t>()</a:t>
            </a:r>
            <a:r>
              <a:rPr lang="zh-CN" altLang="en-US" dirty="0" smtClean="0"/>
              <a:t> </a:t>
            </a:r>
            <a:r>
              <a:rPr lang="zh-CN" altLang="en-US" dirty="0" smtClean="0"/>
              <a:t>得到</a:t>
            </a:r>
            <a:r>
              <a:rPr lang="en-US" altLang="zh-CN" dirty="0" smtClean="0"/>
              <a:t>long</a:t>
            </a:r>
            <a:r>
              <a:rPr lang="zh-CN" altLang="en-US" dirty="0" smtClean="0"/>
              <a:t>秒数</a:t>
            </a:r>
          </a:p>
          <a:p>
            <a:pPr lvl="1"/>
            <a:r>
              <a:rPr lang="zh-CN" altLang="en-US" dirty="0" smtClean="0"/>
              <a:t>setTime（</a:t>
            </a:r>
            <a:r>
              <a:rPr lang="en-US" altLang="zh-CN" dirty="0" smtClean="0"/>
              <a:t>Long</a:t>
            </a:r>
            <a:r>
              <a:rPr lang="zh-CN" altLang="en-US" dirty="0" smtClean="0"/>
              <a:t>）</a:t>
            </a:r>
          </a:p>
          <a:p>
            <a:pPr lvl="1"/>
            <a:r>
              <a:rPr lang="zh-CN" altLang="en-US" dirty="0" smtClean="0"/>
              <a:t>toString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Java.text.SimpleDateFormat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779196"/>
              </p:ext>
            </p:extLst>
          </p:nvPr>
        </p:nvGraphicFramePr>
        <p:xfrm>
          <a:off x="467544" y="764702"/>
          <a:ext cx="7107240" cy="5544027"/>
        </p:xfrm>
        <a:graphic>
          <a:graphicData uri="http://schemas.openxmlformats.org/drawingml/2006/table">
            <a:tbl>
              <a:tblPr/>
              <a:tblGrid>
                <a:gridCol w="1776810"/>
                <a:gridCol w="1776810"/>
                <a:gridCol w="1776810"/>
                <a:gridCol w="1776810"/>
              </a:tblGrid>
              <a:tr h="21323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/>
                        <a:t>字母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/>
                        <a:t>日期或时间元素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/>
                        <a:t>表示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/>
                        <a:t>示例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CC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Era </a:t>
                      </a:r>
                      <a:r>
                        <a:rPr lang="zh-CN" altLang="en-US" sz="1300"/>
                        <a:t>标志符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2"/>
                        </a:rPr>
                        <a:t>Text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年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3"/>
                        </a:rPr>
                        <a:t>Year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1996; 96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年中的月份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hlinkClick r:id="rId4"/>
                        </a:rPr>
                        <a:t>Month</a:t>
                      </a:r>
                      <a:endParaRPr lang="en-US" sz="13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July; Jul; 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年中的周数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月份中的周数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年中的天数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189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月份中的天数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F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月份中的星期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/>
                        <a:t>星期中的天数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2"/>
                        </a:rPr>
                        <a:t>Text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Tuesday; Tue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Am/pm </a:t>
                      </a:r>
                      <a:r>
                        <a:rPr lang="zh-CN" altLang="en-US" sz="1300"/>
                        <a:t>标记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2"/>
                        </a:rPr>
                        <a:t>Text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426463">
                <a:tc>
                  <a:txBody>
                    <a:bodyPr/>
                    <a:lstStyle/>
                    <a:p>
                      <a:r>
                        <a:rPr lang="en-US" sz="1300"/>
                        <a:t>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一天中的小时数（</a:t>
                      </a:r>
                      <a:r>
                        <a:rPr lang="en-US" altLang="zh-CN" sz="1300"/>
                        <a:t>0-23</a:t>
                      </a:r>
                      <a:r>
                        <a:rPr lang="zh-CN" altLang="en-US" sz="1300"/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463">
                <a:tc>
                  <a:txBody>
                    <a:bodyPr/>
                    <a:lstStyle/>
                    <a:p>
                      <a:r>
                        <a:rPr lang="en-US" sz="1300"/>
                        <a:t>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一天中的小时数（</a:t>
                      </a:r>
                      <a:r>
                        <a:rPr lang="en-US" altLang="zh-CN" sz="1300"/>
                        <a:t>1-24</a:t>
                      </a:r>
                      <a:r>
                        <a:rPr lang="zh-CN" altLang="en-US" sz="1300"/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426463">
                <a:tc>
                  <a:txBody>
                    <a:bodyPr/>
                    <a:lstStyle/>
                    <a:p>
                      <a:r>
                        <a:rPr lang="en-US" sz="1300"/>
                        <a:t>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am/pm </a:t>
                      </a:r>
                      <a:r>
                        <a:rPr lang="zh-CN" altLang="en-US" sz="1300"/>
                        <a:t>中的小时数（</a:t>
                      </a:r>
                      <a:r>
                        <a:rPr lang="en-US" altLang="zh-CN" sz="1300"/>
                        <a:t>0-11</a:t>
                      </a:r>
                      <a:r>
                        <a:rPr lang="zh-CN" altLang="en-US" sz="1300"/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463">
                <a:tc>
                  <a:txBody>
                    <a:bodyPr/>
                    <a:lstStyle/>
                    <a:p>
                      <a:r>
                        <a:rPr lang="en-US" sz="1300"/>
                        <a:t>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am/pm </a:t>
                      </a:r>
                      <a:r>
                        <a:rPr lang="zh-CN" altLang="en-US" sz="1300"/>
                        <a:t>中的小时数（</a:t>
                      </a:r>
                      <a:r>
                        <a:rPr lang="en-US" altLang="zh-CN" sz="1300"/>
                        <a:t>1-12</a:t>
                      </a:r>
                      <a:r>
                        <a:rPr lang="zh-CN" altLang="en-US" sz="1300"/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小时中的分钟数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分钟中的秒数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毫秒数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5"/>
                        </a:rPr>
                        <a:t>Number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/>
                        <a:t>978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39695">
                <a:tc>
                  <a:txBody>
                    <a:bodyPr/>
                    <a:lstStyle/>
                    <a:p>
                      <a:r>
                        <a:rPr lang="en-US" sz="1300" dirty="0"/>
                        <a:t>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时区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6"/>
                        </a:rPr>
                        <a:t>General time zone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Pacific Standard Time; PST; GMT-08:00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EEFF"/>
                    </a:solidFill>
                  </a:tcPr>
                </a:tc>
              </a:tr>
              <a:tr h="213232">
                <a:tc>
                  <a:txBody>
                    <a:bodyPr/>
                    <a:lstStyle/>
                    <a:p>
                      <a:r>
                        <a:rPr lang="en-US" sz="1300"/>
                        <a:t>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/>
                        <a:t>时区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hlinkClick r:id="rId7"/>
                        </a:rPr>
                        <a:t>RFC 822 time zone</a:t>
                      </a:r>
                      <a:endParaRPr lang="en-US" sz="13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-0800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45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Java.util.Calendar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 smtClean="0"/>
              <a:t>Date </a:t>
            </a:r>
            <a:r>
              <a:rPr lang="en-US" altLang="zh-CN" sz="1600" dirty="0" smtClean="0">
                <a:solidFill>
                  <a:srgbClr val="FF0000"/>
                </a:solidFill>
              </a:rPr>
              <a:t>add</a:t>
            </a:r>
            <a:r>
              <a:rPr lang="en-US" altLang="zh-CN" sz="1600" dirty="0" smtClean="0"/>
              <a:t> 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 field,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 amount</a:t>
            </a:r>
            <a:r>
              <a:rPr lang="en-US" altLang="zh-CN" sz="1600" dirty="0" smtClean="0"/>
              <a:t>)</a:t>
            </a:r>
            <a:r>
              <a:rPr lang="zh-CN" altLang="en-US" sz="1600" dirty="0"/>
              <a:t>根据日历的规则，为给定的日历字段添加或减去指定的时</a:t>
            </a:r>
            <a:r>
              <a:rPr lang="zh-CN" altLang="en-US" sz="1600" dirty="0" smtClean="0"/>
              <a:t>间量</a:t>
            </a:r>
            <a:endParaRPr lang="en-US" altLang="zh-CN" sz="1600" dirty="0" smtClean="0"/>
          </a:p>
          <a:p>
            <a:r>
              <a:rPr lang="en-US" altLang="zh-CN" sz="1600" dirty="0">
                <a:solidFill>
                  <a:schemeClr val="tx1"/>
                </a:solidFill>
              </a:rPr>
              <a:t>Void </a:t>
            </a:r>
            <a:r>
              <a:rPr lang="en-US" altLang="zh-CN" sz="1600" dirty="0">
                <a:solidFill>
                  <a:srgbClr val="FF0000"/>
                </a:solidFill>
              </a:rPr>
              <a:t>Roll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 field,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 amount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/>
              <a:t>向指定日历字段添加指定（有符号的）时间量</a:t>
            </a:r>
            <a:endParaRPr lang="en-US" altLang="zh-CN" sz="1600" dirty="0"/>
          </a:p>
          <a:p>
            <a:r>
              <a:rPr lang="en-US" altLang="zh-CN" sz="1600" dirty="0">
                <a:solidFill>
                  <a:schemeClr val="tx1"/>
                </a:solidFill>
              </a:rPr>
              <a:t>Void </a:t>
            </a:r>
            <a:r>
              <a:rPr lang="en-US" altLang="zh-CN" sz="1600" dirty="0">
                <a:solidFill>
                  <a:srgbClr val="FF0000"/>
                </a:solidFill>
              </a:rPr>
              <a:t>Roll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 </a:t>
            </a:r>
            <a:r>
              <a:rPr lang="en-US" altLang="zh-CN" sz="1600" dirty="0" err="1"/>
              <a:t>field,boolean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/>
              <a:t>向指定日历字段添加单位时</a:t>
            </a:r>
            <a:r>
              <a:rPr lang="zh-CN" altLang="en-US" sz="1600" dirty="0" smtClean="0"/>
              <a:t>间量</a:t>
            </a:r>
            <a:endParaRPr lang="en-US" altLang="zh-CN" sz="1600" dirty="0" smtClean="0"/>
          </a:p>
          <a:p>
            <a:r>
              <a:rPr lang="en-US" altLang="zh-CN" sz="1600" dirty="0"/>
              <a:t>Date </a:t>
            </a:r>
            <a:r>
              <a:rPr lang="en-US" altLang="zh-CN" sz="1600" dirty="0" smtClean="0">
                <a:solidFill>
                  <a:srgbClr val="FF0000"/>
                </a:solidFill>
              </a:rPr>
              <a:t>set 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int</a:t>
            </a:r>
            <a:r>
              <a:rPr lang="en-US" altLang="zh-CN" sz="1600" dirty="0"/>
              <a:t> field,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 </a:t>
            </a:r>
            <a:r>
              <a:rPr lang="en-US" altLang="zh-CN" sz="1600" dirty="0" smtClean="0"/>
              <a:t>amount)</a:t>
            </a:r>
            <a:endParaRPr lang="en-US" altLang="zh-CN" sz="1600" dirty="0"/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smtClean="0">
                <a:solidFill>
                  <a:srgbClr val="FF0000"/>
                </a:solidFill>
              </a:rPr>
              <a:t>get</a:t>
            </a:r>
            <a:r>
              <a:rPr lang="en-US" altLang="zh-CN" sz="1600" dirty="0" smtClean="0"/>
              <a:t> (</a:t>
            </a:r>
            <a:r>
              <a:rPr lang="en-US" altLang="zh-CN" sz="1600" dirty="0" err="1" smtClean="0"/>
              <a:t>int</a:t>
            </a:r>
            <a:r>
              <a:rPr lang="en-US" altLang="zh-CN" sz="1600" dirty="0"/>
              <a:t> </a:t>
            </a:r>
            <a:r>
              <a:rPr lang="en-US" altLang="zh-CN" sz="1600" dirty="0" smtClean="0"/>
              <a:t>field ) </a:t>
            </a:r>
            <a:r>
              <a:rPr lang="zh-CN" altLang="en-US" sz="1600" dirty="0" smtClean="0"/>
              <a:t>返回</a:t>
            </a:r>
            <a:r>
              <a:rPr lang="zh-CN" altLang="en-US" sz="1600" dirty="0"/>
              <a:t>给定日历字段的值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smtClean="0"/>
              <a:t>Void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setTime</a:t>
            </a:r>
            <a:r>
              <a:rPr lang="en-US" altLang="zh-CN" sz="1600" dirty="0" smtClean="0"/>
              <a:t>(Date date)</a:t>
            </a:r>
            <a:r>
              <a:rPr lang="zh-CN" altLang="en-US" sz="1600" dirty="0" smtClean="0"/>
              <a:t>设置</a:t>
            </a:r>
            <a:r>
              <a:rPr lang="en-US" altLang="zh-CN" sz="1600" dirty="0"/>
              <a:t>Calendar 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时间</a:t>
            </a:r>
            <a:endParaRPr lang="en-US" altLang="zh-CN" sz="1600" dirty="0" smtClean="0"/>
          </a:p>
          <a:p>
            <a:r>
              <a:rPr lang="en-US" altLang="zh-CN" sz="1600" dirty="0"/>
              <a:t>Void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setTimeInMillis</a:t>
            </a:r>
            <a:r>
              <a:rPr lang="en-US" altLang="zh-CN" sz="1600" dirty="0" smtClean="0"/>
              <a:t>(long </a:t>
            </a:r>
            <a:r>
              <a:rPr lang="en-US" altLang="zh-CN" sz="1600" dirty="0" err="1" smtClean="0"/>
              <a:t>millis</a:t>
            </a:r>
            <a:r>
              <a:rPr lang="en-US" altLang="zh-CN" sz="1600" dirty="0" smtClean="0"/>
              <a:t>)</a:t>
            </a:r>
            <a:r>
              <a:rPr lang="zh-CN" altLang="en-US" sz="1600" dirty="0"/>
              <a:t>设置</a:t>
            </a:r>
            <a:r>
              <a:rPr lang="en-US" altLang="zh-CN" sz="1600" dirty="0"/>
              <a:t>Calendar 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时间</a:t>
            </a:r>
            <a:endParaRPr lang="en-US" altLang="zh-CN" sz="1600" dirty="0" smtClean="0"/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getActualMaximum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field)</a:t>
            </a:r>
            <a:r>
              <a:rPr lang="zh-CN" altLang="en-US" sz="1600" dirty="0"/>
              <a:t>给定此 </a:t>
            </a:r>
            <a:r>
              <a:rPr lang="en-US" altLang="zh-CN" sz="1600" dirty="0"/>
              <a:t>Calendar</a:t>
            </a:r>
            <a:r>
              <a:rPr lang="zh-CN" altLang="en-US" sz="1600" dirty="0"/>
              <a:t> 的时间值，返回指定日历字段可能拥有的最大值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getMaximum</a:t>
            </a:r>
            <a:r>
              <a:rPr lang="zh-CN" altLang="en-US" sz="1600" dirty="0"/>
              <a:t>最大值</a:t>
            </a:r>
            <a:endParaRPr lang="en-US" altLang="zh-CN" sz="1600" dirty="0" smtClean="0"/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getActualMinimum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field</a:t>
            </a:r>
            <a:r>
              <a:rPr lang="en-US" altLang="zh-CN" sz="1600" dirty="0" smtClean="0"/>
              <a:t>)</a:t>
            </a:r>
          </a:p>
          <a:p>
            <a:r>
              <a:rPr lang="en-US" altLang="zh-CN" sz="1600" dirty="0" err="1" smtClean="0">
                <a:solidFill>
                  <a:srgbClr val="FF0000"/>
                </a:solidFill>
              </a:rPr>
              <a:t>getDisplayNames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field,int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style,Locale</a:t>
            </a:r>
            <a:r>
              <a:rPr lang="en-US" altLang="zh-CN" sz="1600" dirty="0" smtClean="0"/>
              <a:t> Locale</a:t>
            </a:r>
          </a:p>
          <a:p>
            <a:r>
              <a:rPr lang="en-US" altLang="zh-CN" sz="16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1600" dirty="0" smtClean="0">
                <a:solidFill>
                  <a:schemeClr val="tx1"/>
                </a:solidFill>
              </a:rPr>
              <a:t>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getFirstDayOfWeek</a:t>
            </a:r>
            <a:r>
              <a:rPr lang="en-US" altLang="zh-CN" sz="1600" dirty="0" smtClean="0">
                <a:solidFill>
                  <a:schemeClr val="tx1"/>
                </a:solidFill>
              </a:rPr>
              <a:t>()</a:t>
            </a:r>
          </a:p>
          <a:p>
            <a:r>
              <a:rPr lang="en-US" altLang="zh-CN" sz="1600" dirty="0" smtClean="0">
                <a:solidFill>
                  <a:schemeClr val="tx1"/>
                </a:solidFill>
              </a:rPr>
              <a:t>Boolean 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isLenient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77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Commons-</a:t>
            </a:r>
            <a:r>
              <a:rPr lang="en-US" altLang="zh-CN" dirty="0" err="1" smtClean="0"/>
              <a:t>lang</a:t>
            </a:r>
            <a:r>
              <a:rPr lang="zh-CN" altLang="en-US" dirty="0" err="1" smtClean="0"/>
              <a:t>中日期工具类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dirty="0" smtClean="0"/>
              <a:t>工具包，常用的有一下几个</a:t>
            </a:r>
            <a:endParaRPr lang="en-US" altLang="zh-CN" dirty="0" smtClean="0"/>
          </a:p>
          <a:p>
            <a:r>
              <a:rPr lang="en-US" altLang="zh-CN" dirty="0" err="1" smtClean="0"/>
              <a:t>DateFormatUtils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日期和时间的格式化工具和常量</a:t>
            </a:r>
            <a:endParaRPr lang="en-US" altLang="zh-CN" dirty="0" smtClean="0"/>
          </a:p>
          <a:p>
            <a:r>
              <a:rPr lang="en-US" altLang="zh-CN" dirty="0" smtClean="0"/>
              <a:t>DateUtils 使用日历和Date对象的一组实用工具。</a:t>
            </a:r>
          </a:p>
          <a:p>
            <a:r>
              <a:rPr lang="en-US" altLang="zh-CN" dirty="0" smtClean="0"/>
              <a:t>DurationFormatUtils 持续格式化实用程序和常量。</a:t>
            </a:r>
          </a:p>
          <a:p>
            <a:r>
              <a:rPr lang="en-US" altLang="zh-CN" dirty="0" smtClean="0"/>
              <a:t>FastDateFormat 是SimpleDateFormat的一种快速且线程安全的版本。</a:t>
            </a:r>
          </a:p>
          <a:p>
            <a:r>
              <a:rPr lang="en-US" altLang="zh-CN" dirty="0" smtClean="0"/>
              <a:t>StopWatch 秒表为计时提供了一个方便的API。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 err="1"/>
              <a:t>DateFormatUtils</a:t>
            </a:r>
            <a:r>
              <a:rPr lang="en-US" altLang="zh-CN" sz="1400" dirty="0"/>
              <a:t> </a:t>
            </a:r>
            <a:r>
              <a:rPr lang="en-US" altLang="zh-CN" sz="1400" dirty="0" err="1" smtClean="0"/>
              <a:t>日期和时间的格式化工具和常量</a:t>
            </a:r>
            <a:r>
              <a:rPr lang="en-US" altLang="zh-CN" sz="1400" dirty="0" smtClean="0"/>
              <a:t>,</a:t>
            </a:r>
            <a:r>
              <a:rPr lang="zh-CN" altLang="en-US" sz="1400" dirty="0" smtClean="0"/>
              <a:t>主要将</a:t>
            </a:r>
            <a:r>
              <a:rPr lang="en-US" altLang="zh-CN" sz="1400" dirty="0" smtClean="0"/>
              <a:t>date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calendar</a:t>
            </a:r>
            <a:r>
              <a:rPr lang="zh-CN" altLang="en-US" sz="1400" dirty="0" smtClean="0"/>
              <a:t>按照指定的格式进行转化</a:t>
            </a:r>
            <a:r>
              <a:rPr lang="en-US" altLang="zh-CN" sz="1400" dirty="0" smtClean="0"/>
              <a:t>.</a:t>
            </a:r>
          </a:p>
          <a:p>
            <a:endParaRPr lang="en-US" altLang="zh-CN" sz="1400" dirty="0" smtClean="0"/>
          </a:p>
          <a:p>
            <a:r>
              <a:rPr lang="en-US" altLang="zh-CN" sz="1400" dirty="0" err="1"/>
              <a:t>SimpleDateFormat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sdf</a:t>
            </a:r>
            <a:r>
              <a:rPr lang="en-US" altLang="zh-CN" sz="1400" dirty="0"/>
              <a:t> = new </a:t>
            </a:r>
            <a:r>
              <a:rPr lang="en-US" altLang="zh-CN" sz="1400" dirty="0" err="1"/>
              <a:t>SimpleDateFormat</a:t>
            </a:r>
            <a:r>
              <a:rPr lang="en-US" altLang="zh-CN" sz="1400" dirty="0"/>
              <a:t>("</a:t>
            </a:r>
            <a:r>
              <a:rPr lang="en-US" altLang="zh-CN" sz="1400" dirty="0" err="1"/>
              <a:t>yyyy</a:t>
            </a:r>
            <a:r>
              <a:rPr lang="en-US" altLang="zh-CN" sz="1400" dirty="0"/>
              <a:t>-MM-</a:t>
            </a:r>
            <a:r>
              <a:rPr lang="en-US" altLang="zh-CN" sz="1400" dirty="0" err="1"/>
              <a:t>dd</a:t>
            </a:r>
            <a:r>
              <a:rPr lang="en-US" altLang="zh-CN" sz="1400" dirty="0"/>
              <a:t> </a:t>
            </a:r>
            <a:r>
              <a:rPr lang="en-US" altLang="zh-CN" sz="1400" dirty="0" err="1"/>
              <a:t>HH:mm:ss</a:t>
            </a:r>
            <a:r>
              <a:rPr lang="en-US" altLang="zh-CN" sz="1400" dirty="0"/>
              <a:t>"); </a:t>
            </a:r>
            <a:endParaRPr lang="en-US" altLang="zh-CN" sz="1400" dirty="0" smtClean="0"/>
          </a:p>
          <a:p>
            <a:r>
              <a:rPr lang="en-US" altLang="zh-CN" sz="1400" dirty="0" smtClean="0"/>
              <a:t>String </a:t>
            </a:r>
            <a:r>
              <a:rPr lang="en-US" altLang="zh-CN" sz="1400" dirty="0" err="1"/>
              <a:t>nowDay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sdf.format</a:t>
            </a:r>
            <a:r>
              <a:rPr lang="en-US" altLang="zh-CN" sz="1400" dirty="0"/>
              <a:t>(new Date());</a:t>
            </a:r>
            <a:endParaRPr lang="en-US" altLang="zh-CN" sz="1400" b="1" u="sng" dirty="0" smtClean="0"/>
          </a:p>
          <a:p>
            <a:pPr marL="0" indent="0">
              <a:buNone/>
            </a:pPr>
            <a:endParaRPr lang="en-US" altLang="zh-CN" sz="1600" i="1" dirty="0"/>
          </a:p>
          <a:p>
            <a:r>
              <a:rPr lang="en-US" altLang="zh-CN" sz="1400" dirty="0"/>
              <a:t>Calendar </a:t>
            </a:r>
            <a:r>
              <a:rPr lang="en-US" altLang="zh-CN" sz="1400" dirty="0" err="1"/>
              <a:t>calendar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Calendar.</a:t>
            </a:r>
            <a:r>
              <a:rPr lang="en-US" altLang="zh-CN" sz="1400" i="1" dirty="0" err="1"/>
              <a:t>getInstance</a:t>
            </a:r>
            <a:r>
              <a:rPr lang="en-US" altLang="zh-CN" sz="1400" i="1" dirty="0"/>
              <a:t>();</a:t>
            </a:r>
          </a:p>
          <a:p>
            <a:r>
              <a:rPr lang="en-US" altLang="zh-CN" sz="1400" dirty="0" err="1"/>
              <a:t>SimpleDateFormat</a:t>
            </a:r>
            <a:r>
              <a:rPr lang="en-US" altLang="zh-CN" sz="1400" dirty="0"/>
              <a:t> 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sdf</a:t>
            </a:r>
            <a:r>
              <a:rPr lang="en-US" altLang="zh-CN" sz="1400" dirty="0" smtClean="0"/>
              <a:t>= </a:t>
            </a:r>
            <a:r>
              <a:rPr lang="en-US" altLang="zh-CN" sz="1400" b="1" dirty="0"/>
              <a:t>new </a:t>
            </a:r>
            <a:r>
              <a:rPr lang="en-US" altLang="zh-CN" sz="1400" b="1" dirty="0" err="1"/>
              <a:t>SimpleDateFormat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yyyy</a:t>
            </a:r>
            <a:r>
              <a:rPr lang="en-US" altLang="zh-CN" sz="1400" b="1" dirty="0"/>
              <a:t>-MM-</a:t>
            </a:r>
            <a:r>
              <a:rPr lang="en-US" altLang="zh-CN" sz="1400" b="1" dirty="0" err="1"/>
              <a:t>dd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HH:mm:ss</a:t>
            </a:r>
            <a:r>
              <a:rPr lang="en-US" altLang="zh-CN" sz="1400" b="1" dirty="0"/>
              <a:t>");</a:t>
            </a:r>
          </a:p>
          <a:p>
            <a:r>
              <a:rPr lang="en-US" altLang="zh-CN" sz="1400" dirty="0" err="1"/>
              <a:t>sdf</a:t>
            </a:r>
            <a:r>
              <a:rPr lang="en-US" altLang="zh-CN" sz="1400" dirty="0" err="1" smtClean="0"/>
              <a:t>.format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calendar.getTime</a:t>
            </a:r>
            <a:r>
              <a:rPr lang="en-US" altLang="zh-CN" sz="1400" dirty="0" smtClean="0"/>
              <a:t>());</a:t>
            </a:r>
          </a:p>
          <a:p>
            <a:endParaRPr lang="en-US" altLang="zh-CN" sz="1600" dirty="0"/>
          </a:p>
          <a:p>
            <a:r>
              <a:rPr lang="en-US" altLang="zh-CN" sz="1600" dirty="0" smtClean="0"/>
              <a:t>String </a:t>
            </a:r>
            <a:r>
              <a:rPr lang="en-US" altLang="zh-CN" sz="1600" dirty="0" err="1" smtClean="0"/>
              <a:t>nowDay</a:t>
            </a:r>
            <a:r>
              <a:rPr lang="en-US" altLang="zh-CN" sz="1600" dirty="0" smtClean="0"/>
              <a:t>=</a:t>
            </a:r>
            <a:r>
              <a:rPr lang="en-US" altLang="zh-CN" sz="1600" dirty="0" err="1" smtClean="0"/>
              <a:t>DateFormatUtils.format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nowDay</a:t>
            </a:r>
            <a:r>
              <a:rPr lang="en-US" altLang="zh-CN" sz="1600" dirty="0"/>
              <a:t>,"</a:t>
            </a:r>
            <a:r>
              <a:rPr lang="en-US" altLang="zh-CN" sz="1600" dirty="0" err="1"/>
              <a:t>yyyy</a:t>
            </a:r>
            <a:r>
              <a:rPr lang="en-US" altLang="zh-CN" sz="1600" dirty="0"/>
              <a:t>-MM-</a:t>
            </a:r>
            <a:r>
              <a:rPr lang="en-US" altLang="zh-CN" sz="1600" dirty="0" err="1"/>
              <a:t>dd</a:t>
            </a:r>
            <a:r>
              <a:rPr lang="en-US" altLang="zh-CN" sz="1600" dirty="0"/>
              <a:t> </a:t>
            </a:r>
            <a:r>
              <a:rPr lang="en-US" altLang="zh-CN" sz="1600" dirty="0" err="1"/>
              <a:t>HH:mm:ss</a:t>
            </a:r>
            <a:r>
              <a:rPr lang="en-US" altLang="zh-CN" sz="1600" dirty="0"/>
              <a:t>");</a:t>
            </a:r>
            <a:endParaRPr lang="en-US" altLang="zh-CN" sz="1600" i="1" dirty="0"/>
          </a:p>
          <a:p>
            <a:endParaRPr lang="zh-CN" altLang="en-US" sz="1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34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DateUtils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public 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addYears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addMonths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addWeeks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addDays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addHours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addMinutes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addSeconds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/>
              <a:t>) </a:t>
            </a:r>
          </a:p>
          <a:p>
            <a:r>
              <a:rPr lang="en-US" altLang="zh-CN" sz="2000" b="1" dirty="0" smtClean="0"/>
              <a:t>public </a:t>
            </a:r>
            <a:r>
              <a:rPr lang="en-US" altLang="zh-CN" sz="2000" b="1" dirty="0"/>
              <a:t>static Date </a:t>
            </a:r>
            <a:r>
              <a:rPr lang="en-US" altLang="zh-CN" sz="2000" b="1" dirty="0" err="1">
                <a:solidFill>
                  <a:srgbClr val="FF0000"/>
                </a:solidFill>
              </a:rPr>
              <a:t>addMilliseconds</a:t>
            </a:r>
            <a:r>
              <a:rPr lang="en-US" altLang="zh-CN" sz="2000" b="1" dirty="0"/>
              <a:t>(Date </a:t>
            </a:r>
            <a:r>
              <a:rPr lang="en-US" altLang="zh-CN" sz="2000" b="1" dirty="0" err="1"/>
              <a:t>date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amount</a:t>
            </a:r>
            <a:r>
              <a:rPr lang="en-US" altLang="zh-CN" sz="2000" b="1" u="sng" dirty="0" smtClean="0"/>
              <a:t>)</a:t>
            </a:r>
          </a:p>
          <a:p>
            <a:r>
              <a:rPr lang="en-US" altLang="zh-CN" sz="2000" b="1" dirty="0"/>
              <a:t>public static </a:t>
            </a:r>
            <a:r>
              <a:rPr lang="en-US" altLang="zh-CN" sz="2000" b="1" dirty="0" smtClean="0"/>
              <a:t>Long </a:t>
            </a:r>
            <a:r>
              <a:rPr lang="en-US" altLang="zh-CN" sz="2000" b="1" dirty="0" err="1">
                <a:hlinkClick r:id="rId2"/>
              </a:rPr>
              <a:t>getFragmentInDays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 tooltip="class or interface in java.util"/>
              </a:rPr>
              <a:t>Calendar</a:t>
            </a:r>
            <a:r>
              <a:rPr lang="en-US" altLang="zh-CN" sz="2000" dirty="0"/>
              <a:t> </a:t>
            </a:r>
            <a:r>
              <a:rPr lang="en-US" altLang="zh-CN" sz="2000" dirty="0" err="1"/>
              <a:t>calendar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 fragment)</a:t>
            </a:r>
            <a:r>
              <a:rPr lang="en-US" altLang="zh-CN" sz="2000" dirty="0"/>
              <a:t> </a:t>
            </a:r>
            <a:r>
              <a:rPr lang="zh-CN" altLang="en-US" sz="2000" dirty="0"/>
              <a:t>根据规则获取时间片段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8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java.util.Timer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10000"/>
          </a:bodyPr>
          <a:lstStyle/>
          <a:p>
            <a:pPr marL="0" indent="0">
              <a:buNone/>
            </a:pPr>
            <a:r>
              <a:rPr lang="zh-CN" altLang="en-US" dirty="0"/>
              <a:t>定时任务方法：</a:t>
            </a:r>
          </a:p>
          <a:p>
            <a:pPr lvl="1"/>
            <a:r>
              <a:rPr lang="zh-CN" altLang="en-US" sz="2800" dirty="0" smtClean="0">
                <a:sym typeface="+mn-ea"/>
              </a:rPr>
              <a:t>schedule(TimerTask task, Date time) 指定的时间执行指定的任务。</a:t>
            </a:r>
          </a:p>
          <a:p>
            <a:pPr lvl="1"/>
            <a:r>
              <a:rPr lang="en-US" altLang="zh-CN" dirty="0"/>
              <a:t>schedule(TimerTask task, Date firstTime, long period) 指定的任务在指定的时间开始进行重复的固定延迟执行。</a:t>
            </a:r>
          </a:p>
          <a:p>
            <a:pPr lvl="1"/>
            <a:r>
              <a:rPr lang="en-US" altLang="zh-CN" dirty="0"/>
              <a:t>schedule(TimerTask task, long delay) 指定延迟后执行指定的任务</a:t>
            </a:r>
          </a:p>
          <a:p>
            <a:pPr lvl="1"/>
            <a:r>
              <a:rPr lang="en-US" altLang="zh-CN" dirty="0"/>
              <a:t>schedule(TimerTask task, long delay, long period)  指定的任务从指定的延迟后开始进行重复的固定延迟执行。</a:t>
            </a:r>
          </a:p>
          <a:p>
            <a:pPr lvl="1"/>
            <a:r>
              <a:rPr lang="en-US" altLang="zh-CN" dirty="0"/>
              <a:t>scheduleAtFixedRate(TimerTask task, Date firstTime, long period) 指定的任务在指定的时间开始进行重复的固定速率执行。</a:t>
            </a:r>
          </a:p>
          <a:p>
            <a:pPr lvl="1"/>
            <a:r>
              <a:rPr lang="en-US" altLang="zh-CN" dirty="0"/>
              <a:t>scheduleAtFixedRate(TimerTask task, long delay, long period)指定的任务在指定的延迟后开始进行重复的固定速率执行。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570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scheduleAtFixedRate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TimerTask</a:t>
            </a:r>
            <a:r>
              <a:rPr lang="en-US" altLang="zh-CN" dirty="0" smtClean="0"/>
              <a:t> </a:t>
            </a:r>
            <a:r>
              <a:rPr lang="en-US" altLang="zh-CN" dirty="0"/>
              <a:t>task, Date </a:t>
            </a:r>
            <a:r>
              <a:rPr lang="en-US" altLang="zh-CN" dirty="0" err="1"/>
              <a:t>firstTime</a:t>
            </a:r>
            <a:r>
              <a:rPr lang="en-US" altLang="zh-CN" dirty="0"/>
              <a:t>, long period</a:t>
            </a:r>
            <a:r>
              <a:rPr lang="en-US" altLang="zh-CN" dirty="0" smtClean="0"/>
              <a:t>)</a:t>
            </a:r>
            <a:r>
              <a:rPr lang="zh-CN" altLang="en-US" dirty="0"/>
              <a:t>如果项目启动时间已经超过定时任务设置</a:t>
            </a:r>
            <a:r>
              <a:rPr lang="zh-CN" altLang="en-US" dirty="0" smtClean="0"/>
              <a:t>时间</a:t>
            </a:r>
            <a:r>
              <a:rPr lang="en-US" altLang="zh-CN" dirty="0" smtClean="0"/>
              <a:t>,</a:t>
            </a:r>
            <a:r>
              <a:rPr lang="zh-CN" altLang="en-US" dirty="0" smtClean="0"/>
              <a:t>该方法则会从指定时间开始按照固定延迟执行程序多次</a:t>
            </a:r>
          </a:p>
          <a:p>
            <a:r>
              <a:rPr lang="en-US" altLang="zh-CN" dirty="0" smtClean="0"/>
              <a:t>schedule(</a:t>
            </a:r>
            <a:r>
              <a:rPr lang="en-US" altLang="zh-CN" dirty="0" err="1" smtClean="0"/>
              <a:t>TimerTask</a:t>
            </a:r>
            <a:r>
              <a:rPr lang="en-US" altLang="zh-CN" dirty="0" smtClean="0"/>
              <a:t> task, Date </a:t>
            </a:r>
            <a:r>
              <a:rPr lang="en-US" altLang="zh-CN" dirty="0" err="1" smtClean="0"/>
              <a:t>firstTime</a:t>
            </a:r>
            <a:r>
              <a:rPr lang="en-US" altLang="zh-CN" dirty="0" smtClean="0"/>
              <a:t>, long period)</a:t>
            </a:r>
            <a:r>
              <a:rPr lang="zh-CN" altLang="en-US" dirty="0" smtClean="0"/>
              <a:t>如果项目启动时间已经超过定时任务设置时间</a:t>
            </a:r>
            <a:r>
              <a:rPr lang="en-US" altLang="zh-CN" dirty="0" smtClean="0"/>
              <a:t>,</a:t>
            </a:r>
            <a:r>
              <a:rPr lang="zh-CN" altLang="en-US" dirty="0" smtClean="0"/>
              <a:t>该方法则执行一次程序</a:t>
            </a:r>
            <a:r>
              <a:rPr lang="en-US" altLang="zh-CN" dirty="0" smtClean="0"/>
              <a:t>,</a:t>
            </a:r>
            <a:r>
              <a:rPr lang="zh-CN" altLang="en-US" dirty="0" smtClean="0"/>
              <a:t>然后按照固定延迟执行定时任务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40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Spring</a:t>
            </a:r>
            <a:r>
              <a:rPr lang="zh-CN" altLang="en-US" dirty="0"/>
              <a:t>定时任务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两种定时任务方式：</a:t>
            </a:r>
          </a:p>
          <a:p>
            <a:pPr lvl="1"/>
            <a:r>
              <a:rPr lang="en-US" altLang="zh-CN" sz="2800" dirty="0">
                <a:sym typeface="+mn-ea"/>
              </a:rPr>
              <a:t>Spring Quartz  </a:t>
            </a:r>
            <a:endParaRPr lang="zh-CN" altLang="en-US" sz="2800" dirty="0" smtClean="0"/>
          </a:p>
          <a:p>
            <a:pPr lvl="1"/>
            <a:r>
              <a:rPr lang="en-US" altLang="zh-CN" sz="2800" dirty="0">
                <a:sym typeface="+mn-ea"/>
              </a:rPr>
              <a:t>Spring Task</a:t>
            </a:r>
          </a:p>
          <a:p>
            <a:pPr marL="457200" lvl="1" indent="0">
              <a:buNone/>
            </a:pPr>
            <a:r>
              <a:rPr lang="zh-CN" altLang="en-US" dirty="0"/>
              <a:t>区别：spring Quartz 和 Spring Task执行时间对比： </a:t>
            </a:r>
          </a:p>
          <a:p>
            <a:pPr marL="457200" lvl="1" indent="0">
              <a:buNone/>
            </a:pPr>
            <a:r>
              <a:rPr lang="zh-CN" altLang="en-US" dirty="0"/>
              <a:t>1. Quartz设置同步模式时：一个任务的两次执行的时间间隔是：“执行时间”和“trigger的设定间隔”的最大值 </a:t>
            </a:r>
          </a:p>
          <a:p>
            <a:pPr marL="457200" lvl="1" indent="0">
              <a:buNone/>
            </a:pPr>
            <a:r>
              <a:rPr lang="zh-CN" altLang="en-US" dirty="0"/>
              <a:t>2. Task默认同步模式：一个任务的两次执行的时间间隔是：“执行时间”+“trigger的设定间隔”，即一个任务完成执行后，才开始trigger计时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20000"/>
          </a:bodyPr>
          <a:lstStyle/>
          <a:p>
            <a:r>
              <a:rPr lang="zh-CN" altLang="en-US" dirty="0"/>
              <a:t>Spring Quartz 特点： </a:t>
            </a:r>
          </a:p>
          <a:p>
            <a:r>
              <a:rPr lang="zh-CN" altLang="en-US" dirty="0"/>
              <a:t>1. 默认多线程异步执行 </a:t>
            </a:r>
          </a:p>
          <a:p>
            <a:r>
              <a:rPr lang="zh-CN" altLang="en-US" dirty="0"/>
              <a:t>2. 一个任务在上一次调度未完成执行，下一次调度时间到时，会另起一个线程开始新的调度。在业务繁忙时，一个任务或许会有多个线程在执行，导致数据处理异常。 </a:t>
            </a:r>
          </a:p>
          <a:p>
            <a:r>
              <a:rPr lang="zh-CN" altLang="en-US" dirty="0"/>
              <a:t>3. 单任务同步：配置属性，可以使一个任务的一次调度在未完成时，而不会开启下一次调度 </a:t>
            </a:r>
          </a:p>
          <a:p>
            <a:r>
              <a:rPr lang="zh-CN" altLang="en-US" dirty="0"/>
              <a:t>4. 多个任务同时运行，任务之间没有直接的影响，多任务执行的快慢取决于CPU的性能 </a:t>
            </a:r>
          </a:p>
          <a:p>
            <a:r>
              <a:rPr lang="zh-CN" altLang="en-US" dirty="0"/>
              <a:t>5. SchedulerFactoryBean不能使用注解来配置</a:t>
            </a:r>
          </a:p>
          <a:p>
            <a:endParaRPr lang="zh-CN" altLang="en-US" dirty="0"/>
          </a:p>
          <a:p>
            <a:r>
              <a:rPr lang="zh-CN" altLang="en-US" dirty="0"/>
              <a:t>Spring Task特点： </a:t>
            </a:r>
          </a:p>
          <a:p>
            <a:r>
              <a:rPr lang="zh-CN" altLang="en-US" dirty="0"/>
              <a:t>1. 默认单线程同步执行 </a:t>
            </a:r>
          </a:p>
          <a:p>
            <a:r>
              <a:rPr lang="zh-CN" altLang="en-US" dirty="0"/>
              <a:t>2. 一个任务执行完上一次之后，才会执行下一次调度 </a:t>
            </a:r>
          </a:p>
          <a:p>
            <a:r>
              <a:rPr lang="zh-CN" altLang="en-US" dirty="0"/>
              <a:t>3. 多任务之间按顺序执行，一个任务执行完成之后才会执行另一个任务 </a:t>
            </a:r>
          </a:p>
          <a:p>
            <a:r>
              <a:rPr lang="zh-CN" altLang="en-US" dirty="0"/>
              <a:t>4. 多任务并行执行需要设置线程池 </a:t>
            </a:r>
          </a:p>
          <a:p>
            <a:r>
              <a:rPr lang="zh-CN" altLang="en-US" dirty="0"/>
              <a:t>5. 全程可以通过注解配置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smtClean="0"/>
              <a:t>Spring</a:t>
            </a:r>
            <a:r>
              <a:rPr lang="zh-CN" altLang="en-US" sz="2400" dirty="0"/>
              <a:t>整合</a:t>
            </a:r>
            <a:r>
              <a:rPr lang="en-US" altLang="zh-CN" sz="2400" dirty="0"/>
              <a:t>Quartz</a:t>
            </a:r>
            <a:r>
              <a:rPr lang="zh-CN" altLang="en-US" sz="2400" dirty="0"/>
              <a:t>进行配置遵循下面的步骤： 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en-US" sz="2400" dirty="0"/>
              <a:t>：定义工作任务的</a:t>
            </a:r>
            <a:r>
              <a:rPr lang="en-US" altLang="zh-CN" sz="2400" dirty="0"/>
              <a:t>Job 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/>
              <a:t>：定义触发器</a:t>
            </a:r>
            <a:r>
              <a:rPr lang="en-US" altLang="zh-CN" sz="2400" dirty="0"/>
              <a:t>Trigger</a:t>
            </a:r>
            <a:r>
              <a:rPr lang="zh-CN" altLang="en-US" sz="2400" dirty="0"/>
              <a:t>，并将触发器与工作任务绑定 </a:t>
            </a:r>
            <a:endParaRPr lang="en-US" altLang="zh-CN" sz="2400" dirty="0" smtClean="0"/>
          </a:p>
          <a:p>
            <a:r>
              <a:rPr lang="en-US" altLang="zh-CN" sz="2400" dirty="0" smtClean="0"/>
              <a:t>3</a:t>
            </a:r>
            <a:r>
              <a:rPr lang="zh-CN" altLang="en-US" sz="2400" dirty="0"/>
              <a:t>：定义调度器，并将</a:t>
            </a:r>
            <a:r>
              <a:rPr lang="en-US" altLang="zh-CN" sz="2400" dirty="0"/>
              <a:t>Trigger</a:t>
            </a:r>
            <a:r>
              <a:rPr lang="zh-CN" altLang="en-US" sz="2400" dirty="0"/>
              <a:t>注册到</a:t>
            </a:r>
            <a:r>
              <a:rPr lang="en-US" altLang="zh-CN" sz="2400" dirty="0"/>
              <a:t>Scheduler 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2017/8/15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06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模板（对外）4：3 华宇信息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“列式”数据库中的大数据计算</Template>
  <TotalTime>3001</TotalTime>
  <Words>857</Words>
  <Application>Microsoft Office PowerPoint</Application>
  <PresentationFormat>全屏显示(4:3)</PresentationFormat>
  <Paragraphs>200</Paragraphs>
  <Slides>14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ppt模板（对外）4：3 华宇信息</vt:lpstr>
      <vt:lpstr>PowerPoint 演示文稿</vt:lpstr>
      <vt:lpstr>目录</vt:lpstr>
      <vt:lpstr>Java.util.date</vt:lpstr>
      <vt:lpstr>Java.text.SimpleDateFormat</vt:lpstr>
      <vt:lpstr>Java.util.Calendar</vt:lpstr>
      <vt:lpstr>Commons-lang中日期工具类</vt:lpstr>
      <vt:lpstr>PowerPoint 演示文稿</vt:lpstr>
      <vt:lpstr>DateUtils</vt:lpstr>
      <vt:lpstr>java.util.Timer</vt:lpstr>
      <vt:lpstr>PowerPoint 演示文稿</vt:lpstr>
      <vt:lpstr>Spring定时任务</vt:lpstr>
      <vt:lpstr>PowerPoint 演示文稿</vt:lpstr>
      <vt:lpstr>PowerPoint 演示文稿</vt:lpstr>
      <vt:lpstr>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wangzhg</dc:creator>
  <cp:lastModifiedBy>huayu</cp:lastModifiedBy>
  <cp:revision>4792</cp:revision>
  <dcterms:created xsi:type="dcterms:W3CDTF">2014-11-17T03:20:00Z</dcterms:created>
  <dcterms:modified xsi:type="dcterms:W3CDTF">2017-08-17T01:45:55Z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