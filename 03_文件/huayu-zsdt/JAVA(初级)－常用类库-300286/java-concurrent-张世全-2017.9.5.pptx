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  <p:sldMasterId id="2147483660" r:id="rId2"/>
  </p:sldMasterIdLst>
  <p:notesMasterIdLst>
    <p:notesMasterId r:id="rId26"/>
  </p:notesMasterIdLst>
  <p:sldIdLst>
    <p:sldId id="256" r:id="rId3"/>
    <p:sldId id="296" r:id="rId4"/>
    <p:sldId id="329" r:id="rId5"/>
    <p:sldId id="325" r:id="rId6"/>
    <p:sldId id="326" r:id="rId7"/>
    <p:sldId id="340" r:id="rId8"/>
    <p:sldId id="333" r:id="rId9"/>
    <p:sldId id="327" r:id="rId10"/>
    <p:sldId id="328" r:id="rId11"/>
    <p:sldId id="330" r:id="rId12"/>
    <p:sldId id="305" r:id="rId13"/>
    <p:sldId id="323" r:id="rId14"/>
    <p:sldId id="311" r:id="rId15"/>
    <p:sldId id="324" r:id="rId16"/>
    <p:sldId id="331" r:id="rId17"/>
    <p:sldId id="334" r:id="rId18"/>
    <p:sldId id="335" r:id="rId19"/>
    <p:sldId id="332" r:id="rId20"/>
    <p:sldId id="336" r:id="rId21"/>
    <p:sldId id="337" r:id="rId22"/>
    <p:sldId id="338" r:id="rId23"/>
    <p:sldId id="339" r:id="rId24"/>
    <p:sldId id="295" r:id="rId2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388" autoAdjust="0"/>
  </p:normalViewPr>
  <p:slideViewPr>
    <p:cSldViewPr>
      <p:cViewPr>
        <p:scale>
          <a:sx n="100" d="100"/>
          <a:sy n="100" d="100"/>
        </p:scale>
        <p:origin x="-194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742CDF-93DA-40BA-AE7F-7F8C00CB9C6B}" type="datetimeFigureOut">
              <a:rPr lang="zh-CN" altLang="en-US" smtClean="0"/>
              <a:t>2017/9/5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996BB9-E206-4018-A195-7A4D48B06C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2674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996BB9-E206-4018-A195-7A4D48B06CD3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一个线程将一个任务委派给一个 </a:t>
            </a:r>
            <a:r>
              <a:rPr lang="en-US" altLang="zh-CN" dirty="0" err="1" smtClean="0"/>
              <a:t>ExecutorService</a:t>
            </a:r>
            <a:r>
              <a:rPr lang="en-US" altLang="zh-CN" dirty="0" smtClean="0"/>
              <a:t> </a:t>
            </a:r>
            <a:r>
              <a:rPr lang="zh-CN" altLang="en-US" dirty="0" smtClean="0"/>
              <a:t>去异步执行。</a:t>
            </a:r>
          </a:p>
          <a:p>
            <a:r>
              <a:rPr lang="zh-CN" altLang="en-US" dirty="0" smtClean="0"/>
              <a:t>一旦该线程将任务委派给 </a:t>
            </a:r>
            <a:r>
              <a:rPr lang="en-US" altLang="zh-CN" dirty="0" err="1" smtClean="0"/>
              <a:t>ExecutorService</a:t>
            </a:r>
            <a:r>
              <a:rPr lang="zh-CN" altLang="en-US" dirty="0" smtClean="0"/>
              <a:t>，该线程将继续它自己的执行，独立于该任务的执行。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996BB9-E206-4018-A195-7A4D48B06CD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3872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Externalizable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他是</a:t>
            </a:r>
            <a:r>
              <a:rPr lang="en-US" altLang="zh-CN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Serializable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接口的子类，有时我们不希望序列化那么多，可以使用这个接口，这个接口的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writeExternal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readExternal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方法可以指定序列化哪些属性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996BB9-E206-4018-A195-7A4D48B06CD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5728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996BB9-E206-4018-A195-7A4D48B06CD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7669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2017/9/5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2017/9/5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2017/9/5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2017/9/5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2017/9/5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2017/9/5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2" descr="PPT - 169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3" descr="彩色logo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738" y="484718"/>
            <a:ext cx="1746250" cy="882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/>
          <p:cNvSpPr txBox="1">
            <a:spLocks noChangeArrowheads="1"/>
          </p:cNvSpPr>
          <p:nvPr userDrawn="1"/>
        </p:nvSpPr>
        <p:spPr bwMode="auto">
          <a:xfrm>
            <a:off x="7308850" y="594785"/>
            <a:ext cx="1270000" cy="210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0636" tIns="20318" rIns="40636" bIns="20318">
            <a:spAutoFit/>
          </a:bodyPr>
          <a:lstStyle>
            <a:lvl1pPr defTabSz="1293495" eaLnBrk="0" hangingPunct="0">
              <a:defRPr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293495" eaLnBrk="0" hangingPunct="0">
              <a:defRPr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293495" eaLnBrk="0" hangingPunct="0">
              <a:defRPr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293495" eaLnBrk="0" hangingPunct="0">
              <a:defRPr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293495" eaLnBrk="0" hangingPunct="0">
              <a:defRPr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29349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29349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29349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29349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1100" dirty="0">
                <a:solidFill>
                  <a:srgbClr val="0068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www.thunisoft.com</a:t>
            </a:r>
            <a:endParaRPr lang="zh-CN" altLang="en-US" sz="1100" dirty="0">
              <a:solidFill>
                <a:srgbClr val="0068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11"/>
          <p:cNvSpPr>
            <a:spLocks noChangeArrowheads="1"/>
          </p:cNvSpPr>
          <p:nvPr userDrawn="1"/>
        </p:nvSpPr>
        <p:spPr bwMode="auto">
          <a:xfrm>
            <a:off x="1373188" y="5924551"/>
            <a:ext cx="5779050" cy="197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8055" tIns="29028" rIns="58055" bIns="29028">
            <a:spAutoFit/>
          </a:bodyPr>
          <a:lstStyle/>
          <a:p>
            <a:pPr defTabSz="82042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90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北京华宇信息技术有限公司 </a:t>
            </a:r>
            <a:r>
              <a:rPr lang="en-US" altLang="zh-CN" sz="90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BEIJING THUNISOFT INFORMATION  TECHNOLOGY CORPORATION LIMITED</a:t>
            </a:r>
            <a:endParaRPr lang="zh-CN" altLang="en-US" sz="900" smtClea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i="1">
                <a:solidFill>
                  <a:srgbClr val="0070C0"/>
                </a:solidFill>
                <a:latin typeface="Exo" pitchFamily="50" charset="0"/>
              </a:defRPr>
            </a:lvl1pPr>
          </a:lstStyle>
          <a:p>
            <a:pPr>
              <a:defRPr/>
            </a:pPr>
            <a:fld id="{F9C71B67-0209-40E1-A43E-EE4695B09086}" type="datetime1">
              <a:rPr lang="zh-CN" altLang="en-US"/>
              <a:t>2017/9/5</a:t>
            </a:fld>
            <a:endParaRPr lang="zh-CN" altLang="en-US" dirty="0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1"/>
            <a:ext cx="2895600" cy="366183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i="1">
                <a:solidFill>
                  <a:srgbClr val="0070C0"/>
                </a:solidFill>
                <a:latin typeface="Exo" pitchFamily="50" charset="0"/>
              </a:defRPr>
            </a:lvl1pPr>
          </a:lstStyle>
          <a:p>
            <a:pPr>
              <a:defRPr/>
            </a:pPr>
            <a:r>
              <a:rPr lang="en-US" altLang="zh-CN"/>
              <a:t>1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96" b="88214"/>
          <a:stretch>
            <a:fillRect/>
          </a:stretch>
        </p:blipFill>
        <p:spPr bwMode="auto">
          <a:xfrm>
            <a:off x="0" y="751418"/>
            <a:ext cx="9144000" cy="61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1" descr="彩色logo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188" y="107951"/>
            <a:ext cx="1079500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标题 1"/>
          <p:cNvSpPr>
            <a:spLocks noGrp="1"/>
          </p:cNvSpPr>
          <p:nvPr>
            <p:ph type="title"/>
          </p:nvPr>
        </p:nvSpPr>
        <p:spPr>
          <a:xfrm>
            <a:off x="662880" y="68627"/>
            <a:ext cx="8229600" cy="576064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rgbClr val="59575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56565" y="1028732"/>
            <a:ext cx="8011185" cy="5100567"/>
          </a:xfrm>
          <a:prstGeom prst="rect">
            <a:avLst/>
          </a:prstGeom>
        </p:spPr>
        <p:txBody>
          <a:bodyPr/>
          <a:lstStyle>
            <a:lvl1pPr marL="342900" indent="-342900" algn="just">
              <a:lnSpc>
                <a:spcPct val="125000"/>
              </a:lnSpc>
              <a:spcBef>
                <a:spcPts val="300"/>
              </a:spcBef>
              <a:buClr>
                <a:srgbClr val="0070C0"/>
              </a:buClr>
              <a:buSzPct val="60000"/>
              <a:buFont typeface="Wingdings" panose="05000000000000000000" pitchFamily="2" charset="2"/>
              <a:buChar char="n"/>
              <a:defRPr sz="2400" b="0" baseline="0">
                <a:solidFill>
                  <a:srgbClr val="59575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algn="just">
              <a:lnSpc>
                <a:spcPct val="125000"/>
              </a:lnSpc>
              <a:spcBef>
                <a:spcPts val="300"/>
              </a:spcBef>
              <a:buClr>
                <a:srgbClr val="0070C0"/>
              </a:buClr>
              <a:buSzPct val="60000"/>
              <a:buFont typeface="Wingdings" panose="05000000000000000000" pitchFamily="2" charset="2"/>
              <a:buChar char="p"/>
              <a:defRPr sz="2000" baseline="0">
                <a:solidFill>
                  <a:srgbClr val="59575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just">
              <a:lnSpc>
                <a:spcPct val="125000"/>
              </a:lnSpc>
              <a:spcBef>
                <a:spcPts val="300"/>
              </a:spcBef>
              <a:buClr>
                <a:srgbClr val="0070C0"/>
              </a:buClr>
              <a:defRPr sz="1800" baseline="0">
                <a:solidFill>
                  <a:srgbClr val="59575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just">
              <a:lnSpc>
                <a:spcPct val="125000"/>
              </a:lnSpc>
              <a:spcBef>
                <a:spcPts val="300"/>
              </a:spcBef>
              <a:buClr>
                <a:srgbClr val="0070C0"/>
              </a:buClr>
              <a:defRPr sz="1600" baseline="0">
                <a:solidFill>
                  <a:srgbClr val="59575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just">
              <a:lnSpc>
                <a:spcPct val="125000"/>
              </a:lnSpc>
              <a:spcBef>
                <a:spcPts val="300"/>
              </a:spcBef>
              <a:buClr>
                <a:srgbClr val="0070C0"/>
              </a:buClr>
              <a:defRPr sz="1600" baseline="0">
                <a:solidFill>
                  <a:srgbClr val="59575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>
          <a:xfrm>
            <a:off x="638175" y="6356351"/>
            <a:ext cx="2133600" cy="366183"/>
          </a:xfrm>
        </p:spPr>
        <p:txBody>
          <a:bodyPr/>
          <a:lstStyle>
            <a:lvl1pPr>
              <a:defRPr sz="1000" i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96F6080C-27B6-4887-AD68-709C157CA8E8}" type="datetime1">
              <a:rPr lang="zh-CN" altLang="en-US"/>
              <a:t>2017/9/5</a:t>
            </a:fld>
            <a:endParaRPr lang="zh-CN" altLang="en-US" dirty="0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1"/>
          </p:nvPr>
        </p:nvSpPr>
        <p:spPr>
          <a:xfrm>
            <a:off x="6597650" y="6356351"/>
            <a:ext cx="2133600" cy="366183"/>
          </a:xfrm>
        </p:spPr>
        <p:txBody>
          <a:bodyPr/>
          <a:lstStyle>
            <a:lvl1pPr>
              <a:defRPr sz="1000" i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39EE1D75-A1ED-473F-8DFE-EBE060580F06}" type="slidenum">
              <a:rPr lang="zh-CN" altLang="en-US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96" b="88214"/>
          <a:stretch>
            <a:fillRect/>
          </a:stretch>
        </p:blipFill>
        <p:spPr bwMode="auto">
          <a:xfrm>
            <a:off x="0" y="751418"/>
            <a:ext cx="9144000" cy="61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1" descr="彩色logo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188" y="107951"/>
            <a:ext cx="1079500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8"/>
          <p:cNvSpPr txBox="1">
            <a:spLocks noChangeArrowheads="1"/>
          </p:cNvSpPr>
          <p:nvPr userDrawn="1"/>
        </p:nvSpPr>
        <p:spPr bwMode="auto">
          <a:xfrm>
            <a:off x="1106488" y="1274234"/>
            <a:ext cx="4140200" cy="6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8055" tIns="29028" rIns="58055" bIns="29028">
            <a:spAutoFit/>
          </a:bodyPr>
          <a:lstStyle>
            <a:lvl1pPr defTabSz="1293495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293495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293495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293495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293495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29349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29349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29349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29349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3000" dirty="0" smtClean="0">
                <a:solidFill>
                  <a:srgbClr val="0062A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  <a:endParaRPr lang="en-US" altLang="zh-CN" sz="3200" dirty="0">
              <a:solidFill>
                <a:prstClr val="white">
                  <a:lumMod val="75000"/>
                </a:prstClr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1106616" y="2288117"/>
            <a:ext cx="8011185" cy="4141216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300"/>
              </a:spcBef>
              <a:buClr>
                <a:srgbClr val="0070C0"/>
              </a:buClr>
              <a:buSzPct val="60000"/>
              <a:buFontTx/>
              <a:buNone/>
              <a:defRPr sz="2200" b="0" baseline="0">
                <a:solidFill>
                  <a:srgbClr val="59575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just">
              <a:lnSpc>
                <a:spcPct val="150000"/>
              </a:lnSpc>
              <a:spcBef>
                <a:spcPts val="300"/>
              </a:spcBef>
              <a:buClr>
                <a:srgbClr val="0070C0"/>
              </a:buClr>
              <a:buSzPct val="60000"/>
              <a:buFontTx/>
              <a:buNone/>
              <a:defRPr sz="2200" baseline="0">
                <a:solidFill>
                  <a:srgbClr val="59575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 algn="just">
              <a:lnSpc>
                <a:spcPct val="150000"/>
              </a:lnSpc>
              <a:spcBef>
                <a:spcPts val="300"/>
              </a:spcBef>
              <a:buClr>
                <a:srgbClr val="0070C0"/>
              </a:buClr>
              <a:buFontTx/>
              <a:buNone/>
              <a:defRPr sz="2200" baseline="0">
                <a:solidFill>
                  <a:srgbClr val="59575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 algn="just">
              <a:lnSpc>
                <a:spcPct val="150000"/>
              </a:lnSpc>
              <a:spcBef>
                <a:spcPts val="300"/>
              </a:spcBef>
              <a:buClr>
                <a:srgbClr val="0070C0"/>
              </a:buClr>
              <a:buFontTx/>
              <a:buNone/>
              <a:defRPr sz="2200" baseline="0">
                <a:solidFill>
                  <a:srgbClr val="59575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 algn="just">
              <a:lnSpc>
                <a:spcPct val="150000"/>
              </a:lnSpc>
              <a:spcBef>
                <a:spcPts val="300"/>
              </a:spcBef>
              <a:buClr>
                <a:srgbClr val="0070C0"/>
              </a:buClr>
              <a:buFontTx/>
              <a:buNone/>
              <a:defRPr sz="2200" baseline="0">
                <a:solidFill>
                  <a:srgbClr val="59575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>
          <a:xfrm>
            <a:off x="638175" y="6356351"/>
            <a:ext cx="2133600" cy="366183"/>
          </a:xfrm>
        </p:spPr>
        <p:txBody>
          <a:bodyPr/>
          <a:lstStyle>
            <a:lvl1pPr>
              <a:defRPr sz="1000" i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BAD74F43-47B6-4C45-B44A-8F596168B5D2}" type="datetime1">
              <a:rPr lang="zh-CN" altLang="en-US"/>
              <a:t>2017/9/5</a:t>
            </a:fld>
            <a:endParaRPr lang="zh-CN" altLang="en-US" dirty="0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1"/>
          </p:nvPr>
        </p:nvSpPr>
        <p:spPr>
          <a:xfrm>
            <a:off x="6597650" y="6356351"/>
            <a:ext cx="2133600" cy="366183"/>
          </a:xfrm>
        </p:spPr>
        <p:txBody>
          <a:bodyPr/>
          <a:lstStyle>
            <a:lvl1pPr>
              <a:defRPr sz="1000" i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B25D157E-4B53-426B-9DE9-BA2D3BF3CB17}" type="slidenum">
              <a:rPr lang="zh-CN" altLang="en-US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601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18"/>
          <p:cNvSpPr>
            <a:spLocks noChangeArrowheads="1"/>
          </p:cNvSpPr>
          <p:nvPr userDrawn="1"/>
        </p:nvSpPr>
        <p:spPr bwMode="auto">
          <a:xfrm>
            <a:off x="1625600" y="6203951"/>
            <a:ext cx="5710207" cy="179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0635" tIns="20318" rIns="40635" bIns="20318">
            <a:spAutoFit/>
          </a:bodyPr>
          <a:lstStyle/>
          <a:p>
            <a:pPr defTabSz="57467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90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北京华宇信息技术有限公司 </a:t>
            </a:r>
            <a:r>
              <a:rPr lang="en-US" altLang="zh-CN" sz="90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BEIJING THUNISOFT INFORMATION TECHNOLOGY CORPORATION LIMITED</a:t>
            </a:r>
            <a:endParaRPr lang="zh-CN" altLang="en-US" sz="900" smtClea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5" name="Picture 16" descr="竖版LOGO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6050" y="666751"/>
            <a:ext cx="1201738" cy="1458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3814108"/>
            <a:ext cx="9144000" cy="1468967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45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13"/>
          <p:cNvGrpSpPr/>
          <p:nvPr userDrawn="1"/>
        </p:nvGrpSpPr>
        <p:grpSpPr bwMode="auto">
          <a:xfrm>
            <a:off x="-17463" y="3000375"/>
            <a:ext cx="9159876" cy="3857625"/>
            <a:chOff x="-26775" y="3348455"/>
            <a:chExt cx="14427135" cy="72000"/>
          </a:xfrm>
        </p:grpSpPr>
        <p:sp>
          <p:nvSpPr>
            <p:cNvPr id="8" name="矩形 14"/>
            <p:cNvSpPr>
              <a:spLocks noChangeArrowheads="1"/>
            </p:cNvSpPr>
            <p:nvPr userDrawn="1"/>
          </p:nvSpPr>
          <p:spPr bwMode="auto">
            <a:xfrm>
              <a:off x="382492" y="3348455"/>
              <a:ext cx="1305245" cy="72000"/>
            </a:xfrm>
            <a:prstGeom prst="rect">
              <a:avLst/>
            </a:prstGeom>
            <a:solidFill>
              <a:srgbClr val="00A0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579120"/>
              <a:endParaRPr lang="zh-CN" altLang="en-US" sz="1300" dirty="0">
                <a:ea typeface="微软雅黑" panose="020B0503020204020204" pitchFamily="34" charset="-122"/>
              </a:endParaRPr>
            </a:p>
          </p:txBody>
        </p:sp>
        <p:sp>
          <p:nvSpPr>
            <p:cNvPr id="9" name="矩形 15"/>
            <p:cNvSpPr>
              <a:spLocks noChangeArrowheads="1"/>
            </p:cNvSpPr>
            <p:nvPr userDrawn="1"/>
          </p:nvSpPr>
          <p:spPr bwMode="auto">
            <a:xfrm>
              <a:off x="1796795" y="3348455"/>
              <a:ext cx="1305245" cy="72000"/>
            </a:xfrm>
            <a:prstGeom prst="rect">
              <a:avLst/>
            </a:prstGeom>
            <a:solidFill>
              <a:srgbClr val="0062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579120"/>
              <a:endParaRPr lang="zh-CN" altLang="en-US" sz="1300" dirty="0">
                <a:ea typeface="微软雅黑" panose="020B0503020204020204" pitchFamily="34" charset="-122"/>
              </a:endParaRPr>
            </a:p>
          </p:txBody>
        </p:sp>
        <p:sp>
          <p:nvSpPr>
            <p:cNvPr id="10" name="矩形 16"/>
            <p:cNvSpPr>
              <a:spLocks noChangeArrowheads="1"/>
            </p:cNvSpPr>
            <p:nvPr userDrawn="1"/>
          </p:nvSpPr>
          <p:spPr bwMode="auto">
            <a:xfrm>
              <a:off x="2340360" y="3348455"/>
              <a:ext cx="12060000" cy="72000"/>
            </a:xfrm>
            <a:prstGeom prst="rect">
              <a:avLst/>
            </a:prstGeom>
            <a:solidFill>
              <a:srgbClr val="0047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579120"/>
              <a:endParaRPr lang="zh-CN" altLang="en-US" sz="1300" dirty="0">
                <a:ea typeface="微软雅黑" panose="020B0503020204020204" pitchFamily="34" charset="-122"/>
              </a:endParaRPr>
            </a:p>
          </p:txBody>
        </p:sp>
        <p:sp>
          <p:nvSpPr>
            <p:cNvPr id="11" name="矩形 17"/>
            <p:cNvSpPr>
              <a:spLocks noChangeArrowheads="1"/>
            </p:cNvSpPr>
            <p:nvPr userDrawn="1"/>
          </p:nvSpPr>
          <p:spPr bwMode="auto">
            <a:xfrm>
              <a:off x="-26775" y="3348455"/>
              <a:ext cx="1152000" cy="72000"/>
            </a:xfrm>
            <a:prstGeom prst="rect">
              <a:avLst/>
            </a:prstGeom>
            <a:solidFill>
              <a:srgbClr val="008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579120"/>
              <a:endParaRPr lang="zh-CN" altLang="en-US" sz="1300" dirty="0"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Rectangle 9"/>
          <p:cNvSpPr>
            <a:spLocks noChangeArrowheads="1"/>
          </p:cNvSpPr>
          <p:nvPr userDrawn="1"/>
        </p:nvSpPr>
        <p:spPr bwMode="auto">
          <a:xfrm>
            <a:off x="-72516" y="6315075"/>
            <a:ext cx="9216515" cy="212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8055" tIns="29028" rIns="58055" bIns="29028">
            <a:spAutoFit/>
          </a:bodyPr>
          <a:lstStyle/>
          <a:p>
            <a:pPr algn="ctr" defTabSz="820420"/>
            <a:r>
              <a:rPr lang="zh-CN" altLang="en-US" sz="1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北京华宇信息技术有限公司  </a:t>
            </a:r>
            <a:r>
              <a:rPr lang="en-US" altLang="zh-CN" sz="8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BEIJING THUNISOFT INFORMATION TECHNOLOGY CORPORATION LIMITED</a:t>
            </a:r>
            <a:endParaRPr lang="zh-CN" altLang="en-US" sz="8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3" name="Picture 10" descr="竖版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9025" y="650875"/>
            <a:ext cx="1828800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标题 1"/>
          <p:cNvSpPr>
            <a:spLocks noGrp="1"/>
          </p:cNvSpPr>
          <p:nvPr>
            <p:ph type="title"/>
          </p:nvPr>
        </p:nvSpPr>
        <p:spPr>
          <a:xfrm>
            <a:off x="1" y="3989946"/>
            <a:ext cx="9144000" cy="953508"/>
          </a:xfrm>
          <a:prstGeom prst="rect">
            <a:avLst/>
          </a:prstGeom>
        </p:spPr>
        <p:txBody>
          <a:bodyPr anchor="t">
            <a:noAutofit/>
          </a:bodyPr>
          <a:lstStyle>
            <a:lvl1pPr algn="ctr">
              <a:defRPr sz="6000" b="0" cap="all">
                <a:solidFill>
                  <a:schemeClr val="bg1"/>
                </a:solidFill>
                <a:latin typeface="方正兰亭纤黑_GBK" pitchFamily="2" charset="-122"/>
                <a:ea typeface="方正兰亭纤黑_GBK" pitchFamily="2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2017/9/5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5717FCE4-D88D-48CD-95DB-C63BD247EBB3}" type="datetime1">
              <a:rPr lang="zh-CN" altLang="en-US"/>
              <a:t>2017/9/5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100" i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1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5"/>
          <p:cNvSpPr txBox="1">
            <a:spLocks noChangeArrowheads="1"/>
          </p:cNvSpPr>
          <p:nvPr/>
        </p:nvSpPr>
        <p:spPr bwMode="auto">
          <a:xfrm>
            <a:off x="1358264" y="2999319"/>
            <a:ext cx="4277346" cy="529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283" tIns="18141" rIns="36283" bIns="18141">
            <a:spAutoFit/>
          </a:bodyPr>
          <a:lstStyle>
            <a:lvl1pPr defTabSz="129349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9349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9349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9349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9349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93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93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93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93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2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  concurrent</a:t>
            </a:r>
            <a:endParaRPr lang="en-US" altLang="zh-CN" sz="3200" dirty="0" smtClea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56"/>
    </mc:Choice>
    <mc:Fallback xmlns="">
      <p:transition spd="slow" advTm="2956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目录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    一、</a:t>
            </a:r>
            <a:r>
              <a:rPr lang="en-US" altLang="zh-CN" dirty="0" smtClean="0"/>
              <a:t>Executor</a:t>
            </a:r>
            <a:r>
              <a:rPr lang="zh-CN" altLang="en-US" dirty="0" smtClean="0"/>
              <a:t>架构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    二、</a:t>
            </a:r>
            <a:r>
              <a:rPr lang="en-US" altLang="zh-CN" dirty="0" smtClean="0"/>
              <a:t>Callable</a:t>
            </a:r>
            <a:r>
              <a:rPr lang="zh-CN" altLang="en-US" dirty="0"/>
              <a:t>和</a:t>
            </a:r>
            <a:r>
              <a:rPr lang="en-US" altLang="zh-CN" dirty="0" smtClean="0"/>
              <a:t>Future</a:t>
            </a:r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    三、</a:t>
            </a:r>
            <a:r>
              <a:rPr lang="en-US" altLang="zh-CN" dirty="0" smtClean="0"/>
              <a:t>atomic</a:t>
            </a:r>
            <a:r>
              <a:rPr lang="zh-CN" altLang="en-US" dirty="0" smtClean="0"/>
              <a:t>原子性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</a:t>
            </a:r>
            <a:r>
              <a:rPr lang="zh-CN" altLang="en-US" dirty="0" smtClean="0"/>
              <a:t>四、</a:t>
            </a:r>
            <a:r>
              <a:rPr lang="en-US" altLang="zh-CN" dirty="0" smtClean="0"/>
              <a:t>Lock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F6080C-27B6-4887-AD68-709C157CA8E8}" type="datetime1">
              <a:rPr lang="zh-CN" altLang="en-US"/>
              <a:t>2017/9/5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9EE1D75-A1ED-473F-8DFE-EBE060580F06}" type="slidenum">
              <a:rPr lang="zh-CN" altLang="en-US"/>
              <a:t>2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一</a:t>
            </a:r>
            <a:r>
              <a:rPr lang="zh-CN" altLang="en-US" dirty="0"/>
              <a:t>、</a:t>
            </a:r>
            <a:r>
              <a:rPr lang="en-US" altLang="zh-CN" dirty="0"/>
              <a:t>Executor</a:t>
            </a:r>
            <a:r>
              <a:rPr lang="zh-CN" altLang="en-US" dirty="0"/>
              <a:t>架构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F6080C-27B6-4887-AD68-709C157CA8E8}" type="datetime1">
              <a:rPr lang="zh-CN" altLang="en-US" smtClean="0"/>
              <a:t>2017/9/5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9EE1D75-A1ED-473F-8DFE-EBE060580F06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25533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Executor</a:t>
            </a:r>
            <a:r>
              <a:rPr lang="zh-CN" altLang="en-US" dirty="0" smtClean="0"/>
              <a:t>架构</a:t>
            </a:r>
            <a:r>
              <a:rPr lang="en-US" altLang="zh-CN" dirty="0"/>
              <a:t/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altLang="zh-CN" sz="2000" dirty="0"/>
              <a:t>Executor</a:t>
            </a:r>
            <a:r>
              <a:rPr lang="zh-CN" altLang="en-US" sz="2000" dirty="0"/>
              <a:t>框架的结构主要包括</a:t>
            </a:r>
            <a:r>
              <a:rPr lang="en-US" altLang="zh-CN" sz="2000" dirty="0"/>
              <a:t>3</a:t>
            </a:r>
            <a:r>
              <a:rPr lang="zh-CN" altLang="en-US" sz="2000" dirty="0"/>
              <a:t>个部分</a:t>
            </a:r>
          </a:p>
          <a:p>
            <a:pPr marL="0" indent="0" algn="l">
              <a:buNone/>
            </a:pPr>
            <a:r>
              <a:rPr lang="en-US" altLang="zh-CN" sz="2000" dirty="0"/>
              <a:t>1.</a:t>
            </a:r>
            <a:r>
              <a:rPr lang="zh-CN" altLang="en-US" sz="2000" dirty="0"/>
              <a:t>任务：包括被执行任务需要实现的接口：</a:t>
            </a:r>
            <a:r>
              <a:rPr lang="en-US" altLang="zh-CN" sz="2000" dirty="0"/>
              <a:t>Runnable</a:t>
            </a:r>
            <a:r>
              <a:rPr lang="zh-CN" altLang="en-US" sz="2000" dirty="0"/>
              <a:t>接口或</a:t>
            </a:r>
            <a:r>
              <a:rPr lang="en-US" altLang="zh-CN" sz="2000" dirty="0"/>
              <a:t>Callable</a:t>
            </a:r>
            <a:r>
              <a:rPr lang="zh-CN" altLang="en-US" sz="2000" dirty="0"/>
              <a:t>接口</a:t>
            </a:r>
          </a:p>
          <a:p>
            <a:pPr marL="0" indent="0" algn="l">
              <a:buNone/>
            </a:pPr>
            <a:r>
              <a:rPr lang="en-US" altLang="zh-CN" sz="2000" dirty="0"/>
              <a:t>2.</a:t>
            </a:r>
            <a:r>
              <a:rPr lang="zh-CN" altLang="en-US" sz="2000" dirty="0"/>
              <a:t>任务的执行：包括任务执行机制的核心接口</a:t>
            </a:r>
            <a:r>
              <a:rPr lang="en-US" altLang="zh-CN" sz="2000" dirty="0"/>
              <a:t>Executor</a:t>
            </a:r>
            <a:r>
              <a:rPr lang="zh-CN" altLang="en-US" sz="2000" dirty="0"/>
              <a:t>，以及继承自</a:t>
            </a:r>
            <a:r>
              <a:rPr lang="en-US" altLang="zh-CN" sz="2000" dirty="0"/>
              <a:t>Executor</a:t>
            </a:r>
            <a:r>
              <a:rPr lang="zh-CN" altLang="en-US" sz="2000" dirty="0"/>
              <a:t>的</a:t>
            </a:r>
            <a:r>
              <a:rPr lang="en-US" altLang="zh-CN" sz="2000" dirty="0" err="1"/>
              <a:t>EexcutorService</a:t>
            </a:r>
            <a:r>
              <a:rPr lang="zh-CN" altLang="en-US" sz="2000" dirty="0"/>
              <a:t>接口。</a:t>
            </a:r>
            <a:r>
              <a:rPr lang="en-US" altLang="zh-CN" sz="2000" dirty="0" err="1"/>
              <a:t>Exrcutor</a:t>
            </a:r>
            <a:r>
              <a:rPr lang="zh-CN" altLang="en-US" sz="2000" dirty="0"/>
              <a:t>有两个关键类实现了</a:t>
            </a:r>
            <a:r>
              <a:rPr lang="en-US" altLang="zh-CN" sz="2000" dirty="0" err="1"/>
              <a:t>ExecutorService</a:t>
            </a:r>
            <a:r>
              <a:rPr lang="zh-CN" altLang="en-US" sz="2000" dirty="0"/>
              <a:t>接口（</a:t>
            </a:r>
            <a:r>
              <a:rPr lang="en-US" altLang="zh-CN" sz="2000" dirty="0" err="1"/>
              <a:t>ThreadPoolExecutor</a:t>
            </a:r>
            <a:r>
              <a:rPr lang="zh-CN" altLang="en-US" sz="2000" dirty="0"/>
              <a:t>和</a:t>
            </a:r>
            <a:r>
              <a:rPr lang="en-US" altLang="zh-CN" sz="2000" dirty="0" err="1"/>
              <a:t>ScheduledThreadPoolExecutor</a:t>
            </a:r>
            <a:r>
              <a:rPr lang="zh-CN" altLang="en-US" sz="2000" dirty="0"/>
              <a:t>）。</a:t>
            </a:r>
          </a:p>
          <a:p>
            <a:pPr marL="0" indent="0" algn="l">
              <a:buNone/>
            </a:pPr>
            <a:r>
              <a:rPr lang="en-US" altLang="zh-CN" sz="2000" dirty="0"/>
              <a:t>3.</a:t>
            </a:r>
            <a:r>
              <a:rPr lang="zh-CN" altLang="en-US" sz="2000" dirty="0"/>
              <a:t>异步计算的结果：包括接口</a:t>
            </a:r>
            <a:r>
              <a:rPr lang="en-US" altLang="zh-CN" sz="2000" dirty="0"/>
              <a:t>Future</a:t>
            </a:r>
            <a:r>
              <a:rPr lang="zh-CN" altLang="en-US" sz="2000" dirty="0"/>
              <a:t>和实现</a:t>
            </a:r>
            <a:r>
              <a:rPr lang="en-US" altLang="zh-CN" sz="2000" dirty="0"/>
              <a:t>Future</a:t>
            </a:r>
            <a:r>
              <a:rPr lang="zh-CN" altLang="en-US" sz="2000" dirty="0"/>
              <a:t>接口的</a:t>
            </a:r>
            <a:r>
              <a:rPr lang="en-US" altLang="zh-CN" sz="2000" dirty="0" err="1"/>
              <a:t>FutureTask</a:t>
            </a:r>
            <a:r>
              <a:rPr lang="zh-CN" altLang="en-US" sz="2000" dirty="0"/>
              <a:t>类（这个我们放在</a:t>
            </a:r>
            <a:r>
              <a:rPr lang="zh-CN" altLang="en-US" sz="2000" dirty="0" smtClean="0"/>
              <a:t>下</a:t>
            </a:r>
            <a:r>
              <a:rPr lang="zh-CN" altLang="en-US" sz="2000" dirty="0"/>
              <a:t>面</a:t>
            </a:r>
            <a:r>
              <a:rPr lang="zh-CN" altLang="en-US" sz="2000" dirty="0" smtClean="0"/>
              <a:t>说明</a:t>
            </a:r>
            <a:r>
              <a:rPr lang="zh-CN" altLang="en-US" sz="2000" dirty="0"/>
              <a:t>）</a:t>
            </a:r>
          </a:p>
          <a:p>
            <a:pPr marL="0" indent="0" algn="l">
              <a:buNone/>
            </a:pPr>
            <a:endParaRPr lang="en-US" altLang="zh-CN" sz="2000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F6080C-27B6-4887-AD68-709C157CA8E8}" type="datetime1">
              <a:rPr lang="zh-CN" altLang="en-US" smtClean="0"/>
              <a:t>2017/9/5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9EE1D75-A1ED-473F-8DFE-EBE060580F06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7047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Executor</a:t>
            </a:r>
            <a:r>
              <a:rPr lang="zh-CN" altLang="en-US" dirty="0"/>
              <a:t>架构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908720"/>
            <a:ext cx="8011185" cy="5472608"/>
          </a:xfrm>
        </p:spPr>
        <p:txBody>
          <a:bodyPr/>
          <a:lstStyle/>
          <a:p>
            <a:r>
              <a:rPr lang="zh-CN" altLang="en-US" sz="2000" dirty="0"/>
              <a:t>下面我们通过一个</a:t>
            </a:r>
            <a:r>
              <a:rPr lang="en-US" altLang="zh-CN" sz="2000" dirty="0"/>
              <a:t>UML</a:t>
            </a:r>
            <a:r>
              <a:rPr lang="zh-CN" altLang="en-US" sz="2000" dirty="0"/>
              <a:t>图来认识一下这些类间的关系</a:t>
            </a:r>
            <a:r>
              <a:rPr lang="zh-CN" altLang="en-US" dirty="0"/>
              <a:t>：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F6080C-27B6-4887-AD68-709C157CA8E8}" type="datetime1">
              <a:rPr lang="zh-CN" altLang="en-US" smtClean="0"/>
              <a:t>2017/9/5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9EE1D75-A1ED-473F-8DFE-EBE060580F06}" type="slidenum">
              <a:rPr lang="zh-CN" altLang="en-US" smtClean="0"/>
              <a:t>5</a:t>
            </a:fld>
            <a:endParaRPr lang="zh-CN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412777"/>
            <a:ext cx="7000875" cy="4968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17899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Executor</a:t>
            </a:r>
            <a:r>
              <a:rPr lang="zh-CN" altLang="en-US" dirty="0"/>
              <a:t>架构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F6080C-27B6-4887-AD68-709C157CA8E8}" type="datetime1">
              <a:rPr lang="zh-CN" altLang="en-US" smtClean="0"/>
              <a:t>2017/9/5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9EE1D75-A1ED-473F-8DFE-EBE060580F06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6" name="圆角矩形 5"/>
          <p:cNvSpPr/>
          <p:nvPr/>
        </p:nvSpPr>
        <p:spPr>
          <a:xfrm>
            <a:off x="1115616" y="1268760"/>
            <a:ext cx="1872208" cy="5760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Thread</a:t>
            </a:r>
            <a:endParaRPr lang="zh-CN" altLang="en-US" dirty="0"/>
          </a:p>
        </p:txBody>
      </p:sp>
      <p:sp>
        <p:nvSpPr>
          <p:cNvPr id="7" name="圆角矩形 6"/>
          <p:cNvSpPr/>
          <p:nvPr/>
        </p:nvSpPr>
        <p:spPr>
          <a:xfrm>
            <a:off x="3851920" y="2564904"/>
            <a:ext cx="1872208" cy="5760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ExecutorService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1439652" y="2558058"/>
            <a:ext cx="122413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操作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439652" y="3356992"/>
            <a:ext cx="122413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操作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1455304" y="4149080"/>
            <a:ext cx="122413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操作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3419872" y="3422154"/>
            <a:ext cx="122413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操作</a:t>
            </a:r>
            <a:endParaRPr lang="zh-CN" altLang="en-US" dirty="0"/>
          </a:p>
        </p:txBody>
      </p:sp>
      <p:cxnSp>
        <p:nvCxnSpPr>
          <p:cNvPr id="14" name="直接箭头连接符 13"/>
          <p:cNvCxnSpPr>
            <a:stCxn id="6" idx="2"/>
          </p:cNvCxnSpPr>
          <p:nvPr/>
        </p:nvCxnSpPr>
        <p:spPr>
          <a:xfrm>
            <a:off x="2051720" y="1844824"/>
            <a:ext cx="0" cy="71323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8" idx="3"/>
          </p:cNvCxnSpPr>
          <p:nvPr/>
        </p:nvCxnSpPr>
        <p:spPr>
          <a:xfrm>
            <a:off x="2663788" y="2846090"/>
            <a:ext cx="1188132" cy="684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66139" y="2558058"/>
            <a:ext cx="583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Task</a:t>
            </a:r>
            <a:endParaRPr lang="zh-CN" altLang="en-US" dirty="0"/>
          </a:p>
        </p:txBody>
      </p:sp>
      <p:cxnSp>
        <p:nvCxnSpPr>
          <p:cNvPr id="19" name="直接箭头连接符 18"/>
          <p:cNvCxnSpPr>
            <a:stCxn id="8" idx="2"/>
            <a:endCxn id="9" idx="0"/>
          </p:cNvCxnSpPr>
          <p:nvPr/>
        </p:nvCxnSpPr>
        <p:spPr>
          <a:xfrm>
            <a:off x="2051720" y="3134122"/>
            <a:ext cx="0" cy="22287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9" idx="2"/>
          </p:cNvCxnSpPr>
          <p:nvPr/>
        </p:nvCxnSpPr>
        <p:spPr>
          <a:xfrm>
            <a:off x="2051720" y="3933056"/>
            <a:ext cx="0" cy="21602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5436096" y="3422154"/>
            <a:ext cx="122413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操作</a:t>
            </a:r>
            <a:endParaRPr lang="zh-CN" altLang="en-US" dirty="0"/>
          </a:p>
        </p:txBody>
      </p:sp>
      <p:cxnSp>
        <p:nvCxnSpPr>
          <p:cNvPr id="24" name="直接箭头连接符 23"/>
          <p:cNvCxnSpPr>
            <a:stCxn id="7" idx="2"/>
          </p:cNvCxnSpPr>
          <p:nvPr/>
        </p:nvCxnSpPr>
        <p:spPr>
          <a:xfrm flipH="1">
            <a:off x="4031940" y="3140968"/>
            <a:ext cx="756084" cy="28118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7" idx="2"/>
          </p:cNvCxnSpPr>
          <p:nvPr/>
        </p:nvCxnSpPr>
        <p:spPr>
          <a:xfrm>
            <a:off x="4788024" y="3140968"/>
            <a:ext cx="1152128" cy="28118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7180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Executor</a:t>
            </a:r>
            <a:r>
              <a:rPr lang="zh-CN" altLang="en-US" dirty="0"/>
              <a:t>架构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altLang="zh-CN" sz="2000" dirty="0" err="1"/>
              <a:t>Extecutor</a:t>
            </a:r>
            <a:r>
              <a:rPr lang="zh-CN" altLang="en-US" sz="2000" dirty="0"/>
              <a:t>是一个接口，它是</a:t>
            </a:r>
            <a:r>
              <a:rPr lang="en-US" altLang="zh-CN" sz="2000" dirty="0"/>
              <a:t>Executor</a:t>
            </a:r>
            <a:r>
              <a:rPr lang="zh-CN" altLang="en-US" sz="2000" dirty="0"/>
              <a:t>框架的基础，它将任务的提交与任务的执行分离开来。</a:t>
            </a:r>
          </a:p>
          <a:p>
            <a:pPr algn="l"/>
            <a:r>
              <a:rPr lang="en-US" altLang="zh-CN" sz="2000" dirty="0" err="1"/>
              <a:t>ThreadPoolExecutor</a:t>
            </a:r>
            <a:r>
              <a:rPr lang="zh-CN" altLang="en-US" sz="2000" dirty="0"/>
              <a:t>是线程池的核心实现类，用来执行被提交的任务。</a:t>
            </a:r>
          </a:p>
          <a:p>
            <a:pPr algn="l"/>
            <a:r>
              <a:rPr lang="en-US" altLang="zh-CN" sz="2000" dirty="0" err="1"/>
              <a:t>ScheduledThreadPoolExecutor</a:t>
            </a:r>
            <a:r>
              <a:rPr lang="zh-CN" altLang="en-US" sz="2000" dirty="0"/>
              <a:t>是一个实现类，可以在给定的延迟后运行命令，或者定期执行</a:t>
            </a:r>
            <a:r>
              <a:rPr lang="zh-CN" altLang="en-US" sz="2000" dirty="0" smtClean="0"/>
              <a:t>命。</a:t>
            </a:r>
            <a:r>
              <a:rPr lang="en-US" altLang="zh-CN" sz="2000" dirty="0" err="1" smtClean="0"/>
              <a:t>ScheduledThreadPoolExecutor</a:t>
            </a:r>
            <a:r>
              <a:rPr lang="zh-CN" altLang="en-US" sz="2000" dirty="0"/>
              <a:t>比</a:t>
            </a:r>
            <a:r>
              <a:rPr lang="en-US" altLang="zh-CN" sz="2000" dirty="0"/>
              <a:t>Timer</a:t>
            </a:r>
            <a:r>
              <a:rPr lang="zh-CN" altLang="en-US" sz="2000" dirty="0"/>
              <a:t>更灵活，功能更强大。</a:t>
            </a:r>
          </a:p>
          <a:p>
            <a:pPr algn="l"/>
            <a:r>
              <a:rPr lang="en-US" altLang="zh-CN" sz="2000" dirty="0"/>
              <a:t>Future</a:t>
            </a:r>
            <a:r>
              <a:rPr lang="zh-CN" altLang="en-US" sz="2000" dirty="0"/>
              <a:t>接口和实现</a:t>
            </a:r>
            <a:r>
              <a:rPr lang="en-US" altLang="zh-CN" sz="2000" dirty="0"/>
              <a:t>Future</a:t>
            </a:r>
            <a:r>
              <a:rPr lang="zh-CN" altLang="en-US" sz="2000" dirty="0"/>
              <a:t>接口的</a:t>
            </a:r>
            <a:r>
              <a:rPr lang="en-US" altLang="zh-CN" sz="2000" dirty="0" err="1"/>
              <a:t>FutureTask</a:t>
            </a:r>
            <a:r>
              <a:rPr lang="zh-CN" altLang="en-US" sz="2000" dirty="0"/>
              <a:t>类，代表异步计算的结果。</a:t>
            </a:r>
          </a:p>
          <a:p>
            <a:pPr algn="l"/>
            <a:r>
              <a:rPr lang="en-US" altLang="zh-CN" sz="2000" dirty="0"/>
              <a:t>Runnable</a:t>
            </a:r>
            <a:r>
              <a:rPr lang="zh-CN" altLang="en-US" sz="2000" dirty="0"/>
              <a:t>接口和</a:t>
            </a:r>
            <a:r>
              <a:rPr lang="en-US" altLang="zh-CN" sz="2000" dirty="0"/>
              <a:t>Callable</a:t>
            </a:r>
            <a:r>
              <a:rPr lang="zh-CN" altLang="en-US" sz="2000" dirty="0"/>
              <a:t>接口的实现类，都可以被</a:t>
            </a:r>
            <a:r>
              <a:rPr lang="en-US" altLang="zh-CN" sz="2000" dirty="0" err="1"/>
              <a:t>ThreadPoolExecutor</a:t>
            </a:r>
            <a:r>
              <a:rPr lang="zh-CN" altLang="en-US" sz="2000" dirty="0"/>
              <a:t>或者</a:t>
            </a:r>
            <a:r>
              <a:rPr lang="en-US" altLang="zh-CN" sz="2000" dirty="0" err="1"/>
              <a:t>ScheduledThreadPoolExecutor</a:t>
            </a:r>
            <a:r>
              <a:rPr lang="zh-CN" altLang="en-US" sz="2000" dirty="0"/>
              <a:t>执行。区别就是</a:t>
            </a:r>
            <a:r>
              <a:rPr lang="en-US" altLang="zh-CN" sz="2000" dirty="0"/>
              <a:t>Runnable</a:t>
            </a:r>
            <a:r>
              <a:rPr lang="zh-CN" altLang="en-US" sz="2000" dirty="0"/>
              <a:t>无法返回执行结果，而</a:t>
            </a:r>
            <a:r>
              <a:rPr lang="en-US" altLang="zh-CN" sz="2000" dirty="0"/>
              <a:t>Callable</a:t>
            </a:r>
            <a:r>
              <a:rPr lang="zh-CN" altLang="en-US" sz="2000" dirty="0"/>
              <a:t>可以返回执行结果。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F6080C-27B6-4887-AD68-709C157CA8E8}" type="datetime1">
              <a:rPr lang="zh-CN" altLang="en-US" smtClean="0"/>
              <a:t>2017/9/5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9EE1D75-A1ED-473F-8DFE-EBE060580F06}" type="slidenum">
              <a:rPr lang="zh-CN" altLang="en-US" smtClean="0"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810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Executor</a:t>
            </a:r>
            <a:r>
              <a:rPr lang="zh-CN" altLang="en-US" dirty="0"/>
              <a:t>架构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zh-CN" altLang="en-US" sz="2000" dirty="0" smtClean="0"/>
              <a:t>在</a:t>
            </a:r>
            <a:r>
              <a:rPr lang="en-US" altLang="zh-CN" sz="2000" dirty="0"/>
              <a:t>Executors</a:t>
            </a:r>
            <a:r>
              <a:rPr lang="zh-CN" altLang="en-US" sz="2000" dirty="0"/>
              <a:t>类里面提供了一些静态工厂，生成一些常用的线程</a:t>
            </a:r>
            <a:r>
              <a:rPr lang="zh-CN" altLang="en-US" sz="2000" dirty="0" smtClean="0"/>
              <a:t>池</a:t>
            </a:r>
            <a:endParaRPr lang="zh-CN" altLang="en-US" sz="2000" dirty="0"/>
          </a:p>
          <a:p>
            <a:pPr marL="0" indent="0" algn="l">
              <a:buNone/>
            </a:pPr>
            <a:r>
              <a:rPr lang="en-US" altLang="zh-CN" sz="2000" dirty="0"/>
              <a:t>1. </a:t>
            </a:r>
            <a:r>
              <a:rPr lang="en-US" altLang="zh-CN" sz="2000" dirty="0" err="1"/>
              <a:t>newSingleThreadExecutor</a:t>
            </a:r>
            <a:endParaRPr lang="en-US" altLang="zh-CN" sz="2000" dirty="0"/>
          </a:p>
          <a:p>
            <a:pPr marL="0" indent="0" algn="l">
              <a:buNone/>
            </a:pPr>
            <a:r>
              <a:rPr lang="zh-CN" altLang="en-US" sz="2000" dirty="0" smtClean="0"/>
              <a:t>创建</a:t>
            </a:r>
            <a:r>
              <a:rPr lang="zh-CN" altLang="en-US" sz="2000" dirty="0"/>
              <a:t>一个单线程的线程池。这个线程池只有一个线程在工作，也就是相当于单线程串行执行所有任务。如果这个唯一的线程因为异常结束，那么会有一个新的线程来替代它。此线程池保证所有任务的执行顺序按照任务的提交顺序执行。</a:t>
            </a:r>
          </a:p>
          <a:p>
            <a:pPr marL="0" indent="0" algn="l">
              <a:buNone/>
            </a:pPr>
            <a:r>
              <a:rPr lang="en-US" altLang="zh-CN" sz="2000" dirty="0" smtClean="0"/>
              <a:t>2.newFixedThreadPool</a:t>
            </a:r>
            <a:endParaRPr lang="en-US" altLang="zh-CN" sz="2000" dirty="0"/>
          </a:p>
          <a:p>
            <a:pPr marL="0" indent="0" algn="l">
              <a:buNone/>
            </a:pPr>
            <a:r>
              <a:rPr lang="zh-CN" altLang="en-US" sz="2000" dirty="0" smtClean="0"/>
              <a:t>创建</a:t>
            </a:r>
            <a:r>
              <a:rPr lang="zh-CN" altLang="en-US" sz="2000" dirty="0"/>
              <a:t>固定大小的线程池。每次提交一个任务就创建一个线程，直到线程达到线程池的最大大小。线程池的大小一旦达到最大值就会保持不变，如果某个线程因为执行异常而结束，那么线程池会补充一个新线程</a:t>
            </a:r>
            <a:r>
              <a:rPr lang="zh-CN" altLang="en-US" sz="2000" dirty="0" smtClean="0"/>
              <a:t>。</a:t>
            </a:r>
            <a:endParaRPr lang="zh-CN" altLang="en-US" sz="2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F6080C-27B6-4887-AD68-709C157CA8E8}" type="datetime1">
              <a:rPr lang="zh-CN" altLang="en-US" smtClean="0"/>
              <a:t>2017/9/5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9EE1D75-A1ED-473F-8DFE-EBE060580F06}" type="slidenum">
              <a:rPr lang="zh-CN" altLang="en-US" smtClean="0"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98654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Executor</a:t>
            </a:r>
            <a:r>
              <a:rPr lang="zh-CN" altLang="en-US" dirty="0"/>
              <a:t>架构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altLang="zh-CN" sz="2000" dirty="0"/>
              <a:t>3. </a:t>
            </a:r>
            <a:r>
              <a:rPr lang="en-US" altLang="zh-CN" sz="2000" dirty="0" err="1"/>
              <a:t>newCachedThreadPool</a:t>
            </a:r>
            <a:endParaRPr lang="en-US" altLang="zh-CN" sz="2000" dirty="0"/>
          </a:p>
          <a:p>
            <a:pPr marL="0" indent="0" algn="l">
              <a:buNone/>
            </a:pPr>
            <a:r>
              <a:rPr lang="zh-CN" altLang="en-US" sz="2000" dirty="0"/>
              <a:t>创建一个可缓存的线程池。如果线程池的大小超过了处理任务所需要的线程，那么就会回收部分空闲（</a:t>
            </a:r>
            <a:r>
              <a:rPr lang="en-US" altLang="zh-CN" sz="2000" dirty="0"/>
              <a:t>60</a:t>
            </a:r>
            <a:r>
              <a:rPr lang="zh-CN" altLang="en-US" sz="2000" dirty="0"/>
              <a:t>秒不执行任务）的线程，当任务数增加时，此线程池又可以智能的添加新线程来处理任务。此线程池不会对线程池大小做限制，线程池大小完全依赖于操作系统（或者说</a:t>
            </a:r>
            <a:r>
              <a:rPr lang="en-US" altLang="zh-CN" sz="2000" dirty="0"/>
              <a:t>JVM</a:t>
            </a:r>
            <a:r>
              <a:rPr lang="zh-CN" altLang="en-US" sz="2000" dirty="0"/>
              <a:t>）能够创建的最大线程大小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 marL="0" indent="0" algn="l">
              <a:buNone/>
            </a:pPr>
            <a:endParaRPr lang="zh-CN" altLang="en-US" sz="2000" dirty="0"/>
          </a:p>
          <a:p>
            <a:pPr marL="0" indent="0" algn="l">
              <a:buNone/>
            </a:pPr>
            <a:r>
              <a:rPr lang="en-US" altLang="zh-CN" sz="2000" dirty="0"/>
              <a:t>4.newScheduledThreadPool</a:t>
            </a:r>
          </a:p>
          <a:p>
            <a:pPr marL="0" indent="0" algn="l">
              <a:buNone/>
            </a:pPr>
            <a:r>
              <a:rPr lang="zh-CN" altLang="en-US" sz="2000" dirty="0"/>
              <a:t>创建一个大小无限的线程池。此线程池支持定时以及周期性执行任务的需求。</a:t>
            </a:r>
          </a:p>
          <a:p>
            <a:pPr algn="l"/>
            <a:endParaRPr lang="zh-CN" altLang="en-US" sz="2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F6080C-27B6-4887-AD68-709C157CA8E8}" type="datetime1">
              <a:rPr lang="zh-CN" altLang="en-US" smtClean="0"/>
              <a:t>2017/9/5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9EE1D75-A1ED-473F-8DFE-EBE060580F06}" type="slidenum">
              <a:rPr lang="zh-CN" altLang="en-US" smtClean="0"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44629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二</a:t>
            </a:r>
            <a:r>
              <a:rPr lang="zh-CN" altLang="en-US" dirty="0"/>
              <a:t>、</a:t>
            </a:r>
            <a:r>
              <a:rPr lang="en-US" altLang="zh-CN" dirty="0" smtClean="0"/>
              <a:t>Callable</a:t>
            </a:r>
            <a:r>
              <a:rPr lang="zh-CN" altLang="en-US" dirty="0"/>
              <a:t>和</a:t>
            </a:r>
            <a:r>
              <a:rPr lang="en-US" altLang="zh-CN" dirty="0"/>
              <a:t>Future</a:t>
            </a: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F6080C-27B6-4887-AD68-709C157CA8E8}" type="datetime1">
              <a:rPr lang="zh-CN" altLang="en-US" smtClean="0"/>
              <a:t>2017/9/5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9EE1D75-A1ED-473F-8DFE-EBE060580F06}" type="slidenum">
              <a:rPr lang="zh-CN" altLang="en-US" smtClean="0"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922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en-US" altLang="zh-CN" dirty="0" smtClean="0"/>
              <a:t>Callable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980728"/>
            <a:ext cx="8496943" cy="528058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r>
              <a:rPr lang="en-US" altLang="zh-CN" sz="2000" dirty="0" smtClean="0"/>
              <a:t>Callable</a:t>
            </a:r>
            <a:r>
              <a:rPr lang="zh-CN" altLang="en-US" sz="2000" dirty="0"/>
              <a:t>接口类似于</a:t>
            </a:r>
            <a:r>
              <a:rPr lang="en-US" altLang="zh-CN" sz="2000" dirty="0"/>
              <a:t>Runnable</a:t>
            </a:r>
            <a:r>
              <a:rPr lang="zh-CN" altLang="en-US" sz="2000" dirty="0"/>
              <a:t>，从名字就可以看出来了，但是</a:t>
            </a:r>
            <a:r>
              <a:rPr lang="en-US" altLang="zh-CN" sz="2000" dirty="0"/>
              <a:t>Runnable</a:t>
            </a:r>
            <a:r>
              <a:rPr lang="zh-CN" altLang="en-US" sz="2000" dirty="0"/>
              <a:t>不会返回结果，并且无法抛出返回结果的异常，而</a:t>
            </a:r>
            <a:r>
              <a:rPr lang="en-US" altLang="zh-CN" sz="2000" dirty="0"/>
              <a:t>Callable</a:t>
            </a:r>
            <a:r>
              <a:rPr lang="zh-CN" altLang="en-US" sz="2000" dirty="0"/>
              <a:t>功能更强大一些，被线程执行后，可以返回值，这个返回值可以被</a:t>
            </a:r>
            <a:r>
              <a:rPr lang="en-US" altLang="zh-CN" sz="2000" dirty="0"/>
              <a:t>Future</a:t>
            </a:r>
            <a:r>
              <a:rPr lang="zh-CN" altLang="en-US" sz="2000" dirty="0"/>
              <a:t>拿到，也就是说，</a:t>
            </a:r>
            <a:r>
              <a:rPr lang="en-US" altLang="zh-CN" sz="2000" dirty="0"/>
              <a:t>Future</a:t>
            </a:r>
            <a:r>
              <a:rPr lang="zh-CN" altLang="en-US" sz="2000" dirty="0"/>
              <a:t>可以拿到异步执行任务的返回</a:t>
            </a:r>
            <a:r>
              <a:rPr lang="zh-CN" altLang="en-US" sz="2000" dirty="0" smtClean="0"/>
              <a:t>值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b="1" dirty="0" smtClean="0"/>
              <a:t>             public</a:t>
            </a:r>
            <a:r>
              <a:rPr lang="en-US" altLang="zh-CN" sz="2000" dirty="0"/>
              <a:t> </a:t>
            </a:r>
            <a:r>
              <a:rPr lang="en-US" altLang="zh-CN" sz="2000" b="1" dirty="0"/>
              <a:t>interface</a:t>
            </a:r>
            <a:r>
              <a:rPr lang="en-US" altLang="zh-CN" sz="2000" dirty="0"/>
              <a:t> Runnable {  </a:t>
            </a:r>
          </a:p>
          <a:p>
            <a:pPr marL="0" indent="0">
              <a:buNone/>
            </a:pPr>
            <a:r>
              <a:rPr lang="en-US" altLang="zh-CN" sz="2000" dirty="0"/>
              <a:t>    </a:t>
            </a:r>
            <a:r>
              <a:rPr lang="en-US" altLang="zh-CN" sz="2000" dirty="0" smtClean="0"/>
              <a:t>                 </a:t>
            </a:r>
            <a:r>
              <a:rPr lang="en-US" altLang="zh-CN" sz="2000" b="1" dirty="0" smtClean="0"/>
              <a:t>public</a:t>
            </a:r>
            <a:r>
              <a:rPr lang="en-US" altLang="zh-CN" sz="2000" dirty="0"/>
              <a:t> </a:t>
            </a:r>
            <a:r>
              <a:rPr lang="en-US" altLang="zh-CN" sz="2000" b="1" dirty="0"/>
              <a:t>abstract</a:t>
            </a:r>
            <a:r>
              <a:rPr lang="en-US" altLang="zh-CN" sz="2000" dirty="0"/>
              <a:t> </a:t>
            </a:r>
            <a:r>
              <a:rPr lang="en-US" altLang="zh-CN" sz="2000" b="1" dirty="0"/>
              <a:t>void</a:t>
            </a:r>
            <a:r>
              <a:rPr lang="en-US" altLang="zh-CN" sz="2000" dirty="0"/>
              <a:t> run();  </a:t>
            </a:r>
          </a:p>
          <a:p>
            <a:pPr marL="0" indent="0">
              <a:buNone/>
            </a:pPr>
            <a:r>
              <a:rPr lang="en-US" altLang="zh-CN" sz="2000" dirty="0" smtClean="0"/>
              <a:t>                   }</a:t>
            </a:r>
            <a:r>
              <a:rPr lang="en-US" altLang="zh-CN" sz="2000" dirty="0"/>
              <a:t>  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b="1" dirty="0" smtClean="0"/>
              <a:t>            public</a:t>
            </a:r>
            <a:r>
              <a:rPr lang="en-US" altLang="zh-CN" sz="2000" dirty="0"/>
              <a:t> </a:t>
            </a:r>
            <a:r>
              <a:rPr lang="en-US" altLang="zh-CN" sz="2000" b="1" dirty="0"/>
              <a:t>interface</a:t>
            </a:r>
            <a:r>
              <a:rPr lang="en-US" altLang="zh-CN" sz="2000" dirty="0"/>
              <a:t> Callable&lt;V&gt; {   </a:t>
            </a:r>
          </a:p>
          <a:p>
            <a:pPr marL="0" indent="0">
              <a:buNone/>
            </a:pPr>
            <a:r>
              <a:rPr lang="en-US" altLang="zh-CN" sz="2000" dirty="0"/>
              <a:t>      </a:t>
            </a:r>
            <a:r>
              <a:rPr lang="en-US" altLang="zh-CN" sz="2000" dirty="0" smtClean="0"/>
              <a:t>          V</a:t>
            </a:r>
            <a:r>
              <a:rPr lang="en-US" altLang="zh-CN" sz="2000" dirty="0"/>
              <a:t>   call()   </a:t>
            </a:r>
            <a:r>
              <a:rPr lang="en-US" altLang="zh-CN" sz="2000" b="1" dirty="0"/>
              <a:t>throws</a:t>
            </a:r>
            <a:r>
              <a:rPr lang="en-US" altLang="zh-CN" sz="2000" dirty="0"/>
              <a:t> Exception;   </a:t>
            </a:r>
          </a:p>
          <a:p>
            <a:pPr marL="0" indent="0">
              <a:buNone/>
            </a:pPr>
            <a:r>
              <a:rPr lang="en-US" altLang="zh-CN" sz="2000" dirty="0" smtClean="0"/>
              <a:t>            }</a:t>
            </a:r>
            <a:r>
              <a:rPr lang="en-US" altLang="zh-CN" sz="2000" dirty="0"/>
              <a:t>  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zh-CN" altLang="en-US" sz="2000" dirty="0"/>
          </a:p>
          <a:p>
            <a:pPr marL="0" indent="0">
              <a:buNone/>
            </a:pPr>
            <a:endParaRPr lang="en-US" altLang="zh-CN" sz="2000" dirty="0" smtClean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F6080C-27B6-4887-AD68-709C157CA8E8}" type="datetime1">
              <a:rPr lang="zh-CN" altLang="en-US"/>
              <a:t>2017/9/5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9EE1D75-A1ED-473F-8DFE-EBE060580F06}" type="slidenum">
              <a:rPr lang="zh-CN" altLang="en-US"/>
              <a:t>11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Future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Future&lt;V&gt;</a:t>
            </a:r>
            <a:r>
              <a:rPr lang="zh-CN" altLang="en-US" sz="2000" dirty="0"/>
              <a:t>接口是用来获取异步计算结果的，说白了就是对具体的</a:t>
            </a:r>
            <a:r>
              <a:rPr lang="en-US" altLang="zh-CN" sz="2000" dirty="0"/>
              <a:t>Runnable</a:t>
            </a:r>
            <a:r>
              <a:rPr lang="zh-CN" altLang="en-US" sz="2000" dirty="0"/>
              <a:t>或者</a:t>
            </a:r>
            <a:r>
              <a:rPr lang="en-US" altLang="zh-CN" sz="2000" dirty="0"/>
              <a:t>Callable</a:t>
            </a:r>
            <a:r>
              <a:rPr lang="zh-CN" altLang="en-US" sz="2000" dirty="0"/>
              <a:t>对象任务执行的结果进行获取</a:t>
            </a:r>
            <a:r>
              <a:rPr lang="en-US" altLang="zh-CN" sz="2000" dirty="0"/>
              <a:t>(get()),</a:t>
            </a:r>
            <a:r>
              <a:rPr lang="zh-CN" altLang="en-US" sz="2000" dirty="0"/>
              <a:t>取消</a:t>
            </a:r>
            <a:r>
              <a:rPr lang="en-US" altLang="zh-CN" sz="2000" dirty="0"/>
              <a:t>(cancel()),</a:t>
            </a:r>
            <a:r>
              <a:rPr lang="zh-CN" altLang="en-US" sz="2000" dirty="0"/>
              <a:t>判断是否完成等操作。我们看看</a:t>
            </a:r>
            <a:r>
              <a:rPr lang="en-US" altLang="zh-CN" sz="2000" dirty="0"/>
              <a:t>Future</a:t>
            </a:r>
            <a:r>
              <a:rPr lang="zh-CN" altLang="en-US" sz="2000" dirty="0"/>
              <a:t>接口的源码：</a:t>
            </a:r>
          </a:p>
          <a:p>
            <a:pPr marL="0" indent="0">
              <a:buNone/>
            </a:pPr>
            <a:r>
              <a:rPr lang="en-US" altLang="zh-CN" sz="2000" dirty="0" smtClean="0"/>
              <a:t>    </a:t>
            </a:r>
            <a:r>
              <a:rPr lang="en-US" altLang="zh-CN" sz="1800" b="1" dirty="0" smtClean="0"/>
              <a:t>public </a:t>
            </a:r>
            <a:r>
              <a:rPr lang="en-US" altLang="zh-CN" sz="1800" b="1" dirty="0"/>
              <a:t>interface Future&lt;V&gt; {  </a:t>
            </a:r>
          </a:p>
          <a:p>
            <a:pPr marL="0" indent="0">
              <a:buNone/>
            </a:pPr>
            <a:r>
              <a:rPr lang="en-US" altLang="zh-CN" sz="1800" b="1" dirty="0" smtClean="0"/>
              <a:t>            </a:t>
            </a:r>
            <a:r>
              <a:rPr lang="en-US" altLang="zh-CN" sz="1800" b="1" dirty="0" err="1" smtClean="0"/>
              <a:t>boolean</a:t>
            </a:r>
            <a:r>
              <a:rPr lang="en-US" altLang="zh-CN" sz="1800" b="1" dirty="0" smtClean="0"/>
              <a:t> </a:t>
            </a:r>
            <a:r>
              <a:rPr lang="en-US" altLang="zh-CN" sz="1800" b="1" dirty="0"/>
              <a:t>cancel(</a:t>
            </a:r>
            <a:r>
              <a:rPr lang="en-US" altLang="zh-CN" sz="1800" b="1" dirty="0" err="1"/>
              <a:t>boolean</a:t>
            </a:r>
            <a:r>
              <a:rPr lang="en-US" altLang="zh-CN" sz="1800" b="1" dirty="0"/>
              <a:t> </a:t>
            </a:r>
            <a:r>
              <a:rPr lang="en-US" altLang="zh-CN" sz="1800" b="1" dirty="0" err="1"/>
              <a:t>mayInterruptIfRunning</a:t>
            </a:r>
            <a:r>
              <a:rPr lang="en-US" altLang="zh-CN" sz="1800" b="1" dirty="0"/>
              <a:t>);  </a:t>
            </a:r>
          </a:p>
          <a:p>
            <a:pPr marL="0" indent="0">
              <a:buNone/>
            </a:pPr>
            <a:r>
              <a:rPr lang="en-US" altLang="zh-CN" sz="1800" b="1" dirty="0" smtClean="0"/>
              <a:t>            </a:t>
            </a:r>
            <a:r>
              <a:rPr lang="en-US" altLang="zh-CN" sz="1800" b="1" dirty="0" err="1" smtClean="0"/>
              <a:t>boolean</a:t>
            </a:r>
            <a:r>
              <a:rPr lang="en-US" altLang="zh-CN" sz="1800" b="1" dirty="0" smtClean="0"/>
              <a:t> </a:t>
            </a:r>
            <a:r>
              <a:rPr lang="en-US" altLang="zh-CN" sz="1800" b="1" dirty="0" err="1"/>
              <a:t>isCancelled</a:t>
            </a:r>
            <a:r>
              <a:rPr lang="en-US" altLang="zh-CN" sz="1800" b="1" dirty="0"/>
              <a:t>();  </a:t>
            </a:r>
          </a:p>
          <a:p>
            <a:pPr marL="0" indent="0">
              <a:buNone/>
            </a:pPr>
            <a:r>
              <a:rPr lang="en-US" altLang="zh-CN" sz="1800" b="1" dirty="0" smtClean="0"/>
              <a:t>            </a:t>
            </a:r>
            <a:r>
              <a:rPr lang="en-US" altLang="zh-CN" sz="1800" b="1" dirty="0" err="1" smtClean="0"/>
              <a:t>boolean</a:t>
            </a:r>
            <a:r>
              <a:rPr lang="en-US" altLang="zh-CN" sz="1800" b="1" dirty="0" smtClean="0"/>
              <a:t> </a:t>
            </a:r>
            <a:r>
              <a:rPr lang="en-US" altLang="zh-CN" sz="1800" b="1" dirty="0" err="1"/>
              <a:t>isDone</a:t>
            </a:r>
            <a:r>
              <a:rPr lang="en-US" altLang="zh-CN" sz="1800" b="1" dirty="0"/>
              <a:t>();  </a:t>
            </a:r>
          </a:p>
          <a:p>
            <a:pPr marL="0" indent="0" algn="l">
              <a:buNone/>
            </a:pPr>
            <a:r>
              <a:rPr lang="en-US" altLang="zh-CN" sz="1800" b="1" dirty="0" smtClean="0"/>
              <a:t>	V </a:t>
            </a:r>
            <a:r>
              <a:rPr lang="en-US" altLang="zh-CN" sz="1800" b="1" dirty="0"/>
              <a:t>get() throws </a:t>
            </a:r>
            <a:r>
              <a:rPr lang="en-US" altLang="zh-CN" sz="1800" b="1" dirty="0" err="1"/>
              <a:t>InterruptedException</a:t>
            </a:r>
            <a:r>
              <a:rPr lang="en-US" altLang="zh-CN" sz="1800" b="1" dirty="0"/>
              <a:t>, </a:t>
            </a:r>
            <a:r>
              <a:rPr lang="en-US" altLang="zh-CN" sz="1800" b="1" dirty="0" err="1"/>
              <a:t>ExecutionException</a:t>
            </a:r>
            <a:r>
              <a:rPr lang="en-US" altLang="zh-CN" sz="1800" b="1" dirty="0"/>
              <a:t>;  </a:t>
            </a:r>
            <a:endParaRPr lang="en-US" altLang="zh-CN" sz="1800" b="1" dirty="0" smtClean="0"/>
          </a:p>
          <a:p>
            <a:pPr marL="0" indent="0" algn="l">
              <a:buNone/>
            </a:pPr>
            <a:r>
              <a:rPr lang="en-US" altLang="zh-CN" sz="1800" b="1" dirty="0" smtClean="0"/>
              <a:t>	V </a:t>
            </a:r>
            <a:r>
              <a:rPr lang="en-US" altLang="zh-CN" sz="1800" b="1" dirty="0"/>
              <a:t>get(long </a:t>
            </a:r>
            <a:r>
              <a:rPr lang="en-US" altLang="zh-CN" sz="1800" b="1" dirty="0" smtClean="0"/>
              <a:t>timeout, </a:t>
            </a:r>
            <a:r>
              <a:rPr lang="en-US" altLang="zh-CN" sz="1800" b="1" dirty="0" err="1" smtClean="0"/>
              <a:t>TimeUnit</a:t>
            </a:r>
            <a:r>
              <a:rPr lang="en-US" altLang="zh-CN" sz="1800" b="1" dirty="0"/>
              <a:t> </a:t>
            </a:r>
            <a:r>
              <a:rPr lang="en-US" altLang="zh-CN" sz="1800" b="1" dirty="0" smtClean="0"/>
              <a:t>unit)throws </a:t>
            </a:r>
            <a:r>
              <a:rPr lang="en-US" altLang="zh-CN" sz="1800" b="1" dirty="0" err="1"/>
              <a:t>InterruptedException</a:t>
            </a:r>
            <a:r>
              <a:rPr lang="en-US" altLang="zh-CN" sz="1800" b="1" dirty="0"/>
              <a:t>, </a:t>
            </a:r>
            <a:r>
              <a:rPr lang="en-US" altLang="zh-CN" sz="1800" b="1" dirty="0" err="1"/>
              <a:t>ExecutionException</a:t>
            </a:r>
            <a:r>
              <a:rPr lang="en-US" altLang="zh-CN" sz="1800" b="1" dirty="0"/>
              <a:t>, </a:t>
            </a:r>
            <a:r>
              <a:rPr lang="en-US" altLang="zh-CN" sz="1800" b="1" dirty="0" err="1"/>
              <a:t>TimeoutException</a:t>
            </a:r>
            <a:r>
              <a:rPr lang="en-US" altLang="zh-CN" sz="1800" b="1" dirty="0"/>
              <a:t>;  </a:t>
            </a:r>
          </a:p>
          <a:p>
            <a:pPr marL="0" indent="0">
              <a:buNone/>
            </a:pPr>
            <a:r>
              <a:rPr lang="en-US" altLang="zh-CN" sz="2000" dirty="0" smtClean="0"/>
              <a:t> } </a:t>
            </a:r>
            <a:endParaRPr lang="zh-CN" altLang="en-US" sz="2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F6080C-27B6-4887-AD68-709C157CA8E8}" type="datetime1">
              <a:rPr lang="zh-CN" altLang="en-US" smtClean="0"/>
              <a:t>2017/9/5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9EE1D75-A1ED-473F-8DFE-EBE060580F06}" type="slidenum">
              <a:rPr lang="zh-CN" altLang="en-US" smtClean="0"/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2610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Future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F6080C-27B6-4887-AD68-709C157CA8E8}" type="datetime1">
              <a:rPr lang="zh-CN" altLang="en-US"/>
              <a:t>2017/9/5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9EE1D75-A1ED-473F-8DFE-EBE060580F06}" type="slidenum">
              <a:rPr lang="zh-CN" altLang="en-US"/>
              <a:t>13</a:t>
            </a:fld>
            <a:endParaRPr lang="zh-CN" altLang="en-US" dirty="0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656565" y="1028732"/>
            <a:ext cx="8011185" cy="5100567"/>
          </a:xfrm>
          <a:prstGeom prst="rect">
            <a:avLst/>
          </a:prstGeom>
        </p:spPr>
        <p:txBody>
          <a:bodyPr/>
          <a:lstStyle>
            <a:lvl1pPr marL="342900" indent="-342900" algn="just" rtl="0" eaLnBrk="0" fontAlgn="base" hangingPunct="0">
              <a:lnSpc>
                <a:spcPct val="125000"/>
              </a:lnSpc>
              <a:spcBef>
                <a:spcPts val="300"/>
              </a:spcBef>
              <a:spcAft>
                <a:spcPct val="0"/>
              </a:spcAft>
              <a:buClr>
                <a:srgbClr val="0070C0"/>
              </a:buClr>
              <a:buSzPct val="60000"/>
              <a:buFont typeface="Wingdings" panose="05000000000000000000" pitchFamily="2" charset="2"/>
              <a:buChar char="n"/>
              <a:defRPr sz="2400" b="0" kern="1200" baseline="0">
                <a:solidFill>
                  <a:srgbClr val="5957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just" rtl="0" eaLnBrk="0" fontAlgn="base" hangingPunct="0">
              <a:lnSpc>
                <a:spcPct val="125000"/>
              </a:lnSpc>
              <a:spcBef>
                <a:spcPts val="300"/>
              </a:spcBef>
              <a:spcAft>
                <a:spcPct val="0"/>
              </a:spcAft>
              <a:buClr>
                <a:srgbClr val="0070C0"/>
              </a:buClr>
              <a:buSzPct val="60000"/>
              <a:buFont typeface="Wingdings" panose="05000000000000000000" pitchFamily="2" charset="2"/>
              <a:buChar char="p"/>
              <a:defRPr sz="2000" kern="1200" baseline="0">
                <a:solidFill>
                  <a:srgbClr val="5957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just" rtl="0" eaLnBrk="0" fontAlgn="base" hangingPunct="0">
              <a:lnSpc>
                <a:spcPct val="125000"/>
              </a:lnSpc>
              <a:spcBef>
                <a:spcPts val="300"/>
              </a:spcBef>
              <a:spcAft>
                <a:spcPct val="0"/>
              </a:spcAft>
              <a:buClr>
                <a:srgbClr val="0070C0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rgbClr val="5957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just" rtl="0" eaLnBrk="0" fontAlgn="base" hangingPunct="0">
              <a:lnSpc>
                <a:spcPct val="125000"/>
              </a:lnSpc>
              <a:spcBef>
                <a:spcPts val="300"/>
              </a:spcBef>
              <a:spcAft>
                <a:spcPct val="0"/>
              </a:spcAft>
              <a:buClr>
                <a:srgbClr val="0070C0"/>
              </a:buClr>
              <a:buFont typeface="Arial" panose="020B0604020202020204" pitchFamily="34" charset="0"/>
              <a:buChar char="–"/>
              <a:defRPr sz="1600" kern="1200" baseline="0">
                <a:solidFill>
                  <a:srgbClr val="5957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rtl="0" eaLnBrk="0" fontAlgn="base" hangingPunct="0">
              <a:lnSpc>
                <a:spcPct val="125000"/>
              </a:lnSpc>
              <a:spcBef>
                <a:spcPts val="300"/>
              </a:spcBef>
              <a:spcAft>
                <a:spcPct val="0"/>
              </a:spcAft>
              <a:buClr>
                <a:srgbClr val="0070C0"/>
              </a:buClr>
              <a:buFont typeface="Arial" panose="020B0604020202020204" pitchFamily="34" charset="0"/>
              <a:buChar char="»"/>
              <a:defRPr sz="1600" kern="1200" baseline="0">
                <a:solidFill>
                  <a:srgbClr val="5957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Future</a:t>
            </a:r>
            <a:r>
              <a:rPr lang="zh-CN" altLang="en-US" dirty="0" smtClean="0"/>
              <a:t>  方法摘要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endParaRPr lang="en-US" altLang="zh-CN" dirty="0" smtClean="0"/>
          </a:p>
          <a:p>
            <a:r>
              <a:rPr lang="en-US" altLang="zh-CN" sz="1600" dirty="0" err="1" smtClean="0"/>
              <a:t>boolean</a:t>
            </a:r>
            <a:r>
              <a:rPr lang="en-US" altLang="zh-CN" sz="1600" dirty="0" smtClean="0"/>
              <a:t> </a:t>
            </a:r>
            <a:r>
              <a:rPr lang="en-US" altLang="zh-CN" sz="1600" dirty="0"/>
              <a:t>cancel(</a:t>
            </a:r>
            <a:r>
              <a:rPr lang="en-US" altLang="zh-CN" sz="1600" dirty="0" err="1"/>
              <a:t>boolean</a:t>
            </a:r>
            <a:r>
              <a:rPr lang="en-US" altLang="zh-CN" sz="1600" dirty="0"/>
              <a:t> </a:t>
            </a:r>
            <a:r>
              <a:rPr lang="en-US" altLang="zh-CN" sz="1600" dirty="0" err="1"/>
              <a:t>mayInterruptIfRunning</a:t>
            </a:r>
            <a:r>
              <a:rPr lang="en-US" altLang="zh-CN" sz="1600" dirty="0"/>
              <a:t>) </a:t>
            </a:r>
            <a:r>
              <a:rPr lang="en-US" altLang="zh-CN" sz="1600" dirty="0" smtClean="0"/>
              <a:t> </a:t>
            </a:r>
            <a:r>
              <a:rPr lang="zh-CN" altLang="en-US" sz="1600" dirty="0"/>
              <a:t>试图取消对此任务的</a:t>
            </a:r>
            <a:r>
              <a:rPr lang="zh-CN" altLang="en-US" sz="1600" dirty="0" smtClean="0"/>
              <a:t>执行</a:t>
            </a:r>
            <a:endParaRPr lang="en-US" altLang="zh-CN" sz="1600" dirty="0" smtClean="0"/>
          </a:p>
          <a:p>
            <a:r>
              <a:rPr lang="en-US" altLang="zh-CN" sz="1600" dirty="0"/>
              <a:t> V get() </a:t>
            </a:r>
            <a:r>
              <a:rPr lang="zh-CN" altLang="en-US" sz="1600" dirty="0" smtClean="0"/>
              <a:t>如</a:t>
            </a:r>
            <a:r>
              <a:rPr lang="zh-CN" altLang="en-US" sz="1600" dirty="0"/>
              <a:t>有必要，等待计算完成，然后获取其结果。 </a:t>
            </a:r>
            <a:endParaRPr lang="en-US" altLang="zh-CN" sz="1600" dirty="0" smtClean="0"/>
          </a:p>
          <a:p>
            <a:r>
              <a:rPr lang="zh-CN" altLang="en-US" sz="1600" dirty="0" smtClean="0"/>
              <a:t> </a:t>
            </a:r>
            <a:r>
              <a:rPr lang="en-US" altLang="zh-CN" sz="1600" dirty="0"/>
              <a:t> V get(long timeout, </a:t>
            </a:r>
            <a:r>
              <a:rPr lang="en-US" altLang="zh-CN" sz="1600" dirty="0" err="1"/>
              <a:t>TimeUnit</a:t>
            </a:r>
            <a:r>
              <a:rPr lang="en-US" altLang="zh-CN" sz="1600" dirty="0"/>
              <a:t> unit) </a:t>
            </a:r>
            <a:r>
              <a:rPr lang="zh-CN" altLang="en-US" sz="1600" dirty="0" smtClean="0"/>
              <a:t>如</a:t>
            </a:r>
            <a:r>
              <a:rPr lang="zh-CN" altLang="en-US" sz="1600" dirty="0"/>
              <a:t>有必要，最多等待为使计算完成所给定的时间之后，获取其结果（如果结果可用）。 </a:t>
            </a:r>
            <a:endParaRPr lang="en-US" altLang="zh-CN" sz="1600" dirty="0" smtClean="0"/>
          </a:p>
          <a:p>
            <a:r>
              <a:rPr lang="en-US" altLang="zh-CN" sz="1600" dirty="0" err="1"/>
              <a:t>boolean</a:t>
            </a:r>
            <a:r>
              <a:rPr lang="en-US" altLang="zh-CN" sz="1600" dirty="0"/>
              <a:t> </a:t>
            </a:r>
            <a:r>
              <a:rPr lang="en-US" altLang="zh-CN" sz="1600" dirty="0" err="1"/>
              <a:t>isCancelled</a:t>
            </a:r>
            <a:r>
              <a:rPr lang="en-US" altLang="zh-CN" sz="1600" dirty="0"/>
              <a:t>() </a:t>
            </a:r>
            <a:r>
              <a:rPr lang="zh-CN" altLang="en-US" sz="1600" dirty="0" smtClean="0"/>
              <a:t>如果</a:t>
            </a:r>
            <a:r>
              <a:rPr lang="zh-CN" altLang="en-US" sz="1600" dirty="0"/>
              <a:t>在任务正常完成前将其取消，则返回 </a:t>
            </a:r>
            <a:r>
              <a:rPr lang="en-US" altLang="zh-CN" sz="1600" dirty="0"/>
              <a:t>true</a:t>
            </a:r>
            <a:r>
              <a:rPr lang="zh-CN" altLang="en-US" sz="1600" dirty="0"/>
              <a:t>。 </a:t>
            </a:r>
            <a:endParaRPr lang="en-US" altLang="zh-CN" sz="1600" dirty="0" smtClean="0"/>
          </a:p>
          <a:p>
            <a:r>
              <a:rPr lang="en-US" altLang="zh-CN" sz="1600" dirty="0" err="1"/>
              <a:t>boolean</a:t>
            </a:r>
            <a:r>
              <a:rPr lang="en-US" altLang="zh-CN" sz="1600" dirty="0"/>
              <a:t> </a:t>
            </a:r>
            <a:r>
              <a:rPr lang="en-US" altLang="zh-CN" sz="1600" dirty="0" err="1"/>
              <a:t>isDone</a:t>
            </a:r>
            <a:r>
              <a:rPr lang="en-US" altLang="zh-CN" sz="1600" dirty="0"/>
              <a:t>() </a:t>
            </a:r>
            <a:r>
              <a:rPr lang="zh-CN" altLang="en-US" sz="1600" dirty="0" smtClean="0"/>
              <a:t>如果</a:t>
            </a:r>
            <a:r>
              <a:rPr lang="zh-CN" altLang="en-US" sz="1600" dirty="0"/>
              <a:t>任务已完成，则返回 </a:t>
            </a:r>
            <a:r>
              <a:rPr lang="en-US" altLang="zh-CN" sz="1600" dirty="0"/>
              <a:t>true</a:t>
            </a:r>
            <a:r>
              <a:rPr lang="zh-CN" altLang="en-US" sz="1600" dirty="0"/>
              <a:t>。 </a:t>
            </a:r>
            <a:endParaRPr lang="en-US" altLang="zh-CN" sz="1600" dirty="0" smtClean="0"/>
          </a:p>
          <a:p>
            <a:pPr marL="0" indent="0">
              <a:buNone/>
            </a:pPr>
            <a:endParaRPr lang="en-US" altLang="zh-CN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FutureTask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zh-CN" altLang="en-US" sz="2000" dirty="0"/>
              <a:t>我们先来看看</a:t>
            </a:r>
            <a:r>
              <a:rPr lang="en-US" altLang="zh-CN" sz="2000" dirty="0" err="1"/>
              <a:t>FutureTask</a:t>
            </a:r>
            <a:r>
              <a:rPr lang="zh-CN" altLang="en-US" sz="2000" dirty="0"/>
              <a:t>的</a:t>
            </a:r>
            <a:r>
              <a:rPr lang="zh-CN" altLang="en-US" sz="2000" dirty="0" smtClean="0"/>
              <a:t>实现：</a:t>
            </a:r>
            <a:endParaRPr lang="zh-CN" altLang="en-US" sz="2000" dirty="0"/>
          </a:p>
          <a:p>
            <a:pPr marL="0" indent="0" algn="l">
              <a:buNone/>
            </a:pPr>
            <a:r>
              <a:rPr lang="en-US" altLang="zh-CN" sz="1800" b="1" dirty="0" smtClean="0"/>
              <a:t>public </a:t>
            </a:r>
            <a:r>
              <a:rPr lang="en-US" altLang="zh-CN" sz="1800" b="1" dirty="0"/>
              <a:t>class </a:t>
            </a:r>
            <a:r>
              <a:rPr lang="en-US" altLang="zh-CN" sz="1800" b="1" dirty="0" err="1"/>
              <a:t>FutureTask</a:t>
            </a:r>
            <a:r>
              <a:rPr lang="en-US" altLang="zh-CN" sz="1800" b="1" dirty="0"/>
              <a:t>&lt;V&gt; implements </a:t>
            </a:r>
            <a:r>
              <a:rPr lang="en-US" altLang="zh-CN" sz="1800" b="1" dirty="0" err="1"/>
              <a:t>RunnableFuture</a:t>
            </a:r>
            <a:r>
              <a:rPr lang="en-US" altLang="zh-CN" sz="1800" b="1" dirty="0"/>
              <a:t>&lt;V&gt; </a:t>
            </a:r>
            <a:r>
              <a:rPr lang="en-US" altLang="zh-CN" sz="1800" b="1" dirty="0" smtClean="0"/>
              <a:t>{</a:t>
            </a:r>
          </a:p>
          <a:p>
            <a:pPr marL="0" indent="0" algn="l">
              <a:buNone/>
            </a:pPr>
            <a:r>
              <a:rPr lang="en-US" altLang="zh-CN" sz="1800" b="1" dirty="0" smtClean="0"/>
              <a:t>	……</a:t>
            </a:r>
          </a:p>
          <a:p>
            <a:pPr marL="0" indent="0" algn="l">
              <a:buNone/>
            </a:pPr>
            <a:r>
              <a:rPr lang="en-US" altLang="zh-CN" sz="1800" b="1" dirty="0" smtClean="0"/>
              <a:t>         }</a:t>
            </a:r>
            <a:r>
              <a:rPr lang="en-US" altLang="zh-CN" sz="2000" b="1" dirty="0" smtClean="0"/>
              <a:t>  </a:t>
            </a:r>
            <a:endParaRPr lang="en-US" altLang="zh-CN" sz="2000" b="1" dirty="0"/>
          </a:p>
          <a:p>
            <a:pPr marL="0" indent="0" algn="l">
              <a:buNone/>
            </a:pPr>
            <a:r>
              <a:rPr lang="en-US" altLang="zh-CN" sz="2000" dirty="0" err="1"/>
              <a:t>FutureTask</a:t>
            </a:r>
            <a:r>
              <a:rPr lang="zh-CN" altLang="en-US" sz="2000" dirty="0"/>
              <a:t>类实现了</a:t>
            </a:r>
            <a:r>
              <a:rPr lang="en-US" altLang="zh-CN" sz="2000" dirty="0" err="1"/>
              <a:t>RunnableFuture</a:t>
            </a:r>
            <a:r>
              <a:rPr lang="zh-CN" altLang="en-US" sz="2000" dirty="0"/>
              <a:t>接口，我们看</a:t>
            </a:r>
            <a:r>
              <a:rPr lang="zh-CN" altLang="en-US" sz="2000" dirty="0" smtClean="0"/>
              <a:t>一</a:t>
            </a:r>
            <a:r>
              <a:rPr lang="zh-CN" altLang="en-US" sz="2000" dirty="0"/>
              <a:t>下</a:t>
            </a:r>
            <a:r>
              <a:rPr lang="en-US" altLang="zh-CN" sz="2000" dirty="0" err="1" smtClean="0"/>
              <a:t>RunnableFuture</a:t>
            </a:r>
            <a:r>
              <a:rPr lang="zh-CN" altLang="en-US" sz="2000" dirty="0"/>
              <a:t>接口的实现：</a:t>
            </a:r>
          </a:p>
          <a:p>
            <a:pPr marL="0" indent="0" algn="l">
              <a:buNone/>
            </a:pPr>
            <a:r>
              <a:rPr lang="en-US" altLang="zh-CN" sz="1800" b="1" dirty="0" smtClean="0"/>
              <a:t>public </a:t>
            </a:r>
            <a:r>
              <a:rPr lang="en-US" altLang="zh-CN" sz="1800" b="1" dirty="0"/>
              <a:t>interface </a:t>
            </a:r>
            <a:r>
              <a:rPr lang="en-US" altLang="zh-CN" sz="1800" b="1" dirty="0" err="1"/>
              <a:t>RunnableFuture</a:t>
            </a:r>
            <a:r>
              <a:rPr lang="en-US" altLang="zh-CN" sz="1800" b="1" dirty="0"/>
              <a:t>&lt;V&gt; extends Runnable, </a:t>
            </a:r>
            <a:r>
              <a:rPr lang="en-US" altLang="zh-CN" sz="1800" b="1" dirty="0" smtClean="0"/>
              <a:t> Future&lt;V</a:t>
            </a:r>
            <a:r>
              <a:rPr lang="en-US" altLang="zh-CN" sz="1800" b="1" dirty="0"/>
              <a:t>&gt; {  </a:t>
            </a:r>
          </a:p>
          <a:p>
            <a:pPr marL="0" indent="0" algn="l">
              <a:buNone/>
            </a:pPr>
            <a:r>
              <a:rPr lang="en-US" altLang="zh-CN" sz="1800" b="1" dirty="0"/>
              <a:t>    </a:t>
            </a:r>
            <a:r>
              <a:rPr lang="en-US" altLang="zh-CN" sz="1800" b="1" dirty="0" smtClean="0"/>
              <a:t>		void </a:t>
            </a:r>
            <a:r>
              <a:rPr lang="en-US" altLang="zh-CN" sz="1800" b="1" dirty="0"/>
              <a:t>run();  </a:t>
            </a:r>
          </a:p>
          <a:p>
            <a:pPr marL="0" indent="0" algn="l">
              <a:buNone/>
            </a:pPr>
            <a:r>
              <a:rPr lang="en-US" altLang="zh-CN" sz="1800" b="1" dirty="0"/>
              <a:t>} </a:t>
            </a:r>
            <a:endParaRPr lang="en-US" altLang="zh-CN" sz="1800" b="1" dirty="0" smtClean="0"/>
          </a:p>
          <a:p>
            <a:pPr marL="0" indent="0" algn="l">
              <a:buNone/>
            </a:pPr>
            <a:endParaRPr lang="en-US" altLang="zh-CN" sz="1800" b="1" dirty="0"/>
          </a:p>
          <a:p>
            <a:pPr marL="0" indent="0" algn="l">
              <a:buNone/>
            </a:pPr>
            <a:r>
              <a:rPr lang="zh-CN" altLang="en-US" sz="1800" b="1" dirty="0" smtClean="0"/>
              <a:t>例子：</a:t>
            </a:r>
            <a:r>
              <a:rPr lang="en-US" altLang="zh-CN" sz="1800" b="1" dirty="0"/>
              <a:t>/</a:t>
            </a:r>
            <a:r>
              <a:rPr lang="en-US" altLang="zh-CN" sz="1800" b="1" dirty="0" smtClean="0"/>
              <a:t>example-concurrent/</a:t>
            </a:r>
            <a:r>
              <a:rPr lang="en-US" altLang="zh-CN" sz="1800" b="1" dirty="0" err="1" smtClean="0"/>
              <a:t>src</a:t>
            </a:r>
            <a:r>
              <a:rPr lang="en-US" altLang="zh-CN" sz="1800" b="1" dirty="0" smtClean="0"/>
              <a:t>/com/example/CallableTest.java</a:t>
            </a:r>
          </a:p>
          <a:p>
            <a:pPr marL="0" indent="0" algn="l">
              <a:buNone/>
            </a:pPr>
            <a:r>
              <a:rPr lang="en-US" altLang="zh-CN" sz="1800" b="1" dirty="0"/>
              <a:t>/example-concurrent/</a:t>
            </a:r>
            <a:r>
              <a:rPr lang="en-US" altLang="zh-CN" sz="1800" b="1" dirty="0" err="1"/>
              <a:t>src</a:t>
            </a:r>
            <a:r>
              <a:rPr lang="en-US" altLang="zh-CN" sz="1800" b="1" dirty="0"/>
              <a:t>/com/example/FutureTaskTest.java</a:t>
            </a:r>
            <a:endParaRPr lang="en-US" altLang="zh-CN" sz="1800" b="1" dirty="0" smtClean="0"/>
          </a:p>
          <a:p>
            <a:pPr marL="0" indent="0" algn="l">
              <a:buNone/>
            </a:pPr>
            <a:endParaRPr lang="zh-CN" altLang="en-US" sz="18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F6080C-27B6-4887-AD68-709C157CA8E8}" type="datetime1">
              <a:rPr lang="zh-CN" altLang="en-US" smtClean="0"/>
              <a:t>2017/9/5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9EE1D75-A1ED-473F-8DFE-EBE060580F06}" type="slidenum">
              <a:rPr lang="zh-CN" altLang="en-US" smtClean="0"/>
              <a:t>14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71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三</a:t>
            </a:r>
            <a:r>
              <a:rPr lang="zh-CN" altLang="en-US" dirty="0"/>
              <a:t>、</a:t>
            </a:r>
            <a:r>
              <a:rPr lang="en-US" altLang="zh-CN" dirty="0"/>
              <a:t>atomic</a:t>
            </a:r>
            <a:r>
              <a:rPr lang="zh-CN" altLang="en-US" dirty="0"/>
              <a:t>原子性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F6080C-27B6-4887-AD68-709C157CA8E8}" type="datetime1">
              <a:rPr lang="zh-CN" altLang="en-US" smtClean="0"/>
              <a:t>2017/9/5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9EE1D75-A1ED-473F-8DFE-EBE060580F06}" type="slidenum">
              <a:rPr lang="zh-CN" altLang="en-US" smtClean="0"/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06203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atomic</a:t>
            </a:r>
            <a:r>
              <a:rPr lang="zh-CN" altLang="en-US" dirty="0"/>
              <a:t>原子性</a:t>
            </a:r>
            <a:r>
              <a:rPr lang="en-US" altLang="zh-CN" dirty="0"/>
              <a:t/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 err="1"/>
              <a:t>Java.util.concurrent</a:t>
            </a:r>
            <a:r>
              <a:rPr lang="zh-CN" altLang="en-US" sz="2000" dirty="0"/>
              <a:t>中提供了</a:t>
            </a:r>
            <a:r>
              <a:rPr lang="en-US" altLang="zh-CN" sz="2000" dirty="0"/>
              <a:t>atomic</a:t>
            </a:r>
            <a:r>
              <a:rPr lang="zh-CN" altLang="en-US" sz="2000" dirty="0"/>
              <a:t>原子包，可以实现原子操作（</a:t>
            </a:r>
            <a:r>
              <a:rPr lang="en-US" altLang="zh-CN" sz="2000" dirty="0"/>
              <a:t>atomic operation</a:t>
            </a:r>
            <a:r>
              <a:rPr lang="zh-CN" altLang="en-US" sz="2000" dirty="0"/>
              <a:t>），即在多线程环境中，执行的操作不会被其他线程打断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r>
              <a:rPr lang="zh-CN" altLang="en-US" sz="2000" dirty="0"/>
              <a:t>这个包里面提供了一组原子类。其基本的特性就是在多线程环境下，当有多个线程同时执行这些类的实例包含的方法时，具有排他性，即当某个线程进入方法，执行其中的指令时，不会被其他线程打断，而别的线程就像自旋锁一样，一直等到该方法执行完成，才由</a:t>
            </a:r>
            <a:r>
              <a:rPr lang="en-US" altLang="zh-CN" sz="2000" dirty="0"/>
              <a:t>JVM</a:t>
            </a:r>
            <a:r>
              <a:rPr lang="zh-CN" altLang="en-US" sz="2000" dirty="0"/>
              <a:t>从等待队列中选择一个另一个线程进入，这只是一种逻辑上的理解。实际上是借助硬件的相关指令来实现的，不会阻塞线程</a:t>
            </a:r>
            <a:r>
              <a:rPr lang="en-US" altLang="zh-CN" sz="2000" dirty="0"/>
              <a:t>(</a:t>
            </a:r>
            <a:r>
              <a:rPr lang="zh-CN" altLang="en-US" sz="2000" dirty="0"/>
              <a:t>或者说只是在硬件级别上阻塞了</a:t>
            </a:r>
            <a:r>
              <a:rPr lang="en-US" altLang="zh-CN" sz="2000" dirty="0"/>
              <a:t>)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F6080C-27B6-4887-AD68-709C157CA8E8}" type="datetime1">
              <a:rPr lang="zh-CN" altLang="en-US" smtClean="0"/>
              <a:t>2017/9/5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9EE1D75-A1ED-473F-8DFE-EBE060580F06}" type="slidenum">
              <a:rPr lang="zh-CN" altLang="en-US" smtClean="0"/>
              <a:t>16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2539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000" dirty="0"/>
              <a:t>其中的类可以分成</a:t>
            </a:r>
            <a:r>
              <a:rPr lang="en-US" altLang="zh-CN" sz="2000" dirty="0"/>
              <a:t>4</a:t>
            </a:r>
            <a:r>
              <a:rPr lang="zh-CN" altLang="en-US" sz="2000" dirty="0"/>
              <a:t>组</a:t>
            </a:r>
          </a:p>
          <a:p>
            <a:r>
              <a:rPr lang="en-US" altLang="zh-CN" sz="1800" b="1" dirty="0" err="1"/>
              <a:t>AtomicBoolean</a:t>
            </a:r>
            <a:r>
              <a:rPr lang="zh-CN" altLang="en-US" sz="1800" b="1" dirty="0"/>
              <a:t>，</a:t>
            </a:r>
            <a:r>
              <a:rPr lang="en-US" altLang="zh-CN" sz="1800" b="1" dirty="0" err="1"/>
              <a:t>AtomicInteger</a:t>
            </a:r>
            <a:r>
              <a:rPr lang="zh-CN" altLang="en-US" sz="1800" b="1" dirty="0"/>
              <a:t>，</a:t>
            </a:r>
            <a:r>
              <a:rPr lang="en-US" altLang="zh-CN" sz="1800" b="1" dirty="0" err="1"/>
              <a:t>AtomicLong</a:t>
            </a:r>
            <a:r>
              <a:rPr lang="zh-CN" altLang="en-US" sz="1800" b="1" dirty="0"/>
              <a:t>，</a:t>
            </a:r>
            <a:r>
              <a:rPr lang="en-US" altLang="zh-CN" sz="1800" b="1" dirty="0" err="1"/>
              <a:t>AtomicReference</a:t>
            </a:r>
            <a:endParaRPr lang="en-US" altLang="zh-CN" sz="1800" b="1" dirty="0"/>
          </a:p>
          <a:p>
            <a:r>
              <a:rPr lang="en-US" altLang="zh-CN" sz="1800" b="1" dirty="0" err="1"/>
              <a:t>AtomicIntegerArray</a:t>
            </a:r>
            <a:r>
              <a:rPr lang="zh-CN" altLang="en-US" sz="1800" b="1" dirty="0"/>
              <a:t>，</a:t>
            </a:r>
            <a:r>
              <a:rPr lang="en-US" altLang="zh-CN" sz="1800" b="1" dirty="0" err="1"/>
              <a:t>AtomicLongArray</a:t>
            </a:r>
            <a:endParaRPr lang="en-US" altLang="zh-CN" sz="1800" b="1" dirty="0"/>
          </a:p>
          <a:p>
            <a:r>
              <a:rPr lang="en-US" altLang="zh-CN" sz="1800" b="1" dirty="0" err="1"/>
              <a:t>AtomicLongFieldUpdater</a:t>
            </a:r>
            <a:r>
              <a:rPr lang="zh-CN" altLang="en-US" sz="1800" b="1" dirty="0"/>
              <a:t>，</a:t>
            </a:r>
            <a:r>
              <a:rPr lang="en-US" altLang="zh-CN" sz="1800" b="1" dirty="0" err="1"/>
              <a:t>AtomicIntegerFieldUpdater</a:t>
            </a:r>
            <a:r>
              <a:rPr lang="zh-CN" altLang="en-US" sz="1800" b="1" dirty="0"/>
              <a:t>，</a:t>
            </a:r>
            <a:r>
              <a:rPr lang="en-US" altLang="zh-CN" sz="1800" b="1" dirty="0" err="1"/>
              <a:t>AtomicReferenceFieldUpdater</a:t>
            </a:r>
            <a:endParaRPr lang="en-US" altLang="zh-CN" sz="1800" b="1" dirty="0"/>
          </a:p>
          <a:p>
            <a:r>
              <a:rPr lang="en-US" altLang="zh-CN" sz="1800" b="1" dirty="0" err="1"/>
              <a:t>AtomicMarkableReference</a:t>
            </a:r>
            <a:r>
              <a:rPr lang="zh-CN" altLang="en-US" sz="1800" b="1" dirty="0"/>
              <a:t>，</a:t>
            </a:r>
            <a:r>
              <a:rPr lang="en-US" altLang="zh-CN" sz="1800" b="1" dirty="0" err="1"/>
              <a:t>AtomicStampedReference</a:t>
            </a:r>
            <a:r>
              <a:rPr lang="zh-CN" altLang="en-US" sz="1800" b="1" dirty="0"/>
              <a:t>，</a:t>
            </a:r>
            <a:r>
              <a:rPr lang="en-US" altLang="zh-CN" sz="1800" b="1" dirty="0" err="1"/>
              <a:t>AtomicReferenceArray</a:t>
            </a:r>
            <a:endParaRPr lang="en-US" altLang="zh-CN" sz="1800" b="1" dirty="0"/>
          </a:p>
          <a:p>
            <a:pPr marL="0" indent="0">
              <a:buNone/>
            </a:pPr>
            <a:r>
              <a:rPr lang="en-US" altLang="zh-CN" sz="2000" dirty="0"/>
              <a:t>Atomic</a:t>
            </a:r>
            <a:r>
              <a:rPr lang="zh-CN" altLang="en-US" sz="2000" dirty="0"/>
              <a:t>类的</a:t>
            </a:r>
            <a:r>
              <a:rPr lang="zh-CN" altLang="en-US" sz="2000" dirty="0" smtClean="0"/>
              <a:t>作用</a:t>
            </a:r>
            <a:endParaRPr lang="zh-CN" altLang="en-US" sz="2000" dirty="0"/>
          </a:p>
          <a:p>
            <a:r>
              <a:rPr lang="zh-CN" altLang="en-US" sz="1800" dirty="0"/>
              <a:t>使得让对单一数据的操作，实现了原子化</a:t>
            </a:r>
          </a:p>
          <a:p>
            <a:r>
              <a:rPr lang="zh-CN" altLang="en-US" sz="1800" dirty="0"/>
              <a:t>使用</a:t>
            </a:r>
            <a:r>
              <a:rPr lang="en-US" altLang="zh-CN" sz="1800" dirty="0"/>
              <a:t>Atomic</a:t>
            </a:r>
            <a:r>
              <a:rPr lang="zh-CN" altLang="en-US" sz="1800" dirty="0"/>
              <a:t>类构建复杂的，无需阻塞的代码</a:t>
            </a:r>
          </a:p>
          <a:p>
            <a:r>
              <a:rPr lang="zh-CN" altLang="en-US" sz="1800" dirty="0"/>
              <a:t>访问对</a:t>
            </a:r>
            <a:r>
              <a:rPr lang="en-US" altLang="zh-CN" sz="1800" dirty="0"/>
              <a:t>2</a:t>
            </a:r>
            <a:r>
              <a:rPr lang="zh-CN" altLang="en-US" sz="1800" dirty="0"/>
              <a:t>个或</a:t>
            </a:r>
            <a:r>
              <a:rPr lang="en-US" altLang="zh-CN" sz="1800" dirty="0"/>
              <a:t>2</a:t>
            </a:r>
            <a:r>
              <a:rPr lang="zh-CN" altLang="en-US" sz="1800" dirty="0"/>
              <a:t>个以上的</a:t>
            </a:r>
            <a:r>
              <a:rPr lang="en-US" altLang="zh-CN" sz="1800" dirty="0"/>
              <a:t>atomic</a:t>
            </a:r>
            <a:r>
              <a:rPr lang="zh-CN" altLang="en-US" sz="1800" dirty="0"/>
              <a:t>变量（或者对单个</a:t>
            </a:r>
            <a:r>
              <a:rPr lang="en-US" altLang="zh-CN" sz="1800" dirty="0"/>
              <a:t>atomic</a:t>
            </a:r>
            <a:r>
              <a:rPr lang="zh-CN" altLang="en-US" sz="1800" dirty="0"/>
              <a:t>变量进行</a:t>
            </a:r>
            <a:r>
              <a:rPr lang="en-US" altLang="zh-CN" sz="1800" dirty="0"/>
              <a:t>2</a:t>
            </a:r>
            <a:r>
              <a:rPr lang="zh-CN" altLang="en-US" sz="1800" dirty="0"/>
              <a:t>次或</a:t>
            </a:r>
            <a:r>
              <a:rPr lang="en-US" altLang="zh-CN" sz="1800" dirty="0"/>
              <a:t>2</a:t>
            </a:r>
            <a:r>
              <a:rPr lang="zh-CN" altLang="en-US" sz="1800" dirty="0"/>
              <a:t>次以上的操作）通常认为是需要同步的，以达到让这些操作能被作为一个原子单元</a:t>
            </a:r>
            <a:r>
              <a:rPr lang="zh-CN" altLang="en-US" sz="1800" dirty="0" smtClean="0"/>
              <a:t>。</a:t>
            </a:r>
            <a:endParaRPr lang="en-US" altLang="zh-CN" sz="1800" dirty="0" smtClean="0"/>
          </a:p>
          <a:p>
            <a:pPr marL="0" indent="0">
              <a:buNone/>
            </a:pPr>
            <a:r>
              <a:rPr lang="zh-CN" altLang="en-US" sz="1800" dirty="0" smtClean="0"/>
              <a:t>例子：</a:t>
            </a:r>
            <a:r>
              <a:rPr lang="en-US" altLang="zh-CN" sz="1800" dirty="0"/>
              <a:t>/example-concurrent/</a:t>
            </a:r>
            <a:r>
              <a:rPr lang="en-US" altLang="zh-CN" sz="1800" dirty="0" err="1"/>
              <a:t>src</a:t>
            </a:r>
            <a:r>
              <a:rPr lang="en-US" altLang="zh-CN" sz="1800" dirty="0"/>
              <a:t>/com/example/AtomicTest.java</a:t>
            </a:r>
            <a:endParaRPr lang="en-US" altLang="zh-CN" sz="1800" dirty="0" smtClean="0"/>
          </a:p>
          <a:p>
            <a:endParaRPr lang="zh-CN" altLang="en-US" sz="2000" dirty="0"/>
          </a:p>
          <a:p>
            <a:endParaRPr lang="zh-CN" altLang="en-US" sz="2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F6080C-27B6-4887-AD68-709C157CA8E8}" type="datetime1">
              <a:rPr lang="zh-CN" altLang="en-US" smtClean="0"/>
              <a:t>2017/9/5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9EE1D75-A1ED-473F-8DFE-EBE060580F06}" type="slidenum">
              <a:rPr lang="zh-CN" altLang="en-US" smtClean="0"/>
              <a:t>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8540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四、</a:t>
            </a:r>
            <a:r>
              <a:rPr lang="en-US" altLang="zh-CN" dirty="0"/>
              <a:t> Lock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F6080C-27B6-4887-AD68-709C157CA8E8}" type="datetime1">
              <a:rPr lang="zh-CN" altLang="en-US" smtClean="0"/>
              <a:t>2017/9/5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9EE1D75-A1ED-473F-8DFE-EBE060580F06}" type="slidenum">
              <a:rPr lang="zh-CN" altLang="en-US" smtClean="0"/>
              <a:t>18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32628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Lock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altLang="zh-CN" dirty="0"/>
              <a:t>Lock</a:t>
            </a:r>
            <a:r>
              <a:rPr lang="zh-CN" altLang="en-US" dirty="0"/>
              <a:t>相比于</a:t>
            </a:r>
            <a:r>
              <a:rPr lang="en-US" altLang="zh-CN" dirty="0"/>
              <a:t>synchronized</a:t>
            </a:r>
            <a:r>
              <a:rPr lang="zh-CN" altLang="en-US" dirty="0"/>
              <a:t>具有更强大的功能，在</a:t>
            </a:r>
            <a:r>
              <a:rPr lang="en-US" altLang="zh-CN" dirty="0"/>
              <a:t>jdk1.6</a:t>
            </a:r>
            <a:r>
              <a:rPr lang="zh-CN" altLang="en-US" dirty="0"/>
              <a:t>之前，锁竞争激烈的情况下使用</a:t>
            </a:r>
            <a:r>
              <a:rPr lang="en-US" altLang="zh-CN" dirty="0"/>
              <a:t>lock</a:t>
            </a:r>
            <a:r>
              <a:rPr lang="zh-CN" altLang="en-US" dirty="0"/>
              <a:t>的实现类</a:t>
            </a:r>
            <a:r>
              <a:rPr lang="en-US" altLang="zh-CN" dirty="0" err="1"/>
              <a:t>ReentrantLock</a:t>
            </a:r>
            <a:r>
              <a:rPr lang="zh-CN" altLang="en-US" dirty="0"/>
              <a:t>甚至比</a:t>
            </a:r>
            <a:r>
              <a:rPr lang="en-US" altLang="zh-CN" dirty="0"/>
              <a:t>synchronized</a:t>
            </a:r>
            <a:r>
              <a:rPr lang="zh-CN" altLang="en-US" dirty="0"/>
              <a:t>具有更好的性能，</a:t>
            </a:r>
            <a:r>
              <a:rPr lang="en-US" altLang="zh-CN" dirty="0"/>
              <a:t>1.6</a:t>
            </a:r>
            <a:r>
              <a:rPr lang="zh-CN" altLang="en-US" dirty="0"/>
              <a:t>之后</a:t>
            </a:r>
            <a:r>
              <a:rPr lang="en-US" altLang="zh-CN" dirty="0"/>
              <a:t>Oracle</a:t>
            </a:r>
            <a:r>
              <a:rPr lang="zh-CN" altLang="en-US" dirty="0"/>
              <a:t>对</a:t>
            </a:r>
            <a:r>
              <a:rPr lang="en-US" altLang="zh-CN" dirty="0"/>
              <a:t>synchronized</a:t>
            </a:r>
            <a:r>
              <a:rPr lang="zh-CN" altLang="en-US" dirty="0"/>
              <a:t>进行了优化，如今的</a:t>
            </a:r>
            <a:r>
              <a:rPr lang="en-US" altLang="zh-CN" dirty="0"/>
              <a:t>jdk1.8</a:t>
            </a:r>
            <a:r>
              <a:rPr lang="zh-CN" altLang="en-US" dirty="0"/>
              <a:t>中两者性能不相伯仲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F6080C-27B6-4887-AD68-709C157CA8E8}" type="datetime1">
              <a:rPr lang="zh-CN" altLang="en-US" smtClean="0"/>
              <a:t>2017/9/5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9EE1D75-A1ED-473F-8DFE-EBE060580F06}" type="slidenum">
              <a:rPr lang="zh-CN" altLang="en-US" smtClean="0"/>
              <a:t>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93570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Lock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Lock</a:t>
            </a:r>
            <a:r>
              <a:rPr lang="zh-CN" altLang="en-US" dirty="0"/>
              <a:t>是一个接口，定义了锁的基本方法：</a:t>
            </a:r>
          </a:p>
          <a:p>
            <a:pPr marL="0" indent="0" algn="l">
              <a:buNone/>
            </a:pPr>
            <a:r>
              <a:rPr lang="en-US" altLang="zh-CN" sz="1800" b="1" dirty="0" smtClean="0"/>
              <a:t>public </a:t>
            </a:r>
            <a:r>
              <a:rPr lang="en-US" altLang="zh-CN" sz="1800" b="1" dirty="0"/>
              <a:t>interface Lock {</a:t>
            </a:r>
          </a:p>
          <a:p>
            <a:pPr marL="0" indent="0" algn="l">
              <a:buNone/>
            </a:pPr>
            <a:r>
              <a:rPr lang="en-US" altLang="zh-CN" sz="1800" b="1" dirty="0" smtClean="0"/>
              <a:t>	void </a:t>
            </a:r>
            <a:r>
              <a:rPr lang="en-US" altLang="zh-CN" sz="1800" b="1" dirty="0"/>
              <a:t>lock();//</a:t>
            </a:r>
            <a:r>
              <a:rPr lang="zh-CN" altLang="en-US" sz="1800" b="1" dirty="0"/>
              <a:t>加锁</a:t>
            </a:r>
          </a:p>
          <a:p>
            <a:pPr marL="0" indent="0" algn="l">
              <a:buNone/>
            </a:pPr>
            <a:r>
              <a:rPr lang="en-US" altLang="zh-CN" sz="1800" b="1" dirty="0" smtClean="0"/>
              <a:t>	void </a:t>
            </a:r>
            <a:r>
              <a:rPr lang="en-US" altLang="zh-CN" sz="1800" b="1" dirty="0" err="1"/>
              <a:t>lockInterruptibly</a:t>
            </a:r>
            <a:r>
              <a:rPr lang="en-US" altLang="zh-CN" sz="1800" b="1" dirty="0"/>
              <a:t>() throws </a:t>
            </a:r>
            <a:r>
              <a:rPr lang="en-US" altLang="zh-CN" sz="1800" b="1" dirty="0" err="1"/>
              <a:t>InterruptedException</a:t>
            </a:r>
            <a:r>
              <a:rPr lang="en-US" altLang="zh-CN" sz="1800" b="1" dirty="0"/>
              <a:t>;//</a:t>
            </a:r>
            <a:r>
              <a:rPr lang="zh-CN" altLang="en-US" sz="1800" b="1" dirty="0"/>
              <a:t>加可中断锁</a:t>
            </a:r>
          </a:p>
          <a:p>
            <a:pPr marL="0" indent="0" algn="l">
              <a:buNone/>
            </a:pPr>
            <a:r>
              <a:rPr lang="en-US" altLang="zh-CN" sz="1800" b="1" dirty="0" smtClean="0"/>
              <a:t>	</a:t>
            </a:r>
            <a:r>
              <a:rPr lang="en-US" altLang="zh-CN" sz="1800" b="1" dirty="0" err="1" smtClean="0"/>
              <a:t>boolean</a:t>
            </a:r>
            <a:r>
              <a:rPr lang="en-US" altLang="zh-CN" sz="1800" b="1" dirty="0" smtClean="0"/>
              <a:t> </a:t>
            </a:r>
            <a:r>
              <a:rPr lang="en-US" altLang="zh-CN" sz="1800" b="1" dirty="0" err="1"/>
              <a:t>tryLock</a:t>
            </a:r>
            <a:r>
              <a:rPr lang="en-US" altLang="zh-CN" sz="1800" b="1" dirty="0"/>
              <a:t>();//</a:t>
            </a:r>
            <a:r>
              <a:rPr lang="zh-CN" altLang="en-US" sz="1800" b="1" dirty="0"/>
              <a:t>加锁成功返回</a:t>
            </a:r>
            <a:r>
              <a:rPr lang="en-US" altLang="zh-CN" sz="1800" b="1" dirty="0"/>
              <a:t>true</a:t>
            </a:r>
            <a:r>
              <a:rPr lang="zh-CN" altLang="en-US" sz="1800" b="1" dirty="0"/>
              <a:t>，失败返回</a:t>
            </a:r>
            <a:r>
              <a:rPr lang="en-US" altLang="zh-CN" sz="1800" b="1" dirty="0"/>
              <a:t>false</a:t>
            </a:r>
          </a:p>
          <a:p>
            <a:pPr marL="0" indent="0" algn="l">
              <a:buNone/>
            </a:pPr>
            <a:r>
              <a:rPr lang="en-US" altLang="zh-CN" sz="1800" b="1" dirty="0" smtClean="0"/>
              <a:t>	</a:t>
            </a:r>
            <a:r>
              <a:rPr lang="en-US" altLang="zh-CN" sz="1800" b="1" dirty="0" err="1" smtClean="0"/>
              <a:t>boolean</a:t>
            </a:r>
            <a:r>
              <a:rPr lang="en-US" altLang="zh-CN" sz="1800" b="1" dirty="0" smtClean="0"/>
              <a:t> </a:t>
            </a:r>
            <a:r>
              <a:rPr lang="en-US" altLang="zh-CN" sz="1800" b="1" dirty="0" err="1"/>
              <a:t>tryLock</a:t>
            </a:r>
            <a:r>
              <a:rPr lang="en-US" altLang="zh-CN" sz="1800" b="1" dirty="0"/>
              <a:t>(long time, </a:t>
            </a:r>
            <a:r>
              <a:rPr lang="en-US" altLang="zh-CN" sz="1800" b="1" dirty="0" err="1"/>
              <a:t>TimeUnit</a:t>
            </a:r>
            <a:r>
              <a:rPr lang="en-US" altLang="zh-CN" sz="1800" b="1" dirty="0"/>
              <a:t> unit) </a:t>
            </a:r>
            <a:r>
              <a:rPr lang="en-US" altLang="zh-CN" sz="1800" b="1" dirty="0" smtClean="0"/>
              <a:t>throws </a:t>
            </a:r>
            <a:r>
              <a:rPr lang="en-US" altLang="zh-CN" sz="1800" b="1" dirty="0" err="1" smtClean="0"/>
              <a:t>InterruptedException</a:t>
            </a:r>
            <a:r>
              <a:rPr lang="en-US" altLang="zh-CN" sz="1800" b="1" dirty="0"/>
              <a:t>;//</a:t>
            </a:r>
            <a:r>
              <a:rPr lang="zh-CN" altLang="en-US" sz="1800" b="1" dirty="0"/>
              <a:t>加锁成功返回</a:t>
            </a:r>
            <a:r>
              <a:rPr lang="en-US" altLang="zh-CN" sz="1800" b="1" dirty="0"/>
              <a:t>true</a:t>
            </a:r>
            <a:r>
              <a:rPr lang="zh-CN" altLang="en-US" sz="1800" b="1" dirty="0"/>
              <a:t>，失败等待一段时间后若仍无法加锁则返回</a:t>
            </a:r>
            <a:r>
              <a:rPr lang="en-US" altLang="zh-CN" sz="1800" b="1" dirty="0"/>
              <a:t>false</a:t>
            </a:r>
            <a:r>
              <a:rPr lang="zh-CN" altLang="en-US" sz="1800" b="1" dirty="0"/>
              <a:t>，可响应中断</a:t>
            </a:r>
          </a:p>
          <a:p>
            <a:pPr marL="0" indent="0" algn="l">
              <a:buNone/>
            </a:pPr>
            <a:r>
              <a:rPr lang="en-US" altLang="zh-CN" sz="1800" b="1" dirty="0" smtClean="0"/>
              <a:t>	void </a:t>
            </a:r>
            <a:r>
              <a:rPr lang="en-US" altLang="zh-CN" sz="1800" b="1" dirty="0"/>
              <a:t>unlock();//</a:t>
            </a:r>
            <a:r>
              <a:rPr lang="zh-CN" altLang="en-US" sz="1800" b="1" dirty="0"/>
              <a:t>解锁</a:t>
            </a:r>
          </a:p>
          <a:p>
            <a:pPr marL="0" indent="0" algn="l">
              <a:buNone/>
            </a:pPr>
            <a:r>
              <a:rPr lang="en-US" altLang="zh-CN" sz="1800" b="1" dirty="0" smtClean="0"/>
              <a:t>	Condition </a:t>
            </a:r>
            <a:r>
              <a:rPr lang="en-US" altLang="zh-CN" sz="1800" b="1" dirty="0" err="1"/>
              <a:t>newCondition</a:t>
            </a:r>
            <a:r>
              <a:rPr lang="en-US" altLang="zh-CN" sz="1800" b="1" dirty="0"/>
              <a:t>(); //</a:t>
            </a:r>
            <a:r>
              <a:rPr lang="zh-CN" altLang="en-US" sz="1800" b="1" dirty="0"/>
              <a:t>返回一个</a:t>
            </a:r>
            <a:r>
              <a:rPr lang="en-US" altLang="zh-CN" sz="1800" b="1" dirty="0"/>
              <a:t>Condition</a:t>
            </a:r>
            <a:r>
              <a:rPr lang="zh-CN" altLang="en-US" sz="1800" b="1" dirty="0"/>
              <a:t>，利用它可以如和</a:t>
            </a:r>
            <a:r>
              <a:rPr lang="en-US" altLang="zh-CN" sz="1800" b="1" dirty="0" err="1"/>
              <a:t>Synchronizd</a:t>
            </a:r>
            <a:r>
              <a:rPr lang="zh-CN" altLang="en-US" sz="1800" b="1" dirty="0"/>
              <a:t>配合使用的</a:t>
            </a:r>
            <a:r>
              <a:rPr lang="en-US" altLang="zh-CN" sz="1800" b="1" dirty="0"/>
              <a:t>wait</a:t>
            </a:r>
            <a:r>
              <a:rPr lang="zh-CN" altLang="en-US" sz="1800" b="1" dirty="0"/>
              <a:t>（）和</a:t>
            </a:r>
            <a:r>
              <a:rPr lang="en-US" altLang="zh-CN" sz="1800" b="1" dirty="0"/>
              <a:t>notify</a:t>
            </a:r>
            <a:r>
              <a:rPr lang="zh-CN" altLang="en-US" sz="1800" b="1" dirty="0"/>
              <a:t>（）一样对线程阻塞和唤醒，不同的是一个</a:t>
            </a:r>
            <a:r>
              <a:rPr lang="en-US" altLang="zh-CN" sz="1800" b="1" dirty="0"/>
              <a:t>lock</a:t>
            </a:r>
            <a:r>
              <a:rPr lang="zh-CN" altLang="en-US" sz="1800" b="1" dirty="0"/>
              <a:t>可以有多个</a:t>
            </a:r>
            <a:r>
              <a:rPr lang="en-US" altLang="zh-CN" sz="1800" b="1" dirty="0"/>
              <a:t>condition.</a:t>
            </a:r>
          </a:p>
          <a:p>
            <a:pPr marL="0" indent="0" algn="l">
              <a:buNone/>
            </a:pPr>
            <a:r>
              <a:rPr lang="en-US" altLang="zh-CN" sz="1800" b="1" dirty="0"/>
              <a:t>}</a:t>
            </a:r>
            <a:endParaRPr lang="zh-CN" altLang="en-US" sz="18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F6080C-27B6-4887-AD68-709C157CA8E8}" type="datetime1">
              <a:rPr lang="zh-CN" altLang="en-US" smtClean="0"/>
              <a:t>2017/9/5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9EE1D75-A1ED-473F-8DFE-EBE060580F06}" type="slidenum">
              <a:rPr lang="zh-CN" altLang="en-US" smtClean="0"/>
              <a:t>20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06762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Lock</a:t>
            </a:r>
            <a:br>
              <a:rPr lang="en-US" altLang="zh-CN" dirty="0"/>
            </a:br>
            <a:r>
              <a:rPr lang="en-US" altLang="zh-CN" dirty="0"/>
              <a:t/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ReentrantLock</a:t>
            </a:r>
            <a:r>
              <a:rPr lang="zh-CN" altLang="en-US" dirty="0" smtClean="0"/>
              <a:t>可重入锁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     可</a:t>
            </a:r>
            <a:r>
              <a:rPr lang="zh-CN" altLang="en-US" dirty="0"/>
              <a:t>重入锁指的是在一个线程中可以多次获取同一把锁，比如</a:t>
            </a:r>
            <a:r>
              <a:rPr lang="zh-CN" altLang="en-US" dirty="0" smtClean="0"/>
              <a:t>：一</a:t>
            </a:r>
            <a:r>
              <a:rPr lang="zh-CN" altLang="en-US" dirty="0"/>
              <a:t>个线程在执行一个带锁的方法，该方法中又调用了另一个需要相同锁的方法，则该线程可以直接执行调用的方法，而无需重新获得锁；</a:t>
            </a:r>
            <a:endParaRPr lang="en-US" altLang="zh-CN" dirty="0" smtClean="0"/>
          </a:p>
          <a:p>
            <a:pPr marL="0" indent="0" algn="l">
              <a:buNone/>
            </a:pPr>
            <a:r>
              <a:rPr lang="zh-CN" altLang="en-US" dirty="0" smtClean="0"/>
              <a:t>例子：</a:t>
            </a:r>
            <a:r>
              <a:rPr lang="en-US" altLang="zh-CN" dirty="0"/>
              <a:t> </a:t>
            </a:r>
            <a:endParaRPr lang="en-US" altLang="zh-CN" dirty="0" smtClean="0"/>
          </a:p>
          <a:p>
            <a:pPr marL="0" indent="0" algn="l">
              <a:buNone/>
            </a:pPr>
            <a:r>
              <a:rPr lang="en-US" altLang="zh-CN" sz="2000" dirty="0" smtClean="0"/>
              <a:t>/example-concurrent/</a:t>
            </a:r>
            <a:r>
              <a:rPr lang="en-US" altLang="zh-CN" sz="2000" dirty="0" err="1" smtClean="0"/>
              <a:t>src</a:t>
            </a:r>
            <a:r>
              <a:rPr lang="en-US" altLang="zh-CN" sz="2000" dirty="0" smtClean="0"/>
              <a:t>/com/example/AtomicTest.java</a:t>
            </a:r>
          </a:p>
          <a:p>
            <a:pPr marL="0" indent="0" algn="l">
              <a:buNone/>
            </a:pPr>
            <a:r>
              <a:rPr lang="en-US" altLang="zh-CN" sz="2000" dirty="0"/>
              <a:t>/</a:t>
            </a:r>
            <a:r>
              <a:rPr lang="en-US" altLang="zh-CN" sz="2000" dirty="0" smtClean="0"/>
              <a:t>example-concurrent/</a:t>
            </a:r>
            <a:r>
              <a:rPr lang="en-US" altLang="zh-CN" sz="2000" dirty="0" err="1" smtClean="0"/>
              <a:t>src</a:t>
            </a:r>
            <a:r>
              <a:rPr lang="en-US" altLang="zh-CN" sz="2000" dirty="0" smtClean="0"/>
              <a:t>/com/example/ReenTrantLockDemo.java</a:t>
            </a:r>
            <a:endParaRPr lang="zh-CN" altLang="en-US" sz="2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F6080C-27B6-4887-AD68-709C157CA8E8}" type="datetime1">
              <a:rPr lang="zh-CN" altLang="en-US" smtClean="0"/>
              <a:t>2017/9/5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9EE1D75-A1ED-473F-8DFE-EBE060580F06}" type="slidenum">
              <a:rPr lang="zh-CN" altLang="en-US" smtClean="0"/>
              <a:t>21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3211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Lock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zh-CN" altLang="en-US" dirty="0" smtClean="0"/>
              <a:t>先</a:t>
            </a:r>
            <a:r>
              <a:rPr lang="zh-CN" altLang="en-US" dirty="0"/>
              <a:t>明确一下读写锁的概念：加读锁时其他线程可以进行读操作但不可进行写操作，加写锁时其他线程读写操作都不可进行。 </a:t>
            </a:r>
            <a:r>
              <a:rPr lang="en-US" altLang="zh-CN" dirty="0" err="1" smtClean="0"/>
              <a:t>ReentrantReadWriteLock</a:t>
            </a:r>
            <a:r>
              <a:rPr lang="zh-CN" altLang="en-US" dirty="0"/>
              <a:t>和</a:t>
            </a:r>
            <a:r>
              <a:rPr lang="en-US" altLang="zh-CN" dirty="0" err="1"/>
              <a:t>ReentrantLock</a:t>
            </a:r>
            <a:r>
              <a:rPr lang="zh-CN" altLang="en-US" dirty="0"/>
              <a:t>不同，</a:t>
            </a:r>
            <a:r>
              <a:rPr lang="en-US" altLang="zh-CN" dirty="0" err="1"/>
              <a:t>ReentrantReadWriteLock</a:t>
            </a:r>
            <a:r>
              <a:rPr lang="zh-CN" altLang="en-US" dirty="0"/>
              <a:t>实现的是</a:t>
            </a:r>
            <a:r>
              <a:rPr lang="en-US" altLang="zh-CN" dirty="0" err="1"/>
              <a:t>ReadWriteLock</a:t>
            </a:r>
            <a:r>
              <a:rPr lang="zh-CN" altLang="en-US" dirty="0" smtClean="0"/>
              <a:t>接口</a:t>
            </a:r>
            <a:endParaRPr lang="en-US" altLang="zh-CN" dirty="0" smtClean="0"/>
          </a:p>
          <a:p>
            <a:pPr algn="l"/>
            <a:endParaRPr lang="en-US" altLang="zh-CN" dirty="0"/>
          </a:p>
          <a:p>
            <a:pPr marL="0" indent="0" algn="l">
              <a:buNone/>
            </a:pPr>
            <a:r>
              <a:rPr lang="zh-CN" altLang="en-US" dirty="0" smtClean="0"/>
              <a:t>例子：</a:t>
            </a:r>
            <a:r>
              <a:rPr lang="en-US" altLang="zh-CN" dirty="0"/>
              <a:t> /example-concurrent/</a:t>
            </a:r>
            <a:r>
              <a:rPr lang="en-US" altLang="zh-CN" dirty="0" err="1"/>
              <a:t>src</a:t>
            </a:r>
            <a:r>
              <a:rPr lang="en-US" altLang="zh-CN" dirty="0"/>
              <a:t>/com/example/ReentrantReadWriteLockTest.java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F6080C-27B6-4887-AD68-709C157CA8E8}" type="datetime1">
              <a:rPr lang="zh-CN" altLang="en-US" smtClean="0"/>
              <a:t>2017/9/5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9EE1D75-A1ED-473F-8DFE-EBE060580F06}" type="slidenum">
              <a:rPr lang="zh-CN" altLang="en-US" smtClean="0"/>
              <a:t>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89980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" y="3989946"/>
            <a:ext cx="9144000" cy="953508"/>
          </a:xfrm>
        </p:spPr>
        <p:txBody>
          <a:bodyPr>
            <a:noAutofit/>
          </a:bodyPr>
          <a:lstStyle/>
          <a:p>
            <a:r>
              <a:rPr lang="zh-CN" altLang="en-US" sz="6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谢 谢</a:t>
            </a:r>
            <a:endParaRPr lang="zh-CN" altLang="en-US" sz="6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音视频架构分析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arrow"/>
        </a:ln>
      </a:spPr>
      <a:bodyPr/>
      <a:lstStyle/>
      <a:style>
        <a:lnRef idx="3">
          <a:schemeClr val="accent3"/>
        </a:lnRef>
        <a:fillRef idx="0">
          <a:schemeClr val="accent3"/>
        </a:fillRef>
        <a:effectRef idx="2">
          <a:schemeClr val="accent3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1964</TotalTime>
  <Words>1383</Words>
  <Application>Microsoft Office PowerPoint</Application>
  <PresentationFormat>全屏显示(4:3)</PresentationFormat>
  <Paragraphs>188</Paragraphs>
  <Slides>23</Slides>
  <Notes>4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25" baseType="lpstr">
      <vt:lpstr>Office 主题</vt:lpstr>
      <vt:lpstr>音视频架构分析</vt:lpstr>
      <vt:lpstr>PowerPoint 演示文稿</vt:lpstr>
      <vt:lpstr>概述</vt:lpstr>
      <vt:lpstr>PowerPoint 演示文稿</vt:lpstr>
      <vt:lpstr>Executor架构 </vt:lpstr>
      <vt:lpstr>Executor架构</vt:lpstr>
      <vt:lpstr>Executor架构</vt:lpstr>
      <vt:lpstr>Executor架构</vt:lpstr>
      <vt:lpstr>Executor架构</vt:lpstr>
      <vt:lpstr>Executor架构</vt:lpstr>
      <vt:lpstr>PowerPoint 演示文稿</vt:lpstr>
      <vt:lpstr>Callable</vt:lpstr>
      <vt:lpstr>Future</vt:lpstr>
      <vt:lpstr>Future</vt:lpstr>
      <vt:lpstr>FutureTask</vt:lpstr>
      <vt:lpstr>PowerPoint 演示文稿</vt:lpstr>
      <vt:lpstr>atomic原子性 </vt:lpstr>
      <vt:lpstr>PowerPoint 演示文稿</vt:lpstr>
      <vt:lpstr>PowerPoint 演示文稿</vt:lpstr>
      <vt:lpstr>Lock </vt:lpstr>
      <vt:lpstr>Lock </vt:lpstr>
      <vt:lpstr>Lock  </vt:lpstr>
      <vt:lpstr>Lock</vt:lpstr>
      <vt:lpstr>谢 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杨凯</dc:creator>
  <cp:lastModifiedBy>huayu</cp:lastModifiedBy>
  <cp:revision>2202</cp:revision>
  <dcterms:created xsi:type="dcterms:W3CDTF">2015-07-20T02:02:00Z</dcterms:created>
  <dcterms:modified xsi:type="dcterms:W3CDTF">2017-09-05T08:06:27Z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2052-10.1.0.6489</vt:lpwstr>
  </property>
</Properties>
</file>