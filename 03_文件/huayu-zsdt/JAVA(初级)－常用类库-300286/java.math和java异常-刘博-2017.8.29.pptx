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7"/>
  </p:notesMasterIdLst>
  <p:handoutMasterIdLst>
    <p:handoutMasterId r:id="rId28"/>
  </p:handoutMasterIdLst>
  <p:sldIdLst>
    <p:sldId id="256" r:id="rId3"/>
    <p:sldId id="257" r:id="rId4"/>
    <p:sldId id="263" r:id="rId5"/>
    <p:sldId id="264" r:id="rId6"/>
    <p:sldId id="265" r:id="rId7"/>
    <p:sldId id="288" r:id="rId8"/>
    <p:sldId id="272" r:id="rId9"/>
    <p:sldId id="285" r:id="rId10"/>
    <p:sldId id="286" r:id="rId11"/>
    <p:sldId id="287" r:id="rId12"/>
    <p:sldId id="266" r:id="rId13"/>
    <p:sldId id="289" r:id="rId14"/>
    <p:sldId id="278" r:id="rId15"/>
    <p:sldId id="279" r:id="rId16"/>
    <p:sldId id="280" r:id="rId17"/>
    <p:sldId id="281" r:id="rId18"/>
    <p:sldId id="282" r:id="rId19"/>
    <p:sldId id="283" r:id="rId20"/>
    <p:sldId id="290" r:id="rId21"/>
    <p:sldId id="291" r:id="rId22"/>
    <p:sldId id="292" r:id="rId23"/>
    <p:sldId id="293" r:id="rId24"/>
    <p:sldId id="294" r:id="rId25"/>
    <p:sldId id="260" r:id="rId26"/>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59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832" autoAdjust="0"/>
  </p:normalViewPr>
  <p:slideViewPr>
    <p:cSldViewPr>
      <p:cViewPr>
        <p:scale>
          <a:sx n="100" d="100"/>
          <a:sy n="100" d="100"/>
        </p:scale>
        <p:origin x="-702" y="-300"/>
      </p:cViewPr>
      <p:guideLst>
        <p:guide orient="horz" pos="1620"/>
        <p:guide pos="476"/>
        <p:guide pos="5460"/>
      </p:guideLst>
    </p:cSldViewPr>
  </p:slideViewPr>
  <p:notesTextViewPr>
    <p:cViewPr>
      <p:scale>
        <a:sx n="1" d="1"/>
        <a:sy n="1" d="1"/>
      </p:scale>
      <p:origin x="0" y="0"/>
    </p:cViewPr>
  </p:notesTextViewPr>
  <p:sorterViewPr>
    <p:cViewPr>
      <p:scale>
        <a:sx n="100" d="100"/>
        <a:sy n="100" d="100"/>
      </p:scale>
      <p:origin x="0" y="0"/>
    </p:cViewPr>
  </p:sorter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557FAE7-EC11-4E53-A21F-7D84E6706A6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CA21452-1892-4AB6-876D-28EFDBD7FBE6}"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13B5D8-536A-4691-A7F7-CB70A0A61F5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3662E1-3B16-43A0-803A-DFB1AF90FB26}" type="slidenum">
              <a:rPr lang="zh-CN" altLang="en-US" smtClean="0"/>
            </a:fld>
            <a:endParaRPr lang="zh-CN" alt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i="1">
                <a:solidFill>
                  <a:srgbClr val="0070C0"/>
                </a:solidFill>
                <a:latin typeface="Exo" pitchFamily="50" charset="0"/>
              </a:defRPr>
            </a:lvl1pPr>
          </a:lstStyle>
          <a:p>
            <a:fld id="{182DE3AF-391B-4CA3-8CC2-59ACF0A556C0}" type="datetime1">
              <a:rPr lang="zh-CN" altLang="en-US" smtClean="0"/>
            </a:fld>
            <a:endParaRPr lang="zh-CN" altLang="en-US" dirty="0"/>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lvl1pPr>
              <a:defRPr i="1">
                <a:solidFill>
                  <a:srgbClr val="0070C0"/>
                </a:solidFill>
                <a:latin typeface="Exo" pitchFamily="50" charset="0"/>
              </a:defRPr>
            </a:lvl1pPr>
          </a:lstStyle>
          <a:p>
            <a:r>
              <a:rPr lang="en-US" altLang="zh-CN" dirty="0" smtClean="0"/>
              <a:t>1</a:t>
            </a:r>
            <a:endParaRPr lang="zh-CN" altLang="en-US" dirty="0"/>
          </a:p>
        </p:txBody>
      </p:sp>
      <p:pic>
        <p:nvPicPr>
          <p:cNvPr id="7" name="Picture 12" descr="PPT - 169"/>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5144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3"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2966" y="364109"/>
            <a:ext cx="1746904" cy="66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p:cNvSpPr txBox="1">
            <a:spLocks noChangeArrowheads="1"/>
          </p:cNvSpPr>
          <p:nvPr userDrawn="1"/>
        </p:nvSpPr>
        <p:spPr bwMode="auto">
          <a:xfrm>
            <a:off x="7308304" y="446632"/>
            <a:ext cx="1269962" cy="210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40636" tIns="20318" rIns="40636" bIns="20318">
            <a:spAutoFit/>
          </a:bodyPr>
          <a:lstStyle>
            <a:lvl1pPr defTabSz="1293495" eaLnBrk="0" hangingPunct="0">
              <a:defRPr sz="40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40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40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40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40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dirty="0">
                <a:solidFill>
                  <a:srgbClr val="0068B7"/>
                </a:solidFill>
                <a:latin typeface="Arial" panose="020B0604020202020204" pitchFamily="34" charset="0"/>
                <a:cs typeface="Arial" panose="020B0604020202020204" pitchFamily="34" charset="0"/>
              </a:rPr>
              <a:t>www.thunisoft.com</a:t>
            </a:r>
            <a:endParaRPr lang="zh-CN" altLang="en-US" sz="1100" dirty="0">
              <a:solidFill>
                <a:srgbClr val="0068B7"/>
              </a:solidFill>
              <a:latin typeface="Arial" panose="020B0604020202020204" pitchFamily="34" charset="0"/>
              <a:cs typeface="Arial" panose="020B0604020202020204" pitchFamily="34" charset="0"/>
            </a:endParaRPr>
          </a:p>
        </p:txBody>
      </p:sp>
      <p:sp>
        <p:nvSpPr>
          <p:cNvPr id="11" name="Rectangle 11"/>
          <p:cNvSpPr>
            <a:spLocks noChangeArrowheads="1"/>
          </p:cNvSpPr>
          <p:nvPr userDrawn="1"/>
        </p:nvSpPr>
        <p:spPr bwMode="auto">
          <a:xfrm>
            <a:off x="1372972" y="4443958"/>
            <a:ext cx="5779050" cy="197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8055" tIns="29028" rIns="58055" bIns="29028">
            <a:spAutoFit/>
          </a:bodyPr>
          <a:lstStyle/>
          <a:p>
            <a:pPr defTabSz="821055"/>
            <a:r>
              <a:rPr lang="zh-CN" altLang="en-US" sz="900" baseline="0" dirty="0" smtClean="0">
                <a:solidFill>
                  <a:schemeClr val="bg1"/>
                </a:solidFill>
                <a:latin typeface="微软雅黑" panose="020B0503020204020204" pitchFamily="34" charset="-122"/>
                <a:ea typeface="微软雅黑" panose="020B0503020204020204" pitchFamily="34" charset="-122"/>
              </a:rPr>
              <a:t>北京华宇信息技术有限公司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BEIJING THUNISOFT INFORMATION </a:t>
            </a:r>
            <a:r>
              <a:rPr lang="en-US" altLang="zh-CN" sz="900" baseline="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TECHNOLOGY CORPORATION LIMITED</a:t>
            </a:r>
            <a:endParaRPr lang="zh-CN" altLang="en-US" sz="90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10896" b="88214"/>
          <a:stretch>
            <a:fillRect/>
          </a:stretch>
        </p:blipFill>
        <p:spPr>
          <a:xfrm>
            <a:off x="0" y="563880"/>
            <a:ext cx="9144000" cy="45719"/>
          </a:xfrm>
          <a:prstGeom prst="rect">
            <a:avLst/>
          </a:prstGeom>
        </p:spPr>
      </p:pic>
      <p:sp>
        <p:nvSpPr>
          <p:cNvPr id="4" name="日期占位符 3"/>
          <p:cNvSpPr>
            <a:spLocks noGrp="1"/>
          </p:cNvSpPr>
          <p:nvPr>
            <p:ph type="dt" sz="half" idx="10"/>
          </p:nvPr>
        </p:nvSpPr>
        <p:spPr>
          <a:xfrm>
            <a:off x="638200"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E367A7DA-86D1-420F-A51D-4AFD9CBED3AA}" type="datetime1">
              <a:rPr lang="zh-CN" altLang="en-US" smtClean="0"/>
            </a:fld>
            <a:endParaRPr lang="zh-CN" altLang="en-US" dirty="0"/>
          </a:p>
        </p:txBody>
      </p:sp>
      <p:sp>
        <p:nvSpPr>
          <p:cNvPr id="6" name="灯片编号占位符 5"/>
          <p:cNvSpPr>
            <a:spLocks noGrp="1"/>
          </p:cNvSpPr>
          <p:nvPr>
            <p:ph type="sldNum" sz="quarter" idx="12"/>
          </p:nvPr>
        </p:nvSpPr>
        <p:spPr>
          <a:xfrm>
            <a:off x="6597225"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68A76D54-3549-4889-A063-7624046C7348}" type="slidenum">
              <a:rPr lang="zh-CN" altLang="en-US" smtClean="0"/>
            </a:fld>
            <a:endParaRPr lang="zh-CN" altLang="en-US" dirty="0"/>
          </a:p>
        </p:txBody>
      </p:sp>
      <p:pic>
        <p:nvPicPr>
          <p:cNvPr id="8" name="Picture 11"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96336" y="81520"/>
            <a:ext cx="1080120" cy="40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标题 1"/>
          <p:cNvSpPr>
            <a:spLocks noGrp="1"/>
          </p:cNvSpPr>
          <p:nvPr>
            <p:ph type="title"/>
          </p:nvPr>
        </p:nvSpPr>
        <p:spPr>
          <a:xfrm>
            <a:off x="662880" y="51470"/>
            <a:ext cx="8229600" cy="432048"/>
          </a:xfrm>
          <a:prstGeom prst="rect">
            <a:avLst/>
          </a:prstGeom>
        </p:spPr>
        <p:txBody>
          <a:bodyPr/>
          <a:lstStyle>
            <a:lvl1pPr algn="l">
              <a:defRPr sz="2800">
                <a:solidFill>
                  <a:srgbClr val="595757"/>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7" name="内容占位符 2"/>
          <p:cNvSpPr>
            <a:spLocks noGrp="1"/>
          </p:cNvSpPr>
          <p:nvPr>
            <p:ph idx="1"/>
          </p:nvPr>
        </p:nvSpPr>
        <p:spPr>
          <a:xfrm>
            <a:off x="656564" y="771549"/>
            <a:ext cx="8011185" cy="3825425"/>
          </a:xfrm>
          <a:prstGeom prst="rect">
            <a:avLst/>
          </a:prstGeom>
        </p:spPr>
        <p:txBody>
          <a:bodyPr/>
          <a:lstStyle>
            <a:lvl1pPr marL="342900" indent="-342900" algn="just">
              <a:lnSpc>
                <a:spcPct val="125000"/>
              </a:lnSpc>
              <a:spcBef>
                <a:spcPts val="300"/>
              </a:spcBef>
              <a:buClr>
                <a:srgbClr val="0070C0"/>
              </a:buClr>
              <a:buSzPct val="60000"/>
              <a:buFont typeface="Wingdings" panose="05000000000000000000" pitchFamily="2" charset="2"/>
              <a:buChar char="n"/>
              <a:defRPr sz="2400" b="0" baseline="0">
                <a:solidFill>
                  <a:srgbClr val="595757"/>
                </a:solidFill>
                <a:latin typeface="微软雅黑" panose="020B0503020204020204" pitchFamily="34" charset="-122"/>
                <a:ea typeface="微软雅黑" panose="020B0503020204020204" pitchFamily="34" charset="-122"/>
              </a:defRPr>
            </a:lvl1pPr>
            <a:lvl2pPr marL="742950" indent="-285750" algn="just">
              <a:lnSpc>
                <a:spcPct val="125000"/>
              </a:lnSpc>
              <a:spcBef>
                <a:spcPts val="300"/>
              </a:spcBef>
              <a:buClr>
                <a:srgbClr val="0070C0"/>
              </a:buClr>
              <a:buSzPct val="60000"/>
              <a:buFont typeface="Wingdings" panose="05000000000000000000" pitchFamily="2" charset="2"/>
              <a:buChar char="p"/>
              <a:defRPr sz="2000" baseline="0">
                <a:solidFill>
                  <a:srgbClr val="595757"/>
                </a:solidFill>
                <a:latin typeface="微软雅黑" panose="020B0503020204020204" pitchFamily="34" charset="-122"/>
                <a:ea typeface="微软雅黑" panose="020B0503020204020204" pitchFamily="34" charset="-122"/>
              </a:defRPr>
            </a:lvl2pPr>
            <a:lvl3pPr algn="just">
              <a:lnSpc>
                <a:spcPct val="125000"/>
              </a:lnSpc>
              <a:spcBef>
                <a:spcPts val="300"/>
              </a:spcBef>
              <a:buClr>
                <a:srgbClr val="0070C0"/>
              </a:buClr>
              <a:defRPr sz="1800" baseline="0">
                <a:solidFill>
                  <a:srgbClr val="595757"/>
                </a:solidFill>
                <a:latin typeface="微软雅黑" panose="020B0503020204020204" pitchFamily="34" charset="-122"/>
                <a:ea typeface="微软雅黑" panose="020B0503020204020204" pitchFamily="34" charset="-122"/>
              </a:defRPr>
            </a:lvl3pPr>
            <a:lvl4pPr algn="just">
              <a:lnSpc>
                <a:spcPct val="125000"/>
              </a:lnSpc>
              <a:spcBef>
                <a:spcPts val="300"/>
              </a:spcBef>
              <a:buClr>
                <a:srgbClr val="0070C0"/>
              </a:buClr>
              <a:defRPr sz="1600" baseline="0">
                <a:solidFill>
                  <a:srgbClr val="595757"/>
                </a:solidFill>
                <a:latin typeface="微软雅黑" panose="020B0503020204020204" pitchFamily="34" charset="-122"/>
                <a:ea typeface="微软雅黑" panose="020B0503020204020204" pitchFamily="34" charset="-122"/>
              </a:defRPr>
            </a:lvl4pPr>
            <a:lvl5pPr algn="just">
              <a:lnSpc>
                <a:spcPct val="125000"/>
              </a:lnSpc>
              <a:spcBef>
                <a:spcPts val="300"/>
              </a:spcBef>
              <a:buClr>
                <a:srgbClr val="0070C0"/>
              </a:buClr>
              <a:defRPr sz="1600" baseline="0">
                <a:solidFill>
                  <a:srgbClr val="595757"/>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10896" b="88214"/>
          <a:stretch>
            <a:fillRect/>
          </a:stretch>
        </p:blipFill>
        <p:spPr>
          <a:xfrm>
            <a:off x="0" y="563880"/>
            <a:ext cx="9144000" cy="45719"/>
          </a:xfrm>
          <a:prstGeom prst="rect">
            <a:avLst/>
          </a:prstGeom>
        </p:spPr>
      </p:pic>
      <p:sp>
        <p:nvSpPr>
          <p:cNvPr id="4" name="日期占位符 3"/>
          <p:cNvSpPr>
            <a:spLocks noGrp="1"/>
          </p:cNvSpPr>
          <p:nvPr>
            <p:ph type="dt" sz="half" idx="10"/>
          </p:nvPr>
        </p:nvSpPr>
        <p:spPr>
          <a:xfrm>
            <a:off x="638200"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E367A7DA-86D1-420F-A51D-4AFD9CBED3AA}" type="datetime1">
              <a:rPr lang="zh-CN" altLang="en-US" smtClean="0"/>
            </a:fld>
            <a:endParaRPr lang="zh-CN" altLang="en-US" dirty="0"/>
          </a:p>
        </p:txBody>
      </p:sp>
      <p:sp>
        <p:nvSpPr>
          <p:cNvPr id="6" name="灯片编号占位符 5"/>
          <p:cNvSpPr>
            <a:spLocks noGrp="1"/>
          </p:cNvSpPr>
          <p:nvPr>
            <p:ph type="sldNum" sz="quarter" idx="12"/>
          </p:nvPr>
        </p:nvSpPr>
        <p:spPr>
          <a:xfrm>
            <a:off x="6597225" y="4767263"/>
            <a:ext cx="2133600" cy="273844"/>
          </a:xfrm>
        </p:spPr>
        <p:txBody>
          <a:bodyPr/>
          <a:lstStyle>
            <a:lvl1pPr>
              <a:defRPr sz="1000" i="1">
                <a:solidFill>
                  <a:srgbClr val="00B0F0"/>
                </a:solidFill>
                <a:latin typeface="微软雅黑" panose="020B0503020204020204" pitchFamily="34" charset="-122"/>
                <a:ea typeface="微软雅黑" panose="020B0503020204020204" pitchFamily="34" charset="-122"/>
                <a:cs typeface="Arial" panose="020B0604020202020204" pitchFamily="34" charset="0"/>
              </a:defRPr>
            </a:lvl1pPr>
          </a:lstStyle>
          <a:p>
            <a:fld id="{68A76D54-3549-4889-A063-7624046C7348}" type="slidenum">
              <a:rPr lang="zh-CN" altLang="en-US" smtClean="0"/>
            </a:fld>
            <a:endParaRPr lang="zh-CN" altLang="en-US" dirty="0"/>
          </a:p>
        </p:txBody>
      </p:sp>
      <p:pic>
        <p:nvPicPr>
          <p:cNvPr id="8" name="Picture 11" descr="彩色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596336" y="81520"/>
            <a:ext cx="1080120" cy="409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a:spLocks noGrp="1"/>
          </p:cNvSpPr>
          <p:nvPr>
            <p:ph idx="1"/>
          </p:nvPr>
        </p:nvSpPr>
        <p:spPr>
          <a:xfrm>
            <a:off x="1106615" y="1716088"/>
            <a:ext cx="8011185" cy="3105912"/>
          </a:xfrm>
          <a:prstGeom prst="rect">
            <a:avLst/>
          </a:prstGeom>
        </p:spPr>
        <p:txBody>
          <a:bodyPr/>
          <a:lstStyle>
            <a:lvl1pPr marL="0" indent="0" algn="just">
              <a:lnSpc>
                <a:spcPct val="150000"/>
              </a:lnSpc>
              <a:spcBef>
                <a:spcPts val="300"/>
              </a:spcBef>
              <a:buClr>
                <a:srgbClr val="0070C0"/>
              </a:buClr>
              <a:buSzPct val="60000"/>
              <a:buFontTx/>
              <a:buNone/>
              <a:defRPr sz="2200" b="0" baseline="0">
                <a:solidFill>
                  <a:srgbClr val="595757"/>
                </a:solidFill>
                <a:latin typeface="微软雅黑" panose="020B0503020204020204" pitchFamily="34" charset="-122"/>
                <a:ea typeface="微软雅黑" panose="020B0503020204020204" pitchFamily="34" charset="-122"/>
              </a:defRPr>
            </a:lvl1pPr>
            <a:lvl2pPr marL="457200" indent="0" algn="just">
              <a:lnSpc>
                <a:spcPct val="150000"/>
              </a:lnSpc>
              <a:spcBef>
                <a:spcPts val="300"/>
              </a:spcBef>
              <a:buClr>
                <a:srgbClr val="0070C0"/>
              </a:buClr>
              <a:buSzPct val="60000"/>
              <a:buFontTx/>
              <a:buNone/>
              <a:defRPr sz="2200" baseline="0">
                <a:solidFill>
                  <a:srgbClr val="595757"/>
                </a:solidFill>
                <a:latin typeface="微软雅黑" panose="020B0503020204020204" pitchFamily="34" charset="-122"/>
                <a:ea typeface="微软雅黑" panose="020B0503020204020204" pitchFamily="34" charset="-122"/>
              </a:defRPr>
            </a:lvl2pPr>
            <a:lvl3pPr marL="9144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3pPr>
            <a:lvl4pPr marL="13716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4pPr>
            <a:lvl5pPr marL="1828800" indent="0" algn="just">
              <a:lnSpc>
                <a:spcPct val="150000"/>
              </a:lnSpc>
              <a:spcBef>
                <a:spcPts val="300"/>
              </a:spcBef>
              <a:buClr>
                <a:srgbClr val="0070C0"/>
              </a:buClr>
              <a:buFontTx/>
              <a:buNone/>
              <a:defRPr sz="2200" baseline="0">
                <a:solidFill>
                  <a:srgbClr val="595757"/>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endParaRPr lang="zh-CN" altLang="en-US" dirty="0" smtClean="0"/>
          </a:p>
        </p:txBody>
      </p:sp>
      <p:sp>
        <p:nvSpPr>
          <p:cNvPr id="9" name="Text Box 8"/>
          <p:cNvSpPr txBox="1">
            <a:spLocks noChangeArrowheads="1"/>
          </p:cNvSpPr>
          <p:nvPr userDrawn="1"/>
        </p:nvSpPr>
        <p:spPr bwMode="auto">
          <a:xfrm>
            <a:off x="1106615" y="955698"/>
            <a:ext cx="4140460" cy="6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8055" tIns="29028" rIns="58055" bIns="29028">
            <a:spAutoFit/>
          </a:bodyPr>
          <a:lstStyle>
            <a:lvl1pPr defTabSz="1293495" eaLnBrk="0" hangingPunct="0">
              <a:defRPr sz="28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28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28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28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28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sz="3000" dirty="0" smtClean="0">
                <a:solidFill>
                  <a:srgbClr val="0062AD"/>
                </a:solidFill>
                <a:latin typeface="微软雅黑" panose="020B0503020204020204" pitchFamily="34" charset="-122"/>
                <a:ea typeface="微软雅黑" panose="020B0503020204020204" pitchFamily="34" charset="-122"/>
              </a:rPr>
              <a:t>目 录</a:t>
            </a:r>
            <a:endParaRPr lang="en-US" altLang="zh-CN" sz="3200" dirty="0">
              <a:solidFill>
                <a:schemeClr val="bg1">
                  <a:lumMod val="75000"/>
                </a:schemeClr>
              </a:solidFill>
              <a:latin typeface="Arial Black" panose="020B0A04020102020204" pitchFamily="34" charset="0"/>
              <a:cs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514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ctrTitle"/>
          </p:nvPr>
        </p:nvSpPr>
        <p:spPr>
          <a:xfrm>
            <a:off x="0" y="2860581"/>
            <a:ext cx="9144000" cy="1101725"/>
          </a:xfrm>
          <a:prstGeom prst="rect">
            <a:avLst/>
          </a:prstGeom>
        </p:spPr>
        <p:txBody>
          <a:bodyPr>
            <a:noAutofit/>
          </a:bodyPr>
          <a:lstStyle>
            <a:lvl1pPr algn="ctr">
              <a:defRPr sz="45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11" name="Rectangle 18"/>
          <p:cNvSpPr>
            <a:spLocks noChangeArrowheads="1"/>
          </p:cNvSpPr>
          <p:nvPr userDrawn="1"/>
        </p:nvSpPr>
        <p:spPr bwMode="auto">
          <a:xfrm>
            <a:off x="1626327" y="4652773"/>
            <a:ext cx="5710207" cy="179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0635" tIns="20318" rIns="40635" bIns="20318">
            <a:spAutoFit/>
          </a:bodyPr>
          <a:lstStyle/>
          <a:p>
            <a:pPr defTabSz="574675"/>
            <a:r>
              <a:rPr lang="zh-CN" altLang="en-US" sz="900" baseline="0" dirty="0" smtClean="0">
                <a:solidFill>
                  <a:schemeClr val="bg1"/>
                </a:solidFill>
                <a:latin typeface="微软雅黑" panose="020B0503020204020204" pitchFamily="34" charset="-122"/>
                <a:ea typeface="微软雅黑" panose="020B0503020204020204" pitchFamily="34" charset="-122"/>
              </a:rPr>
              <a:t>北京华宇信息技术有限公司 </a:t>
            </a:r>
            <a:r>
              <a:rPr lang="en-US" altLang="zh-CN" sz="9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BEIJING THUNISOFT INFORMATION TECHNOLOGY CORPORATION LIMITED</a:t>
            </a:r>
            <a:endParaRPr lang="zh-CN" altLang="en-US" sz="900" baseline="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7" name="Picture 16" descr="竖版LOGO"/>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955714" y="500807"/>
            <a:ext cx="1201351" cy="109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100" b="0" i="1">
                <a:solidFill>
                  <a:srgbClr val="0070C0"/>
                </a:solidFill>
                <a:latin typeface="微软雅黑" panose="020B0503020204020204" pitchFamily="34" charset="-122"/>
                <a:ea typeface="微软雅黑" panose="020B0503020204020204" pitchFamily="34" charset="-122"/>
                <a:cs typeface="Arial" panose="020B0604020202020204" pitchFamily="34" charset="0"/>
              </a:defRPr>
            </a:lvl1pPr>
          </a:lstStyle>
          <a:p>
            <a:fld id="{B199EE37-FCE5-44AF-9991-B9620BC5CFF1}" type="datetime1">
              <a:rPr lang="zh-CN" altLang="en-US" smtClean="0"/>
            </a:fld>
            <a:endParaRPr lang="zh-CN" altLang="en-US" dirty="0"/>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100" i="1">
                <a:solidFill>
                  <a:srgbClr val="0070C0"/>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dirty="0" smtClean="0"/>
              <a:t>1</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15"/>
          <p:cNvSpPr txBox="1">
            <a:spLocks noChangeArrowheads="1"/>
          </p:cNvSpPr>
          <p:nvPr/>
        </p:nvSpPr>
        <p:spPr bwMode="auto">
          <a:xfrm>
            <a:off x="1375222" y="2250163"/>
            <a:ext cx="3556818" cy="2790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283" tIns="18141" rIns="36283" bIns="18141">
            <a:spAutoFit/>
          </a:bodyPr>
          <a:lstStyle>
            <a:lvl1pPr defTabSz="1293495" eaLnBrk="0" hangingPunct="0">
              <a:defRPr sz="4000">
                <a:solidFill>
                  <a:schemeClr val="tx1"/>
                </a:solidFill>
                <a:latin typeface="Arial" panose="020B0604020202020204" pitchFamily="34" charset="0"/>
                <a:ea typeface="宋体" panose="02010600030101010101" pitchFamily="2" charset="-122"/>
              </a:defRPr>
            </a:lvl1pPr>
            <a:lvl2pPr marL="742950" indent="-285750" defTabSz="1293495" eaLnBrk="0" hangingPunct="0">
              <a:defRPr sz="4000">
                <a:solidFill>
                  <a:schemeClr val="tx1"/>
                </a:solidFill>
                <a:latin typeface="Arial" panose="020B0604020202020204" pitchFamily="34" charset="0"/>
                <a:ea typeface="宋体" panose="02010600030101010101" pitchFamily="2" charset="-122"/>
              </a:defRPr>
            </a:lvl2pPr>
            <a:lvl3pPr marL="1143000" indent="-228600" defTabSz="1293495" eaLnBrk="0" hangingPunct="0">
              <a:defRPr sz="4000">
                <a:solidFill>
                  <a:schemeClr val="tx1"/>
                </a:solidFill>
                <a:latin typeface="Arial" panose="020B0604020202020204" pitchFamily="34" charset="0"/>
                <a:ea typeface="宋体" panose="02010600030101010101" pitchFamily="2" charset="-122"/>
              </a:defRPr>
            </a:lvl3pPr>
            <a:lvl4pPr marL="1600200" indent="-228600" defTabSz="1293495" eaLnBrk="0" hangingPunct="0">
              <a:defRPr sz="4000">
                <a:solidFill>
                  <a:schemeClr val="tx1"/>
                </a:solidFill>
                <a:latin typeface="Arial" panose="020B0604020202020204" pitchFamily="34" charset="0"/>
                <a:ea typeface="宋体" panose="02010600030101010101" pitchFamily="2" charset="-122"/>
              </a:defRPr>
            </a:lvl4pPr>
            <a:lvl5pPr marL="2057400" indent="-228600" defTabSz="1293495" eaLnBrk="0" hangingPunct="0">
              <a:defRPr sz="4000">
                <a:solidFill>
                  <a:schemeClr val="tx1"/>
                </a:solidFill>
                <a:latin typeface="Arial" panose="020B0604020202020204" pitchFamily="34" charset="0"/>
                <a:ea typeface="宋体" panose="02010600030101010101" pitchFamily="2" charset="-122"/>
              </a:defRPr>
            </a:lvl5pPr>
            <a:lvl6pPr marL="25146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6pPr>
            <a:lvl7pPr marL="29718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7pPr>
            <a:lvl8pPr marL="34290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8pPr>
            <a:lvl9pPr marL="3886200" indent="-228600" defTabSz="1293495" eaLnBrk="0" fontAlgn="base" hangingPunct="0">
              <a:spcBef>
                <a:spcPct val="0"/>
              </a:spcBef>
              <a:spcAft>
                <a:spcPct val="0"/>
              </a:spcAft>
              <a:buFont typeface="Arial" panose="020B0604020202020204" pitchFamily="34" charset="0"/>
              <a:defRPr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dirty="0">
                <a:solidFill>
                  <a:schemeClr val="bg1"/>
                </a:solidFill>
                <a:latin typeface="微软雅黑" panose="020B0503020204020204" pitchFamily="34" charset="-122"/>
                <a:ea typeface="微软雅黑" panose="020B0503020204020204" pitchFamily="34" charset="-122"/>
              </a:rPr>
              <a:t>Java</a:t>
            </a:r>
            <a:r>
              <a:rPr lang="zh-CN" altLang="en-US" sz="3200" dirty="0">
                <a:solidFill>
                  <a:schemeClr val="bg1"/>
                </a:solidFill>
                <a:latin typeface="微软雅黑" panose="020B0503020204020204" pitchFamily="34" charset="-122"/>
                <a:ea typeface="微软雅黑" panose="020B0503020204020204" pitchFamily="34" charset="-122"/>
              </a:rPr>
              <a:t>常见异常及</a:t>
            </a:r>
            <a:r>
              <a:rPr lang="en-US" altLang="zh-CN" sz="3200" dirty="0">
                <a:solidFill>
                  <a:schemeClr val="bg1"/>
                </a:solidFill>
                <a:latin typeface="微软雅黑" panose="020B0503020204020204" pitchFamily="34" charset="-122"/>
                <a:ea typeface="微软雅黑" panose="020B0503020204020204" pitchFamily="34" charset="-122"/>
              </a:rPr>
              <a:t>Math</a:t>
            </a:r>
            <a:r>
              <a:rPr lang="zh-CN" altLang="en-US" sz="3200" dirty="0">
                <a:solidFill>
                  <a:schemeClr val="bg1"/>
                </a:solidFill>
                <a:latin typeface="微软雅黑" panose="020B0503020204020204" pitchFamily="34" charset="-122"/>
                <a:ea typeface="微软雅黑" panose="020B0503020204020204" pitchFamily="34" charset="-122"/>
              </a:rPr>
              <a:t>类的使用</a:t>
            </a:r>
            <a:endParaRPr lang="zh-CN" altLang="en-US" sz="3200" dirty="0">
              <a:solidFill>
                <a:schemeClr val="bg1"/>
              </a:solidFill>
              <a:latin typeface="微软雅黑" panose="020B0503020204020204" pitchFamily="34" charset="-122"/>
              <a:ea typeface="微软雅黑" panose="020B0503020204020204" pitchFamily="34" charset="-122"/>
            </a:endParaRPr>
          </a:p>
          <a:p>
            <a:pPr eaLnBrk="1" hangingPunct="1"/>
            <a:endParaRPr lang="zh-CN" altLang="en-US" sz="600" dirty="0">
              <a:solidFill>
                <a:schemeClr val="bg1"/>
              </a:solidFill>
              <a:ea typeface="黑体" panose="02010609060101010101" pitchFamily="49" charset="-122"/>
            </a:endParaRPr>
          </a:p>
          <a:p>
            <a:pPr eaLnBrk="1" hangingPunct="1"/>
            <a:r>
              <a:rPr lang="en-US" altLang="zh-CN" sz="1600" dirty="0">
                <a:solidFill>
                  <a:srgbClr val="00B0F0"/>
                </a:solidFill>
                <a:latin typeface="微软雅黑" panose="020B0503020204020204" pitchFamily="34" charset="-122"/>
                <a:ea typeface="微软雅黑" panose="020B0503020204020204" pitchFamily="34" charset="-122"/>
              </a:rPr>
              <a:t>		</a:t>
            </a:r>
            <a:endParaRPr lang="en-US" altLang="zh-CN" sz="1600" dirty="0">
              <a:solidFill>
                <a:srgbClr val="00B0F0"/>
              </a:solidFill>
              <a:latin typeface="微软雅黑" panose="020B0503020204020204" pitchFamily="34" charset="-122"/>
              <a:ea typeface="微软雅黑" panose="020B0503020204020204" pitchFamily="34" charset="-122"/>
            </a:endParaRPr>
          </a:p>
          <a:p>
            <a:pPr eaLnBrk="1" hangingPunct="1"/>
            <a:r>
              <a:rPr lang="en-US" altLang="zh-CN" sz="1600" dirty="0">
                <a:solidFill>
                  <a:srgbClr val="00B0F0"/>
                </a:solidFill>
                <a:latin typeface="微软雅黑" panose="020B0503020204020204" pitchFamily="34" charset="-122"/>
                <a:ea typeface="微软雅黑" panose="020B0503020204020204" pitchFamily="34" charset="-122"/>
              </a:rPr>
              <a:t>		</a:t>
            </a:r>
            <a:r>
              <a:rPr lang="zh-CN" altLang="en-US" sz="1600" dirty="0">
                <a:solidFill>
                  <a:srgbClr val="00B0F0"/>
                </a:solidFill>
                <a:latin typeface="微软雅黑" panose="020B0503020204020204" pitchFamily="34" charset="-122"/>
                <a:ea typeface="微软雅黑" panose="020B0503020204020204" pitchFamily="34" charset="-122"/>
              </a:rPr>
              <a:t>刘博   </a:t>
            </a:r>
            <a:endParaRPr lang="zh-CN" altLang="en-US" sz="1600" dirty="0">
              <a:solidFill>
                <a:srgbClr val="00B0F0"/>
              </a:solidFill>
              <a:latin typeface="微软雅黑" panose="020B0503020204020204" pitchFamily="34" charset="-122"/>
              <a:ea typeface="微软雅黑" panose="020B0503020204020204" pitchFamily="34"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a:p>
            <a:pPr eaLnBrk="1" hangingPunct="1"/>
            <a:endParaRPr lang="zh-CN" altLang="en-US" sz="1100" dirty="0">
              <a:solidFill>
                <a:schemeClr val="bg1"/>
              </a:solidFill>
              <a:ea typeface="黑体" panose="02010609060101010101" pitchFamily="49"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5"/>
          <p:cNvSpPr>
            <a:spLocks noGrp="1"/>
          </p:cNvSpPr>
          <p:nvPr>
            <p:ph type="dt" sz="half" idx="10"/>
          </p:nvPr>
        </p:nvSpPr>
        <p:spPr/>
        <p:txBody>
          <a:bodyPr/>
          <a:lstStyle/>
          <a:p>
            <a:fld id="{E57C5576-EB7D-4929-818E-721938FE8545}" type="datetime1">
              <a:rPr lang="zh-CN" altLang="en-US" smtClean="0"/>
            </a:fld>
            <a:endParaRPr lang="zh-CN" altLang="en-US" dirty="0"/>
          </a:p>
        </p:txBody>
      </p:sp>
      <p:sp>
        <p:nvSpPr>
          <p:cNvPr id="5" name="灯片编号占位符 4"/>
          <p:cNvSpPr>
            <a:spLocks noGrp="1"/>
          </p:cNvSpPr>
          <p:nvPr>
            <p:ph type="sldNum" sz="quarter" idx="12"/>
          </p:nvPr>
        </p:nvSpPr>
        <p:spPr/>
        <p:txBody>
          <a:bodyPr/>
          <a:lstStyle/>
          <a:p>
            <a:fld id="{0EA08D64-B9C4-439A-A544-F43F11EA8F7D}" type="slidenum">
              <a:rPr lang="zh-CN" altLang="en-US" smtClean="0"/>
            </a:fld>
            <a:endParaRPr lang="zh-CN" altLang="en-US" dirty="0"/>
          </a:p>
        </p:txBody>
      </p:sp>
      <p:sp>
        <p:nvSpPr>
          <p:cNvPr id="2" name="内容占位符 1"/>
          <p:cNvSpPr>
            <a:spLocks noGrp="1"/>
          </p:cNvSpPr>
          <p:nvPr>
            <p:ph idx="1"/>
          </p:nvPr>
        </p:nvSpPr>
        <p:spPr/>
        <p:txBody>
          <a:bodyPr/>
          <a:lstStyle/>
          <a:p>
            <a:r>
              <a:rPr lang="zh-CN" altLang="en-US" b="1" dirty="0"/>
              <a:t>一、</a:t>
            </a:r>
            <a:r>
              <a:rPr lang="en-US" altLang="zh-CN" b="1" dirty="0"/>
              <a:t>Java</a:t>
            </a:r>
            <a:r>
              <a:rPr lang="zh-CN" altLang="en-US" b="1" dirty="0"/>
              <a:t>异常</a:t>
            </a:r>
            <a:endParaRPr lang="zh-CN" altLang="en-US" b="1" dirty="0"/>
          </a:p>
          <a:p>
            <a:r>
              <a:rPr lang="en-US" altLang="zh-CN" dirty="0"/>
              <a:t>	</a:t>
            </a:r>
            <a:r>
              <a:rPr lang="en-US" altLang="zh-CN" sz="1800" dirty="0"/>
              <a:t>1.</a:t>
            </a:r>
            <a:r>
              <a:rPr lang="en-US" altLang="zh-CN" sz="1800" dirty="0">
                <a:sym typeface="+mn-ea"/>
              </a:rPr>
              <a:t>Java</a:t>
            </a:r>
            <a:r>
              <a:rPr lang="zh-CN" altLang="en-US" sz="1800" dirty="0">
                <a:sym typeface="+mn-ea"/>
              </a:rPr>
              <a:t>异常的分类</a:t>
            </a:r>
            <a:endParaRPr lang="zh-CN" altLang="en-US" sz="1800" dirty="0">
              <a:sym typeface="+mn-ea"/>
            </a:endParaRPr>
          </a:p>
          <a:p>
            <a:r>
              <a:rPr lang="en-US" altLang="zh-CN" sz="1800" dirty="0">
                <a:sym typeface="+mn-ea"/>
              </a:rPr>
              <a:t>	2.Java</a:t>
            </a:r>
            <a:r>
              <a:rPr lang="zh-CN" altLang="en-US" sz="1800" dirty="0">
                <a:sym typeface="+mn-ea"/>
              </a:rPr>
              <a:t>异常处理机制</a:t>
            </a:r>
            <a:endParaRPr lang="en-US" altLang="zh-CN" sz="1800" dirty="0">
              <a:sym typeface="+mn-ea"/>
            </a:endParaRPr>
          </a:p>
          <a:p>
            <a:r>
              <a:rPr lang="zh-CN" altLang="en-US" b="1" dirty="0"/>
              <a:t>二、</a:t>
            </a:r>
            <a:r>
              <a:rPr lang="en-US" altLang="zh-CN" b="1" dirty="0"/>
              <a:t>java.math</a:t>
            </a:r>
            <a:endParaRPr lang="zh-CN" altLang="en-US" b="1" dirty="0"/>
          </a:p>
          <a:p>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DC6F3EB-63D2-48D1-9B02-30BF907EE16D}"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dirty="0"/>
              <a:t>Java</a:t>
            </a:r>
            <a:r>
              <a:rPr lang="zh-CN" altLang="en-US" dirty="0"/>
              <a:t>异常的分类</a:t>
            </a:r>
            <a:br>
              <a:rPr lang="zh-CN" altLang="en-US" sz="1600" dirty="0"/>
            </a:br>
            <a:endParaRPr lang="zh-CN" altLang="en-US" sz="1600" dirty="0"/>
          </a:p>
        </p:txBody>
      </p:sp>
      <p:sp>
        <p:nvSpPr>
          <p:cNvPr id="5" name="内容占位符 4"/>
          <p:cNvSpPr>
            <a:spLocks noGrp="1"/>
          </p:cNvSpPr>
          <p:nvPr>
            <p:ph idx="1"/>
          </p:nvPr>
        </p:nvSpPr>
        <p:spPr/>
        <p:txBody>
          <a:bodyPr/>
          <a:lstStyle/>
          <a:p>
            <a:endParaRPr lang="en-US" altLang="zh-CN" dirty="0"/>
          </a:p>
          <a:p>
            <a:endParaRPr lang="zh-CN" altLang="en-US" dirty="0"/>
          </a:p>
        </p:txBody>
      </p:sp>
      <p:pic>
        <p:nvPicPr>
          <p:cNvPr id="7" name="图片 6" descr="70b28576a26c0e979fa6da499c8e44dd"/>
          <p:cNvPicPr>
            <a:picLocks noChangeAspect="1"/>
          </p:cNvPicPr>
          <p:nvPr/>
        </p:nvPicPr>
        <p:blipFill>
          <a:blip r:embed="rId1"/>
          <a:stretch>
            <a:fillRect/>
          </a:stretch>
        </p:blipFill>
        <p:spPr>
          <a:xfrm>
            <a:off x="1370965" y="869950"/>
            <a:ext cx="6266815" cy="362775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5" name="内容占位符 4"/>
          <p:cNvSpPr>
            <a:spLocks noGrp="1"/>
          </p:cNvSpPr>
          <p:nvPr>
            <p:ph idx="1"/>
          </p:nvPr>
        </p:nvSpPr>
        <p:spPr/>
        <p:txBody>
          <a:bodyPr/>
          <a:lstStyle/>
          <a:p>
            <a:r>
              <a:rPr lang="zh-CN" altLang="en-US" dirty="0"/>
              <a:t>Java语言中，Throwable为所有异常、错误的超类，它有两个重要的子类：Exception（异常）和Error（错误），它们各自都包含大量的子类，这些类的实例是在异常情况的上下文中创建的，包含了相关的异常信息。</a:t>
            </a:r>
            <a:endParaRPr lang="zh-CN" altLang="en-US" dirty="0"/>
          </a:p>
          <a:p>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Error</a:t>
            </a:r>
            <a:endParaRPr lang="en-US" altLang="zh-CN" dirty="0"/>
          </a:p>
        </p:txBody>
      </p:sp>
      <p:sp>
        <p:nvSpPr>
          <p:cNvPr id="5" name="内容占位符 4"/>
          <p:cNvSpPr>
            <a:spLocks noGrp="1"/>
          </p:cNvSpPr>
          <p:nvPr>
            <p:ph idx="1"/>
          </p:nvPr>
        </p:nvSpPr>
        <p:spPr>
          <a:xfrm>
            <a:off x="656564" y="771550"/>
            <a:ext cx="8011185" cy="3870430"/>
          </a:xfrm>
        </p:spPr>
        <p:txBody>
          <a:bodyPr/>
          <a:lstStyle/>
          <a:p>
            <a:r>
              <a:rPr lang="zh-CN" altLang="en-US" dirty="0"/>
              <a:t>Error（错误）：用于指示合理的应用程序不应该试图捕获的严重问题。大多数这样的错误都是异常条件。在执行该方法期间，无需在其 throws 子句中声明可能抛出但是未能捕获的 Error 的任何子类，因为这些错误可能是再也不会发生的异常条件。</a:t>
            </a:r>
            <a:endParaRPr lang="zh-CN" altLang="en-US" dirty="0"/>
          </a:p>
          <a:p>
            <a:endParaRPr lang="zh-CN" altLang="en-US" sz="1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Error</a:t>
            </a:r>
            <a:endParaRPr lang="en-US" altLang="zh-CN" dirty="0"/>
          </a:p>
        </p:txBody>
      </p:sp>
      <p:sp>
        <p:nvSpPr>
          <p:cNvPr id="5" name="内容占位符 4"/>
          <p:cNvSpPr>
            <a:spLocks noGrp="1"/>
          </p:cNvSpPr>
          <p:nvPr>
            <p:ph idx="1"/>
          </p:nvPr>
        </p:nvSpPr>
        <p:spPr>
          <a:xfrm>
            <a:off x="656564" y="771550"/>
            <a:ext cx="8011185" cy="3870430"/>
          </a:xfrm>
        </p:spPr>
        <p:txBody>
          <a:bodyPr/>
          <a:lstStyle/>
          <a:p>
            <a:r>
              <a:rPr lang="zh-CN" altLang="en-US" sz="2000" dirty="0">
                <a:sym typeface="+mn-ea"/>
              </a:rPr>
              <a:t>以Java虚拟机运行错误（VirtualMachineError）为例： </a:t>
            </a:r>
            <a:endParaRPr lang="zh-CN" altLang="en-US" sz="2000" dirty="0"/>
          </a:p>
          <a:p>
            <a:r>
              <a:rPr lang="zh-CN" altLang="en-US" sz="2000" dirty="0">
                <a:sym typeface="+mn-ea"/>
              </a:rPr>
              <a:t>InternalError：该异常指示 Java 虚拟机中出现一些意外的内部错误。 </a:t>
            </a:r>
            <a:endParaRPr lang="zh-CN" altLang="en-US" sz="2000" dirty="0"/>
          </a:p>
          <a:p>
            <a:r>
              <a:rPr lang="zh-CN" altLang="en-US" sz="2000" dirty="0">
                <a:sym typeface="+mn-ea"/>
              </a:rPr>
              <a:t>OutOfMemoryError：因为内存溢出或没有可用的内存提供给垃圾回收器时，Java 虚拟机无法分配一个对象，这时抛出该异常。 </a:t>
            </a:r>
            <a:endParaRPr lang="zh-CN" altLang="en-US" sz="2000" dirty="0"/>
          </a:p>
          <a:p>
            <a:r>
              <a:rPr lang="zh-CN" altLang="en-US" sz="2000" dirty="0">
                <a:sym typeface="+mn-ea"/>
              </a:rPr>
              <a:t>StackOverflowError：当应用程序递归太深而发生堆栈溢出时，抛出该错误。 </a:t>
            </a:r>
            <a:endParaRPr lang="zh-CN" altLang="en-US" sz="2000" dirty="0"/>
          </a:p>
          <a:p>
            <a:r>
              <a:rPr lang="zh-CN" altLang="en-US" sz="2000" dirty="0">
                <a:sym typeface="+mn-ea"/>
              </a:rPr>
              <a:t>UnknownError：当 Java 虚拟机中出现一个未知但严重的异常时，抛出该错误。</a:t>
            </a:r>
            <a:endParaRPr lang="zh-CN" altLang="en-US" sz="2000" dirty="0"/>
          </a:p>
          <a:p>
            <a:endParaRPr lang="zh-CN" altLang="en-US" sz="1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sym typeface="+mn-ea"/>
              </a:rPr>
              <a:t>OutOfMemoryError</a:t>
            </a:r>
            <a:endParaRPr lang="en-US" altLang="zh-CN" dirty="0"/>
          </a:p>
        </p:txBody>
      </p:sp>
      <p:sp>
        <p:nvSpPr>
          <p:cNvPr id="5" name="内容占位符 4"/>
          <p:cNvSpPr>
            <a:spLocks noGrp="1"/>
          </p:cNvSpPr>
          <p:nvPr>
            <p:ph idx="1"/>
          </p:nvPr>
        </p:nvSpPr>
        <p:spPr>
          <a:xfrm>
            <a:off x="656564" y="771550"/>
            <a:ext cx="8011185" cy="3870430"/>
          </a:xfrm>
        </p:spPr>
        <p:txBody>
          <a:bodyPr/>
          <a:lstStyle/>
          <a:p>
            <a:endParaRPr lang="zh-CN" altLang="en-US" sz="1600" dirty="0"/>
          </a:p>
          <a:p>
            <a:endParaRPr lang="zh-CN" altLang="en-US" sz="1600" dirty="0"/>
          </a:p>
          <a:p>
            <a:r>
              <a:rPr lang="zh-CN" altLang="en-US" sz="1600" dirty="0"/>
              <a:t>内存中加载的数据量过于庞大，如一次从数据库取出过多数据；</a:t>
            </a:r>
            <a:endParaRPr lang="zh-CN" altLang="en-US" sz="1600" dirty="0"/>
          </a:p>
          <a:p>
            <a:r>
              <a:rPr lang="zh-CN" altLang="en-US" sz="1600" dirty="0"/>
              <a:t>集合类中有对对象的引用，使用完后未清空，使得JVM不能回收；</a:t>
            </a:r>
            <a:endParaRPr lang="zh-CN" altLang="en-US" sz="1600" dirty="0"/>
          </a:p>
          <a:p>
            <a:r>
              <a:rPr lang="zh-CN" altLang="en-US" sz="1600" dirty="0"/>
              <a:t>代码中存在死循环或循环产生过多重复的对象实体；</a:t>
            </a:r>
            <a:endParaRPr lang="zh-CN" altLang="en-US" sz="1600" dirty="0"/>
          </a:p>
          <a:p>
            <a:r>
              <a:rPr lang="zh-CN" altLang="en-US" sz="1600" dirty="0"/>
              <a:t>使用的第三方软件中的BUG；</a:t>
            </a:r>
            <a:endParaRPr lang="zh-CN" altLang="en-US" sz="1600" dirty="0"/>
          </a:p>
          <a:p>
            <a:r>
              <a:rPr lang="zh-CN" altLang="en-US" sz="1600" dirty="0"/>
              <a:t>启动参数内存值设定的过小；</a:t>
            </a:r>
            <a:endParaRPr lang="zh-CN" altLang="en-US" sz="1600" dirty="0"/>
          </a:p>
          <a:p>
            <a:endParaRPr lang="zh-CN" altLang="en-US" sz="16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sym typeface="+mn-ea"/>
              </a:rPr>
              <a:t>OutOfMemoryError</a:t>
            </a:r>
            <a:endParaRPr lang="en-US" altLang="zh-CN" dirty="0"/>
          </a:p>
        </p:txBody>
      </p:sp>
      <p:sp>
        <p:nvSpPr>
          <p:cNvPr id="5" name="内容占位符 4"/>
          <p:cNvSpPr>
            <a:spLocks noGrp="1"/>
          </p:cNvSpPr>
          <p:nvPr>
            <p:ph idx="1"/>
          </p:nvPr>
        </p:nvSpPr>
        <p:spPr>
          <a:xfrm>
            <a:off x="656564" y="771550"/>
            <a:ext cx="8011185" cy="3870430"/>
          </a:xfrm>
        </p:spPr>
        <p:txBody>
          <a:bodyPr/>
          <a:lstStyle/>
          <a:p>
            <a:r>
              <a:rPr lang="zh-CN" altLang="en-US" sz="1600" dirty="0"/>
              <a:t>需要重点排查以下几点：</a:t>
            </a:r>
            <a:endParaRPr lang="zh-CN" altLang="en-US" sz="1600" dirty="0"/>
          </a:p>
          <a:p>
            <a:endParaRPr lang="zh-CN" altLang="en-US" sz="1600" dirty="0"/>
          </a:p>
          <a:p>
            <a:r>
              <a:rPr lang="zh-CN" altLang="en-US" sz="1600" dirty="0"/>
              <a:t>检查代码中是否有死循环或递归调用。</a:t>
            </a:r>
            <a:endParaRPr lang="zh-CN" altLang="en-US" sz="1600" dirty="0"/>
          </a:p>
          <a:p>
            <a:r>
              <a:rPr lang="zh-CN" altLang="en-US" sz="1600" dirty="0"/>
              <a:t>检查是否有大循环重复产生新对象实体。</a:t>
            </a:r>
            <a:endParaRPr lang="zh-CN" altLang="en-US" sz="1600" dirty="0"/>
          </a:p>
          <a:p>
            <a:r>
              <a:rPr lang="zh-CN" altLang="en-US" sz="1600" dirty="0"/>
              <a:t>检查对数据库查询中，是否有一次获得全部数据的查询。一般来说，如果一次取十万条记录到内存，就可能引起内存溢出。这个问题比较隐蔽，在上线前，数据库中数据较少，不容易出问题，上线后，数据库中数据多了，一次查询就有可能引起内存溢出。因此对于数据库查询尽量采用分页的方式查询。</a:t>
            </a:r>
            <a:endParaRPr lang="zh-CN" altLang="en-US" sz="1600" dirty="0"/>
          </a:p>
          <a:p>
            <a:r>
              <a:rPr lang="zh-CN" altLang="en-US" sz="1600" dirty="0"/>
              <a:t>检查List、MAP等集合对象是否有使用完后，未清除的问题。List、MAP等集合对象会始终存有对对象的引用，使得这些对象不能被GC回收。</a:t>
            </a:r>
            <a:endParaRPr lang="zh-CN" altLang="en-US" sz="1600" dirty="0"/>
          </a:p>
          <a:p>
            <a:endParaRPr lang="zh-CN" altLang="en-US" sz="1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sz="2000" dirty="0">
                <a:sym typeface="+mn-ea"/>
              </a:rPr>
              <a:t>StackOverflowError&amp;OutOfMemoryError区别</a:t>
            </a:r>
            <a:endParaRPr lang="zh-CN" altLang="en-US" sz="2000" dirty="0">
              <a:sym typeface="+mn-ea"/>
            </a:endParaRPr>
          </a:p>
        </p:txBody>
      </p:sp>
      <p:sp>
        <p:nvSpPr>
          <p:cNvPr id="5" name="内容占位符 4"/>
          <p:cNvSpPr>
            <a:spLocks noGrp="1"/>
          </p:cNvSpPr>
          <p:nvPr>
            <p:ph idx="1"/>
          </p:nvPr>
        </p:nvSpPr>
        <p:spPr>
          <a:xfrm>
            <a:off x="656564" y="771550"/>
            <a:ext cx="8011185" cy="3870430"/>
          </a:xfrm>
        </p:spPr>
        <p:txBody>
          <a:bodyPr/>
          <a:lstStyle/>
          <a:p>
            <a:r>
              <a:rPr lang="zh-CN" altLang="en-US" sz="1600" dirty="0"/>
              <a:t>如果在一个线程计算过程中不允许有更大的本地方法栈，那么JVM就抛出StackOverflowError</a:t>
            </a:r>
            <a:endParaRPr lang="zh-CN" altLang="en-US" sz="1600" dirty="0"/>
          </a:p>
          <a:p>
            <a:r>
              <a:rPr lang="zh-CN" altLang="en-US" sz="1600" dirty="0"/>
              <a:t>如果本地方法栈可以动态地扩展，并且本地方法栈尝试过扩展了，但是没有足够的内容分配给它，再或者没有足够的内存为线程建立初始化本地方法栈，那么JVM抛出的就是OutOfMemoryError。</a:t>
            </a:r>
            <a:endParaRPr lang="zh-CN" altLang="en-US" sz="1600" dirty="0"/>
          </a:p>
          <a:p>
            <a:endParaRPr lang="zh-CN" altLang="en-US" sz="1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sz="2000" dirty="0">
                <a:sym typeface="+mn-ea"/>
              </a:rPr>
              <a:t>StackOverflowError&amp;OutOfMemoryError区别</a:t>
            </a:r>
            <a:endParaRPr lang="zh-CN" altLang="en-US" sz="2000" dirty="0">
              <a:sym typeface="+mn-ea"/>
            </a:endParaRPr>
          </a:p>
        </p:txBody>
      </p:sp>
      <p:pic>
        <p:nvPicPr>
          <p:cNvPr id="6" name="图片 5"/>
          <p:cNvPicPr>
            <a:picLocks noChangeAspect="1"/>
          </p:cNvPicPr>
          <p:nvPr/>
        </p:nvPicPr>
        <p:blipFill>
          <a:blip r:embed="rId1"/>
          <a:stretch>
            <a:fillRect/>
          </a:stretch>
        </p:blipFill>
        <p:spPr>
          <a:xfrm>
            <a:off x="730885" y="657225"/>
            <a:ext cx="2742565" cy="2232660"/>
          </a:xfrm>
          <a:prstGeom prst="rect">
            <a:avLst/>
          </a:prstGeom>
        </p:spPr>
      </p:pic>
      <p:pic>
        <p:nvPicPr>
          <p:cNvPr id="7" name="内容占位符 6"/>
          <p:cNvPicPr>
            <a:picLocks noChangeAspect="1"/>
          </p:cNvPicPr>
          <p:nvPr>
            <p:ph idx="1"/>
          </p:nvPr>
        </p:nvPicPr>
        <p:blipFill>
          <a:blip r:embed="rId2"/>
          <a:stretch>
            <a:fillRect/>
          </a:stretch>
        </p:blipFill>
        <p:spPr>
          <a:xfrm>
            <a:off x="730885" y="2889885"/>
            <a:ext cx="3046095" cy="1471295"/>
          </a:xfrm>
          <a:prstGeom prst="rect">
            <a:avLst/>
          </a:prstGeom>
        </p:spPr>
      </p:pic>
      <p:pic>
        <p:nvPicPr>
          <p:cNvPr id="8" name="图片 7"/>
          <p:cNvPicPr>
            <a:picLocks noChangeAspect="1"/>
          </p:cNvPicPr>
          <p:nvPr/>
        </p:nvPicPr>
        <p:blipFill>
          <a:blip r:embed="rId3"/>
          <a:stretch>
            <a:fillRect/>
          </a:stretch>
        </p:blipFill>
        <p:spPr>
          <a:xfrm>
            <a:off x="4625340" y="602615"/>
            <a:ext cx="4267835" cy="1564005"/>
          </a:xfrm>
          <a:prstGeom prst="rect">
            <a:avLst/>
          </a:prstGeom>
        </p:spPr>
      </p:pic>
      <p:pic>
        <p:nvPicPr>
          <p:cNvPr id="9" name="图片 8"/>
          <p:cNvPicPr>
            <a:picLocks noChangeAspect="1"/>
          </p:cNvPicPr>
          <p:nvPr/>
        </p:nvPicPr>
        <p:blipFill>
          <a:blip r:embed="rId4"/>
          <a:stretch>
            <a:fillRect/>
          </a:stretch>
        </p:blipFill>
        <p:spPr>
          <a:xfrm>
            <a:off x="4625975" y="2166620"/>
            <a:ext cx="4267200" cy="1755140"/>
          </a:xfrm>
          <a:prstGeom prst="rect">
            <a:avLst/>
          </a:prstGeom>
        </p:spPr>
      </p:pic>
      <p:sp>
        <p:nvSpPr>
          <p:cNvPr id="10" name="文本框 9"/>
          <p:cNvSpPr txBox="1"/>
          <p:nvPr/>
        </p:nvSpPr>
        <p:spPr>
          <a:xfrm>
            <a:off x="715010" y="4307205"/>
            <a:ext cx="3910330" cy="460375"/>
          </a:xfrm>
          <a:prstGeom prst="rect">
            <a:avLst/>
          </a:prstGeom>
          <a:noFill/>
        </p:spPr>
        <p:txBody>
          <a:bodyPr wrap="square" rtlCol="0" anchor="t">
            <a:spAutoFit/>
          </a:bodyPr>
          <a:p>
            <a:r>
              <a:rPr lang="zh-CN" altLang="en-US" sz="1200"/>
              <a:t>可以看出运行16896次的时候，堆栈就扛不住了，抛出StackOverflowError异常。</a:t>
            </a:r>
            <a:endParaRPr lang="zh-CN" altLang="en-US" sz="1200"/>
          </a:p>
        </p:txBody>
      </p:sp>
      <p:sp>
        <p:nvSpPr>
          <p:cNvPr id="11" name="文本框 10"/>
          <p:cNvSpPr txBox="1"/>
          <p:nvPr/>
        </p:nvSpPr>
        <p:spPr>
          <a:xfrm>
            <a:off x="4438650" y="3968750"/>
            <a:ext cx="4398645" cy="737235"/>
          </a:xfrm>
          <a:prstGeom prst="rect">
            <a:avLst/>
          </a:prstGeom>
          <a:noFill/>
        </p:spPr>
        <p:txBody>
          <a:bodyPr wrap="square" rtlCol="0" anchor="t">
            <a:spAutoFit/>
          </a:bodyPr>
          <a:p>
            <a:r>
              <a:rPr lang="zh-CN" altLang="en-US" sz="1200"/>
              <a:t>我们都知道List是动态增长的么，它不够了就要扩展，不够了就要扩展，但是机器本地内存还是优先的，要是扩展不了了，就抛出OutOfMemoryError</a:t>
            </a:r>
            <a:r>
              <a:rPr lang="zh-CN" altLang="en-US"/>
              <a:t>。</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Exception</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dirty="0"/>
              <a:t>RuntimeException（运行时异常）：RuntimeException是不得不提的一个 Exception 子类。RuntimeException是在 Java 虚拟机正常运行期间抛出的异常的类的超类。在执行方法期间抛出但未被捕获的 RuntimeException 的任何子类都无需在 throws 子句中进行声明。这些异常一般是由程序逻辑错误引起的，程序应该从逻辑角度尽可能避免这类异常的发生。</a:t>
            </a:r>
            <a:r>
              <a:rPr lang="zh-CN" altLang="en-US" sz="1600" dirty="0"/>
              <a:t> </a:t>
            </a:r>
            <a:endParaRPr lang="zh-CN" altLang="en-US" sz="1600" dirty="0"/>
          </a:p>
          <a:p>
            <a:pPr fontAlgn="auto">
              <a:lnSpc>
                <a:spcPct val="115000"/>
              </a:lnSpc>
            </a:pPr>
            <a:endParaRPr lang="zh-CN" alt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Exception</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2000" dirty="0">
                <a:sym typeface="+mn-ea"/>
              </a:rPr>
              <a:t>几个常见的RuntimeException的子类： </a:t>
            </a:r>
            <a:endParaRPr lang="zh-CN" altLang="en-US" sz="2000" dirty="0"/>
          </a:p>
          <a:p>
            <a:pPr fontAlgn="auto">
              <a:lnSpc>
                <a:spcPct val="115000"/>
              </a:lnSpc>
            </a:pPr>
            <a:r>
              <a:rPr lang="zh-CN" altLang="en-US" sz="2000" dirty="0">
                <a:sym typeface="+mn-ea"/>
              </a:rPr>
              <a:t>NullPointerException：当应用程序试图在需要对象的地方使用 null 时，抛出该异常。也就是我们通常所说的空指针异常。 </a:t>
            </a:r>
            <a:endParaRPr lang="zh-CN" altLang="en-US" sz="2000" dirty="0"/>
          </a:p>
          <a:p>
            <a:pPr fontAlgn="auto">
              <a:lnSpc>
                <a:spcPct val="115000"/>
              </a:lnSpc>
            </a:pPr>
            <a:r>
              <a:rPr lang="zh-CN" altLang="en-US" sz="2000" dirty="0">
                <a:sym typeface="+mn-ea"/>
              </a:rPr>
              <a:t>ClassCastException：当试图将对象强制转换为不是实例的子类时，抛出该异常。 </a:t>
            </a:r>
            <a:endParaRPr lang="zh-CN" altLang="en-US" sz="2000" dirty="0"/>
          </a:p>
          <a:p>
            <a:pPr fontAlgn="auto">
              <a:lnSpc>
                <a:spcPct val="115000"/>
              </a:lnSpc>
            </a:pPr>
            <a:r>
              <a:rPr lang="zh-CN" altLang="en-US" sz="2000" dirty="0">
                <a:sym typeface="+mn-ea"/>
              </a:rPr>
              <a:t>ArithmeticException：当出现异常的运算条件时，抛出此异常。例如，一个整数“除以零”时，抛出此类的一个实例。 </a:t>
            </a:r>
            <a:endParaRPr lang="zh-CN" altLang="en-US" sz="2000" dirty="0"/>
          </a:p>
          <a:p>
            <a:pPr fontAlgn="auto">
              <a:lnSpc>
                <a:spcPct val="115000"/>
              </a:lnSpc>
            </a:pPr>
            <a:r>
              <a:rPr lang="zh-CN" altLang="en-US" sz="2000" dirty="0">
                <a:sym typeface="+mn-ea"/>
              </a:rPr>
              <a:t>ArrayIndexOutOfBoundException：指示某排序索引（例如对数组、字符串或向量的排序）超出范围时抛出。也就是我们通常所说的数组越界。</a:t>
            </a:r>
            <a:endParaRPr lang="zh-CN"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sym typeface="+mn-ea"/>
              </a:rPr>
              <a:t>NullPointerException </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为什么会产生空指针异常，我们先来看一下JDK1.6的API：</a:t>
            </a:r>
            <a:endParaRPr lang="zh-CN" altLang="en-US" sz="1600" dirty="0"/>
          </a:p>
          <a:p>
            <a:pPr fontAlgn="auto">
              <a:lnSpc>
                <a:spcPct val="115000"/>
              </a:lnSpc>
            </a:pPr>
            <a:r>
              <a:rPr lang="zh-CN" altLang="en-US" sz="1600" dirty="0"/>
              <a:t>NullPointerException (Java Platform SE 6)</a:t>
            </a:r>
            <a:endParaRPr lang="zh-CN" altLang="en-US" sz="1600" dirty="0"/>
          </a:p>
          <a:p>
            <a:pPr fontAlgn="auto">
              <a:lnSpc>
                <a:spcPct val="115000"/>
              </a:lnSpc>
            </a:pPr>
            <a:r>
              <a:rPr lang="zh-CN" altLang="en-US" sz="1600" dirty="0"/>
              <a:t>public class NullPointerException extends RuntimeExceptionnull</a:t>
            </a:r>
            <a:endParaRPr lang="zh-CN" altLang="en-US" sz="1600" dirty="0"/>
          </a:p>
          <a:p>
            <a:pPr fontAlgn="auto">
              <a:lnSpc>
                <a:spcPct val="115000"/>
              </a:lnSpc>
            </a:pPr>
            <a:r>
              <a:rPr lang="zh-CN" altLang="en-US" sz="1600" dirty="0"/>
              <a:t>   当应用程序试图在需要对象的地方使用时，抛出该异常。这种情况包括：</a:t>
            </a:r>
            <a:endParaRPr lang="zh-CN" altLang="en-US" sz="1600" dirty="0"/>
          </a:p>
          <a:p>
            <a:pPr fontAlgn="auto">
              <a:lnSpc>
                <a:spcPct val="115000"/>
              </a:lnSpc>
            </a:pPr>
            <a:r>
              <a:rPr lang="zh-CN" altLang="en-US" sz="1600" dirty="0"/>
              <a:t>    * 调用 null 对象的实例方法。</a:t>
            </a:r>
            <a:endParaRPr lang="zh-CN" altLang="en-US" sz="1600" dirty="0"/>
          </a:p>
          <a:p>
            <a:pPr fontAlgn="auto">
              <a:lnSpc>
                <a:spcPct val="115000"/>
              </a:lnSpc>
            </a:pPr>
            <a:r>
              <a:rPr lang="zh-CN" altLang="en-US" sz="1600" dirty="0"/>
              <a:t>    * 访问或修改 null 对象的字段。</a:t>
            </a:r>
            <a:endParaRPr lang="zh-CN" altLang="en-US" sz="1600" dirty="0"/>
          </a:p>
          <a:p>
            <a:pPr fontAlgn="auto">
              <a:lnSpc>
                <a:spcPct val="115000"/>
              </a:lnSpc>
            </a:pPr>
            <a:r>
              <a:rPr lang="zh-CN" altLang="en-US" sz="1600" dirty="0"/>
              <a:t>    * 将 null 作为一个数组，获得其长度。</a:t>
            </a:r>
            <a:endParaRPr lang="zh-CN" altLang="en-US" sz="1600" dirty="0"/>
          </a:p>
          <a:p>
            <a:pPr fontAlgn="auto">
              <a:lnSpc>
                <a:spcPct val="115000"/>
              </a:lnSpc>
            </a:pPr>
            <a:r>
              <a:rPr lang="zh-CN" altLang="en-US" sz="1600" dirty="0"/>
              <a:t>    * 将 null 作为一个数组，访问或修改。</a:t>
            </a:r>
            <a:endParaRPr lang="zh-CN" altLang="en-US" sz="1600" dirty="0"/>
          </a:p>
          <a:p>
            <a:pPr fontAlgn="auto">
              <a:lnSpc>
                <a:spcPct val="115000"/>
              </a:lnSpc>
            </a:pPr>
            <a:r>
              <a:rPr lang="zh-CN" altLang="en-US" sz="1600" dirty="0"/>
              <a:t>    * 将 null 作为 Throwable 值抛出。</a:t>
            </a:r>
            <a:endParaRPr lang="zh-CN" altLang="en-US" sz="1600" dirty="0"/>
          </a:p>
          <a:p>
            <a:pPr fontAlgn="auto">
              <a:lnSpc>
                <a:spcPct val="115000"/>
              </a:lnSpc>
            </a:pPr>
            <a:r>
              <a:rPr lang="zh-CN" altLang="en-US" sz="1600" dirty="0"/>
              <a:t>应用程序应该抛出该类的实例，指示其他对 null 对象的非法使用。 </a:t>
            </a:r>
            <a:endParaRPr lang="zh-CN" altLang="en-US" sz="1600" dirty="0"/>
          </a:p>
          <a:p>
            <a:pPr fontAlgn="auto">
              <a:lnSpc>
                <a:spcPct val="115000"/>
              </a:lnSpc>
            </a:pPr>
            <a:r>
              <a:rPr lang="zh-CN" altLang="en-US" sz="1600" dirty="0"/>
              <a:t>由以上说明可以看出，最主要的原因就是调用的对象是NULL</a:t>
            </a:r>
            <a:endParaRPr lang="zh-CN" alt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  </a:t>
            </a:r>
            <a:r>
              <a:rPr lang="zh-CN" altLang="en-US" sz="1800" dirty="0"/>
              <a:t>如何避免空指针异常？最主要的是养成一个好的编码习惯，在对对象进行调用方法、比较等等操作时，要判断一下对象有没有可能会是NULL，提前进行处理。</a:t>
            </a:r>
            <a:endParaRPr lang="zh-CN" altLang="en-US" sz="1800" dirty="0"/>
          </a:p>
          <a:p>
            <a:pPr fontAlgn="auto">
              <a:lnSpc>
                <a:spcPct val="115000"/>
              </a:lnSpc>
            </a:pPr>
            <a:r>
              <a:rPr lang="zh-CN" altLang="en-US" sz="1800" dirty="0"/>
              <a:t>      尤其要注意的是字符比较的时候：为避免出现NullPointerException，</a:t>
            </a:r>
            <a:endParaRPr lang="zh-CN" altLang="en-US" sz="1800" dirty="0"/>
          </a:p>
          <a:p>
            <a:pPr lvl="1" fontAlgn="auto">
              <a:lnSpc>
                <a:spcPct val="115000"/>
              </a:lnSpc>
            </a:pPr>
            <a:r>
              <a:rPr lang="zh-CN" altLang="en-US" sz="1400" dirty="0"/>
              <a:t>不要这么写：str.equals("a");</a:t>
            </a:r>
            <a:endParaRPr lang="zh-CN" altLang="en-US" sz="1400" dirty="0"/>
          </a:p>
          <a:p>
            <a:pPr lvl="1" fontAlgn="auto">
              <a:lnSpc>
                <a:spcPct val="115000"/>
              </a:lnSpc>
            </a:pPr>
            <a:r>
              <a:rPr lang="zh-CN" altLang="en-US" sz="1400" dirty="0"/>
              <a:t>而应该写成这样："a".equals(str);</a:t>
            </a:r>
            <a:endParaRPr lang="zh-CN" altLang="en-US" sz="1400" dirty="0"/>
          </a:p>
          <a:p>
            <a:pPr fontAlgn="auto">
              <a:lnSpc>
                <a:spcPct val="115000"/>
              </a:lnSpc>
            </a:pPr>
            <a:r>
              <a:rPr lang="zh-CN" altLang="en-US" sz="1800" dirty="0"/>
              <a:t>这样就可以避免空指针异常。</a:t>
            </a:r>
            <a:endParaRPr lang="zh-CN" altLang="en-US" sz="1800" dirty="0"/>
          </a:p>
          <a:p>
            <a:pPr fontAlgn="auto">
              <a:lnSpc>
                <a:spcPct val="115000"/>
              </a:lnSpc>
            </a:pPr>
            <a:r>
              <a:rPr lang="zh-CN" altLang="en-US" sz="1800" dirty="0"/>
              <a:t>    至于这两种写法的差异，主要是程序对对象的操作是先判断再执行，就是先判断对象是否存在，然后再去执行其它操作。第一种方式在判断str1的时候，如果str1是null,这是程序肯定会抛出异常，而第二种就OK，不会报异常。</a:t>
            </a:r>
            <a:endParaRPr lang="zh-CN" alt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sym typeface="+mn-ea"/>
              </a:rPr>
              <a:t>ClassCastException</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Animal表示动物，Dog表示狗，是动物的子类，Cat表示猫，是动物的子类。看下面的代码：</a:t>
            </a:r>
            <a:endParaRPr lang="zh-CN" altLang="en-US" sz="1600" dirty="0"/>
          </a:p>
          <a:p>
            <a:pPr fontAlgn="auto">
              <a:lnSpc>
                <a:spcPct val="115000"/>
              </a:lnSpc>
            </a:pPr>
            <a:r>
              <a:rPr lang="zh-CN" altLang="en-US" sz="1600" dirty="0"/>
              <a:t>Animal a1 = new Dog();  // 1</a:t>
            </a:r>
            <a:endParaRPr lang="zh-CN" altLang="en-US" sz="1600" dirty="0"/>
          </a:p>
          <a:p>
            <a:pPr fontAlgn="auto">
              <a:lnSpc>
                <a:spcPct val="115000"/>
              </a:lnSpc>
            </a:pPr>
            <a:r>
              <a:rPr lang="zh-CN" altLang="en-US" sz="1600" dirty="0"/>
              <a:t>Animal a2 = new Cat();  // 2</a:t>
            </a:r>
            <a:endParaRPr lang="zh-CN" altLang="en-US" sz="1600" dirty="0"/>
          </a:p>
          <a:p>
            <a:pPr fontAlgn="auto">
              <a:lnSpc>
                <a:spcPct val="115000"/>
              </a:lnSpc>
            </a:pPr>
            <a:r>
              <a:rPr lang="zh-CN" altLang="en-US" sz="1600" dirty="0"/>
              <a:t>Dog d1 = (Dog)a1;         //3</a:t>
            </a:r>
            <a:endParaRPr lang="zh-CN" altLang="en-US" sz="1600" dirty="0"/>
          </a:p>
          <a:p>
            <a:pPr fontAlgn="auto">
              <a:lnSpc>
                <a:spcPct val="115000"/>
              </a:lnSpc>
            </a:pPr>
            <a:r>
              <a:rPr lang="zh-CN" altLang="en-US" sz="1600" dirty="0"/>
              <a:t>Dog d2 = (Dog)a2;        //4</a:t>
            </a:r>
            <a:endParaRPr lang="zh-CN" altLang="en-US" sz="1600" dirty="0"/>
          </a:p>
          <a:p>
            <a:pPr fontAlgn="auto">
              <a:lnSpc>
                <a:spcPct val="115000"/>
              </a:lnSpc>
            </a:pPr>
            <a:r>
              <a:rPr lang="zh-CN" altLang="en-US" sz="1600" dirty="0"/>
              <a:t>第3行代码和第4行代码基本相同，从字面意思看都是把动物（Animal）强制转换为狗（Dog），但是第4行代码将产生Java.lang.ClassCastException。原因是你要把一个猫（a2这只动物是猫）转换成狗，而第3行中是把狗转换成狗，所以可以。</a:t>
            </a:r>
            <a:endParaRPr lang="zh-CN" altLang="en-US" sz="1600" dirty="0"/>
          </a:p>
          <a:p>
            <a:pPr fontAlgn="auto">
              <a:lnSpc>
                <a:spcPct val="115000"/>
              </a:lnSpc>
            </a:pPr>
            <a:endParaRPr lang="zh-CN" alt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sym typeface="+mn-ea"/>
              </a:rPr>
              <a:t>ClassCastException</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sym typeface="+mn-ea"/>
              </a:rPr>
              <a:t>从上面的例子看，java.lang.ClassCastException是进行强制类型转换的时候产生的异常，强制类型转换的前提是父类引用指向的对象的类型是子类的时候才可以进行强制类型转换，如果父类引用指向的对象的类型不是子类的时候将产生java.lang.ClassCastException异常。就是上面a1和a2都是动物，但是a1这只动物是一只狗，而a2这只动物是猫，所以要把a1转换成狗可以，因为a1本身就是狗，而a2是一只猫，所以要转换成狗就出错了。</a:t>
            </a:r>
            <a:endParaRPr lang="zh-CN" altLang="en-US" sz="1600" dirty="0"/>
          </a:p>
          <a:p>
            <a:pPr fontAlgn="auto">
              <a:lnSpc>
                <a:spcPct val="115000"/>
              </a:lnSpc>
            </a:pPr>
            <a:r>
              <a:rPr lang="zh-CN" altLang="en-US" sz="1600" dirty="0">
                <a:sym typeface="+mn-ea"/>
              </a:rPr>
              <a:t>遇到这样的异常的时候如何解决呢？如果你知道要访问的对象的具体类型，直接转换成该类型即可。如果不能确定类型可以通过下面的两种方式进行处理（假设对象为o）：</a:t>
            </a:r>
            <a:endParaRPr lang="zh-CN" altLang="en-US" sz="1600" dirty="0"/>
          </a:p>
          <a:p>
            <a:pPr fontAlgn="auto">
              <a:lnSpc>
                <a:spcPct val="115000"/>
              </a:lnSpc>
            </a:pPr>
            <a:r>
              <a:rPr lang="zh-CN" altLang="en-US" sz="1600" dirty="0">
                <a:sym typeface="+mn-ea"/>
              </a:rPr>
              <a:t>1、通过o.getClass().getName()得到具体的类型，可以通过输出语句输出这个类型，然后根据类型进行进行具体的处理。</a:t>
            </a:r>
            <a:endParaRPr lang="zh-CN" altLang="en-US" sz="1600" dirty="0"/>
          </a:p>
          <a:p>
            <a:pPr fontAlgn="auto">
              <a:lnSpc>
                <a:spcPct val="115000"/>
              </a:lnSpc>
            </a:pPr>
            <a:r>
              <a:rPr lang="zh-CN" altLang="en-US" sz="1600" dirty="0">
                <a:sym typeface="+mn-ea"/>
              </a:rPr>
              <a:t>2、通过if(o instanceof 类型)的语句来判断o的类型是什么。</a:t>
            </a:r>
            <a:endParaRPr lang="zh-CN" alt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运行时异常：</a:t>
            </a:r>
            <a:endParaRPr lang="zh-CN" altLang="en-US" dirty="0"/>
          </a:p>
        </p:txBody>
      </p:sp>
      <p:sp>
        <p:nvSpPr>
          <p:cNvPr id="8" name="内容占位符 7"/>
          <p:cNvSpPr>
            <a:spLocks noGrp="1"/>
          </p:cNvSpPr>
          <p:nvPr>
            <p:ph idx="1"/>
          </p:nvPr>
        </p:nvSpPr>
        <p:spPr/>
        <p:txBody>
          <a:bodyPr/>
          <a:lstStyle/>
          <a:p>
            <a:pPr fontAlgn="auto">
              <a:lnSpc>
                <a:spcPct val="115000"/>
              </a:lnSpc>
            </a:pPr>
            <a:r>
              <a:rPr lang="en-US" altLang="zh-CN" sz="1600" dirty="0"/>
              <a:t>try-catch-finally</a:t>
            </a:r>
            <a:r>
              <a:rPr lang="zh-CN" altLang="en-US" sz="1600" dirty="0"/>
              <a:t>使用注意事项：</a:t>
            </a:r>
            <a:endParaRPr lang="zh-CN" altLang="en-US" sz="1600" dirty="0"/>
          </a:p>
          <a:p>
            <a:pPr lvl="1" fontAlgn="auto">
              <a:lnSpc>
                <a:spcPct val="115000"/>
              </a:lnSpc>
            </a:pPr>
            <a:r>
              <a:rPr lang="zh-CN" altLang="en-US" sz="1330" dirty="0"/>
              <a:t>尽量不要将try…catch写在循环中</a:t>
            </a:r>
            <a:endParaRPr lang="zh-CN" altLang="en-US" sz="1330" dirty="0"/>
          </a:p>
          <a:p>
            <a:pPr lvl="1" fontAlgn="auto">
              <a:lnSpc>
                <a:spcPct val="115000"/>
              </a:lnSpc>
            </a:pPr>
            <a:r>
              <a:rPr lang="zh-CN" altLang="en-US" sz="1330" dirty="0"/>
              <a:t>如果能捕获多个异常,那么先捕获小异常,再捕获大异常</a:t>
            </a:r>
            <a:endParaRPr lang="zh-CN" altLang="en-US" sz="1330" dirty="0"/>
          </a:p>
          <a:p>
            <a:pPr lvl="1" fontAlgn="auto">
              <a:lnSpc>
                <a:spcPct val="115000"/>
              </a:lnSpc>
            </a:pPr>
            <a:r>
              <a:rPr lang="zh-CN" altLang="en-US" sz="1330" dirty="0"/>
              <a:t>try{ .....}代码块里面的代码尽量的少,避免出现大段大段的代码</a:t>
            </a:r>
            <a:endParaRPr lang="zh-CN" altLang="en-US" sz="1330" dirty="0"/>
          </a:p>
          <a:p>
            <a:pPr lvl="1" fontAlgn="auto">
              <a:lnSpc>
                <a:spcPct val="115000"/>
              </a:lnSpc>
            </a:pPr>
            <a:r>
              <a:rPr lang="zh-CN" altLang="en-US" sz="1330" dirty="0"/>
              <a:t>catch( ) 尽量避免使用万能代码捕获所有的异常,比如</a:t>
            </a:r>
            <a:endParaRPr lang="zh-CN" altLang="en-US" sz="1330" dirty="0"/>
          </a:p>
          <a:p>
            <a:pPr lvl="2" fontAlgn="auto">
              <a:lnSpc>
                <a:spcPct val="115000"/>
              </a:lnSpc>
            </a:pPr>
            <a:r>
              <a:rPr lang="zh-CN" altLang="en-US" sz="1195" dirty="0"/>
              <a:t>try { </a:t>
            </a:r>
            <a:endParaRPr lang="zh-CN" altLang="en-US" sz="1195" dirty="0"/>
          </a:p>
          <a:p>
            <a:pPr lvl="2" fontAlgn="auto">
              <a:lnSpc>
                <a:spcPct val="115000"/>
              </a:lnSpc>
            </a:pPr>
            <a:r>
              <a:rPr lang="zh-CN" altLang="en-US" sz="1195" dirty="0"/>
              <a:t>    //代码</a:t>
            </a:r>
            <a:endParaRPr lang="zh-CN" altLang="en-US" sz="1195" dirty="0"/>
          </a:p>
          <a:p>
            <a:pPr lvl="2" fontAlgn="auto">
              <a:lnSpc>
                <a:spcPct val="115000"/>
              </a:lnSpc>
            </a:pPr>
            <a:r>
              <a:rPr lang="zh-CN" altLang="en-US" sz="1195" dirty="0"/>
              <a:t>} catch (Throwable t) {//这样写就捕获了所有异常,不便于区分处理</a:t>
            </a:r>
            <a:endParaRPr lang="zh-CN" altLang="en-US" sz="1195" dirty="0"/>
          </a:p>
          <a:p>
            <a:pPr lvl="2" fontAlgn="auto">
              <a:lnSpc>
                <a:spcPct val="115000"/>
              </a:lnSpc>
            </a:pPr>
            <a:r>
              <a:rPr lang="zh-CN" altLang="en-US" sz="1195" dirty="0"/>
              <a:t>                        //Throwable 是错误和异常的父类</a:t>
            </a:r>
            <a:endParaRPr lang="zh-CN" altLang="en-US" sz="1195" dirty="0"/>
          </a:p>
          <a:p>
            <a:pPr lvl="2" fontAlgn="auto">
              <a:lnSpc>
                <a:spcPct val="115000"/>
              </a:lnSpc>
            </a:pPr>
            <a:r>
              <a:rPr lang="zh-CN" altLang="en-US" sz="1195" dirty="0"/>
              <a:t>}</a:t>
            </a:r>
            <a:endParaRPr lang="zh-CN" altLang="en-US" sz="119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简介</a:t>
            </a:r>
            <a:endParaRPr lang="zh-CN" altLang="en-US" sz="1600" dirty="0"/>
          </a:p>
          <a:p>
            <a:pPr lvl="1" fontAlgn="auto">
              <a:lnSpc>
                <a:spcPct val="115000"/>
              </a:lnSpc>
            </a:pPr>
            <a:r>
              <a:rPr lang="zh-CN" altLang="en-US" sz="1330" dirty="0"/>
              <a:t>java.lang.Math 类包含的方法进行基本的数字操作，如基本的指数，对数，平方根和三角函数等.</a:t>
            </a:r>
            <a:endParaRPr lang="zh-CN" altLang="en-US" sz="1330" dirty="0"/>
          </a:p>
          <a:p>
            <a:pPr fontAlgn="auto">
              <a:lnSpc>
                <a:spcPct val="115000"/>
              </a:lnSpc>
            </a:pPr>
            <a:r>
              <a:rPr lang="zh-CN" altLang="en-US" sz="1330" dirty="0"/>
              <a:t>math类包含完成基本数学函数所需的方法。这些方法基本可以分为三类：三角函数方法、指数函数方法和服务方法。在math类中定义了PI和E两个double型常量，</a:t>
            </a:r>
            <a:endParaRPr lang="zh-CN" altLang="en-US" sz="1330" dirty="0"/>
          </a:p>
          <a:p>
            <a:pPr fontAlgn="auto">
              <a:lnSpc>
                <a:spcPct val="115000"/>
              </a:lnSpc>
            </a:pPr>
            <a:endParaRPr lang="zh-CN" altLang="en-US" sz="1330" dirty="0"/>
          </a:p>
          <a:p>
            <a:pPr fontAlgn="auto">
              <a:lnSpc>
                <a:spcPct val="115000"/>
              </a:lnSpc>
            </a:pPr>
            <a:r>
              <a:rPr lang="zh-CN" altLang="en-US" sz="1330" dirty="0"/>
              <a:t>PI就是π的值，而E即e指数底的值，分别是：3.141592653589793和2.718281828459045；</a:t>
            </a:r>
            <a:endParaRPr lang="zh-CN" altLang="en-US" sz="13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三角函数方法</a:t>
            </a:r>
            <a:endParaRPr lang="zh-CN" altLang="en-US" sz="1600" dirty="0"/>
          </a:p>
          <a:p>
            <a:pPr fontAlgn="auto">
              <a:lnSpc>
                <a:spcPct val="115000"/>
              </a:lnSpc>
            </a:pPr>
            <a:r>
              <a:rPr lang="zh-CN" altLang="en-US" sz="1600" dirty="0"/>
              <a:t>　　math类包含下面的三角函数方法：</a:t>
            </a:r>
            <a:endParaRPr lang="zh-CN" altLang="en-US" sz="1600" dirty="0"/>
          </a:p>
          <a:p>
            <a:pPr fontAlgn="auto">
              <a:lnSpc>
                <a:spcPct val="115000"/>
              </a:lnSpc>
            </a:pPr>
            <a:endParaRPr lang="zh-CN" altLang="en-US" sz="1600" dirty="0"/>
          </a:p>
          <a:p>
            <a:pPr lvl="1" fontAlgn="auto">
              <a:lnSpc>
                <a:spcPct val="115000"/>
              </a:lnSpc>
            </a:pPr>
            <a:r>
              <a:rPr lang="zh-CN" altLang="en-US" sz="1330" dirty="0"/>
              <a:t>Math.toDegrees这个方法是将-π/2到π/2之间的弧度值转化为度，例如：Math.toDegrees(Math.PI/2)结果为90.0；</a:t>
            </a:r>
            <a:endParaRPr lang="zh-CN" altLang="en-US" sz="1330" dirty="0"/>
          </a:p>
          <a:p>
            <a:pPr lvl="1" fontAlgn="auto">
              <a:lnSpc>
                <a:spcPct val="115000"/>
              </a:lnSpc>
            </a:pPr>
            <a:r>
              <a:rPr lang="zh-CN" altLang="en-US" sz="1330" dirty="0"/>
              <a:t>Math.toRadians这个方法是将度转化为-π/2到π/2之间的弧度值，例如：Math.toRadians(30)结果为 π/6；</a:t>
            </a:r>
            <a:endParaRPr lang="zh-CN" altLang="en-US" sz="1330" dirty="0"/>
          </a:p>
          <a:p>
            <a:pPr lvl="1" fontAlgn="auto">
              <a:lnSpc>
                <a:spcPct val="115000"/>
              </a:lnSpc>
            </a:pPr>
            <a:r>
              <a:rPr lang="zh-CN" altLang="en-US" sz="1330" dirty="0"/>
              <a:t>Math.sin、Math.cos、Math.tan这三个方法是三角函数中的正弦、余弦和正切，反之Math.asin、Math.acos、Math.atan是他们的反函数；</a:t>
            </a:r>
            <a:endParaRPr lang="zh-CN" altLang="en-US" sz="13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指数函数方法</a:t>
            </a:r>
            <a:endParaRPr lang="zh-CN" altLang="en-US" sz="1600" dirty="0"/>
          </a:p>
          <a:p>
            <a:pPr fontAlgn="auto">
              <a:lnSpc>
                <a:spcPct val="115000"/>
              </a:lnSpc>
            </a:pPr>
            <a:r>
              <a:rPr lang="zh-CN" altLang="en-US" sz="1600" dirty="0"/>
              <a:t>　　</a:t>
            </a:r>
            <a:r>
              <a:rPr lang="en-US" altLang="zh-CN" sz="1600" dirty="0"/>
              <a:t>Math</a:t>
            </a:r>
            <a:r>
              <a:rPr lang="zh-CN" altLang="en-US" sz="1600" dirty="0"/>
              <a:t>类中有五个与指数函数相关的方法：</a:t>
            </a:r>
            <a:endParaRPr lang="zh-CN" altLang="en-US" sz="1600" dirty="0"/>
          </a:p>
          <a:p>
            <a:pPr lvl="1" fontAlgn="auto">
              <a:lnSpc>
                <a:spcPct val="115000"/>
              </a:lnSpc>
            </a:pPr>
            <a:r>
              <a:rPr lang="zh-CN" altLang="en-US" sz="1330" dirty="0"/>
              <a:t>Math.exp(a)方法主要是获得以e为底a为指数的数值；</a:t>
            </a:r>
            <a:endParaRPr lang="zh-CN" altLang="en-US" sz="1330" dirty="0"/>
          </a:p>
          <a:p>
            <a:pPr lvl="1" fontAlgn="auto">
              <a:lnSpc>
                <a:spcPct val="115000"/>
              </a:lnSpc>
            </a:pPr>
            <a:r>
              <a:rPr lang="zh-CN" altLang="en-US" sz="1330" dirty="0"/>
              <a:t>Math.log()和Math.log10()是对数函数；</a:t>
            </a:r>
            <a:endParaRPr lang="zh-CN" altLang="en-US" sz="1330" dirty="0"/>
          </a:p>
          <a:p>
            <a:pPr lvl="1" fontAlgn="auto">
              <a:lnSpc>
                <a:spcPct val="115000"/>
              </a:lnSpc>
            </a:pPr>
            <a:r>
              <a:rPr lang="zh-CN" altLang="en-US" sz="1330" dirty="0"/>
              <a:t>Math.pow(a,b)是以a为底b为指数的值；</a:t>
            </a:r>
            <a:endParaRPr lang="zh-CN" altLang="en-US" sz="1330" dirty="0"/>
          </a:p>
          <a:p>
            <a:pPr lvl="1" fontAlgn="auto">
              <a:lnSpc>
                <a:spcPct val="115000"/>
              </a:lnSpc>
            </a:pPr>
            <a:r>
              <a:rPr lang="zh-CN" altLang="en-US" sz="1330" dirty="0"/>
              <a:t>Math.sqrt() 是开根号。</a:t>
            </a:r>
            <a:endParaRPr lang="zh-CN" altLang="en-US" sz="13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取整方法</a:t>
            </a:r>
            <a:endParaRPr lang="zh-CN" altLang="en-US" sz="1600" dirty="0"/>
          </a:p>
          <a:p>
            <a:pPr fontAlgn="auto">
              <a:lnSpc>
                <a:spcPct val="115000"/>
              </a:lnSpc>
            </a:pPr>
            <a:endParaRPr lang="zh-CN" altLang="en-US" sz="1600" dirty="0"/>
          </a:p>
          <a:p>
            <a:pPr fontAlgn="auto">
              <a:lnSpc>
                <a:spcPct val="115000"/>
              </a:lnSpc>
            </a:pPr>
            <a:r>
              <a:rPr lang="zh-CN" altLang="en-US" sz="1600" dirty="0"/>
              <a:t>　　</a:t>
            </a:r>
            <a:r>
              <a:rPr lang="en-US" altLang="zh-CN" sz="1600" dirty="0"/>
              <a:t>Math</a:t>
            </a:r>
            <a:r>
              <a:rPr lang="zh-CN" altLang="en-US" sz="1600" dirty="0"/>
              <a:t>类里包含四个取整方法：</a:t>
            </a:r>
            <a:endParaRPr lang="zh-CN" altLang="en-US" sz="1600" dirty="0"/>
          </a:p>
          <a:p>
            <a:pPr fontAlgn="auto">
              <a:lnSpc>
                <a:spcPct val="115000"/>
              </a:lnSpc>
            </a:pPr>
            <a:endParaRPr lang="zh-CN" altLang="en-US" sz="1600" dirty="0"/>
          </a:p>
          <a:p>
            <a:pPr lvl="1" fontAlgn="auto">
              <a:lnSpc>
                <a:spcPct val="115000"/>
              </a:lnSpc>
            </a:pPr>
            <a:r>
              <a:rPr lang="zh-CN" altLang="en-US" sz="1330" dirty="0"/>
              <a:t>math.ceil()方法是往大里取值</a:t>
            </a:r>
            <a:r>
              <a:rPr lang="en-US" altLang="zh-CN" sz="1330" dirty="0"/>
              <a:t>;	Math.ceil(-10.1)=-10.0   Math.ceil(10.7)=11.0</a:t>
            </a:r>
            <a:endParaRPr lang="en-US" altLang="zh-CN" sz="1330" dirty="0"/>
          </a:p>
          <a:p>
            <a:pPr lvl="1" fontAlgn="auto">
              <a:lnSpc>
                <a:spcPct val="115000"/>
              </a:lnSpc>
            </a:pPr>
            <a:r>
              <a:rPr lang="zh-CN" altLang="en-US" sz="1330" dirty="0"/>
              <a:t>math.floor()方法是往小里面取值；</a:t>
            </a:r>
            <a:r>
              <a:rPr lang="en-US" altLang="zh-CN" sz="1330" dirty="0"/>
              <a:t>	</a:t>
            </a:r>
            <a:r>
              <a:rPr lang="zh-CN" altLang="en-US" sz="1330" dirty="0"/>
              <a:t>Math.floor(-10.1)</a:t>
            </a:r>
            <a:r>
              <a:rPr lang="en-US" altLang="zh-CN" sz="1330" dirty="0"/>
              <a:t>=-11 .0 Math.floor(10.7)=10.0</a:t>
            </a:r>
            <a:endParaRPr lang="en-US" altLang="zh-CN" sz="1330" dirty="0"/>
          </a:p>
          <a:p>
            <a:pPr lvl="1" fontAlgn="auto">
              <a:lnSpc>
                <a:spcPct val="115000"/>
              </a:lnSpc>
            </a:pPr>
            <a:r>
              <a:rPr lang="zh-CN" altLang="en-US" sz="1330" dirty="0"/>
              <a:t>math.rint()方法是四舍五入方式取值； Math.rint(10.1)</a:t>
            </a:r>
            <a:r>
              <a:rPr lang="en-US" altLang="zh-CN" sz="1330" dirty="0"/>
              <a:t>=10.0  Math.rint(10.7)=11.0</a:t>
            </a:r>
            <a:endParaRPr lang="en-US" altLang="zh-CN" sz="1330" dirty="0"/>
          </a:p>
          <a:p>
            <a:pPr lvl="2" fontAlgn="auto">
              <a:lnSpc>
                <a:spcPct val="115000"/>
              </a:lnSpc>
            </a:pPr>
            <a:r>
              <a:rPr lang="en-US" altLang="zh-CN" sz="1330" dirty="0">
                <a:sym typeface="+mn-ea"/>
              </a:rPr>
              <a:t>rint 四舍五入，返回double值 </a:t>
            </a:r>
            <a:endParaRPr lang="en-US" altLang="zh-CN" sz="1330" dirty="0"/>
          </a:p>
          <a:p>
            <a:pPr lvl="2" fontAlgn="auto">
              <a:lnSpc>
                <a:spcPct val="115000"/>
              </a:lnSpc>
            </a:pPr>
            <a:r>
              <a:rPr lang="en-US" altLang="zh-CN" sz="1330" dirty="0">
                <a:sym typeface="+mn-ea"/>
              </a:rPr>
              <a:t> * 注意.5的时候会取偶数 </a:t>
            </a:r>
            <a:endParaRPr lang="en-US" altLang="zh-CN" sz="1195" dirty="0"/>
          </a:p>
          <a:p>
            <a:pPr lvl="1" fontAlgn="auto">
              <a:lnSpc>
                <a:spcPct val="115000"/>
              </a:lnSpc>
            </a:pPr>
            <a:r>
              <a:rPr lang="zh-CN" altLang="en-US" sz="1330" dirty="0"/>
              <a:t>math.round方法分两种int型和long型；</a:t>
            </a:r>
            <a:endParaRPr lang="zh-CN" altLang="en-US" sz="1330" dirty="0"/>
          </a:p>
          <a:p>
            <a:pPr lvl="2" fontAlgn="auto">
              <a:lnSpc>
                <a:spcPct val="115000"/>
              </a:lnSpc>
            </a:pPr>
            <a:r>
              <a:rPr lang="en-US" altLang="zh-CN" sz="1195" dirty="0">
                <a:sym typeface="+mn-ea"/>
              </a:rPr>
              <a:t>float时返回int值，double时返回long值 </a:t>
            </a:r>
            <a:endParaRPr lang="zh-CN" altLang="en-US" sz="1195" dirty="0"/>
          </a:p>
          <a:p>
            <a:pPr marL="457200" lvl="1" indent="0" fontAlgn="auto">
              <a:lnSpc>
                <a:spcPct val="115000"/>
              </a:lnSpc>
              <a:buNone/>
            </a:pPr>
            <a:endParaRPr lang="zh-CN" altLang="en-US" sz="13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min、max和abs方法</a:t>
            </a:r>
            <a:endParaRPr lang="zh-CN" altLang="en-US" sz="1600" dirty="0"/>
          </a:p>
          <a:p>
            <a:pPr fontAlgn="auto">
              <a:lnSpc>
                <a:spcPct val="115000"/>
              </a:lnSpc>
            </a:pPr>
            <a:r>
              <a:rPr lang="zh-CN" altLang="en-US" sz="1600" dirty="0"/>
              <a:t>　　他们是取最大值和最小值以及绝对值。</a:t>
            </a:r>
            <a:endParaRPr lang="zh-CN" altLang="en-US" sz="1600" dirty="0"/>
          </a:p>
          <a:p>
            <a:pPr fontAlgn="auto">
              <a:lnSpc>
                <a:spcPct val="115000"/>
              </a:lnSpc>
            </a:pPr>
            <a:endParaRPr lang="zh-CN" altLang="en-US" sz="1600" dirty="0"/>
          </a:p>
          <a:p>
            <a:pPr fontAlgn="auto">
              <a:lnSpc>
                <a:spcPct val="115000"/>
              </a:lnSpc>
            </a:pPr>
            <a:r>
              <a:rPr lang="zh-CN" altLang="en-US" sz="1600" dirty="0"/>
              <a:t>random方法</a:t>
            </a:r>
            <a:endParaRPr lang="zh-CN" altLang="en-US" sz="1600" dirty="0"/>
          </a:p>
          <a:p>
            <a:pPr fontAlgn="auto">
              <a:lnSpc>
                <a:spcPct val="115000"/>
              </a:lnSpc>
            </a:pPr>
            <a:r>
              <a:rPr lang="zh-CN" altLang="en-US" sz="1600" dirty="0"/>
              <a:t>　　生成随机数取值范围是0.0到1.0的double型数值。也可以用简单的表达式生成任意范围的随机数例如：（int）(Math.random()*10) 返回0到9之间的一个随机整数。</a:t>
            </a:r>
            <a:endParaRPr lang="zh-CN" alt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67A7DA-86D1-420F-A51D-4AFD9CBED3AA}" type="datetime1">
              <a:rPr lang="zh-CN" altLang="en-US" smtClean="0"/>
            </a:fld>
            <a:endParaRPr lang="zh-CN" altLang="en-US" dirty="0"/>
          </a:p>
        </p:txBody>
      </p:sp>
      <p:sp>
        <p:nvSpPr>
          <p:cNvPr id="3" name="灯片编号占位符 2"/>
          <p:cNvSpPr>
            <a:spLocks noGrp="1"/>
          </p:cNvSpPr>
          <p:nvPr>
            <p:ph type="sldNum" sz="quarter" idx="12"/>
          </p:nvPr>
        </p:nvSpPr>
        <p:spPr/>
        <p:txBody>
          <a:bodyPr/>
          <a:lstStyle/>
          <a:p>
            <a:fld id="{68A76D54-3549-4889-A063-7624046C7348}" type="slidenum">
              <a:rPr lang="zh-CN" altLang="en-US" smtClean="0"/>
            </a:fld>
            <a:endParaRPr lang="zh-CN" altLang="en-US" dirty="0"/>
          </a:p>
        </p:txBody>
      </p:sp>
      <p:sp>
        <p:nvSpPr>
          <p:cNvPr id="4" name="标题 3"/>
          <p:cNvSpPr>
            <a:spLocks noGrp="1"/>
          </p:cNvSpPr>
          <p:nvPr>
            <p:ph type="title"/>
          </p:nvPr>
        </p:nvSpPr>
        <p:spPr/>
        <p:txBody>
          <a:bodyPr/>
          <a:lstStyle/>
          <a:p>
            <a:r>
              <a:rPr lang="en-US" altLang="zh-CN" dirty="0"/>
              <a:t>Math</a:t>
            </a:r>
            <a:r>
              <a:rPr lang="zh-CN" altLang="en-US" dirty="0"/>
              <a:t>：</a:t>
            </a:r>
            <a:endParaRPr lang="zh-CN" altLang="en-US" dirty="0"/>
          </a:p>
        </p:txBody>
      </p:sp>
      <p:sp>
        <p:nvSpPr>
          <p:cNvPr id="8" name="内容占位符 7"/>
          <p:cNvSpPr>
            <a:spLocks noGrp="1"/>
          </p:cNvSpPr>
          <p:nvPr>
            <p:ph idx="1"/>
          </p:nvPr>
        </p:nvSpPr>
        <p:spPr/>
        <p:txBody>
          <a:bodyPr/>
          <a:lstStyle/>
          <a:p>
            <a:pPr fontAlgn="auto">
              <a:lnSpc>
                <a:spcPct val="115000"/>
              </a:lnSpc>
            </a:pPr>
            <a:r>
              <a:rPr lang="zh-CN" altLang="en-US" sz="1600" dirty="0"/>
              <a:t>工具方法：</a:t>
            </a:r>
            <a:endParaRPr lang="zh-CN" altLang="en-US" sz="1600" dirty="0"/>
          </a:p>
          <a:p>
            <a:pPr lvl="1" fontAlgn="auto">
              <a:lnSpc>
                <a:spcPct val="115000"/>
              </a:lnSpc>
            </a:pPr>
            <a:r>
              <a:rPr lang="zh-CN" altLang="en-US" sz="1330" dirty="0"/>
              <a:t>Math.copySign（</a:t>
            </a:r>
            <a:r>
              <a:rPr lang="en-US" altLang="zh-CN" sz="1330" dirty="0"/>
              <a:t>a1,a2</a:t>
            </a:r>
            <a:r>
              <a:rPr lang="zh-CN" altLang="en-US" sz="1330" dirty="0"/>
              <a:t>）返回一个与第二个参数相同的标志（正负号）的值 </a:t>
            </a:r>
            <a:endParaRPr lang="zh-CN" altLang="en-US" sz="1330" dirty="0"/>
          </a:p>
          <a:p>
            <a:pPr lvl="2" fontAlgn="auto">
              <a:lnSpc>
                <a:spcPct val="115000"/>
              </a:lnSpc>
            </a:pPr>
            <a:r>
              <a:rPr lang="zh-CN" altLang="en-US" sz="1195" dirty="0"/>
              <a:t>Math.copySign(-1.9, 2.9)</a:t>
            </a:r>
            <a:r>
              <a:rPr lang="en-US" altLang="zh-CN" sz="1195" dirty="0"/>
              <a:t>=1.9	</a:t>
            </a:r>
            <a:endParaRPr lang="en-US" altLang="zh-CN" sz="1195" dirty="0"/>
          </a:p>
          <a:p>
            <a:pPr lvl="2" fontAlgn="auto">
              <a:lnSpc>
                <a:spcPct val="115000"/>
              </a:lnSpc>
            </a:pPr>
            <a:r>
              <a:rPr lang="zh-CN" altLang="en-US" sz="1195" dirty="0"/>
              <a:t>Math.copySign(1.9, -2.9) </a:t>
            </a:r>
            <a:r>
              <a:rPr lang="en-US" altLang="zh-CN" sz="1195" dirty="0"/>
              <a:t>=-1.9</a:t>
            </a:r>
            <a:endParaRPr lang="en-US" altLang="zh-CN" sz="1195" dirty="0"/>
          </a:p>
          <a:p>
            <a:pPr lvl="2" fontAlgn="auto">
              <a:lnSpc>
                <a:spcPct val="115000"/>
              </a:lnSpc>
            </a:pPr>
            <a:r>
              <a:rPr lang="zh-CN" altLang="en-US" sz="1195" dirty="0"/>
              <a:t>Math.copySign(0.0, 2.9)  </a:t>
            </a:r>
            <a:r>
              <a:rPr lang="en-US" altLang="zh-CN" sz="1195" dirty="0"/>
              <a:t>=0.0</a:t>
            </a:r>
            <a:endParaRPr lang="en-US" altLang="zh-CN" sz="1195" dirty="0"/>
          </a:p>
          <a:p>
            <a:pPr lvl="2" fontAlgn="auto">
              <a:lnSpc>
                <a:spcPct val="115000"/>
              </a:lnSpc>
            </a:pPr>
            <a:r>
              <a:rPr lang="zh-CN" altLang="en-US" sz="1195" dirty="0"/>
              <a:t>Math.copySign(0.0, -2.9)</a:t>
            </a:r>
            <a:r>
              <a:rPr lang="en-US" altLang="zh-CN" sz="1195" dirty="0"/>
              <a:t>=-0.0</a:t>
            </a:r>
            <a:endParaRPr lang="en-US" altLang="zh-CN" sz="119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latin typeface="微软雅黑" panose="020B0503020204020204" pitchFamily="34" charset="-122"/>
                <a:ea typeface="微软雅黑" panose="020B0503020204020204" pitchFamily="34" charset="-122"/>
              </a:rPr>
              <a:t>谢 谢</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4691</Words>
  <Application>WPS 演示</Application>
  <PresentationFormat>全屏显示(16:9)</PresentationFormat>
  <Paragraphs>283</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宋体</vt:lpstr>
      <vt:lpstr>Wingdings</vt:lpstr>
      <vt:lpstr>微软雅黑</vt:lpstr>
      <vt:lpstr>Exo</vt:lpstr>
      <vt:lpstr>Arial Black</vt:lpstr>
      <vt:lpstr>黑体</vt:lpstr>
      <vt:lpstr>Arial Unicode MS</vt:lpstr>
      <vt:lpstr>Calibri</vt:lpstr>
      <vt:lpstr>Segoe Print</vt:lpstr>
      <vt:lpstr>Office 主题​​</vt:lpstr>
      <vt:lpstr>PowerPoint 演示文稿</vt:lpstr>
      <vt:lpstr>PowerPoint 演示文稿</vt:lpstr>
      <vt:lpstr>Java异常的分类 </vt:lpstr>
      <vt:lpstr>PowerPoint 演示文稿</vt:lpstr>
      <vt:lpstr>Error</vt:lpstr>
      <vt:lpstr>Error</vt:lpstr>
      <vt:lpstr>OutOfMemoryError</vt:lpstr>
      <vt:lpstr>OutOfMemoryError</vt:lpstr>
      <vt:lpstr>OutOfMemoryError</vt:lpstr>
      <vt:lpstr>StackOverflowError&amp;OutOfMemoryError区别</vt:lpstr>
      <vt:lpstr>Exception：</vt:lpstr>
      <vt:lpstr>Exception：</vt:lpstr>
      <vt:lpstr>NullPointerException ：</vt:lpstr>
      <vt:lpstr>PowerPoint 演示文稿</vt:lpstr>
      <vt:lpstr>ClassCastException：</vt:lpstr>
      <vt:lpstr>ClassCastException：</vt:lpstr>
      <vt:lpstr>运行时异常：</vt:lpstr>
      <vt:lpstr>Math：</vt:lpstr>
      <vt:lpstr>Math：</vt:lpstr>
      <vt:lpstr>Math：</vt:lpstr>
      <vt:lpstr>Math：</vt:lpstr>
      <vt:lpstr>Math：</vt:lpstr>
      <vt:lpstr>Math：</vt:lpstr>
      <vt:lpstr>谢 谢</vt:lpstr>
    </vt:vector>
  </TitlesOfParts>
  <Company>Lenovo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大诚设计</dc:creator>
  <cp:lastModifiedBy>huayu</cp:lastModifiedBy>
  <cp:revision>82</cp:revision>
  <dcterms:created xsi:type="dcterms:W3CDTF">2014-04-15T12:14:00Z</dcterms:created>
  <dcterms:modified xsi:type="dcterms:W3CDTF">2017-08-29T03:20:23Z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2052-10.1.0.6749</vt:lpwstr>
  </property>
</Properties>
</file>