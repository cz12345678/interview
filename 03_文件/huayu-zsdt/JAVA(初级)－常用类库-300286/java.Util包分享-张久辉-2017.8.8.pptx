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7"/>
  </p:notesMasterIdLst>
  <p:sldIdLst>
    <p:sldId id="256" r:id="rId2"/>
    <p:sldId id="347" r:id="rId3"/>
    <p:sldId id="429" r:id="rId4"/>
    <p:sldId id="362" r:id="rId5"/>
    <p:sldId id="367" r:id="rId6"/>
    <p:sldId id="375" r:id="rId7"/>
    <p:sldId id="376" r:id="rId8"/>
    <p:sldId id="377" r:id="rId9"/>
    <p:sldId id="391" r:id="rId10"/>
    <p:sldId id="378" r:id="rId11"/>
    <p:sldId id="392" r:id="rId12"/>
    <p:sldId id="379" r:id="rId13"/>
    <p:sldId id="380" r:id="rId14"/>
    <p:sldId id="381" r:id="rId15"/>
    <p:sldId id="382" r:id="rId16"/>
    <p:sldId id="368" r:id="rId17"/>
    <p:sldId id="444" r:id="rId18"/>
    <p:sldId id="369" r:id="rId19"/>
    <p:sldId id="370" r:id="rId20"/>
    <p:sldId id="374" r:id="rId21"/>
    <p:sldId id="372" r:id="rId22"/>
    <p:sldId id="373" r:id="rId23"/>
    <p:sldId id="393" r:id="rId24"/>
    <p:sldId id="394" r:id="rId25"/>
    <p:sldId id="395" r:id="rId26"/>
    <p:sldId id="396" r:id="rId27"/>
    <p:sldId id="397" r:id="rId28"/>
    <p:sldId id="413" r:id="rId29"/>
    <p:sldId id="414" r:id="rId30"/>
    <p:sldId id="398" r:id="rId31"/>
    <p:sldId id="445" r:id="rId32"/>
    <p:sldId id="446" r:id="rId33"/>
    <p:sldId id="447" r:id="rId34"/>
    <p:sldId id="448" r:id="rId35"/>
    <p:sldId id="449" r:id="rId36"/>
    <p:sldId id="450" r:id="rId37"/>
    <p:sldId id="451" r:id="rId38"/>
    <p:sldId id="452" r:id="rId39"/>
    <p:sldId id="453" r:id="rId40"/>
    <p:sldId id="454" r:id="rId41"/>
    <p:sldId id="455" r:id="rId42"/>
    <p:sldId id="456" r:id="rId43"/>
    <p:sldId id="457" r:id="rId44"/>
    <p:sldId id="458" r:id="rId45"/>
    <p:sldId id="351" r:id="rId4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俎向朋" initials="俎向朋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66FF"/>
    <a:srgbClr val="595757"/>
    <a:srgbClr val="7ECEF4"/>
    <a:srgbClr val="0062AD"/>
    <a:srgbClr val="66FF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82" autoAdjust="0"/>
    <p:restoredTop sz="78877" autoAdjust="0"/>
  </p:normalViewPr>
  <p:slideViewPr>
    <p:cSldViewPr showGuides="1">
      <p:cViewPr>
        <p:scale>
          <a:sx n="76" d="100"/>
          <a:sy n="76" d="100"/>
        </p:scale>
        <p:origin x="-2994" y="-378"/>
      </p:cViewPr>
      <p:guideLst>
        <p:guide orient="horz" pos="459"/>
        <p:guide pos="52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121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43D383-601C-49DF-A412-49D6A837806B}" type="datetimeFigureOut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A752CB-F267-409C-B428-174C2912518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3717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35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36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37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38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39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40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41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42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43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7A752CB-F267-409C-B428-174C2912518B}" type="slidenum">
              <a:rPr lang="zh-CN" altLang="en-US" smtClean="0"/>
              <a:t>44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3"/>
          <p:cNvGrpSpPr/>
          <p:nvPr userDrawn="1"/>
        </p:nvGrpSpPr>
        <p:grpSpPr bwMode="auto">
          <a:xfrm>
            <a:off x="-17463" y="2228850"/>
            <a:ext cx="9159876" cy="4171950"/>
            <a:chOff x="-26775" y="3348455"/>
            <a:chExt cx="14427135" cy="72000"/>
          </a:xfrm>
        </p:grpSpPr>
        <p:sp>
          <p:nvSpPr>
            <p:cNvPr id="17" name="矩形 14"/>
            <p:cNvSpPr>
              <a:spLocks noChangeArrowheads="1"/>
            </p:cNvSpPr>
            <p:nvPr userDrawn="1"/>
          </p:nvSpPr>
          <p:spPr bwMode="auto">
            <a:xfrm>
              <a:off x="382492" y="334845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9" name="矩形 15"/>
            <p:cNvSpPr>
              <a:spLocks noChangeArrowheads="1"/>
            </p:cNvSpPr>
            <p:nvPr userDrawn="1"/>
          </p:nvSpPr>
          <p:spPr bwMode="auto">
            <a:xfrm>
              <a:off x="1796795" y="334845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20" name="矩形 16"/>
            <p:cNvSpPr>
              <a:spLocks noChangeArrowheads="1"/>
            </p:cNvSpPr>
            <p:nvPr userDrawn="1"/>
          </p:nvSpPr>
          <p:spPr bwMode="auto">
            <a:xfrm>
              <a:off x="2340360" y="3348455"/>
              <a:ext cx="1206000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21" name="矩形 17"/>
            <p:cNvSpPr>
              <a:spLocks noChangeArrowheads="1"/>
            </p:cNvSpPr>
            <p:nvPr userDrawn="1"/>
          </p:nvSpPr>
          <p:spPr bwMode="auto">
            <a:xfrm>
              <a:off x="-26775" y="3348455"/>
              <a:ext cx="1152000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ctrTitle"/>
          </p:nvPr>
        </p:nvSpPr>
        <p:spPr>
          <a:xfrm>
            <a:off x="1624136" y="2130425"/>
            <a:ext cx="7772400" cy="1470025"/>
          </a:xfrm>
        </p:spPr>
        <p:txBody>
          <a:bodyPr>
            <a:normAutofit/>
          </a:bodyPr>
          <a:lstStyle>
            <a:lvl1pPr>
              <a:defRPr sz="4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CD81A037-8D57-41A5-A253-A9E887D684E4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2" name="Picture 7" descr="彩色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000" y="539750"/>
            <a:ext cx="2565400" cy="971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9"/>
          <p:cNvSpPr txBox="1">
            <a:spLocks noChangeArrowheads="1"/>
          </p:cNvSpPr>
          <p:nvPr userDrawn="1"/>
        </p:nvSpPr>
        <p:spPr bwMode="auto">
          <a:xfrm>
            <a:off x="7200900" y="714375"/>
            <a:ext cx="1685925" cy="23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8055" tIns="29028" rIns="58055" bIns="29028">
            <a:spAutoFit/>
          </a:bodyPr>
          <a:lstStyle>
            <a:lvl1pPr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altLang="zh-CN" sz="1100" dirty="0" smtClean="0">
                <a:solidFill>
                  <a:srgbClr val="0068B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www.thunisoft.com</a:t>
            </a:r>
            <a:endParaRPr lang="zh-CN" altLang="en-US" sz="1100" dirty="0" smtClean="0">
              <a:solidFill>
                <a:srgbClr val="0068B7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ctangle 11"/>
          <p:cNvSpPr>
            <a:spLocks noChangeArrowheads="1"/>
          </p:cNvSpPr>
          <p:nvPr userDrawn="1"/>
        </p:nvSpPr>
        <p:spPr bwMode="auto">
          <a:xfrm>
            <a:off x="1646238" y="6065838"/>
            <a:ext cx="5429596" cy="21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58055" tIns="29028" rIns="58055" bIns="29028">
            <a:spAutoFit/>
          </a:bodyPr>
          <a:lstStyle/>
          <a:p>
            <a:pPr defTabSz="820420"/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北京华宇信息技术有限公司</a:t>
            </a:r>
            <a:r>
              <a:rPr lang="zh-CN" altLang="en-US" sz="9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8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BEIJING THUNISOFT INFORMATION TECHNOLOGY CORPORATION LIMITED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4"/>
          <p:cNvSpPr txBox="1">
            <a:spLocks noChangeArrowheads="1"/>
          </p:cNvSpPr>
          <p:nvPr userDrawn="1"/>
        </p:nvSpPr>
        <p:spPr>
          <a:xfrm>
            <a:off x="1638300" y="5553075"/>
            <a:ext cx="2133600" cy="476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i="0" kern="1200" smtClean="0">
                <a:solidFill>
                  <a:schemeClr val="bg1"/>
                </a:solidFill>
                <a:latin typeface="Exo" pitchFamily="50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fld id="{A9329283-96AF-4146-A0DF-F154670DCF22}" type="datetime1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  <a:t>2017/8/7</a:t>
            </a:fld>
            <a:endParaRPr lang="zh-CN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19572" y="151200"/>
            <a:ext cx="5472608" cy="490066"/>
          </a:xfrm>
        </p:spPr>
        <p:txBody>
          <a:bodyPr>
            <a:noAutofit/>
          </a:bodyPr>
          <a:lstStyle>
            <a:lvl1pPr>
              <a:defRPr sz="3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19572" y="980728"/>
            <a:ext cx="7848872" cy="5328592"/>
          </a:xfrm>
        </p:spPr>
        <p:txBody>
          <a:bodyPr/>
          <a:lstStyle>
            <a:lvl1pPr>
              <a:defRPr b="0">
                <a:solidFill>
                  <a:srgbClr val="595757"/>
                </a:solidFill>
              </a:defRPr>
            </a:lvl1pPr>
            <a:lvl2pPr>
              <a:defRPr>
                <a:solidFill>
                  <a:srgbClr val="595757"/>
                </a:solidFill>
              </a:defRPr>
            </a:lvl2pPr>
            <a:lvl3pPr>
              <a:defRPr sz="2400">
                <a:solidFill>
                  <a:srgbClr val="595757"/>
                </a:solidFill>
              </a:defRPr>
            </a:lvl3pPr>
            <a:lvl4pPr>
              <a:defRPr sz="2000">
                <a:solidFill>
                  <a:srgbClr val="595757"/>
                </a:solidFill>
              </a:defRPr>
            </a:lvl4pPr>
            <a:lvl5pPr>
              <a:defRPr sz="180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Text Box 8"/>
          <p:cNvSpPr txBox="1">
            <a:spLocks noChangeArrowheads="1"/>
          </p:cNvSpPr>
          <p:nvPr userDrawn="1"/>
        </p:nvSpPr>
        <p:spPr bwMode="auto">
          <a:xfrm>
            <a:off x="1223628" y="1592796"/>
            <a:ext cx="4140460" cy="607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>
            <a:lvl1pPr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</a:pPr>
            <a:r>
              <a:rPr lang="zh-CN" altLang="en-US" sz="3000" dirty="0" smtClean="0">
                <a:solidFill>
                  <a:srgbClr val="0062A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 录</a:t>
            </a:r>
            <a:endParaRPr lang="en-US" altLang="zh-CN" sz="3200" dirty="0">
              <a:solidFill>
                <a:schemeClr val="bg1">
                  <a:lumMod val="75000"/>
                </a:schemeClr>
              </a:solidFill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内容占位符 2"/>
          <p:cNvSpPr>
            <a:spLocks noGrp="1"/>
          </p:cNvSpPr>
          <p:nvPr>
            <p:ph idx="1" hasCustomPrompt="1"/>
          </p:nvPr>
        </p:nvSpPr>
        <p:spPr>
          <a:xfrm>
            <a:off x="1259632" y="2600908"/>
            <a:ext cx="7309320" cy="3420380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FontTx/>
              <a:buNone/>
              <a:defRPr sz="2400" b="0" baseline="0">
                <a:solidFill>
                  <a:srgbClr val="595757"/>
                </a:solidFill>
              </a:defRPr>
            </a:lvl1pPr>
            <a:lvl2pPr marL="457200" indent="0">
              <a:buFontTx/>
              <a:buNone/>
              <a:defRPr>
                <a:solidFill>
                  <a:srgbClr val="595757"/>
                </a:solidFill>
              </a:defRPr>
            </a:lvl2pPr>
            <a:lvl3pPr marL="914400" indent="0">
              <a:buFontTx/>
              <a:buNone/>
              <a:defRPr sz="2400">
                <a:solidFill>
                  <a:srgbClr val="595757"/>
                </a:solidFill>
              </a:defRPr>
            </a:lvl3pPr>
            <a:lvl4pPr marL="1371600" indent="0">
              <a:buFontTx/>
              <a:buNone/>
              <a:defRPr sz="2000">
                <a:solidFill>
                  <a:srgbClr val="595757"/>
                </a:solidFill>
              </a:defRPr>
            </a:lvl4pPr>
            <a:lvl5pPr marL="1828800" indent="0">
              <a:buFontTx/>
              <a:buNone/>
              <a:defRPr sz="1800">
                <a:solidFill>
                  <a:srgbClr val="595757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 smtClean="0"/>
              <a:t>一、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二、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三、</a:t>
            </a:r>
            <a:endParaRPr lang="en-US" altLang="zh-CN" dirty="0" smtClean="0"/>
          </a:p>
          <a:p>
            <a:pPr lvl="0"/>
            <a:r>
              <a:rPr lang="zh-CN" altLang="en-US" dirty="0" smtClean="0"/>
              <a:t>四、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13"/>
          <p:cNvGrpSpPr/>
          <p:nvPr userDrawn="1"/>
        </p:nvGrpSpPr>
        <p:grpSpPr bwMode="auto">
          <a:xfrm>
            <a:off x="-17463" y="3000375"/>
            <a:ext cx="9159876" cy="3857625"/>
            <a:chOff x="-26775" y="3348455"/>
            <a:chExt cx="14427135" cy="72000"/>
          </a:xfrm>
        </p:grpSpPr>
        <p:sp>
          <p:nvSpPr>
            <p:cNvPr id="8" name="矩形 14"/>
            <p:cNvSpPr>
              <a:spLocks noChangeArrowheads="1"/>
            </p:cNvSpPr>
            <p:nvPr userDrawn="1"/>
          </p:nvSpPr>
          <p:spPr bwMode="auto">
            <a:xfrm>
              <a:off x="382492" y="334845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9" name="矩形 15"/>
            <p:cNvSpPr>
              <a:spLocks noChangeArrowheads="1"/>
            </p:cNvSpPr>
            <p:nvPr userDrawn="1"/>
          </p:nvSpPr>
          <p:spPr bwMode="auto">
            <a:xfrm>
              <a:off x="1796795" y="334845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0" name="矩形 16"/>
            <p:cNvSpPr>
              <a:spLocks noChangeArrowheads="1"/>
            </p:cNvSpPr>
            <p:nvPr userDrawn="1"/>
          </p:nvSpPr>
          <p:spPr bwMode="auto">
            <a:xfrm>
              <a:off x="2340360" y="3348455"/>
              <a:ext cx="1206000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1" name="矩形 17"/>
            <p:cNvSpPr>
              <a:spLocks noChangeArrowheads="1"/>
            </p:cNvSpPr>
            <p:nvPr userDrawn="1"/>
          </p:nvSpPr>
          <p:spPr bwMode="auto">
            <a:xfrm>
              <a:off x="-26775" y="3348455"/>
              <a:ext cx="1152000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</p:grpSp>
      <p:sp>
        <p:nvSpPr>
          <p:cNvPr id="12" name="Rectangle 9"/>
          <p:cNvSpPr>
            <a:spLocks noChangeArrowheads="1"/>
          </p:cNvSpPr>
          <p:nvPr userDrawn="1"/>
        </p:nvSpPr>
        <p:spPr bwMode="auto">
          <a:xfrm>
            <a:off x="-72516" y="6315075"/>
            <a:ext cx="9216515" cy="2125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/>
          <a:p>
            <a:pPr algn="ctr" defTabSz="820420"/>
            <a:r>
              <a:rPr lang="zh-CN" altLang="en-US" sz="10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北京华宇信息技术有限公司  </a:t>
            </a:r>
            <a:r>
              <a:rPr lang="en-US" altLang="zh-CN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BEIJING THUNISOFT INFORMATION TECHNOLOGY CORPORATION LIMITED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pic>
        <p:nvPicPr>
          <p:cNvPr id="13" name="Picture 10" descr="竖版LOGO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29025" y="650875"/>
            <a:ext cx="1828800" cy="166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标题 1"/>
          <p:cNvSpPr>
            <a:spLocks noGrp="1"/>
          </p:cNvSpPr>
          <p:nvPr>
            <p:ph type="title"/>
          </p:nvPr>
        </p:nvSpPr>
        <p:spPr>
          <a:xfrm>
            <a:off x="1" y="3989946"/>
            <a:ext cx="9144000" cy="953508"/>
          </a:xfrm>
        </p:spPr>
        <p:txBody>
          <a:bodyPr anchor="t">
            <a:noAutofit/>
          </a:bodyPr>
          <a:lstStyle>
            <a:lvl1pPr algn="ctr">
              <a:defRPr sz="6000" b="0" cap="all">
                <a:solidFill>
                  <a:schemeClr val="bg1"/>
                </a:solidFill>
                <a:latin typeface="方正兰亭纤黑_GBK" pitchFamily="2" charset="-122"/>
                <a:ea typeface="方正兰亭纤黑_GBK" pitchFamily="2" charset="-122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92A1F-7F4F-4A9E-AC8E-D70E794B105F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6D87D-5373-4AD0-B56A-9967F8C0C571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80752-F7E5-44E2-8AA3-21EF20F87492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0FE5E-E76A-4B18-92BB-C6BBC29BC225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9E165-A031-464B-BD7E-7E82C482BEDF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9F04-C1B7-4CEA-9291-EA11D6E04CCC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8FAF6-3209-4067-A7F8-040A8184C6B7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0C8505-0372-41F5-B7B2-72EF063B6600}" type="datetime1">
              <a:rPr lang="zh-CN" altLang="en-US" smtClean="0"/>
              <a:t>2017/8/7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19572" y="151200"/>
            <a:ext cx="5472608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19572" y="980728"/>
            <a:ext cx="7848872" cy="5328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  <a:p>
            <a:pPr lvl="4"/>
            <a:endParaRPr lang="en-US" altLang="zh-CN" dirty="0" smtClean="0"/>
          </a:p>
          <a:p>
            <a:pPr lvl="4"/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10208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i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D3EEC2-3DBC-43AD-837B-AE7C27033FDD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16216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i="1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C794E63-F2AF-49E2-AE37-43481CC587E5}" type="slidenum">
              <a:rPr lang="zh-CN" altLang="en-US" smtClean="0"/>
              <a:t>‹#›</a:t>
            </a:fld>
            <a:endParaRPr lang="zh-CN" altLang="en-US" dirty="0"/>
          </a:p>
        </p:txBody>
      </p:sp>
      <p:grpSp>
        <p:nvGrpSpPr>
          <p:cNvPr id="7" name="组合 7"/>
          <p:cNvGrpSpPr/>
          <p:nvPr/>
        </p:nvGrpSpPr>
        <p:grpSpPr bwMode="auto">
          <a:xfrm>
            <a:off x="0" y="742950"/>
            <a:ext cx="9144000" cy="46038"/>
            <a:chOff x="0" y="1440235"/>
            <a:chExt cx="14401800" cy="72000"/>
          </a:xfrm>
        </p:grpSpPr>
        <p:sp>
          <p:nvSpPr>
            <p:cNvPr id="8" name="矩形 8"/>
            <p:cNvSpPr>
              <a:spLocks noChangeArrowheads="1"/>
            </p:cNvSpPr>
            <p:nvPr userDrawn="1"/>
          </p:nvSpPr>
          <p:spPr bwMode="auto">
            <a:xfrm>
              <a:off x="652622" y="1440235"/>
              <a:ext cx="1305245" cy="72000"/>
            </a:xfrm>
            <a:prstGeom prst="rect">
              <a:avLst/>
            </a:prstGeom>
            <a:solidFill>
              <a:srgbClr val="00A07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9" name="矩形 9"/>
            <p:cNvSpPr>
              <a:spLocks noChangeArrowheads="1"/>
            </p:cNvSpPr>
            <p:nvPr userDrawn="1"/>
          </p:nvSpPr>
          <p:spPr bwMode="auto">
            <a:xfrm>
              <a:off x="2066925" y="1440235"/>
              <a:ext cx="1305245" cy="72000"/>
            </a:xfrm>
            <a:prstGeom prst="rect">
              <a:avLst/>
            </a:prstGeom>
            <a:solidFill>
              <a:srgbClr val="0062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0" name="矩形 10"/>
            <p:cNvSpPr>
              <a:spLocks noChangeArrowheads="1"/>
            </p:cNvSpPr>
            <p:nvPr userDrawn="1"/>
          </p:nvSpPr>
          <p:spPr bwMode="auto">
            <a:xfrm>
              <a:off x="2880420" y="1440235"/>
              <a:ext cx="11521380" cy="72000"/>
            </a:xfrm>
            <a:prstGeom prst="rect">
              <a:avLst/>
            </a:prstGeom>
            <a:solidFill>
              <a:srgbClr val="0047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  <p:sp>
          <p:nvSpPr>
            <p:cNvPr id="11" name="矩形 11"/>
            <p:cNvSpPr>
              <a:spLocks noChangeArrowheads="1"/>
            </p:cNvSpPr>
            <p:nvPr userDrawn="1"/>
          </p:nvSpPr>
          <p:spPr bwMode="auto">
            <a:xfrm>
              <a:off x="0" y="1440235"/>
              <a:ext cx="1305245" cy="72000"/>
            </a:xfrm>
            <a:prstGeom prst="rect">
              <a:avLst/>
            </a:prstGeom>
            <a:solidFill>
              <a:srgbClr val="00819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pPr defTabSz="579120"/>
              <a:endParaRPr lang="zh-CN" altLang="en-US" sz="1300"/>
            </a:p>
          </p:txBody>
        </p:sp>
      </p:grpSp>
      <p:pic>
        <p:nvPicPr>
          <p:cNvPr id="12" name="Picture 7" descr="彩色logo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33282" y="136525"/>
            <a:ext cx="1327150" cy="503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30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342900" indent="-342900" algn="just" defTabSz="914400" rtl="0" eaLnBrk="1" latinLnBrk="0" hangingPunct="1">
        <a:lnSpc>
          <a:spcPct val="125000"/>
        </a:lnSpc>
        <a:spcBef>
          <a:spcPts val="300"/>
        </a:spcBef>
        <a:buClr>
          <a:srgbClr val="00479D"/>
        </a:buClr>
        <a:buSzPct val="60000"/>
        <a:buFont typeface="Wingdings" panose="05000000000000000000" pitchFamily="2" charset="2"/>
        <a:buChar char="n"/>
        <a:defRPr sz="28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742950" indent="-28575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SzPct val="60000"/>
        <a:buFont typeface="Wingdings" panose="05000000000000000000" pitchFamily="2" charset="2"/>
        <a:buChar char="p"/>
        <a:defRPr sz="24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anose="020B0604020202020204" pitchFamily="34" charset="0"/>
        <a:buChar char="•"/>
        <a:defRPr sz="24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anose="020B0604020202020204" pitchFamily="34" charset="0"/>
        <a:buChar char="–"/>
        <a:defRPr sz="20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just" defTabSz="914400" rtl="0" eaLnBrk="1" latinLnBrk="0" hangingPunct="1">
        <a:lnSpc>
          <a:spcPct val="125000"/>
        </a:lnSpc>
        <a:spcBef>
          <a:spcPts val="300"/>
        </a:spcBef>
        <a:buClr>
          <a:srgbClr val="0070C0"/>
        </a:buClr>
        <a:buFont typeface="Arial" panose="020B0604020202020204" pitchFamily="34" charset="0"/>
        <a:buChar char="»"/>
        <a:defRPr sz="1800" kern="1200">
          <a:solidFill>
            <a:srgbClr val="595757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10"/>
          <p:cNvSpPr txBox="1">
            <a:spLocks noChangeArrowheads="1"/>
          </p:cNvSpPr>
          <p:nvPr/>
        </p:nvSpPr>
        <p:spPr bwMode="auto">
          <a:xfrm>
            <a:off x="1403648" y="2790300"/>
            <a:ext cx="7163424" cy="489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58055" tIns="29028" rIns="58055" bIns="29028">
            <a:spAutoFit/>
          </a:bodyPr>
          <a:lstStyle>
            <a:lvl1pPr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1293495" eaLnBrk="0" hangingPunct="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293495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dirty="0" err="1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Java.util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包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分享</a:t>
            </a:r>
            <a:endParaRPr lang="zh-CN" altLang="en-US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1"/>
          <p:cNvSpPr txBox="1"/>
          <p:nvPr/>
        </p:nvSpPr>
        <p:spPr>
          <a:xfrm>
            <a:off x="6948264" y="4941168"/>
            <a:ext cx="10801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2000" dirty="0" smtClean="0">
                <a:solidFill>
                  <a:schemeClr val="bg1"/>
                </a:solidFill>
              </a:rPr>
              <a:t>张久辉</a:t>
            </a:r>
            <a:endParaRPr lang="zh-CN" alt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lang="en-US" altLang="zh-CN" dirty="0" smtClean="0"/>
          </a:p>
          <a:p>
            <a:r>
              <a:rPr lang="en-US" altLang="zh-CN" sz="2400" dirty="0">
                <a:sym typeface="+mn-ea"/>
              </a:rPr>
              <a:t>C</a:t>
            </a:r>
            <a:r>
              <a:rPr lang="en-US" altLang="zh-CN" sz="2400" dirty="0" smtClean="0">
                <a:sym typeface="+mn-ea"/>
              </a:rPr>
              <a:t>ollection</a:t>
            </a:r>
          </a:p>
          <a:p>
            <a:endParaRPr lang="en-US" altLang="zh-CN" sz="2400" dirty="0" smtClean="0">
              <a:sym typeface="+mn-ea"/>
            </a:endParaRPr>
          </a:p>
          <a:p>
            <a:pPr lvl="1"/>
            <a:r>
              <a:rPr lang="en-US" altLang="zh-CN" sz="2400" dirty="0" smtClean="0">
                <a:sym typeface="+mn-ea"/>
              </a:rPr>
              <a:t>List</a:t>
            </a:r>
            <a:endParaRPr lang="en-US" altLang="zh-CN" sz="2400" dirty="0" smtClean="0"/>
          </a:p>
          <a:p>
            <a:pPr lvl="1"/>
            <a:r>
              <a:rPr lang="en-US" altLang="zh-CN" sz="2400" dirty="0" smtClean="0">
                <a:sym typeface="+mn-ea"/>
              </a:rPr>
              <a:t>Set</a:t>
            </a:r>
          </a:p>
          <a:p>
            <a:endParaRPr lang="en-US" altLang="zh-CN" sz="2400" dirty="0" smtClean="0">
              <a:sym typeface="+mn-ea"/>
            </a:endParaRPr>
          </a:p>
          <a:p>
            <a:pPr marL="0" indent="0">
              <a:buNone/>
            </a:pPr>
            <a:endParaRPr lang="en-US" altLang="zh-CN" sz="2400" dirty="0" smtClean="0">
              <a:sym typeface="+mn-ea"/>
            </a:endParaRPr>
          </a:p>
          <a:p>
            <a:r>
              <a:rPr lang="en-US" altLang="zh-CN" sz="2400" dirty="0" smtClean="0"/>
              <a:t>Map</a:t>
            </a:r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	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结构图</a:t>
            </a:r>
          </a:p>
        </p:txBody>
      </p:sp>
      <p:pic>
        <p:nvPicPr>
          <p:cNvPr id="6" name="内容占位符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4073" y="2200785"/>
            <a:ext cx="7498730" cy="2888230"/>
          </a:xfr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2099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altLang="zh-CN" dirty="0" smtClean="0"/>
              <a:t>List</a:t>
            </a:r>
            <a:r>
              <a:rPr lang="zh-CN" altLang="en-US" dirty="0"/>
              <a:t>是有序的</a:t>
            </a:r>
            <a:r>
              <a:rPr lang="en-US" altLang="zh-CN" dirty="0"/>
              <a:t>Collection</a:t>
            </a:r>
            <a:r>
              <a:rPr lang="zh-CN" altLang="en-US" dirty="0"/>
              <a:t>，使用此接口能够精确的控制每个元素插入的位置。用户能够使用索引（元素在</a:t>
            </a:r>
            <a:r>
              <a:rPr lang="en-US" altLang="zh-CN" dirty="0"/>
              <a:t>List</a:t>
            </a:r>
            <a:r>
              <a:rPr lang="zh-CN" altLang="en-US" dirty="0"/>
              <a:t>中的位置，类似于数组下 </a:t>
            </a:r>
            <a:r>
              <a:rPr lang="en-US" altLang="zh-CN" dirty="0"/>
              <a:t>&gt;</a:t>
            </a:r>
            <a:r>
              <a:rPr lang="zh-CN" altLang="en-US" dirty="0"/>
              <a:t>标）来访问</a:t>
            </a:r>
            <a:r>
              <a:rPr lang="en-US" altLang="zh-CN" dirty="0"/>
              <a:t>List</a:t>
            </a:r>
            <a:r>
              <a:rPr lang="zh-CN" altLang="en-US" dirty="0"/>
              <a:t>中的元素，这类似于</a:t>
            </a:r>
            <a:r>
              <a:rPr lang="en-US" altLang="zh-CN" dirty="0"/>
              <a:t>Java</a:t>
            </a:r>
            <a:r>
              <a:rPr lang="zh-CN" altLang="en-US" dirty="0"/>
              <a:t>的数组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indent="0">
              <a:buNone/>
            </a:pPr>
            <a:endParaRPr lang="en-US" altLang="zh-CN" sz="2000" dirty="0"/>
          </a:p>
          <a:p>
            <a:r>
              <a:rPr lang="en-US" altLang="zh-CN" dirty="0" err="1" smtClean="0"/>
              <a:t>ArrayList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err="1" smtClean="0"/>
              <a:t>LinkedList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dirty="0" smtClean="0"/>
              <a:t>Vector </a:t>
            </a:r>
          </a:p>
          <a:p>
            <a:pPr marL="0" indent="0">
              <a:buNone/>
            </a:pP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ArrayList-</a:t>
            </a:r>
            <a:r>
              <a:rPr lang="zh-CN" altLang="en-US" dirty="0" err="1" smtClean="0"/>
              <a:t>构造器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1800" dirty="0"/>
              <a:t>基于数组（</a:t>
            </a:r>
            <a:r>
              <a:rPr lang="en-US" altLang="zh-CN" sz="1800" dirty="0"/>
              <a:t>Array</a:t>
            </a:r>
            <a:r>
              <a:rPr lang="zh-CN" altLang="en-US" sz="1800" dirty="0"/>
              <a:t>）的</a:t>
            </a:r>
            <a:r>
              <a:rPr lang="en-US" altLang="zh-CN" sz="1800" dirty="0" smtClean="0"/>
              <a:t>List</a:t>
            </a:r>
            <a:r>
              <a:rPr lang="zh-CN" altLang="en-US" sz="1800" dirty="0"/>
              <a:t>，是一个基于数组上的链表，</a:t>
            </a:r>
            <a:r>
              <a:rPr lang="zh-CN" altLang="en-US" sz="1800" dirty="0" smtClean="0"/>
              <a:t>但是</a:t>
            </a:r>
            <a:r>
              <a:rPr lang="en-US" altLang="zh-CN" sz="1800" dirty="0" err="1" smtClean="0"/>
              <a:t>ArrayList</a:t>
            </a:r>
            <a:r>
              <a:rPr lang="zh-CN" altLang="en-US" sz="1800" dirty="0"/>
              <a:t>不是同步的。所以在性能上要比</a:t>
            </a:r>
            <a:r>
              <a:rPr lang="en-US" altLang="zh-CN" sz="1800" dirty="0"/>
              <a:t>Vector</a:t>
            </a:r>
            <a:r>
              <a:rPr lang="zh-CN" altLang="en-US" sz="1800" dirty="0"/>
              <a:t>好一些，但是当运行到多线程环境中时，可需要自己在管理线程的</a:t>
            </a:r>
            <a:r>
              <a:rPr lang="zh-CN" altLang="en-US" sz="1800" dirty="0" smtClean="0"/>
              <a:t>同步问题</a:t>
            </a:r>
            <a:r>
              <a:rPr lang="zh-CN" altLang="en-US" sz="1800" dirty="0"/>
              <a:t>。</a:t>
            </a:r>
          </a:p>
          <a:p>
            <a:pPr marL="0" indent="0">
              <a:buNone/>
            </a:pP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ArrayList提供了三种方式的构造器:</a:t>
            </a:r>
          </a:p>
          <a:p>
            <a:pPr marL="0" indent="0">
              <a:buNone/>
            </a:pPr>
            <a:r>
              <a:rPr lang="en-US" altLang="zh-CN" sz="1800" dirty="0" smtClean="0"/>
              <a:t>构造一个默认初始容量为10的空列表</a:t>
            </a:r>
          </a:p>
          <a:p>
            <a:pPr marL="0" indent="0">
              <a:buNone/>
            </a:pPr>
            <a:r>
              <a:rPr lang="en-US" altLang="zh-CN" sz="1800" dirty="0" smtClean="0"/>
              <a:t>构造一个指定初始容量的空列表</a:t>
            </a:r>
          </a:p>
          <a:p>
            <a:pPr marL="0" indent="0">
              <a:buNone/>
            </a:pPr>
            <a:r>
              <a:rPr lang="en-US" altLang="zh-CN" sz="1800" dirty="0" smtClean="0"/>
              <a:t>构造一个包含指定collection的元素的列表，</a:t>
            </a:r>
          </a:p>
          <a:p>
            <a:pPr marL="0" indent="0">
              <a:buNone/>
            </a:pP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这些元素按照该collection的迭代器返回它们的顺序排列的。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构造器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65000" lnSpcReduction="20000"/>
          </a:bodyPr>
          <a:lstStyle/>
          <a:p>
            <a:pPr marL="0" indent="0">
              <a:buNone/>
            </a:pPr>
            <a:r>
              <a:rPr sz="1800"/>
              <a:t>// ArrayList带容量大小的构造函数。    </a:t>
            </a:r>
          </a:p>
          <a:p>
            <a:pPr marL="0" indent="0">
              <a:buNone/>
            </a:pPr>
            <a:r>
              <a:rPr sz="1800"/>
              <a:t>    public ArrayList(int initialCapacity) {    </a:t>
            </a:r>
          </a:p>
          <a:p>
            <a:pPr marL="0" indent="0">
              <a:buNone/>
            </a:pPr>
            <a:r>
              <a:rPr sz="1800"/>
              <a:t>        super();    </a:t>
            </a:r>
          </a:p>
          <a:p>
            <a:pPr marL="0" indent="0">
              <a:buNone/>
            </a:pPr>
            <a:r>
              <a:rPr sz="1800"/>
              <a:t>        if (initialCapacity &lt; 0)    </a:t>
            </a:r>
          </a:p>
          <a:p>
            <a:pPr marL="0" indent="0">
              <a:buNone/>
            </a:pPr>
            <a:r>
              <a:rPr sz="1800"/>
              <a:t>            throw new IllegalArgumentException("Illegal Capacity: "+    </a:t>
            </a:r>
          </a:p>
          <a:p>
            <a:pPr marL="0" indent="0">
              <a:buNone/>
            </a:pPr>
            <a:r>
              <a:rPr sz="1800"/>
              <a:t>                                               initialCapacity);    </a:t>
            </a:r>
          </a:p>
          <a:p>
            <a:pPr marL="0" indent="0">
              <a:buNone/>
            </a:pPr>
            <a:r>
              <a:rPr sz="1800"/>
              <a:t>        // 新建一个数组    </a:t>
            </a:r>
          </a:p>
          <a:p>
            <a:pPr marL="0" indent="0">
              <a:buNone/>
            </a:pPr>
            <a:r>
              <a:rPr sz="1800"/>
              <a:t>        this.elementData = new Object[initialCapacity];    </a:t>
            </a:r>
          </a:p>
          <a:p>
            <a:pPr marL="0" indent="0">
              <a:buNone/>
            </a:pPr>
            <a:r>
              <a:rPr sz="1800"/>
              <a:t>    }    </a:t>
            </a:r>
          </a:p>
          <a:p>
            <a:pPr marL="0" indent="0">
              <a:buNone/>
            </a:pPr>
            <a:r>
              <a:rPr sz="1800"/>
              <a:t>   </a:t>
            </a:r>
          </a:p>
          <a:p>
            <a:pPr marL="0" indent="0">
              <a:buNone/>
            </a:pPr>
            <a:r>
              <a:rPr sz="1800"/>
              <a:t>    // ArrayList无参构造函数。默认容量是10。    </a:t>
            </a:r>
          </a:p>
          <a:p>
            <a:pPr marL="0" indent="0">
              <a:buNone/>
            </a:pPr>
            <a:r>
              <a:rPr sz="1800"/>
              <a:t>    public ArrayList() {    </a:t>
            </a:r>
          </a:p>
          <a:p>
            <a:pPr marL="0" indent="0">
              <a:buNone/>
            </a:pPr>
            <a:r>
              <a:rPr sz="1800"/>
              <a:t>        this(10);    </a:t>
            </a:r>
          </a:p>
          <a:p>
            <a:pPr marL="0" indent="0">
              <a:buNone/>
            </a:pPr>
            <a:r>
              <a:rPr sz="1800"/>
              <a:t>    }    </a:t>
            </a:r>
          </a:p>
          <a:p>
            <a:pPr marL="0" indent="0">
              <a:buNone/>
            </a:pPr>
            <a:r>
              <a:rPr sz="1800"/>
              <a:t>   </a:t>
            </a:r>
          </a:p>
          <a:p>
            <a:pPr marL="0" indent="0">
              <a:buNone/>
            </a:pPr>
            <a:r>
              <a:rPr sz="1800"/>
              <a:t>    // 创建一个包含collection的ArrayList    </a:t>
            </a:r>
          </a:p>
          <a:p>
            <a:pPr marL="0" indent="0">
              <a:buNone/>
            </a:pPr>
            <a:r>
              <a:rPr sz="1800"/>
              <a:t>    public ArrayList(Collection&lt;? extends E&gt; c) {    </a:t>
            </a:r>
          </a:p>
          <a:p>
            <a:pPr marL="0" indent="0">
              <a:buNone/>
            </a:pPr>
            <a:r>
              <a:rPr sz="1800"/>
              <a:t>        elementData = c.toArray();    </a:t>
            </a:r>
          </a:p>
          <a:p>
            <a:pPr marL="0" indent="0">
              <a:buNone/>
            </a:pPr>
            <a:r>
              <a:rPr sz="1800"/>
              <a:t>        size = elementData.length;    </a:t>
            </a:r>
          </a:p>
          <a:p>
            <a:pPr marL="0" indent="0">
              <a:buNone/>
            </a:pPr>
            <a:r>
              <a:rPr sz="1800"/>
              <a:t>        if (elementData.getClass() != Object[].class)    </a:t>
            </a:r>
          </a:p>
          <a:p>
            <a:pPr marL="0" indent="0">
              <a:buNone/>
            </a:pPr>
            <a:r>
              <a:rPr sz="1800"/>
              <a:t>            elementData = Arrays.copyOf(elementData, size, Object[].class);    </a:t>
            </a:r>
          </a:p>
          <a:p>
            <a:pPr marL="0" indent="0">
              <a:buNone/>
            </a:pPr>
            <a:r>
              <a:rPr sz="1800"/>
              <a:t>    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>
                <a:sym typeface="+mn-ea"/>
              </a:rPr>
              <a:t>set(int index, E element)、</a:t>
            </a:r>
          </a:p>
          <a:p>
            <a:pPr marL="0" indent="0">
              <a:buNone/>
            </a:pP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add(E e)、</a:t>
            </a:r>
          </a:p>
          <a:p>
            <a:pPr marL="0" indent="0">
              <a:buNone/>
            </a:pP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add(int index, E element)、</a:t>
            </a:r>
          </a:p>
          <a:p>
            <a:pPr marL="0" indent="0">
              <a:buNone/>
            </a:pP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addAll(Collection&lt;? extends E&gt; c)、</a:t>
            </a:r>
          </a:p>
          <a:p>
            <a:pPr marL="0" indent="0">
              <a:buNone/>
            </a:pPr>
            <a:endParaRPr>
              <a:sym typeface="+mn-ea"/>
            </a:endParaRPr>
          </a:p>
          <a:p>
            <a:pPr marL="0" indent="0">
              <a:buNone/>
            </a:pPr>
            <a:r>
              <a:rPr>
                <a:sym typeface="+mn-ea"/>
              </a:rPr>
              <a:t>addAll(int index, Collection&lt;? extends E&gt; c)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7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lstStyle/>
          <a:p>
            <a:pPr marL="0" indent="0">
              <a:buNone/>
            </a:pPr>
            <a:r>
              <a:rPr sz="2000"/>
              <a:t> // 用指定的元素替代此列表中指定位置上的元素，并返回以前位于该位置上的元素。  </a:t>
            </a:r>
          </a:p>
          <a:p>
            <a:pPr marL="0" indent="0">
              <a:buNone/>
            </a:pPr>
            <a:r>
              <a:rPr sz="2000"/>
              <a:t> public E set(int index, E element) {  </a:t>
            </a:r>
          </a:p>
          <a:p>
            <a:pPr marL="0" indent="0">
              <a:buNone/>
            </a:pPr>
            <a:r>
              <a:rPr sz="2000"/>
              <a:t>    RangeCheck(index);  </a:t>
            </a:r>
          </a:p>
          <a:p>
            <a:pPr marL="0" indent="0">
              <a:buNone/>
            </a:pPr>
            <a:r>
              <a:rPr sz="2000"/>
              <a:t>  </a:t>
            </a:r>
          </a:p>
          <a:p>
            <a:pPr marL="0" indent="0">
              <a:buNone/>
            </a:pPr>
            <a:r>
              <a:rPr sz="2000"/>
              <a:t>    E oldValue = (E) elementData[index];  </a:t>
            </a:r>
          </a:p>
          <a:p>
            <a:pPr marL="0" indent="0">
              <a:buNone/>
            </a:pPr>
            <a:r>
              <a:rPr sz="2000"/>
              <a:t>    elementData[index] = element;  </a:t>
            </a:r>
          </a:p>
          <a:p>
            <a:pPr marL="0" indent="0">
              <a:buNone/>
            </a:pPr>
            <a:r>
              <a:rPr sz="2000"/>
              <a:t>    return oldValue;  </a:t>
            </a:r>
          </a:p>
          <a:p>
            <a:pPr marL="0" indent="0">
              <a:buNone/>
            </a:pPr>
            <a:r>
              <a:rPr sz="2000"/>
              <a:t> }    </a:t>
            </a:r>
          </a:p>
          <a:p>
            <a:pPr marL="0" indent="0">
              <a:buNone/>
            </a:pPr>
            <a:r>
              <a:rPr sz="2000"/>
              <a:t> // 将指定的元素添加到此列表的尾部。  </a:t>
            </a:r>
          </a:p>
          <a:p>
            <a:pPr marL="0" indent="0">
              <a:buNone/>
            </a:pPr>
            <a:r>
              <a:rPr sz="2000"/>
              <a:t> public boolean add(E e) {  </a:t>
            </a:r>
          </a:p>
          <a:p>
            <a:pPr marL="0" indent="0">
              <a:buNone/>
            </a:pPr>
            <a:r>
              <a:rPr sz="2000"/>
              <a:t>    ensureCapacity(size + );   </a:t>
            </a:r>
          </a:p>
          <a:p>
            <a:pPr marL="0" indent="0">
              <a:buNone/>
            </a:pPr>
            <a:r>
              <a:rPr sz="2000"/>
              <a:t>    elementData[size++] = e;  </a:t>
            </a:r>
          </a:p>
          <a:p>
            <a:pPr marL="0" indent="0">
              <a:buNone/>
            </a:pPr>
            <a:r>
              <a:rPr sz="2000"/>
              <a:t>    return true;  </a:t>
            </a:r>
          </a:p>
          <a:p>
            <a:pPr marL="0" indent="0">
              <a:buNone/>
            </a:pPr>
            <a:r>
              <a:rPr sz="2000"/>
              <a:t> }     </a:t>
            </a:r>
          </a:p>
          <a:p>
            <a:pPr marL="0" indent="0">
              <a:buNone/>
            </a:pPr>
            <a:endParaRPr sz="20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None/>
            </a:pP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// 将指定的元素插入此列表中的指定位置。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// 如果当前位置有元素，则向右移动当前位于该位置的元素以及所有后续元素（将其索引加）。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public void add(int index, E element) {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if (index &gt; size || index &lt; )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    throw new IndexOutOfBoundsException("Index: "+index+", Size: "+size);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// 如果数组长度不足，将进行扩容。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ensureCapacity(size+);  // Increments modCount!!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// 将 elementData中从Index位置开始、长度为size-index的元素，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// 拷贝到从下标为index+位置开始的新的elementData数组中。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// 即将当前位于该位置的元素以及所有后续元素右移一个位置。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System.arraycopy(elementData, index, elementData, index + , size - index);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elementData[index] = element;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   size++;  </a:t>
            </a:r>
          </a:p>
          <a:p>
            <a:pPr marL="0" indent="0">
              <a:buNone/>
            </a:pPr>
            <a:r>
              <a:rPr sz="1800">
                <a:sym typeface="+mn-ea"/>
              </a:rPr>
              <a:t> }    </a:t>
            </a:r>
          </a:p>
          <a:p>
            <a:pPr marL="0" indent="0">
              <a:buNone/>
            </a:pPr>
            <a:r>
              <a:rPr sz="1800"/>
              <a:t> </a:t>
            </a:r>
          </a:p>
          <a:p>
            <a:pPr marL="0" indent="0">
              <a:buNone/>
            </a:pPr>
            <a:endParaRPr sz="18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// </a:t>
            </a:r>
            <a:r>
              <a:rPr sz="1800" dirty="0" err="1">
                <a:sym typeface="+mn-ea"/>
              </a:rPr>
              <a:t>按照指定collection的迭代器所返回的元素顺序，将该collection中的所有元素添加到此列表的尾部</a:t>
            </a:r>
            <a:r>
              <a:rPr sz="1800" dirty="0">
                <a:sym typeface="+mn-ea"/>
              </a:rPr>
              <a:t>。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public </a:t>
            </a:r>
            <a:r>
              <a:rPr sz="1800" dirty="0" err="1">
                <a:sym typeface="+mn-ea"/>
              </a:rPr>
              <a:t>boolean</a:t>
            </a:r>
            <a:r>
              <a:rPr sz="1800" dirty="0">
                <a:sym typeface="+mn-ea"/>
              </a:rPr>
              <a:t> </a:t>
            </a:r>
            <a:r>
              <a:rPr sz="1800" dirty="0" err="1">
                <a:sym typeface="+mn-ea"/>
              </a:rPr>
              <a:t>addAll</a:t>
            </a:r>
            <a:r>
              <a:rPr sz="1800" dirty="0">
                <a:sym typeface="+mn-ea"/>
              </a:rPr>
              <a:t>(Collection&lt;? extends E&gt; c) {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   Object[] a = </a:t>
            </a:r>
            <a:r>
              <a:rPr sz="1800" dirty="0" err="1">
                <a:sym typeface="+mn-ea"/>
              </a:rPr>
              <a:t>c.toArray</a:t>
            </a:r>
            <a:r>
              <a:rPr sz="1800" dirty="0">
                <a:sym typeface="+mn-ea"/>
              </a:rPr>
              <a:t>();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   </a:t>
            </a:r>
            <a:r>
              <a:rPr sz="1800" dirty="0" err="1">
                <a:sym typeface="+mn-ea"/>
              </a:rPr>
              <a:t>int</a:t>
            </a:r>
            <a:r>
              <a:rPr sz="1800" dirty="0">
                <a:sym typeface="+mn-ea"/>
              </a:rPr>
              <a:t> </a:t>
            </a:r>
            <a:r>
              <a:rPr sz="1800" dirty="0" err="1">
                <a:sym typeface="+mn-ea"/>
              </a:rPr>
              <a:t>numNew</a:t>
            </a:r>
            <a:r>
              <a:rPr sz="1800" dirty="0">
                <a:sym typeface="+mn-ea"/>
              </a:rPr>
              <a:t> = </a:t>
            </a:r>
            <a:r>
              <a:rPr sz="1800" dirty="0" err="1">
                <a:sym typeface="+mn-ea"/>
              </a:rPr>
              <a:t>a.length</a:t>
            </a:r>
            <a:r>
              <a:rPr sz="1800" dirty="0">
                <a:sym typeface="+mn-ea"/>
              </a:rPr>
              <a:t>;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   </a:t>
            </a:r>
            <a:r>
              <a:rPr sz="1800" dirty="0" err="1">
                <a:sym typeface="+mn-ea"/>
              </a:rPr>
              <a:t>ensureCapacity</a:t>
            </a:r>
            <a:r>
              <a:rPr sz="1800" dirty="0">
                <a:sym typeface="+mn-ea"/>
              </a:rPr>
              <a:t>(size + </a:t>
            </a:r>
            <a:r>
              <a:rPr sz="1800" dirty="0" err="1">
                <a:sym typeface="+mn-ea"/>
              </a:rPr>
              <a:t>numNew</a:t>
            </a:r>
            <a:r>
              <a:rPr sz="1800" dirty="0">
                <a:sym typeface="+mn-ea"/>
              </a:rPr>
              <a:t>);  // Increments </a:t>
            </a:r>
            <a:r>
              <a:rPr sz="1800" dirty="0" err="1">
                <a:sym typeface="+mn-ea"/>
              </a:rPr>
              <a:t>modCount</a:t>
            </a:r>
            <a:r>
              <a:rPr sz="1800" dirty="0">
                <a:sym typeface="+mn-ea"/>
              </a:rPr>
              <a:t>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   </a:t>
            </a:r>
            <a:r>
              <a:rPr sz="1800" dirty="0" err="1">
                <a:sym typeface="+mn-ea"/>
              </a:rPr>
              <a:t>System.arraycopy</a:t>
            </a:r>
            <a:r>
              <a:rPr sz="1800" dirty="0">
                <a:sym typeface="+mn-ea"/>
              </a:rPr>
              <a:t>(a, , </a:t>
            </a:r>
            <a:r>
              <a:rPr sz="1800" dirty="0" err="1">
                <a:sym typeface="+mn-ea"/>
              </a:rPr>
              <a:t>elementData</a:t>
            </a:r>
            <a:r>
              <a:rPr sz="1800" dirty="0">
                <a:sym typeface="+mn-ea"/>
              </a:rPr>
              <a:t>, size, </a:t>
            </a:r>
            <a:r>
              <a:rPr sz="1800" dirty="0" err="1">
                <a:sym typeface="+mn-ea"/>
              </a:rPr>
              <a:t>numNew</a:t>
            </a:r>
            <a:r>
              <a:rPr sz="1800" dirty="0">
                <a:sym typeface="+mn-ea"/>
              </a:rPr>
              <a:t>);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   size += </a:t>
            </a:r>
            <a:r>
              <a:rPr sz="1800" dirty="0" err="1">
                <a:sym typeface="+mn-ea"/>
              </a:rPr>
              <a:t>numNew</a:t>
            </a:r>
            <a:r>
              <a:rPr sz="1800" dirty="0">
                <a:sym typeface="+mn-ea"/>
              </a:rPr>
              <a:t>;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   return </a:t>
            </a:r>
            <a:r>
              <a:rPr sz="1800" dirty="0" err="1">
                <a:sym typeface="+mn-ea"/>
              </a:rPr>
              <a:t>numNew</a:t>
            </a:r>
            <a:r>
              <a:rPr sz="1800" dirty="0">
                <a:sym typeface="+mn-ea"/>
              </a:rPr>
              <a:t> != ;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}    </a:t>
            </a:r>
            <a:endParaRPr sz="1800" dirty="0"/>
          </a:p>
          <a:p>
            <a:pPr marL="0" indent="0">
              <a:buNone/>
            </a:pPr>
            <a:r>
              <a:rPr sz="1800" dirty="0">
                <a:sym typeface="+mn-ea"/>
              </a:rPr>
              <a:t> </a:t>
            </a:r>
            <a:endParaRPr sz="180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存储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20000"/>
          </a:bodyPr>
          <a:lstStyle/>
          <a:p>
            <a:pPr marL="0" indent="0">
              <a:buNone/>
            </a:pPr>
            <a:endParaRPr sz="1800"/>
          </a:p>
          <a:p>
            <a:pPr marL="0" indent="0">
              <a:buNone/>
            </a:pP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// 从指定的位置开始，将指定collection中的所有元素插入到此列表中。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public boolean addAll(int index, Collection&lt;? extends E&gt; c) {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if (index &gt; size || index &lt; )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    throw new IndexOutOfBoundsException(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        "Index: " + index + ", Size: " + size);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Object[] a = c.toArray();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int numNew = a.length;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ensureCapacity(size + numNew);  // Increments modCount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int numMoved = size - index;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if (numMoved &gt; )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    System.arraycopy(elementData, index, elementData, index + numNew, numMoved);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System.arraycopy(a, , elementData, index, numNew);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size += numNew;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 return numNew != ;  </a:t>
            </a:r>
            <a:endParaRPr sz="1800"/>
          </a:p>
          <a:p>
            <a:pPr marL="0" indent="0">
              <a:buNone/>
            </a:pPr>
            <a:r>
              <a:rPr sz="1800">
                <a:sym typeface="+mn-ea"/>
              </a:rPr>
              <a:t>   }  </a:t>
            </a:r>
            <a:endParaRPr sz="1800"/>
          </a:p>
          <a:p>
            <a:pPr marL="0" indent="0">
              <a:buNone/>
            </a:pPr>
            <a:endParaRPr sz="18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读取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sz="1800"/>
          </a:p>
          <a:p>
            <a:pPr marL="0" indent="0">
              <a:buNone/>
            </a:pPr>
            <a:endParaRPr sz="1800"/>
          </a:p>
          <a:p>
            <a:pPr marL="0" indent="0">
              <a:buNone/>
            </a:pPr>
            <a:r>
              <a:rPr sz="1800"/>
              <a:t>// 返回此列表中指定位置上的元素。  </a:t>
            </a:r>
          </a:p>
          <a:p>
            <a:pPr marL="0" indent="0">
              <a:buNone/>
            </a:pPr>
            <a:r>
              <a:rPr sz="1800"/>
              <a:t> public E get(int index) {  </a:t>
            </a:r>
          </a:p>
          <a:p>
            <a:pPr marL="0" indent="0">
              <a:buNone/>
            </a:pPr>
            <a:r>
              <a:rPr sz="1800"/>
              <a:t>    RangeCheck(index);  </a:t>
            </a:r>
          </a:p>
          <a:p>
            <a:pPr marL="0" indent="0">
              <a:buNone/>
            </a:pPr>
            <a:r>
              <a:rPr sz="1800"/>
              <a:t>  </a:t>
            </a:r>
          </a:p>
          <a:p>
            <a:pPr marL="0" indent="0">
              <a:buNone/>
            </a:pPr>
            <a:r>
              <a:rPr sz="1800"/>
              <a:t>    return (E) elementData[index];  </a:t>
            </a:r>
          </a:p>
          <a:p>
            <a:pPr marL="0" indent="0">
              <a:buNone/>
            </a:pPr>
            <a:r>
              <a:rPr sz="1800"/>
              <a:t>  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endParaRPr sz="1800"/>
          </a:p>
          <a:p>
            <a:pPr>
              <a:buFont typeface="Wingdings" panose="05000000000000000000" charset="0"/>
              <a:buChar char=""/>
            </a:pPr>
            <a:r>
              <a:rPr sz="3200"/>
              <a:t>r</a:t>
            </a:r>
            <a:r>
              <a:rPr lang="en-US" sz="3200"/>
              <a:t>e</a:t>
            </a:r>
            <a:r>
              <a:rPr sz="3200"/>
              <a:t>move(int index):</a:t>
            </a:r>
          </a:p>
          <a:p>
            <a:pPr marL="0" indent="0">
              <a:buNone/>
            </a:pPr>
            <a:endParaRPr sz="1800"/>
          </a:p>
          <a:p>
            <a:pPr marL="0" indent="0">
              <a:buNone/>
            </a:pPr>
            <a:r>
              <a:rPr sz="1800"/>
              <a:t>  // 移除此列表中指定位置上的元素。  </a:t>
            </a:r>
          </a:p>
          <a:p>
            <a:pPr marL="0" indent="0">
              <a:buNone/>
            </a:pPr>
            <a:r>
              <a:rPr sz="1800"/>
              <a:t>  public E remove(int index) {  </a:t>
            </a:r>
          </a:p>
          <a:p>
            <a:pPr marL="0" indent="0">
              <a:buNone/>
            </a:pPr>
            <a:r>
              <a:rPr sz="1800"/>
              <a:t>   RangeCheck(index);  </a:t>
            </a:r>
          </a:p>
          <a:p>
            <a:pPr marL="0" indent="0">
              <a:buNone/>
            </a:pPr>
            <a:r>
              <a:rPr sz="1800"/>
              <a:t>   </a:t>
            </a:r>
          </a:p>
          <a:p>
            <a:pPr marL="0" indent="0">
              <a:buNone/>
            </a:pPr>
            <a:r>
              <a:rPr sz="1800"/>
              <a:t>     modCount++;  </a:t>
            </a:r>
          </a:p>
          <a:p>
            <a:pPr marL="0" indent="0">
              <a:buNone/>
            </a:pPr>
            <a:r>
              <a:rPr sz="1800"/>
              <a:t>     E oldValue = (E) elementData[index];  </a:t>
            </a:r>
          </a:p>
          <a:p>
            <a:pPr marL="0" indent="0">
              <a:buNone/>
            </a:pPr>
            <a:r>
              <a:rPr sz="1800"/>
              <a:t>   </a:t>
            </a:r>
          </a:p>
          <a:p>
            <a:pPr marL="0" indent="0">
              <a:buNone/>
            </a:pPr>
            <a:r>
              <a:rPr sz="1800"/>
              <a:t>    int numMoved = size - index - 1;  </a:t>
            </a:r>
          </a:p>
          <a:p>
            <a:pPr marL="0" indent="0">
              <a:buNone/>
            </a:pPr>
            <a:r>
              <a:rPr sz="1800"/>
              <a:t>     if (numMoved &gt; 0)  </a:t>
            </a:r>
          </a:p>
          <a:p>
            <a:pPr marL="0" indent="0">
              <a:buNone/>
            </a:pPr>
            <a:r>
              <a:rPr sz="1800"/>
              <a:t>         System.arraycopy(elementData, index+1, elementData, index, numMoved);  </a:t>
            </a:r>
          </a:p>
          <a:p>
            <a:pPr marL="0" indent="0">
              <a:buNone/>
            </a:pPr>
            <a:r>
              <a:rPr sz="1800"/>
              <a:t>     elementData[--size] = null; // Let gc do its work  </a:t>
            </a:r>
          </a:p>
          <a:p>
            <a:pPr marL="0" indent="0">
              <a:buNone/>
            </a:pPr>
            <a:r>
              <a:rPr sz="1800"/>
              <a:t>   </a:t>
            </a:r>
          </a:p>
          <a:p>
            <a:pPr marL="0" indent="0">
              <a:buNone/>
            </a:pPr>
            <a:r>
              <a:rPr sz="1800"/>
              <a:t>    return oldValue;  </a:t>
            </a:r>
          </a:p>
          <a:p>
            <a:pPr marL="0" indent="0">
              <a:buNone/>
            </a:pPr>
            <a:r>
              <a:rPr sz="1800"/>
              <a:t>  }</a:t>
            </a:r>
          </a:p>
          <a:p>
            <a:pPr marL="0" indent="0">
              <a:buNone/>
            </a:pPr>
            <a:endParaRPr sz="1800"/>
          </a:p>
          <a:p>
            <a:pPr marL="0" indent="0">
              <a:buNone/>
            </a:pPr>
            <a:endParaRPr sz="1800"/>
          </a:p>
          <a:p>
            <a:pPr>
              <a:buFont typeface="Wingdings" panose="05000000000000000000" charset="0"/>
              <a:buChar char=""/>
            </a:pPr>
            <a:endParaRPr sz="180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删除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endParaRPr sz="1800" dirty="0"/>
          </a:p>
          <a:p>
            <a:pPr>
              <a:buFont typeface="Wingdings" panose="05000000000000000000" charset="0"/>
              <a:buChar char=""/>
            </a:pPr>
            <a:r>
              <a:rPr sz="5400" dirty="0">
                <a:sym typeface="+mn-ea"/>
              </a:rPr>
              <a:t>remove(Object o</a:t>
            </a:r>
            <a:r>
              <a:rPr sz="5400" dirty="0" smtClean="0">
                <a:sym typeface="+mn-ea"/>
              </a:rPr>
              <a:t>)</a:t>
            </a:r>
            <a:endParaRPr sz="5400" dirty="0"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endParaRPr sz="1800" dirty="0">
              <a:sym typeface="+mn-ea"/>
            </a:endParaRPr>
          </a:p>
          <a:p>
            <a:pPr marL="0" indent="0">
              <a:buFont typeface="Wingdings" panose="05000000000000000000" charset="0"/>
              <a:buNone/>
            </a:pPr>
            <a:r>
              <a:rPr sz="1800" dirty="0"/>
              <a:t> </a:t>
            </a:r>
            <a:r>
              <a:rPr sz="2200" dirty="0"/>
              <a:t>// </a:t>
            </a:r>
            <a:r>
              <a:rPr sz="2200" dirty="0" err="1"/>
              <a:t>移除此列表中首次出现的指定元素（如果存在</a:t>
            </a:r>
            <a:r>
              <a:rPr sz="2200" dirty="0"/>
              <a:t>）。</a:t>
            </a:r>
            <a:r>
              <a:rPr sz="2200" dirty="0" err="1"/>
              <a:t>这是应为ArrayList中允许存放重复的元素</a:t>
            </a:r>
            <a:r>
              <a:rPr sz="2200" dirty="0"/>
              <a:t>。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public </a:t>
            </a:r>
            <a:r>
              <a:rPr sz="2200" dirty="0" err="1"/>
              <a:t>boolean</a:t>
            </a:r>
            <a:r>
              <a:rPr sz="2200" dirty="0"/>
              <a:t> remove(Object o) {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// </a:t>
            </a:r>
            <a:r>
              <a:rPr sz="2200" dirty="0" err="1"/>
              <a:t>由于ArrayList中允许存放null，因此下面通过两种情况来分别处理</a:t>
            </a:r>
            <a:r>
              <a:rPr sz="2200" dirty="0"/>
              <a:t>。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if (o == null) {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for (</a:t>
            </a:r>
            <a:r>
              <a:rPr sz="2200" dirty="0" err="1"/>
              <a:t>int</a:t>
            </a:r>
            <a:r>
              <a:rPr sz="2200" dirty="0"/>
              <a:t> index = 0; index &lt; size; index++)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if (</a:t>
            </a:r>
            <a:r>
              <a:rPr sz="2200" dirty="0" err="1"/>
              <a:t>elementData</a:t>
            </a:r>
            <a:r>
              <a:rPr sz="2200" dirty="0"/>
              <a:t>[index] == null) {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      // </a:t>
            </a:r>
            <a:r>
              <a:rPr sz="2200" dirty="0" err="1"/>
              <a:t>类似remove</a:t>
            </a:r>
            <a:r>
              <a:rPr sz="2200" dirty="0"/>
              <a:t>(</a:t>
            </a:r>
            <a:r>
              <a:rPr sz="2200" dirty="0" err="1"/>
              <a:t>int</a:t>
            </a:r>
            <a:r>
              <a:rPr sz="2200" dirty="0"/>
              <a:t> index)，</a:t>
            </a:r>
            <a:r>
              <a:rPr sz="2200" dirty="0" err="1"/>
              <a:t>移除列表中指定位置上的元素</a:t>
            </a:r>
            <a:r>
              <a:rPr sz="2200" dirty="0"/>
              <a:t>。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     </a:t>
            </a:r>
            <a:r>
              <a:rPr sz="2200" dirty="0" err="1"/>
              <a:t>fastRemove</a:t>
            </a:r>
            <a:r>
              <a:rPr sz="2200" dirty="0"/>
              <a:t>(index);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      return true;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 }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} else {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for (</a:t>
            </a:r>
            <a:r>
              <a:rPr sz="2200" dirty="0" err="1"/>
              <a:t>int</a:t>
            </a:r>
            <a:r>
              <a:rPr sz="2200" dirty="0"/>
              <a:t> index = 0; index &lt; size; index++)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 if (</a:t>
            </a:r>
            <a:r>
              <a:rPr sz="2200" dirty="0" err="1"/>
              <a:t>o.equals</a:t>
            </a:r>
            <a:r>
              <a:rPr sz="2200" dirty="0"/>
              <a:t>(</a:t>
            </a:r>
            <a:r>
              <a:rPr sz="2200" dirty="0" err="1"/>
              <a:t>elementData</a:t>
            </a:r>
            <a:r>
              <a:rPr sz="2200" dirty="0"/>
              <a:t>[index])) {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     </a:t>
            </a:r>
            <a:r>
              <a:rPr sz="2200" dirty="0" err="1"/>
              <a:t>fastRemove</a:t>
            </a:r>
            <a:r>
              <a:rPr sz="2200" dirty="0"/>
              <a:t>(index);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     return true;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   }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  }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  return false; 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    } </a:t>
            </a:r>
          </a:p>
          <a:p>
            <a:pPr marL="0" indent="0">
              <a:buFont typeface="Wingdings" panose="05000000000000000000" charset="0"/>
              <a:buNone/>
            </a:pPr>
            <a:r>
              <a:rPr sz="2200" dirty="0"/>
              <a:t> } 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>
                <a:sym typeface="+mn-ea"/>
              </a:rPr>
              <a:t>ArrayList-</a:t>
            </a:r>
            <a:r>
              <a:rPr lang="zh-CN" altLang="en-US" dirty="0" err="1" smtClean="0">
                <a:sym typeface="+mn-ea"/>
              </a:rPr>
              <a:t>容量调整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57500" lnSpcReduction="20000"/>
          </a:bodyPr>
          <a:lstStyle/>
          <a:p>
            <a:pPr marL="0" indent="0">
              <a:buNone/>
            </a:pPr>
            <a:r>
              <a:rPr sz="3200"/>
              <a:t>ensureCapacity</a:t>
            </a:r>
          </a:p>
          <a:p>
            <a:pPr marL="0" indent="0">
              <a:buNone/>
            </a:pPr>
            <a:endParaRPr sz="3200"/>
          </a:p>
          <a:p>
            <a:pPr marL="0" indent="0">
              <a:buNone/>
            </a:pPr>
            <a:r>
              <a:rPr sz="3200"/>
              <a:t>public void ensureCapacity(int minCapacity) {  </a:t>
            </a:r>
          </a:p>
          <a:p>
            <a:pPr marL="0" indent="0">
              <a:buNone/>
            </a:pPr>
            <a:r>
              <a:rPr sz="3200"/>
              <a:t>    modCount++;  </a:t>
            </a:r>
          </a:p>
          <a:p>
            <a:pPr marL="0" indent="0">
              <a:buNone/>
            </a:pPr>
            <a:r>
              <a:rPr sz="3200"/>
              <a:t>    int oldCapacity = elementData.length;  </a:t>
            </a:r>
          </a:p>
          <a:p>
            <a:pPr marL="0" indent="0">
              <a:buNone/>
            </a:pPr>
            <a:r>
              <a:rPr sz="3200"/>
              <a:t>    if (minCapacity &gt; oldCapacity) {  </a:t>
            </a:r>
          </a:p>
          <a:p>
            <a:pPr marL="0" indent="0">
              <a:buNone/>
            </a:pPr>
            <a:r>
              <a:rPr sz="3200"/>
              <a:t>        Object oldData[] = elementData;  </a:t>
            </a:r>
          </a:p>
          <a:p>
            <a:pPr marL="0" indent="0">
              <a:buNone/>
            </a:pPr>
            <a:r>
              <a:rPr sz="3200"/>
              <a:t>        int newCapacity = (oldCapacity * 3)/2 + 1;  //增加50%+1</a:t>
            </a:r>
          </a:p>
          <a:p>
            <a:pPr marL="0" indent="0">
              <a:buNone/>
            </a:pPr>
            <a:r>
              <a:rPr sz="3200"/>
              <a:t>            if (newCapacity &lt; minCapacity)  </a:t>
            </a:r>
          </a:p>
          <a:p>
            <a:pPr marL="0" indent="0">
              <a:buNone/>
            </a:pPr>
            <a:r>
              <a:rPr sz="3200"/>
              <a:t>                newCapacity = minCapacity;  </a:t>
            </a:r>
          </a:p>
          <a:p>
            <a:pPr marL="0" indent="0">
              <a:buNone/>
            </a:pPr>
            <a:r>
              <a:rPr sz="3200"/>
              <a:t>      // minCapacity is usually close to size, so this is a win:  </a:t>
            </a:r>
          </a:p>
          <a:p>
            <a:pPr marL="0" indent="0">
              <a:buNone/>
            </a:pPr>
            <a:r>
              <a:rPr sz="3200"/>
              <a:t>      elementData = Arrays.copyOf(elementData, newCapacity);  </a:t>
            </a:r>
          </a:p>
          <a:p>
            <a:pPr marL="0" indent="0">
              <a:buNone/>
            </a:pPr>
            <a:r>
              <a:rPr sz="3200"/>
              <a:t>    }  </a:t>
            </a:r>
          </a:p>
          <a:p>
            <a:pPr marL="0" indent="0">
              <a:buNone/>
            </a:pPr>
            <a:r>
              <a:rPr sz="3200"/>
              <a:t> 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ArrayList-</a:t>
            </a:r>
            <a:r>
              <a:rPr lang="zh-CN" altLang="en-US" dirty="0" smtClean="0">
                <a:sym typeface="+mn-ea"/>
              </a:rPr>
              <a:t>修剪功能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1800" dirty="0" err="1" smtClean="0"/>
              <a:t>trimToSize</a:t>
            </a:r>
            <a:r>
              <a:rPr lang="en-US" altLang="zh-CN" sz="1800" dirty="0" smtClean="0"/>
              <a:t>();</a:t>
            </a:r>
          </a:p>
          <a:p>
            <a:pPr marL="0" indent="0">
              <a:buNone/>
            </a:pPr>
            <a:endParaRPr lang="en-US" altLang="zh-CN" sz="1800" dirty="0" smtClean="0"/>
          </a:p>
          <a:p>
            <a:pPr marL="0" indent="0">
              <a:buNone/>
            </a:pPr>
            <a:r>
              <a:rPr lang="zh-CN" altLang="en-US" sz="1800" dirty="0" smtClean="0"/>
              <a:t>重新分配集合所占空间大小。（修剪功能）</a:t>
            </a:r>
            <a:endParaRPr lang="en-US" altLang="zh-CN" sz="1800" dirty="0" smtClean="0"/>
          </a:p>
          <a:p>
            <a:pPr marL="0" indent="0">
              <a:buNone/>
            </a:pPr>
            <a:endParaRPr lang="en-US" altLang="zh-CN" sz="1800" dirty="0" smtClean="0"/>
          </a:p>
          <a:p>
            <a:pPr marL="0" indent="0">
              <a:buNone/>
            </a:pP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40" y="3745898"/>
            <a:ext cx="6939201" cy="16561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 smtClean="0"/>
              <a:t>LinkedList</a:t>
            </a:r>
            <a:r>
              <a:rPr lang="zh-CN" altLang="en-US" dirty="0" smtClean="0"/>
              <a:t>类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indent="0" algn="l"/>
            <a:r>
              <a:rPr lang="en-US" altLang="zh-CN" sz="2000" dirty="0" err="1" smtClean="0">
                <a:cs typeface="Times New Roman" pitchFamily="18" charset="0"/>
              </a:rPr>
              <a:t>LinkedList</a:t>
            </a:r>
            <a:r>
              <a:rPr lang="zh-CN" altLang="en-US" sz="2000" dirty="0" smtClean="0">
                <a:cs typeface="Times New Roman" pitchFamily="18" charset="0"/>
              </a:rPr>
              <a:t>实现了</a:t>
            </a:r>
            <a:r>
              <a:rPr lang="en-US" altLang="zh-CN" sz="2000" dirty="0" smtClean="0">
                <a:cs typeface="Times New Roman" pitchFamily="18" charset="0"/>
              </a:rPr>
              <a:t>List</a:t>
            </a:r>
            <a:r>
              <a:rPr lang="zh-CN" altLang="en-US" sz="2000" dirty="0" smtClean="0">
                <a:cs typeface="Times New Roman" pitchFamily="18" charset="0"/>
              </a:rPr>
              <a:t>接口，允许</a:t>
            </a:r>
            <a:r>
              <a:rPr lang="en-US" altLang="zh-CN" sz="2000" dirty="0" smtClean="0">
                <a:cs typeface="Times New Roman" pitchFamily="18" charset="0"/>
              </a:rPr>
              <a:t>null</a:t>
            </a:r>
            <a:r>
              <a:rPr lang="zh-CN" altLang="en-US" sz="2000" dirty="0" smtClean="0">
                <a:cs typeface="Times New Roman" pitchFamily="18" charset="0"/>
              </a:rPr>
              <a:t>元素。此外</a:t>
            </a:r>
            <a:r>
              <a:rPr lang="en-US" altLang="zh-CN" sz="2000" dirty="0" err="1" smtClean="0">
                <a:cs typeface="Times New Roman" pitchFamily="18" charset="0"/>
              </a:rPr>
              <a:t>LinkedList</a:t>
            </a:r>
            <a:r>
              <a:rPr lang="zh-CN" altLang="en-US" sz="2000" dirty="0" smtClean="0">
                <a:cs typeface="Times New Roman" pitchFamily="18" charset="0"/>
              </a:rPr>
              <a:t>提供额外的</a:t>
            </a:r>
            <a:r>
              <a:rPr lang="en-US" altLang="zh-CN" sz="2000" dirty="0" smtClean="0">
                <a:cs typeface="Times New Roman" pitchFamily="18" charset="0"/>
              </a:rPr>
              <a:t>get</a:t>
            </a:r>
            <a:r>
              <a:rPr lang="zh-CN" altLang="en-US" sz="2000" dirty="0" smtClean="0">
                <a:cs typeface="Times New Roman" pitchFamily="18" charset="0"/>
              </a:rPr>
              <a:t>，</a:t>
            </a:r>
            <a:r>
              <a:rPr lang="en-US" altLang="zh-CN" sz="2000" dirty="0" smtClean="0">
                <a:cs typeface="Times New Roman" pitchFamily="18" charset="0"/>
              </a:rPr>
              <a:t>remove</a:t>
            </a:r>
            <a:r>
              <a:rPr lang="zh-CN" altLang="en-US" sz="2000" dirty="0" smtClean="0">
                <a:cs typeface="Times New Roman" pitchFamily="18" charset="0"/>
              </a:rPr>
              <a:t>，</a:t>
            </a:r>
            <a:r>
              <a:rPr lang="en-US" altLang="zh-CN" sz="2000" dirty="0" smtClean="0">
                <a:cs typeface="Times New Roman" pitchFamily="18" charset="0"/>
              </a:rPr>
              <a:t>insert</a:t>
            </a:r>
            <a:r>
              <a:rPr lang="zh-CN" altLang="en-US" sz="2000" dirty="0" smtClean="0">
                <a:cs typeface="Times New Roman" pitchFamily="18" charset="0"/>
              </a:rPr>
              <a:t>方法在</a:t>
            </a:r>
            <a:r>
              <a:rPr lang="en-US" altLang="zh-CN" sz="2000" dirty="0" err="1" smtClean="0">
                <a:cs typeface="Times New Roman" pitchFamily="18" charset="0"/>
              </a:rPr>
              <a:t>LinkedList</a:t>
            </a:r>
            <a:r>
              <a:rPr lang="zh-CN" altLang="en-US" sz="2000" dirty="0" smtClean="0">
                <a:cs typeface="Times New Roman" pitchFamily="18" charset="0"/>
              </a:rPr>
              <a:t>的首部或尾部。这些操作使</a:t>
            </a:r>
            <a:r>
              <a:rPr lang="en-US" altLang="zh-CN" sz="2000" dirty="0" err="1" smtClean="0">
                <a:cs typeface="Times New Roman" pitchFamily="18" charset="0"/>
              </a:rPr>
              <a:t>LinkedList</a:t>
            </a:r>
            <a:r>
              <a:rPr lang="zh-CN" altLang="en-US" sz="2000" dirty="0" smtClean="0">
                <a:cs typeface="Times New Roman" pitchFamily="18" charset="0"/>
              </a:rPr>
              <a:t>可被用作堆栈（</a:t>
            </a:r>
            <a:r>
              <a:rPr lang="en-US" altLang="zh-CN" sz="2000" dirty="0" smtClean="0">
                <a:cs typeface="Times New Roman" pitchFamily="18" charset="0"/>
              </a:rPr>
              <a:t>stack</a:t>
            </a:r>
            <a:r>
              <a:rPr lang="zh-CN" altLang="en-US" sz="2000" dirty="0" smtClean="0">
                <a:cs typeface="Times New Roman" pitchFamily="18" charset="0"/>
              </a:rPr>
              <a:t>），队列（</a:t>
            </a:r>
            <a:r>
              <a:rPr lang="en-US" altLang="zh-CN" sz="2000" dirty="0" smtClean="0">
                <a:cs typeface="Times New Roman" pitchFamily="18" charset="0"/>
              </a:rPr>
              <a:t>queue</a:t>
            </a:r>
            <a:r>
              <a:rPr lang="zh-CN" altLang="en-US" sz="2000" dirty="0" smtClean="0">
                <a:cs typeface="Times New Roman" pitchFamily="18" charset="0"/>
              </a:rPr>
              <a:t>）或双向队列（</a:t>
            </a:r>
            <a:r>
              <a:rPr lang="en-US" altLang="zh-CN" sz="2000" dirty="0" err="1" smtClean="0">
                <a:cs typeface="Times New Roman" pitchFamily="18" charset="0"/>
              </a:rPr>
              <a:t>deque</a:t>
            </a:r>
            <a:r>
              <a:rPr lang="zh-CN" altLang="en-US" sz="2000" dirty="0" smtClean="0">
                <a:cs typeface="Times New Roman" pitchFamily="18" charset="0"/>
              </a:rPr>
              <a:t>）。</a:t>
            </a:r>
            <a:br>
              <a:rPr lang="zh-CN" altLang="en-US" sz="2000" dirty="0" smtClean="0">
                <a:cs typeface="Times New Roman" pitchFamily="18" charset="0"/>
              </a:rPr>
            </a:br>
            <a:r>
              <a:rPr lang="zh-CN" altLang="en-US" sz="2000" dirty="0" smtClean="0">
                <a:cs typeface="Times New Roman" pitchFamily="18" charset="0"/>
              </a:rPr>
              <a:t>　　注意</a:t>
            </a:r>
            <a:r>
              <a:rPr lang="en-US" altLang="zh-CN" sz="2000" dirty="0" err="1" smtClean="0">
                <a:cs typeface="Times New Roman" pitchFamily="18" charset="0"/>
              </a:rPr>
              <a:t>LinkedList</a:t>
            </a:r>
            <a:r>
              <a:rPr lang="zh-CN" altLang="en-US" sz="2000" dirty="0" smtClean="0">
                <a:cs typeface="Times New Roman" pitchFamily="18" charset="0"/>
              </a:rPr>
              <a:t>没有同步方法。如果多个线程同时访问一个</a:t>
            </a:r>
            <a:r>
              <a:rPr lang="en-US" altLang="zh-CN" sz="2000" dirty="0" smtClean="0">
                <a:cs typeface="Times New Roman" pitchFamily="18" charset="0"/>
              </a:rPr>
              <a:t>List</a:t>
            </a:r>
            <a:r>
              <a:rPr lang="zh-CN" altLang="en-US" sz="2000" dirty="0" smtClean="0">
                <a:cs typeface="Times New Roman" pitchFamily="18" charset="0"/>
              </a:rPr>
              <a:t>，则必须自己实现访问同步。一种解决方法是在创建</a:t>
            </a:r>
            <a:r>
              <a:rPr lang="en-US" altLang="zh-CN" sz="2000" dirty="0" smtClean="0">
                <a:cs typeface="Times New Roman" pitchFamily="18" charset="0"/>
              </a:rPr>
              <a:t>List</a:t>
            </a:r>
            <a:r>
              <a:rPr lang="zh-CN" altLang="en-US" sz="2000" dirty="0" smtClean="0">
                <a:cs typeface="Times New Roman" pitchFamily="18" charset="0"/>
              </a:rPr>
              <a:t>时构造一个同步的</a:t>
            </a:r>
            <a:r>
              <a:rPr lang="en-US" altLang="zh-CN" sz="2000" dirty="0" smtClean="0">
                <a:cs typeface="Times New Roman" pitchFamily="18" charset="0"/>
              </a:rPr>
              <a:t>List</a:t>
            </a:r>
            <a:r>
              <a:rPr lang="zh-CN" altLang="en-US" sz="2000" dirty="0" smtClean="0">
                <a:cs typeface="Times New Roman" pitchFamily="18" charset="0"/>
              </a:rPr>
              <a:t>：</a:t>
            </a:r>
            <a:r>
              <a:rPr lang="zh-CN" altLang="en-US" sz="2000" dirty="0" smtClean="0"/>
              <a:t/>
            </a:r>
            <a:br>
              <a:rPr lang="zh-CN" altLang="en-US" sz="2000" dirty="0" smtClean="0"/>
            </a:br>
            <a:r>
              <a:rPr lang="en-US" altLang="zh-CN" dirty="0"/>
              <a:t>	</a:t>
            </a:r>
            <a:r>
              <a:rPr lang="en-US" altLang="zh-CN" sz="2000" dirty="0" smtClean="0">
                <a:latin typeface="Times New Roman" pitchFamily="18" charset="0"/>
                <a:cs typeface="Times New Roman" pitchFamily="18" charset="0"/>
              </a:rPr>
              <a:t>List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list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Collections.synchronizedList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(new </a:t>
            </a:r>
            <a:r>
              <a:rPr lang="en-US" altLang="zh-CN" sz="2000" dirty="0" err="1">
                <a:latin typeface="Times New Roman" pitchFamily="18" charset="0"/>
                <a:cs typeface="Times New Roman" pitchFamily="18" charset="0"/>
              </a:rPr>
              <a:t>LinkedList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(...));</a:t>
            </a:r>
            <a:endParaRPr lang="zh-CN" alt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446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Vector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dirty="0"/>
              <a:t>基于数组（</a:t>
            </a:r>
            <a:r>
              <a:rPr lang="en-US" altLang="zh-CN" dirty="0"/>
              <a:t>Array</a:t>
            </a:r>
            <a:r>
              <a:rPr lang="zh-CN" altLang="en-US" dirty="0"/>
              <a:t>）的</a:t>
            </a:r>
            <a:r>
              <a:rPr lang="en-US" altLang="zh-CN" dirty="0"/>
              <a:t>List</a:t>
            </a:r>
            <a:r>
              <a:rPr lang="zh-CN" altLang="en-US" dirty="0"/>
              <a:t>，其实就是封装了数组所不具备的一些功能方便我们使用，所以它难易避免数组的限制，同时性能也不可能超越数组。所以，在可能的情况下，我们要多运用数组。另外很重要的一点就是</a:t>
            </a:r>
            <a:r>
              <a:rPr lang="en-US" altLang="zh-CN" dirty="0"/>
              <a:t>Vector</a:t>
            </a:r>
            <a:r>
              <a:rPr lang="zh-CN" altLang="en-US" dirty="0"/>
              <a:t>是线程同步的</a:t>
            </a:r>
            <a:r>
              <a:rPr lang="en-US" altLang="zh-CN" dirty="0"/>
              <a:t>(</a:t>
            </a:r>
            <a:r>
              <a:rPr lang="en-US" altLang="zh-CN" dirty="0" err="1"/>
              <a:t>sychronized</a:t>
            </a:r>
            <a:r>
              <a:rPr lang="en-US" altLang="zh-CN" dirty="0"/>
              <a:t>)</a:t>
            </a:r>
            <a:r>
              <a:rPr lang="zh-CN" altLang="en-US" dirty="0"/>
              <a:t>的，这也是</a:t>
            </a:r>
            <a:r>
              <a:rPr lang="en-US" altLang="zh-CN" dirty="0"/>
              <a:t>Vector</a:t>
            </a:r>
            <a:r>
              <a:rPr lang="zh-CN" altLang="en-US" dirty="0"/>
              <a:t>和</a:t>
            </a:r>
            <a:r>
              <a:rPr lang="en-US" altLang="zh-CN" dirty="0" err="1"/>
              <a:t>ArrayList</a:t>
            </a:r>
            <a:r>
              <a:rPr lang="en-US" altLang="zh-CN" dirty="0"/>
              <a:t> </a:t>
            </a:r>
            <a:r>
              <a:rPr lang="zh-CN" altLang="en-US" dirty="0"/>
              <a:t>的一个的重要区别。</a:t>
            </a:r>
            <a:endParaRPr lang="en-US" altLang="zh-CN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1800" dirty="0" smtClean="0"/>
              <a:t>所有</a:t>
            </a:r>
            <a:r>
              <a:rPr lang="zh-CN" altLang="en-US" sz="1800" dirty="0"/>
              <a:t>的</a:t>
            </a:r>
            <a:r>
              <a:rPr lang="en-US" altLang="zh-CN" sz="1800" dirty="0"/>
              <a:t>List</a:t>
            </a:r>
            <a:r>
              <a:rPr lang="zh-CN" altLang="en-US" sz="1800" dirty="0"/>
              <a:t>中只能容纳单个不同类型的对象组成的表，而不是</a:t>
            </a:r>
            <a:r>
              <a:rPr lang="en-US" altLang="zh-CN" sz="1800" dirty="0"/>
              <a:t>Key</a:t>
            </a:r>
            <a:r>
              <a:rPr lang="zh-CN" altLang="en-US" sz="1800" dirty="0"/>
              <a:t>－</a:t>
            </a:r>
            <a:r>
              <a:rPr lang="en-US" altLang="zh-CN" sz="1800" dirty="0"/>
              <a:t>Value</a:t>
            </a:r>
            <a:r>
              <a:rPr lang="zh-CN" altLang="en-US" sz="1800" dirty="0"/>
              <a:t>键值对。例如：</a:t>
            </a:r>
            <a:r>
              <a:rPr lang="en-US" altLang="zh-CN" sz="1800" dirty="0"/>
              <a:t>[ tom,1,c ] </a:t>
            </a: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1800" dirty="0" smtClean="0"/>
              <a:t>所有</a:t>
            </a:r>
            <a:r>
              <a:rPr lang="zh-CN" altLang="en-US" sz="1800" dirty="0"/>
              <a:t>的</a:t>
            </a:r>
            <a:r>
              <a:rPr lang="en-US" altLang="zh-CN" sz="1800" dirty="0"/>
              <a:t>List</a:t>
            </a:r>
            <a:r>
              <a:rPr lang="zh-CN" altLang="en-US" sz="1800" dirty="0"/>
              <a:t>中可以有相同的元素，例如</a:t>
            </a:r>
            <a:r>
              <a:rPr lang="en-US" altLang="zh-CN" sz="1800" dirty="0"/>
              <a:t>Vector</a:t>
            </a:r>
            <a:r>
              <a:rPr lang="zh-CN" altLang="en-US" sz="1800" dirty="0"/>
              <a:t>中可以有 </a:t>
            </a:r>
            <a:r>
              <a:rPr lang="en-US" altLang="zh-CN" sz="1800" dirty="0"/>
              <a:t>[ </a:t>
            </a:r>
            <a:r>
              <a:rPr lang="en-US" altLang="zh-CN" sz="1800" dirty="0" err="1"/>
              <a:t>tom,koo,too,koo</a:t>
            </a:r>
            <a:r>
              <a:rPr lang="en-US" altLang="zh-CN" sz="1800" dirty="0"/>
              <a:t> </a:t>
            </a:r>
            <a:r>
              <a:rPr lang="en-US" altLang="zh-CN" sz="1800" dirty="0" smtClean="0"/>
              <a:t>]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1800" dirty="0"/>
              <a:t>所有的</a:t>
            </a:r>
            <a:r>
              <a:rPr lang="en-US" altLang="zh-CN" sz="1800" dirty="0"/>
              <a:t>List</a:t>
            </a:r>
            <a:r>
              <a:rPr lang="zh-CN" altLang="en-US" sz="1800" dirty="0"/>
              <a:t>中可以有</a:t>
            </a:r>
            <a:r>
              <a:rPr lang="en-US" altLang="zh-CN" sz="1800" dirty="0"/>
              <a:t>null</a:t>
            </a:r>
            <a:r>
              <a:rPr lang="zh-CN" altLang="en-US" sz="1800" dirty="0"/>
              <a:t>元素，例如</a:t>
            </a:r>
            <a:r>
              <a:rPr lang="en-US" altLang="zh-CN" sz="1800" dirty="0"/>
              <a:t>[ tom,null,1 ] </a:t>
            </a: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zh-CN" altLang="en-US" sz="1800" dirty="0"/>
              <a:t>基于</a:t>
            </a:r>
            <a:r>
              <a:rPr lang="en-US" altLang="zh-CN" sz="1800" dirty="0"/>
              <a:t>Array</a:t>
            </a:r>
            <a:r>
              <a:rPr lang="zh-CN" altLang="en-US" sz="1800" dirty="0"/>
              <a:t>的</a:t>
            </a:r>
            <a:r>
              <a:rPr lang="en-US" altLang="zh-CN" sz="1800" dirty="0"/>
              <a:t>List</a:t>
            </a:r>
            <a:r>
              <a:rPr lang="zh-CN" altLang="en-US" sz="1800" dirty="0"/>
              <a:t>（</a:t>
            </a:r>
            <a:r>
              <a:rPr lang="en-US" altLang="zh-CN" sz="1800" dirty="0"/>
              <a:t>Vector</a:t>
            </a:r>
            <a:r>
              <a:rPr lang="zh-CN" altLang="en-US" sz="1800" dirty="0"/>
              <a:t>，</a:t>
            </a:r>
            <a:r>
              <a:rPr lang="en-US" altLang="zh-CN" sz="1800" dirty="0" err="1"/>
              <a:t>ArrayList</a:t>
            </a:r>
            <a:r>
              <a:rPr lang="zh-CN" altLang="en-US" sz="1800" dirty="0"/>
              <a:t>）适合查询，而</a:t>
            </a:r>
            <a:r>
              <a:rPr lang="en-US" altLang="zh-CN" sz="1800" dirty="0" err="1"/>
              <a:t>LinkedList</a:t>
            </a:r>
            <a:r>
              <a:rPr lang="en-US" altLang="zh-CN" sz="1800" dirty="0"/>
              <a:t> </a:t>
            </a:r>
            <a:r>
              <a:rPr lang="zh-CN" altLang="en-US" sz="1800" dirty="0"/>
              <a:t>适合添加，删除操作</a:t>
            </a: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19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List </a:t>
            </a:r>
            <a:r>
              <a:rPr lang="zh-CN" altLang="en-US" dirty="0" smtClean="0"/>
              <a:t>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01487" y="1028353"/>
            <a:ext cx="7848872" cy="53285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大多数情况下，从性能上来说ArrayList最好，但是当集合内的元素需要频繁插入、删除时LinkedList会有比较好的表现，但是它们三个性能都比不上数组，另外Vector是线程同步的。所以：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如果能用数组的时候(元素类型固定，数组长度固定)，请尽量使用数组来代替List；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如果没有频繁的删除插入操作，又不用考虑多线程问题，优先选择ArrayList；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如果在多线程条件下使用，可以考虑Vector；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如果需要频繁地删除插入，LinkedList就有了用武之地；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如果你什么都不知道，用ArrayList没错。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Set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Set是一种不包含重复的元素的无序Collection。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>
              <a:buFont typeface="Wingdings" panose="05000000000000000000" charset="0"/>
              <a:buChar char=""/>
            </a:pPr>
            <a:r>
              <a:rPr lang="en-US" altLang="zh-CN" sz="1800" dirty="0" smtClean="0"/>
              <a:t>不允许出现重复元素；</a:t>
            </a:r>
          </a:p>
          <a:p>
            <a:pPr>
              <a:buFont typeface="Wingdings" panose="05000000000000000000" charset="0"/>
              <a:buChar char=""/>
            </a:pPr>
            <a:r>
              <a:rPr lang="en-US" altLang="zh-CN" sz="1800" dirty="0" smtClean="0">
                <a:sym typeface="+mn-ea"/>
              </a:rPr>
              <a:t>集合中的元素位置无顺序；</a:t>
            </a:r>
            <a:endParaRPr lang="en-US" altLang="zh-CN" sz="1800" dirty="0" smtClean="0"/>
          </a:p>
          <a:p>
            <a:pPr>
              <a:buFont typeface="Wingdings" panose="05000000000000000000" charset="0"/>
              <a:buChar char=""/>
            </a:pPr>
            <a:r>
              <a:rPr lang="en-US" altLang="zh-CN" sz="1800" dirty="0" smtClean="0">
                <a:sym typeface="+mn-ea"/>
              </a:rPr>
              <a:t>有且只有一个值为null的元素。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互异性：一个集合中，任何两个元素都认为是不相同的，即每个元素只能出现一次。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无序性：一个集合中，每个元素的地位都是相同的，元素之间是无序的。集合上可以定义序关系，定义了序关系后，元素之间就可以按照序关系排序。但就集合本身的特性而言，元素之间没有必然的序。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空集的性质：空集是一切集合的子集 </a:t>
            </a:r>
          </a:p>
          <a:p>
            <a:pPr>
              <a:buFont typeface="Wingdings" panose="05000000000000000000" charset="0"/>
              <a:buChar char=""/>
            </a:pP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21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HashSet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charset="0"/>
              <a:buChar char=""/>
            </a:pPr>
            <a:r>
              <a:rPr lang="en-US" altLang="zh-CN" sz="1800" dirty="0" smtClean="0">
                <a:sym typeface="+mn-ea"/>
              </a:rPr>
              <a:t>HashSet</a:t>
            </a:r>
            <a:endParaRPr lang="en-US" altLang="zh-CN" sz="1800" dirty="0" smtClean="0"/>
          </a:p>
          <a:p>
            <a:pPr>
              <a:buFont typeface="Wingdings" panose="05000000000000000000" charset="0"/>
              <a:buChar char=""/>
            </a:pPr>
            <a:endParaRPr lang="en-US" altLang="zh-CN" sz="1800" dirty="0" smtClean="0"/>
          </a:p>
          <a:p>
            <a:pPr lvl="1">
              <a:buFont typeface="Wingdings" panose="05000000000000000000" charset="0"/>
              <a:buChar char=""/>
            </a:pPr>
            <a:r>
              <a:rPr lang="en-US" altLang="zh-CN" sz="1800" dirty="0" smtClean="0">
                <a:sym typeface="+mn-ea"/>
              </a:rPr>
              <a:t>LinkedHashSet</a:t>
            </a:r>
            <a:endParaRPr lang="en-US" altLang="zh-CN" sz="1800" dirty="0" smtClean="0"/>
          </a:p>
          <a:p>
            <a:pPr marL="457200" lvl="1" indent="0">
              <a:buFont typeface="Wingdings" panose="05000000000000000000" charset="0"/>
              <a:buNone/>
            </a:pPr>
            <a:endParaRPr lang="en-US" altLang="zh-CN" sz="1800" dirty="0" smtClean="0"/>
          </a:p>
          <a:p>
            <a:pPr marL="0" indent="0">
              <a:buFont typeface="Wingdings" panose="05000000000000000000" charset="0"/>
              <a:buChar char=""/>
            </a:pPr>
            <a:r>
              <a:rPr lang="en-US" altLang="zh-CN" sz="1800" dirty="0" smtClean="0">
                <a:sym typeface="+mn-ea"/>
              </a:rPr>
              <a:t> SortedSet</a:t>
            </a:r>
            <a:endParaRPr lang="en-US" altLang="zh-CN" sz="1800" dirty="0" smtClean="0"/>
          </a:p>
          <a:p>
            <a:pPr marL="0" indent="0">
              <a:buFont typeface="Wingdings" panose="05000000000000000000" charset="0"/>
              <a:buNone/>
            </a:pPr>
            <a:endParaRPr lang="en-US" altLang="zh-CN" sz="1800" dirty="0" smtClean="0"/>
          </a:p>
          <a:p>
            <a:pPr marL="457200" lvl="1" indent="0">
              <a:buFont typeface="Wingdings" panose="05000000000000000000" charset="0"/>
              <a:buChar char=""/>
            </a:pPr>
            <a:r>
              <a:rPr lang="en-US" altLang="zh-CN" sz="1800" dirty="0" smtClean="0">
                <a:sym typeface="+mn-ea"/>
              </a:rPr>
              <a:t>TreeSet</a:t>
            </a: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22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HashSet-</a:t>
            </a:r>
            <a:r>
              <a:rPr lang="zh-CN" altLang="en-US" dirty="0"/>
              <a:t>简单的解释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	</a:t>
            </a:r>
            <a:r>
              <a:rPr lang="en-US" altLang="zh-CN" sz="2000" dirty="0" smtClean="0"/>
              <a:t>HashSet使用的是相当复杂的方式来存储元素的，使用HashSet能够最快的获取集合中的元素，效率非常高（以空间换时间）。会根据hashcode和equals来庞端是否是同一个对象，如果hashcode一样，并且equals返回true，则是同一个对象，不能重复存放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23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HashSet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虽然Set同List都实现了Collection接口，但是他们的实现方式却大不一样。List基本上都是以Array为基础。但是Set则是在 HashMap的基础上来实现的，这个就是Set和List的根本区别。HashSet的存储方式是把HashMap中的Key作为Set的对应存储项。看看 HashSet的add（Object obj）方法的实现就可以一目了然了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public boolean add(Object obj) {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return map.put(obj, PRESENT) == null;  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 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这个也是为什么在Set中不能像在List中一样有重复的项的根本原因，因为HashMap的key是不能有重复的。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TreeSet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TreeSet也不能存放重复对象，但是TreeSet会自动排序，如果存放的对象不能排序则会报错，所以存放的对象必须指定排序规则。排序规则包括自然排序和客户排序。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 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　　①自然排序：TreeSet要添加哪个对象就在哪个对象类上面实现java.lang.Comparable接口，并且重写comparaTo()方法，返回0则表示是同一个对象，否则为不同对象。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 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　　②客户排序：建立一个第三方类并实现java.util.Comparator接口。并重写方法。定义集合形式为TreeSet ts = new TreeSet(new 第三方类());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1、TreeSet 是二差树实现的,Treeset中的数据是自动排好序的，不允许放入null值。 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2、HashSet 是哈希表实现的,HashSet中的数据是无序的，可以放入null，但只能放入一个null，两者中的值都不能重复，就如数据库中唯一约束。 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3、HashSet要求放入的对象必须实现HashCode()方法，放入的对象，是以hashcode码作为标识的，而具有相同内容的 String对象，hashcode是一样，所以放入的内容不能重复。但是同一个类的对象可以放入不同的实例 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HashSet是基于Hash算法实现的,其性能通常优于TreeSet,我们通常都应该使用HashSet,在我们需要排序的功能时,我门才使用TreeSet;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26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Map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Map&lt;K,V&gt;  Map集合类用于存储元素对（称作键和值），其中每个键映射到一个值,该接口描述了从不重复的键到值的映射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27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6385" y="1740535"/>
            <a:ext cx="6767195" cy="39922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Map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1).HashTable,底层是哈希表数据结构，不可以存入null键和null值，线程同步，JDK1.0效率低；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 2).HashMap,底层是哈希表数据结构，可以存入null键和null值，不同步，JDK1.2效率高；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    3).TreeMap,底层是二叉树数据结构，线程不同步，可以用于Map键排序.</a:t>
            </a:r>
          </a:p>
          <a:p>
            <a:pPr>
              <a:buFont typeface="Wingdings" panose="05000000000000000000" pitchFamily="2" charset="2"/>
              <a:buChar char="u"/>
            </a:pP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28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Map</a:t>
            </a:r>
            <a:r>
              <a:rPr lang="zh-CN" altLang="en-US" dirty="0"/>
              <a:t>常用的方法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7500" lnSpcReduction="1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1.size() : int返回Map中元素的个数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isEmpty() : boolean 返回一个布尔值，表示这个Map是否为空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containsKey(Object) : boolean 返回一个布尔值，表示这个Map中是否存在一个为Object的key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containsValue(Object) : boolean 返回一个布尔值，表示这个Map中是否存在一个为Object的value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get(Object) : V 返回Object这个key所对应的Value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put(K, V) 添加一个元素到Map中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clear() 清除Map中的元素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keySet() : Set 返回一个Set对象，里面包含Map的所有key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values() : Collection 返回一个实现了Collection的类的对象，里面包含Map中的所有value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entrySet() : Set 返回一个Set，Set中的每个元素都为entry，每个entry中包含Map的一个Key和对应的Value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equals() : boolean 用于比较两个Map是否相等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29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HashMap</a:t>
            </a:r>
            <a:r>
              <a:rPr lang="zh-CN" altLang="en-US" dirty="0"/>
              <a:t>与</a:t>
            </a:r>
            <a:r>
              <a:rPr lang="en-US" altLang="zh-CN" dirty="0"/>
              <a:t>HashTable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 smtClean="0">
                <a:sym typeface="+mn-ea"/>
              </a:rPr>
              <a:t>另一个区别是HashMap的迭代器(Iterator)是fail-fast迭代器，而Hashtable的enumerator迭代器不是fail-fast的。所以当有其它线程改变了HashMap的结构（增加或者移除元素），将会抛出ConcurrentModificationException，但迭代器本身的remove()方法移除元素则不会抛出ConcurrentModificationException异常。但这并不是一个一定发生的行为，要看JVM。这条同样也是Enumeration和Iterator的区别。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 smtClean="0">
                <a:sym typeface="+mn-ea"/>
              </a:rPr>
              <a:t>由于Hashtable是线程安全的也是synchronized，所以在单线程环境下它比HashMap要慢。如果你不需要同步，只需要单一线程，那么使用HashMap性能要好过Hashtable。</a:t>
            </a:r>
            <a:endParaRPr lang="en-US" altLang="zh-CN" sz="2000" dirty="0" smtClean="0"/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2000" dirty="0" smtClean="0">
                <a:sym typeface="+mn-ea"/>
              </a:rPr>
              <a:t>HashMap不能保证随着时间的推移Map中的元素次序是不变的。</a:t>
            </a:r>
            <a:endParaRPr lang="en-US" altLang="zh-CN" sz="20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30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Collections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1） 排序（Sort）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使用sort方法可以根据元素的自然顺序 对指定列表按升序进行排序。列表中的所有元素都必须实现 Comparable 接口。此列表内的所有元素都必须是使用指定比较器可相互比较的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array[] = {112, 111, 23, 456, 231 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list.add(new Double(array[i]));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Collections.sort(list);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System.out.println(li.get(i));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//结果：112,111,23,456,231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69016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2） 混排（Shuffling）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混排算法所做的正好与 sort 相反： 它打乱在一个 List 中可能有的任何排列的踪迹。也就是说，基于随机源的输入重排该 List，这样的排列具有相同的可能性（假设随机源是公正的）。这个算法在实现一个碰运气的游戏中是非常有用的。例如，它可被用来混排代表一副牌的 Card 对象的一个 List .另外，在生成测试案例时，它也是十分有用的。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Collections.Shuffling(list)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double array[] = {112, 111, 23, 456, 231 };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for (int i = 0; i &lt; array.length; i++) {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list.add(new Double(array[i]));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}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Collections.shuffle(list);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for (int i = 0; i &lt; array.length; i++) {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System.out.println(li.get(i));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}</a:t>
            </a:r>
          </a:p>
          <a:p>
            <a:pPr>
              <a:buFont typeface="Wingdings" panose="05000000000000000000" pitchFamily="2" charset="2"/>
              <a:buChar char="u"/>
            </a:pPr>
            <a:r>
              <a:rPr lang="en-US" altLang="zh-CN" sz="1800" dirty="0" smtClean="0"/>
              <a:t>//结果：112,111,23,456,231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69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3） 反转（Reverse）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使用Reverse方法可以根据元素的自然顺序 对指定列表按降序进行排序。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Collections.reverse(list)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array[] = {112, 111, 23, 456, 231 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list.add(new Double(array[i]));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 reverse (list);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System.out.println(li.get(i));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//结果：231,456,23,111,112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60221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4） 替换所有的元素（Fill）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使用指定元素替换指定列表中的所有元素。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String str[] = {"dd","aa","bb","cc","ee"};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for(int j=0;j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li.add(new String(str[j]));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Collections.fill(li,"aaa");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li.size();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System.out.println("list[" + i + "]=" + li.get(i));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//结果：aaa,aaa,aaa,aaa,aaa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3068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75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5） 拷贝（Copy）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用两个参数，一个目标 List 和一个源 List， 将源的元素拷贝到目标，并覆盖它的内容。目标 List 至少与源一样长。如果它更长，则在目标 List 中的剩余元素不受影响。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Collections.copy（list，li）： 后面一个参数是目标列表 ，前一个是源列表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array[] = {112, 111, 23, 456, 231 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list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list.add(new Double(array[i]));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arr[] = {1131,333};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String str[] = {"dd","aa","bb","cc","ee"};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for(int j=0;j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li.add(new Double(arr[j]));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Collections.copy(list,li);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System.out.println("list[" + i + "]=" + list.get(i));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//结果：1131,333,23,456,231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035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6） 返回Collections中最小元素（min）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根据指定比较器产生的顺序，返回给定 collection 的最小元素。collection 中的所有元素都必须是通过指定比较器可相互比较的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Collections.min(list)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array[] = {112, 111, 23, 456, 231 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list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list.add(new Double(array[i]));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Collections.min(list);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System.out.println("list[" + i + "]=" + list.get(i));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//结果：23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9785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7） 返回Collections中最大元素（max）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根据指定比较器产生的顺序，返回给定 collection 的最大元素。collection 中的所有元素都必须是通过指定比较器可相互比较的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Collections.max(list)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array[] = {112, 111, 23, 456, 231 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list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list.add(new Double(array[i]));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Collections.max(list);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System.out.println("list[" + i + "]=" + list.get(i));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//结果：456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9250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8） lastIndexOfSubList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返回指定源列表中最后一次出现指定目标列表的起始位置，即按从后到前的顺序返回子List在父List中的索引位置。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int count = Collections.lastIndexOfSubList(list,li);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array[] = {112, 111, 23, 456, 231 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list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list.add(new Double(array[i]));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arr[] = {111};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String str[] = {"dd","aa","bb","cc","ee"};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for(int j=0;j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li.add(new Double(arr[j]));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Int locations = Collections. lastIndexOfSubList (list,li);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System.out.println(“===”+ locations);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 1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918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2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9） IndexOfSubList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返回指定源列表中第一次出现指定目标列表的起始位置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int count = Collections.indexOfSubList(list,li);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array[] = {112, 111, 23, 456, 231 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list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list.add(new Double(array[i]));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arr[] = {111};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String str[] = {"dd","aa","bb","cc","ee"};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for(int j=0;j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li.add(new Double(arr[j]));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Int locations = Collections.indexOfSubList(list,li);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System.out.println(“===”+ locations);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 1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12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10） Rotate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根据指定的距离循环移动指定列表中的元素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Collections.rotate（list，-1）；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如果是负数，则正向移动，正数则方向移动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double array[] = {112, 111, 23, 456, 231 };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 list = new ArrayList();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 &lt; array.length; i++) 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list.add(new Double(array[i]));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Collections.rotate(list,-1);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for (int i = 0; i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System.out.println("list[" + i + "]=" + list.get(i));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//结果：111,23,456,231,112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40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648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11)static int binarySearch(List list,Object key)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使用二分搜索查找key对象的索引值，因为使用的二分查找，所以前提是必须有序。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12)static Object max(Collection coll)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根据元素自然顺序，返回集合中的最大元素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13)static Object max(Collection coll,Compare comp)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根据Comparator指定的顺序，返回给定集合中的最小元素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14)static Object min(Collection coll)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根据元素自然顺序，返回集合中的最大元素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15)static Object min(Collection coll,Compare comp)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/>
              <a:t>   根据Comparator指定的顺序，返回给定集合中的最小元素</a:t>
            </a:r>
          </a:p>
          <a:p>
            <a:pPr marL="0" indent="0">
              <a:buFont typeface="Wingdings" panose="05000000000000000000" pitchFamily="2" charset="2"/>
              <a:buNone/>
            </a:pP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38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16）static void fill(List list,Object obj)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使用指定元素替换指定集合中的所有元素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17）static int frequency(Collection c,Object o)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返回指定元素在集合中出现在次数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18）static int indexOfSubList(List source, List target)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返回子List对象在父List对象中第一次出现的位置索引； 如果父List中没有出现这样的子List，则返回-1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19）static int lastIndexOfSubList(List source,List target)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返回子List对象在父List对象中最后一次出现的位置索引，如果父List中没有出现这样的子List，刚返回-1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20）static boolean replaceAll(List list,Object oldVal,Object newVal)</a:t>
            </a:r>
            <a:endParaRPr lang="en-US" altLang="zh-CN" sz="1800" dirty="0" smtClean="0"/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使用一个新值newVal替换List对象所有旧值oldVal</a:t>
            </a:r>
            <a:endParaRPr lang="en-US" altLang="zh-CN" sz="1800" dirty="0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632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21）synchronizedXXX(new XXX)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   Collections类为集合类们提供的同步控制方法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public class SynchronizedTest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   public static void main(String[] args){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         Collection collection =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Collections.synchronizedCollections(new ArrayList());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         List list = Collections.synchronizedList(new ArrayList());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         Set s = Collections.synchronizedSet(new HashSet());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         Map s = Collections.synchronizedMap(new HashMap()):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   }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}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006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ym typeface="+mn-ea"/>
              </a:rPr>
              <a:t>Collections</a:t>
            </a:r>
            <a:endParaRPr lang="en-US" altLang="zh-CN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22)emptyXXX()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返回一个空的、不可变的集合对象，此处的集合既可以是List，也可以是Set,还可以是Map。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23）singletonXXX()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返回一个只包含指定对象（只有一个或一项元素）的、不可变的集合对象，此处集合既可以是List,也可以是Set,还可以是Map。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24）unmodificableXXX()</a:t>
            </a:r>
          </a:p>
          <a:p>
            <a:pPr marL="0" indent="0">
              <a:buFont typeface="Wingdings" panose="05000000000000000000" pitchFamily="2" charset="2"/>
              <a:buNone/>
            </a:pPr>
            <a:r>
              <a:rPr lang="en-US" altLang="zh-CN" sz="1800" dirty="0" smtClean="0">
                <a:sym typeface="+mn-ea"/>
              </a:rPr>
              <a:t>   指定返回集合对象的不可变视图，此处的集合既可以是Lsit,也可以是Set,Map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01DF33-5A38-4035-AC9E-B8E17EB22BE4}" type="datetime1">
              <a:rPr lang="zh-CN" altLang="en-US" smtClean="0"/>
              <a:t>2017/8/7</a:t>
            </a:fld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94E63-F2AF-49E2-AE37-43481CC587E5}" type="slidenum">
              <a:rPr lang="zh-CN" altLang="en-US" smtClean="0"/>
              <a:t>44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322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谢谢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pt模板（对外）4：3 华宇信息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“列式”数据库中的大数据计算</Template>
  <TotalTime>1559</TotalTime>
  <Words>2972</Words>
  <Application>Microsoft Office PowerPoint</Application>
  <PresentationFormat>全屏显示(4:3)</PresentationFormat>
  <Paragraphs>614</Paragraphs>
  <Slides>45</Slides>
  <Notes>40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45</vt:i4>
      </vt:variant>
    </vt:vector>
  </HeadingPairs>
  <TitlesOfParts>
    <vt:vector size="46" baseType="lpstr">
      <vt:lpstr>ppt模板（对外）4：3 华宇信息</vt:lpstr>
      <vt:lpstr>PowerPoint 演示文稿</vt:lpstr>
      <vt:lpstr>目录</vt:lpstr>
      <vt:lpstr>结构图</vt:lpstr>
      <vt:lpstr>list</vt:lpstr>
      <vt:lpstr>ArrayList-构造器</vt:lpstr>
      <vt:lpstr>ArrayList-构造器</vt:lpstr>
      <vt:lpstr>ArrayList-存储</vt:lpstr>
      <vt:lpstr>ArrayList-存储</vt:lpstr>
      <vt:lpstr>ArrayList-存储</vt:lpstr>
      <vt:lpstr>ArrayList-存储</vt:lpstr>
      <vt:lpstr>ArrayList-存储</vt:lpstr>
      <vt:lpstr>ArrayList-读取</vt:lpstr>
      <vt:lpstr>ArrayList-删除</vt:lpstr>
      <vt:lpstr>ArrayList-删除</vt:lpstr>
      <vt:lpstr>ArrayList-容量调整</vt:lpstr>
      <vt:lpstr>ArrayList-修剪功能</vt:lpstr>
      <vt:lpstr>LinkedList类</vt:lpstr>
      <vt:lpstr>Vector</vt:lpstr>
      <vt:lpstr>List 小结</vt:lpstr>
      <vt:lpstr>List 小结</vt:lpstr>
      <vt:lpstr>Set</vt:lpstr>
      <vt:lpstr>HashSet</vt:lpstr>
      <vt:lpstr>HashSet-简单的解释</vt:lpstr>
      <vt:lpstr>HashSet</vt:lpstr>
      <vt:lpstr>TreeSet</vt:lpstr>
      <vt:lpstr>小结</vt:lpstr>
      <vt:lpstr>Map</vt:lpstr>
      <vt:lpstr>Map</vt:lpstr>
      <vt:lpstr>Map常用的方法</vt:lpstr>
      <vt:lpstr>HashMap与HashTable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Collections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wangzhg</dc:creator>
  <cp:lastModifiedBy>fanlb</cp:lastModifiedBy>
  <cp:revision>4794</cp:revision>
  <dcterms:created xsi:type="dcterms:W3CDTF">2014-11-17T03:20:00Z</dcterms:created>
  <dcterms:modified xsi:type="dcterms:W3CDTF">2017-08-07T09:45:37Z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2052-10.1.0.6235</vt:lpwstr>
  </property>
</Properties>
</file>