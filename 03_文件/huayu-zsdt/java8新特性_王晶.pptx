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1"/>
  </p:notesMasterIdLst>
  <p:sldIdLst>
    <p:sldId id="256" r:id="rId3"/>
    <p:sldId id="371" r:id="rId4"/>
    <p:sldId id="379" r:id="rId5"/>
    <p:sldId id="373" r:id="rId6"/>
    <p:sldId id="374" r:id="rId7"/>
    <p:sldId id="376" r:id="rId8"/>
    <p:sldId id="377" r:id="rId9"/>
    <p:sldId id="378" r:id="rId10"/>
    <p:sldId id="375" r:id="rId11"/>
    <p:sldId id="257" r:id="rId12"/>
    <p:sldId id="380" r:id="rId13"/>
    <p:sldId id="372" r:id="rId14"/>
    <p:sldId id="359" r:id="rId15"/>
    <p:sldId id="369" r:id="rId16"/>
    <p:sldId id="347" r:id="rId17"/>
    <p:sldId id="353" r:id="rId18"/>
    <p:sldId id="358" r:id="rId19"/>
    <p:sldId id="385" r:id="rId20"/>
    <p:sldId id="386" r:id="rId21"/>
    <p:sldId id="387" r:id="rId22"/>
    <p:sldId id="389" r:id="rId23"/>
    <p:sldId id="388" r:id="rId24"/>
    <p:sldId id="383" r:id="rId25"/>
    <p:sldId id="384" r:id="rId26"/>
    <p:sldId id="381" r:id="rId27"/>
    <p:sldId id="361" r:id="rId28"/>
    <p:sldId id="362" r:id="rId29"/>
    <p:sldId id="363" r:id="rId30"/>
    <p:sldId id="364" r:id="rId31"/>
    <p:sldId id="370" r:id="rId32"/>
    <p:sldId id="352" r:id="rId33"/>
    <p:sldId id="395" r:id="rId34"/>
    <p:sldId id="396" r:id="rId35"/>
    <p:sldId id="390" r:id="rId36"/>
    <p:sldId id="391" r:id="rId37"/>
    <p:sldId id="392" r:id="rId38"/>
    <p:sldId id="393" r:id="rId39"/>
    <p:sldId id="295" r:id="rId4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388" autoAdjust="0"/>
  </p:normalViewPr>
  <p:slideViewPr>
    <p:cSldViewPr>
      <p:cViewPr varScale="1">
        <p:scale>
          <a:sx n="102" d="100"/>
          <a:sy n="102" d="100"/>
        </p:scale>
        <p:origin x="16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42CDF-93DA-40BA-AE7F-7F8C00CB9C6B}" type="datetimeFigureOut">
              <a:rPr lang="zh-CN" altLang="en-US" smtClean="0"/>
              <a:t>2018/11/28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96BB9-E206-4018-A195-7A4D48B06C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842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95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08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669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576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778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441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715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958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3287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014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433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1560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1560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646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0301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4240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7292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8168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2148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1135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2593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0979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1295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6124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9714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3592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1560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7498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0181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2524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6327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996BB9-E206-4018-A195-7A4D48B06CD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275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2018/11/28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2018/11/28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PPT - 16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彩色logo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8" y="484718"/>
            <a:ext cx="1746250" cy="882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/>
          <p:cNvSpPr txBox="1">
            <a:spLocks noChangeArrowheads="1"/>
          </p:cNvSpPr>
          <p:nvPr userDrawn="1"/>
        </p:nvSpPr>
        <p:spPr bwMode="auto">
          <a:xfrm>
            <a:off x="7308850" y="594785"/>
            <a:ext cx="1270000" cy="210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0636" tIns="20318" rIns="40636" bIns="20318">
            <a:spAutoFit/>
          </a:bodyPr>
          <a:lstStyle>
            <a:lvl1pPr defTabSz="1293813" eaLnBrk="0" hangingPunct="0">
              <a:defRPr sz="4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293813" eaLnBrk="0" hangingPunct="0">
              <a:defRPr sz="4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293813" eaLnBrk="0" hangingPunct="0">
              <a:defRPr sz="4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293813" eaLnBrk="0" hangingPunct="0">
              <a:defRPr sz="4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293813" eaLnBrk="0" hangingPunct="0">
              <a:defRPr sz="4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293813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4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293813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4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293813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4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293813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4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1100" dirty="0">
                <a:solidFill>
                  <a:srgbClr val="0068B7"/>
                </a:solidFill>
                <a:latin typeface="Arial" pitchFamily="34" charset="0"/>
                <a:cs typeface="Arial" pitchFamily="34" charset="0"/>
              </a:rPr>
              <a:t>www.thunisoft.com</a:t>
            </a:r>
            <a:endParaRPr lang="zh-CN" altLang="en-US" sz="1100" dirty="0">
              <a:solidFill>
                <a:srgbClr val="0068B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11"/>
          <p:cNvSpPr>
            <a:spLocks noChangeArrowheads="1"/>
          </p:cNvSpPr>
          <p:nvPr userDrawn="1"/>
        </p:nvSpPr>
        <p:spPr bwMode="auto">
          <a:xfrm>
            <a:off x="1373188" y="5924551"/>
            <a:ext cx="5779050" cy="197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8055" tIns="29028" rIns="58055" bIns="29028">
            <a:spAutoFit/>
          </a:bodyPr>
          <a:lstStyle/>
          <a:p>
            <a:pPr defTabSz="820738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90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北京华宇信息技术有限公司 </a:t>
            </a:r>
            <a:r>
              <a:rPr lang="en-US" altLang="zh-CN" sz="90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BEIJING THUNISOFT INFORMATION  TECHNOLOGY CORPORATION LIMITED</a:t>
            </a:r>
            <a:endParaRPr lang="zh-CN" altLang="en-US" sz="90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i="1">
                <a:solidFill>
                  <a:srgbClr val="0070C0"/>
                </a:solidFill>
                <a:latin typeface="Exo" pitchFamily="50" charset="0"/>
              </a:defRPr>
            </a:lvl1pPr>
          </a:lstStyle>
          <a:p>
            <a:pPr>
              <a:defRPr/>
            </a:pPr>
            <a:fld id="{F9C71B67-0209-40E1-A43E-EE4695B09086}" type="datetime1">
              <a:rPr lang="zh-CN" altLang="en-US"/>
              <a:pPr>
                <a:defRPr/>
              </a:pPr>
              <a:t>2018/11/28</a:t>
            </a:fld>
            <a:endParaRPr lang="zh-CN" altLang="en-US" dirty="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6183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i="1">
                <a:solidFill>
                  <a:srgbClr val="0070C0"/>
                </a:solidFill>
                <a:latin typeface="Exo" pitchFamily="50" charset="0"/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493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96" b="88214"/>
          <a:stretch>
            <a:fillRect/>
          </a:stretch>
        </p:blipFill>
        <p:spPr bwMode="auto">
          <a:xfrm>
            <a:off x="0" y="751418"/>
            <a:ext cx="9144000" cy="61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1" descr="彩色logo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107951"/>
            <a:ext cx="10795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662880" y="68627"/>
            <a:ext cx="8229600" cy="576064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56565" y="1028732"/>
            <a:ext cx="8011185" cy="5100567"/>
          </a:xfrm>
          <a:prstGeom prst="rect">
            <a:avLst/>
          </a:prstGeom>
        </p:spPr>
        <p:txBody>
          <a:bodyPr/>
          <a:lstStyle>
            <a:lvl1pPr marL="342900" indent="-342900" algn="just">
              <a:lnSpc>
                <a:spcPct val="125000"/>
              </a:lnSpc>
              <a:spcBef>
                <a:spcPts val="300"/>
              </a:spcBef>
              <a:buClr>
                <a:srgbClr val="0070C0"/>
              </a:buClr>
              <a:buSzPct val="60000"/>
              <a:buFont typeface="Wingdings" pitchFamily="2" charset="2"/>
              <a:buChar char="n"/>
              <a:defRPr sz="2400" b="0" baseline="0">
                <a:solidFill>
                  <a:srgbClr val="595757"/>
                </a:solidFill>
                <a:latin typeface="微软雅黑" pitchFamily="34" charset="-122"/>
                <a:ea typeface="微软雅黑" panose="020B0503020204020204" pitchFamily="34" charset="-122"/>
              </a:defRPr>
            </a:lvl1pPr>
            <a:lvl2pPr marL="742950" indent="-285750" algn="just">
              <a:lnSpc>
                <a:spcPct val="125000"/>
              </a:lnSpc>
              <a:spcBef>
                <a:spcPts val="300"/>
              </a:spcBef>
              <a:buClr>
                <a:srgbClr val="0070C0"/>
              </a:buClr>
              <a:buSzPct val="60000"/>
              <a:buFont typeface="Wingdings" pitchFamily="2" charset="2"/>
              <a:buChar char="p"/>
              <a:defRPr sz="2000" baseline="0">
                <a:solidFill>
                  <a:srgbClr val="595757"/>
                </a:solidFill>
                <a:latin typeface="微软雅黑" pitchFamily="34" charset="-122"/>
                <a:ea typeface="微软雅黑" panose="020B0503020204020204" pitchFamily="34" charset="-122"/>
              </a:defRPr>
            </a:lvl2pPr>
            <a:lvl3pPr algn="just">
              <a:lnSpc>
                <a:spcPct val="125000"/>
              </a:lnSpc>
              <a:spcBef>
                <a:spcPts val="300"/>
              </a:spcBef>
              <a:buClr>
                <a:srgbClr val="0070C0"/>
              </a:buClr>
              <a:defRPr sz="1800" baseline="0">
                <a:solidFill>
                  <a:srgbClr val="595757"/>
                </a:solidFill>
                <a:latin typeface="微软雅黑" pitchFamily="34" charset="-122"/>
                <a:ea typeface="微软雅黑" panose="020B0503020204020204" pitchFamily="34" charset="-122"/>
              </a:defRPr>
            </a:lvl3pPr>
            <a:lvl4pPr algn="just">
              <a:lnSpc>
                <a:spcPct val="125000"/>
              </a:lnSpc>
              <a:spcBef>
                <a:spcPts val="300"/>
              </a:spcBef>
              <a:buClr>
                <a:srgbClr val="0070C0"/>
              </a:buClr>
              <a:defRPr sz="1600" baseline="0">
                <a:solidFill>
                  <a:srgbClr val="595757"/>
                </a:solidFill>
                <a:latin typeface="微软雅黑" pitchFamily="34" charset="-122"/>
                <a:ea typeface="微软雅黑" panose="020B0503020204020204" pitchFamily="34" charset="-122"/>
              </a:defRPr>
            </a:lvl4pPr>
            <a:lvl5pPr algn="just">
              <a:lnSpc>
                <a:spcPct val="125000"/>
              </a:lnSpc>
              <a:spcBef>
                <a:spcPts val="300"/>
              </a:spcBef>
              <a:buClr>
                <a:srgbClr val="0070C0"/>
              </a:buClr>
              <a:defRPr sz="1600" baseline="0">
                <a:solidFill>
                  <a:srgbClr val="595757"/>
                </a:solidFill>
                <a:latin typeface="微软雅黑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>
          <a:xfrm>
            <a:off x="638175" y="6356351"/>
            <a:ext cx="2133600" cy="366183"/>
          </a:xfrm>
        </p:spPr>
        <p:txBody>
          <a:bodyPr/>
          <a:lstStyle>
            <a:lvl1pPr>
              <a:defRPr sz="1000" i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pPr>
              <a:defRPr/>
            </a:pPr>
            <a:fld id="{96F6080C-27B6-4887-AD68-709C157CA8E8}" type="datetime1">
              <a:rPr lang="zh-CN" altLang="en-US"/>
              <a:pPr>
                <a:defRPr/>
              </a:pPr>
              <a:t>2018/11/28</a:t>
            </a:fld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6597650" y="6356351"/>
            <a:ext cx="2133600" cy="366183"/>
          </a:xfrm>
        </p:spPr>
        <p:txBody>
          <a:bodyPr/>
          <a:lstStyle>
            <a:lvl1pPr>
              <a:defRPr sz="1000" i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pPr>
              <a:defRPr/>
            </a:pPr>
            <a:fld id="{39EE1D75-A1ED-473F-8DFE-EBE060580F06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1382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96" b="88214"/>
          <a:stretch>
            <a:fillRect/>
          </a:stretch>
        </p:blipFill>
        <p:spPr bwMode="auto">
          <a:xfrm>
            <a:off x="0" y="751418"/>
            <a:ext cx="9144000" cy="61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1" descr="彩色logo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107951"/>
            <a:ext cx="10795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8"/>
          <p:cNvSpPr txBox="1">
            <a:spLocks noChangeArrowheads="1"/>
          </p:cNvSpPr>
          <p:nvPr userDrawn="1"/>
        </p:nvSpPr>
        <p:spPr bwMode="auto">
          <a:xfrm>
            <a:off x="1106488" y="1274234"/>
            <a:ext cx="4140200" cy="6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8055" tIns="29028" rIns="58055" bIns="29028">
            <a:spAutoFit/>
          </a:bodyPr>
          <a:lstStyle>
            <a:lvl1pPr defTabSz="1293813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293813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293813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293813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293813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1293813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1293813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1293813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1293813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3000" dirty="0" smtClean="0">
                <a:solidFill>
                  <a:srgbClr val="0062AD"/>
                </a:solidFill>
                <a:latin typeface="微软雅黑" pitchFamily="34" charset="-122"/>
                <a:ea typeface="微软雅黑" pitchFamily="34" charset="-122"/>
              </a:rPr>
              <a:t>目 录</a:t>
            </a:r>
            <a:endParaRPr lang="en-US" altLang="zh-CN" sz="3200" dirty="0">
              <a:solidFill>
                <a:prstClr val="white">
                  <a:lumMod val="75000"/>
                </a:prstClr>
              </a:solidFill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1106616" y="2288117"/>
            <a:ext cx="8011185" cy="414121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300"/>
              </a:spcBef>
              <a:buClr>
                <a:srgbClr val="0070C0"/>
              </a:buClr>
              <a:buSzPct val="60000"/>
              <a:buFontTx/>
              <a:buNone/>
              <a:defRPr sz="2200" b="0" baseline="0">
                <a:solidFill>
                  <a:srgbClr val="595757"/>
                </a:solidFill>
                <a:latin typeface="微软雅黑" pitchFamily="34" charset="-122"/>
                <a:ea typeface="微软雅黑" panose="020B0503020204020204" pitchFamily="34" charset="-122"/>
              </a:defRPr>
            </a:lvl1pPr>
            <a:lvl2pPr marL="457200" indent="0" algn="just">
              <a:lnSpc>
                <a:spcPct val="150000"/>
              </a:lnSpc>
              <a:spcBef>
                <a:spcPts val="300"/>
              </a:spcBef>
              <a:buClr>
                <a:srgbClr val="0070C0"/>
              </a:buClr>
              <a:buSzPct val="60000"/>
              <a:buFontTx/>
              <a:buNone/>
              <a:defRPr sz="2200" baseline="0">
                <a:solidFill>
                  <a:srgbClr val="595757"/>
                </a:solidFill>
                <a:latin typeface="微软雅黑" pitchFamily="34" charset="-122"/>
                <a:ea typeface="微软雅黑" panose="020B0503020204020204" pitchFamily="34" charset="-122"/>
              </a:defRPr>
            </a:lvl2pPr>
            <a:lvl3pPr marL="914400" indent="0" algn="just">
              <a:lnSpc>
                <a:spcPct val="150000"/>
              </a:lnSpc>
              <a:spcBef>
                <a:spcPts val="300"/>
              </a:spcBef>
              <a:buClr>
                <a:srgbClr val="0070C0"/>
              </a:buClr>
              <a:buFontTx/>
              <a:buNone/>
              <a:defRPr sz="2200" baseline="0">
                <a:solidFill>
                  <a:srgbClr val="595757"/>
                </a:solidFill>
                <a:latin typeface="微软雅黑" pitchFamily="34" charset="-122"/>
                <a:ea typeface="微软雅黑" panose="020B0503020204020204" pitchFamily="34" charset="-122"/>
              </a:defRPr>
            </a:lvl3pPr>
            <a:lvl4pPr marL="1371600" indent="0" algn="just">
              <a:lnSpc>
                <a:spcPct val="150000"/>
              </a:lnSpc>
              <a:spcBef>
                <a:spcPts val="300"/>
              </a:spcBef>
              <a:buClr>
                <a:srgbClr val="0070C0"/>
              </a:buClr>
              <a:buFontTx/>
              <a:buNone/>
              <a:defRPr sz="2200" baseline="0">
                <a:solidFill>
                  <a:srgbClr val="595757"/>
                </a:solidFill>
                <a:latin typeface="微软雅黑" pitchFamily="34" charset="-122"/>
                <a:ea typeface="微软雅黑" panose="020B0503020204020204" pitchFamily="34" charset="-122"/>
              </a:defRPr>
            </a:lvl4pPr>
            <a:lvl5pPr marL="1828800" indent="0" algn="just">
              <a:lnSpc>
                <a:spcPct val="150000"/>
              </a:lnSpc>
              <a:spcBef>
                <a:spcPts val="300"/>
              </a:spcBef>
              <a:buClr>
                <a:srgbClr val="0070C0"/>
              </a:buClr>
              <a:buFontTx/>
              <a:buNone/>
              <a:defRPr sz="2200" baseline="0">
                <a:solidFill>
                  <a:srgbClr val="595757"/>
                </a:solidFill>
                <a:latin typeface="微软雅黑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>
          <a:xfrm>
            <a:off x="638175" y="6356351"/>
            <a:ext cx="2133600" cy="366183"/>
          </a:xfrm>
        </p:spPr>
        <p:txBody>
          <a:bodyPr/>
          <a:lstStyle>
            <a:lvl1pPr>
              <a:defRPr sz="1000" i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pPr>
              <a:defRPr/>
            </a:pPr>
            <a:fld id="{BAD74F43-47B6-4C45-B44A-8F596168B5D2}" type="datetime1">
              <a:rPr lang="zh-CN" altLang="en-US"/>
              <a:pPr>
                <a:defRPr/>
              </a:pPr>
              <a:t>2018/11/28</a:t>
            </a:fld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6597650" y="6356351"/>
            <a:ext cx="2133600" cy="366183"/>
          </a:xfrm>
        </p:spPr>
        <p:txBody>
          <a:bodyPr/>
          <a:lstStyle>
            <a:lvl1pPr>
              <a:defRPr sz="1000" i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pPr>
              <a:defRPr/>
            </a:pPr>
            <a:fld id="{B25D157E-4B53-426B-9DE9-BA2D3BF3CB17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8377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0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18"/>
          <p:cNvSpPr>
            <a:spLocks noChangeArrowheads="1"/>
          </p:cNvSpPr>
          <p:nvPr userDrawn="1"/>
        </p:nvSpPr>
        <p:spPr bwMode="auto">
          <a:xfrm>
            <a:off x="1625600" y="6203951"/>
            <a:ext cx="5710207" cy="179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0635" tIns="20318" rIns="40635" bIns="20318">
            <a:spAutoFit/>
          </a:bodyPr>
          <a:lstStyle/>
          <a:p>
            <a:pPr defTabSz="57467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90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北京华宇信息技术有限公司 </a:t>
            </a:r>
            <a:r>
              <a:rPr lang="en-US" altLang="zh-CN" sz="90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BEIJING THUNISOFT INFORMATION TECHNOLOGY CORPORATION LIMITED</a:t>
            </a:r>
            <a:endParaRPr lang="zh-CN" altLang="en-US" sz="90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pic>
        <p:nvPicPr>
          <p:cNvPr id="5" name="Picture 16" descr="竖版LOGO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050" y="666751"/>
            <a:ext cx="1201738" cy="1458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3814108"/>
            <a:ext cx="9144000" cy="1468967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45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7919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13"/>
          <p:cNvGrpSpPr>
            <a:grpSpLocks/>
          </p:cNvGrpSpPr>
          <p:nvPr userDrawn="1"/>
        </p:nvGrpSpPr>
        <p:grpSpPr bwMode="auto">
          <a:xfrm>
            <a:off x="-17463" y="3000375"/>
            <a:ext cx="9159876" cy="3857625"/>
            <a:chOff x="-26775" y="3348455"/>
            <a:chExt cx="14427135" cy="72000"/>
          </a:xfrm>
        </p:grpSpPr>
        <p:sp>
          <p:nvSpPr>
            <p:cNvPr id="8" name="矩形 14"/>
            <p:cNvSpPr>
              <a:spLocks noChangeArrowheads="1"/>
            </p:cNvSpPr>
            <p:nvPr userDrawn="1"/>
          </p:nvSpPr>
          <p:spPr bwMode="auto">
            <a:xfrm>
              <a:off x="382492" y="3348455"/>
              <a:ext cx="1305245" cy="72000"/>
            </a:xfrm>
            <a:prstGeom prst="rect">
              <a:avLst/>
            </a:prstGeom>
            <a:solidFill>
              <a:srgbClr val="00A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579438"/>
              <a:endParaRPr lang="zh-CN" altLang="en-US" sz="1300" dirty="0">
                <a:ea typeface="微软雅黑" panose="020B0503020204020204" pitchFamily="34" charset="-122"/>
              </a:endParaRPr>
            </a:p>
          </p:txBody>
        </p:sp>
        <p:sp>
          <p:nvSpPr>
            <p:cNvPr id="9" name="矩形 15"/>
            <p:cNvSpPr>
              <a:spLocks noChangeArrowheads="1"/>
            </p:cNvSpPr>
            <p:nvPr userDrawn="1"/>
          </p:nvSpPr>
          <p:spPr bwMode="auto">
            <a:xfrm>
              <a:off x="1796795" y="3348455"/>
              <a:ext cx="1305245" cy="72000"/>
            </a:xfrm>
            <a:prstGeom prst="rect">
              <a:avLst/>
            </a:prstGeom>
            <a:solidFill>
              <a:srgbClr val="0062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579438"/>
              <a:endParaRPr lang="zh-CN" altLang="en-US" sz="1300" dirty="0">
                <a:ea typeface="微软雅黑" panose="020B0503020204020204" pitchFamily="34" charset="-122"/>
              </a:endParaRPr>
            </a:p>
          </p:txBody>
        </p:sp>
        <p:sp>
          <p:nvSpPr>
            <p:cNvPr id="10" name="矩形 16"/>
            <p:cNvSpPr>
              <a:spLocks noChangeArrowheads="1"/>
            </p:cNvSpPr>
            <p:nvPr userDrawn="1"/>
          </p:nvSpPr>
          <p:spPr bwMode="auto">
            <a:xfrm>
              <a:off x="2340360" y="3348455"/>
              <a:ext cx="12060000" cy="72000"/>
            </a:xfrm>
            <a:prstGeom prst="rect">
              <a:avLst/>
            </a:prstGeom>
            <a:solidFill>
              <a:srgbClr val="004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579438"/>
              <a:endParaRPr lang="zh-CN" altLang="en-US" sz="1300" dirty="0">
                <a:ea typeface="微软雅黑" panose="020B0503020204020204" pitchFamily="34" charset="-122"/>
              </a:endParaRPr>
            </a:p>
          </p:txBody>
        </p:sp>
        <p:sp>
          <p:nvSpPr>
            <p:cNvPr id="11" name="矩形 17"/>
            <p:cNvSpPr>
              <a:spLocks noChangeArrowheads="1"/>
            </p:cNvSpPr>
            <p:nvPr userDrawn="1"/>
          </p:nvSpPr>
          <p:spPr bwMode="auto">
            <a:xfrm>
              <a:off x="-26775" y="3348455"/>
              <a:ext cx="1152000" cy="72000"/>
            </a:xfrm>
            <a:prstGeom prst="rect">
              <a:avLst/>
            </a:prstGeom>
            <a:solidFill>
              <a:srgbClr val="008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579438"/>
              <a:endParaRPr lang="zh-CN" altLang="en-US" sz="1300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Rectangle 9"/>
          <p:cNvSpPr>
            <a:spLocks noChangeArrowheads="1"/>
          </p:cNvSpPr>
          <p:nvPr userDrawn="1"/>
        </p:nvSpPr>
        <p:spPr bwMode="auto">
          <a:xfrm>
            <a:off x="-72516" y="6315075"/>
            <a:ext cx="9216515" cy="212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8055" tIns="29028" rIns="58055" bIns="29028">
            <a:spAutoFit/>
          </a:bodyPr>
          <a:lstStyle/>
          <a:p>
            <a:pPr algn="ctr" defTabSz="820738"/>
            <a:r>
              <a:rPr lang="zh-CN" altLang="en-US" sz="1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北京华宇信息技术有限公司  </a:t>
            </a:r>
            <a:r>
              <a:rPr lang="en-US" altLang="zh-CN" sz="8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BEIJING THUNISOFT INFORMATION TECHNOLOGY CORPORATION LIMITED</a:t>
            </a:r>
            <a:endParaRPr lang="zh-CN" altLang="en-US" sz="800" dirty="0">
              <a:solidFill>
                <a:schemeClr val="bg1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pic>
        <p:nvPicPr>
          <p:cNvPr id="13" name="Picture 10" descr="竖版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025" y="650875"/>
            <a:ext cx="182880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1" y="3989946"/>
            <a:ext cx="9144000" cy="953508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 sz="6000" b="0" cap="all">
                <a:solidFill>
                  <a:schemeClr val="bg1"/>
                </a:solidFill>
                <a:latin typeface="方正兰亭纤黑_GBK" pitchFamily="2" charset="-122"/>
                <a:ea typeface="方正兰亭纤黑_GBK" pitchFamily="2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60488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2018/11/28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pPr>
              <a:defRPr/>
            </a:pPr>
            <a:fld id="{5717FCE4-D88D-48CD-95DB-C63BD247EBB3}" type="datetime1">
              <a:rPr lang="zh-CN" altLang="en-US"/>
              <a:pPr>
                <a:defRPr/>
              </a:pPr>
              <a:t>2018/11/28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100" i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92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5"/>
          <p:cNvSpPr txBox="1">
            <a:spLocks noChangeArrowheads="1"/>
          </p:cNvSpPr>
          <p:nvPr/>
        </p:nvSpPr>
        <p:spPr bwMode="auto">
          <a:xfrm>
            <a:off x="1374774" y="2999319"/>
            <a:ext cx="4277346" cy="1883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283" tIns="18141" rIns="36283" bIns="18141">
            <a:spAutoFit/>
          </a:bodyPr>
          <a:lstStyle>
            <a:lvl1pPr defTabSz="1293813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1293813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1293813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1293813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1293813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1293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1293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1293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1293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20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Java8</a:t>
            </a:r>
            <a:r>
              <a:rPr lang="zh-CN" altLang="en-US" sz="320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新特性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 sz="600" dirty="0" smtClean="0">
              <a:solidFill>
                <a:prstClr val="white"/>
              </a:solidFill>
              <a:latin typeface="Arial" pitchFamily="34" charset="0"/>
              <a:ea typeface="黑体" pitchFamily="49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王晶</a:t>
            </a:r>
            <a:endParaRPr lang="zh-CN" altLang="en-US" sz="1100" dirty="0" smtClean="0">
              <a:solidFill>
                <a:prstClr val="white"/>
              </a:solidFill>
              <a:latin typeface="Arial" pitchFamily="34" charset="0"/>
              <a:ea typeface="黑体" pitchFamily="49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 sz="1100" dirty="0" smtClean="0">
              <a:solidFill>
                <a:prstClr val="white"/>
              </a:solidFill>
              <a:latin typeface="Arial" pitchFamily="34" charset="0"/>
              <a:ea typeface="黑体" pitchFamily="49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 sz="1100" dirty="0" smtClean="0">
              <a:solidFill>
                <a:prstClr val="white"/>
              </a:solidFill>
              <a:latin typeface="Arial" pitchFamily="34" charset="0"/>
              <a:ea typeface="黑体" pitchFamily="49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 sz="1100" dirty="0" smtClean="0">
              <a:solidFill>
                <a:prstClr val="white"/>
              </a:solidFill>
              <a:latin typeface="Arial" pitchFamily="34" charset="0"/>
              <a:ea typeface="黑体" pitchFamily="49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 sz="1100" dirty="0" smtClean="0">
              <a:solidFill>
                <a:prstClr val="white"/>
              </a:solidFill>
              <a:latin typeface="Arial" pitchFamily="34" charset="0"/>
              <a:ea typeface="黑体" pitchFamily="49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 sz="1100" dirty="0" smtClean="0">
              <a:solidFill>
                <a:prstClr val="white"/>
              </a:solidFill>
              <a:latin typeface="Arial" pitchFamily="34" charset="0"/>
              <a:ea typeface="黑体" pitchFamily="49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 sz="1100" dirty="0" smtClean="0">
              <a:solidFill>
                <a:prstClr val="white"/>
              </a:solidFill>
              <a:latin typeface="Arial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469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6"/>
    </mc:Choice>
    <mc:Fallback xmlns="">
      <p:transition spd="slow" advTm="2956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5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A4F19B66-1C01-4C84-B3AE-98D2415A0E13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71" name="灯片编号占位符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6BF3205-7203-408E-AA4F-8A5726B75BD8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72" name="内容占位符 1"/>
          <p:cNvSpPr>
            <a:spLocks noGrp="1"/>
          </p:cNvSpPr>
          <p:nvPr>
            <p:ph idx="1"/>
          </p:nvPr>
        </p:nvSpPr>
        <p:spPr bwMode="auto">
          <a:xfrm>
            <a:off x="638175" y="1844824"/>
            <a:ext cx="8010525" cy="451152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 eaLnBrk="1" hangingPunct="1">
              <a:buFont typeface="+mj-lt"/>
              <a:buAutoNum type="arabicPeriod"/>
            </a:pPr>
            <a:r>
              <a:rPr lang="zh-CN" altLang="en-US" sz="2000" dirty="0"/>
              <a:t>新的日期</a:t>
            </a:r>
            <a:r>
              <a:rPr lang="en-US" altLang="zh-CN" sz="2000" dirty="0" smtClean="0"/>
              <a:t>API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zh-CN" altLang="en-US" sz="2000" dirty="0"/>
              <a:t>函数式接口</a:t>
            </a:r>
            <a:endParaRPr lang="en-US" altLang="zh-CN" sz="2000" dirty="0" smtClean="0"/>
          </a:p>
          <a:p>
            <a:pPr marL="457200" indent="-457200" eaLnBrk="1" hangingPunct="1">
              <a:buFont typeface="+mj-lt"/>
              <a:buAutoNum type="arabicPeriod"/>
            </a:pPr>
            <a:r>
              <a:rPr lang="zh-CN" altLang="en-US" sz="2000" dirty="0" smtClean="0"/>
              <a:t>接口</a:t>
            </a:r>
            <a:r>
              <a:rPr lang="zh-CN" altLang="en-US" sz="2000" dirty="0"/>
              <a:t>默认</a:t>
            </a:r>
            <a:r>
              <a:rPr lang="zh-CN" altLang="en-US" sz="2000" dirty="0" smtClean="0"/>
              <a:t>方法</a:t>
            </a:r>
            <a:endParaRPr lang="en-US" altLang="zh-CN" sz="2000" dirty="0" smtClean="0"/>
          </a:p>
          <a:p>
            <a:pPr marL="457200" indent="-457200" eaLnBrk="1" hangingPunct="1">
              <a:buFont typeface="+mj-lt"/>
              <a:buAutoNum type="arabicPeriod"/>
            </a:pPr>
            <a:r>
              <a:rPr lang="zh-CN" altLang="en-US" sz="2000" dirty="0"/>
              <a:t>方法</a:t>
            </a:r>
            <a:r>
              <a:rPr lang="zh-CN" altLang="en-US" sz="2000" dirty="0" smtClean="0"/>
              <a:t>引用</a:t>
            </a:r>
            <a:endParaRPr lang="en-US" altLang="zh-CN" sz="2000" dirty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altLang="zh-CN" sz="2000" dirty="0" smtClean="0"/>
              <a:t>Lambda</a:t>
            </a:r>
            <a:r>
              <a:rPr lang="zh-CN" altLang="en-US" sz="2000" dirty="0" smtClean="0"/>
              <a:t>表达式</a:t>
            </a:r>
            <a:endParaRPr lang="en-US" altLang="zh-CN" sz="2000" dirty="0" smtClean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altLang="zh-CN" sz="2000" dirty="0" smtClean="0"/>
              <a:t>Stream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altLang="zh-CN" sz="2000" dirty="0" smtClean="0"/>
              <a:t>Optional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altLang="zh-CN" sz="2000" dirty="0" err="1" smtClean="0"/>
              <a:t>Nashorn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JavaScript</a:t>
            </a:r>
            <a:r>
              <a:rPr lang="zh-CN" altLang="en-US" sz="2000" dirty="0" smtClean="0"/>
              <a:t>引擎</a:t>
            </a:r>
            <a:endParaRPr lang="en-US" altLang="zh-CN" sz="2000" dirty="0" smtClean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altLang="zh-CN" sz="2000" dirty="0" smtClean="0"/>
              <a:t>Base64</a:t>
            </a:r>
          </a:p>
        </p:txBody>
      </p:sp>
    </p:spTree>
    <p:extLst>
      <p:ext uri="{BB962C8B-B14F-4D97-AF65-F5344CB8AC3E}">
        <p14:creationId xmlns:p14="http://schemas.microsoft.com/office/powerpoint/2010/main" val="241688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5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A4F19B66-1C01-4C84-B3AE-98D2415A0E13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71" name="灯片编号占位符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6BF3205-7203-408E-AA4F-8A5726B75BD8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72" name="内容占位符 1"/>
          <p:cNvSpPr>
            <a:spLocks noGrp="1"/>
          </p:cNvSpPr>
          <p:nvPr>
            <p:ph idx="1"/>
          </p:nvPr>
        </p:nvSpPr>
        <p:spPr bwMode="auto">
          <a:xfrm>
            <a:off x="1115616" y="3284984"/>
            <a:ext cx="6282333" cy="2340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2400" dirty="0"/>
              <a:t>新的日期</a:t>
            </a:r>
            <a:r>
              <a:rPr lang="en-US" altLang="zh-CN" sz="2400" dirty="0"/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1472509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1600" dirty="0" err="1" smtClean="0"/>
              <a:t>LocalDate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LocalTime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LocalDateTime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LocalDate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67544" y="1628800"/>
            <a:ext cx="77048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LocalDate</a:t>
            </a:r>
            <a:r>
              <a:rPr lang="zh-CN" altLang="en-US" dirty="0" smtClean="0"/>
              <a:t>的创建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r>
              <a:rPr lang="en-US" altLang="zh-CN" dirty="0" err="1" smtClean="0"/>
              <a:t>LocalDate</a:t>
            </a:r>
            <a:r>
              <a:rPr lang="en-US" altLang="zh-CN" dirty="0" smtClean="0"/>
              <a:t> </a:t>
            </a:r>
            <a:r>
              <a:rPr lang="en-US" altLang="zh-CN" dirty="0" err="1"/>
              <a:t>localDate</a:t>
            </a:r>
            <a:r>
              <a:rPr lang="en-US" altLang="zh-CN" dirty="0"/>
              <a:t> = </a:t>
            </a:r>
            <a:r>
              <a:rPr lang="en-US" altLang="zh-CN" dirty="0" err="1"/>
              <a:t>LocalDate.now</a:t>
            </a:r>
            <a:r>
              <a:rPr lang="en-US" altLang="zh-CN" dirty="0"/>
              <a:t>();</a:t>
            </a:r>
          </a:p>
          <a:p>
            <a:r>
              <a:rPr lang="en-US" altLang="zh-CN" dirty="0" err="1"/>
              <a:t>System.out.println</a:t>
            </a:r>
            <a:r>
              <a:rPr lang="en-US" altLang="zh-CN" dirty="0"/>
              <a:t>("</a:t>
            </a:r>
            <a:r>
              <a:rPr lang="en-US" altLang="zh-CN" dirty="0" err="1"/>
              <a:t>localDate</a:t>
            </a:r>
            <a:r>
              <a:rPr lang="en-US" altLang="zh-CN" dirty="0"/>
              <a:t>: " + </a:t>
            </a:r>
            <a:r>
              <a:rPr lang="en-US" altLang="zh-CN" dirty="0" err="1"/>
              <a:t>localDate</a:t>
            </a:r>
            <a:r>
              <a:rPr lang="en-US" altLang="zh-CN" dirty="0" smtClean="0"/>
              <a:t>);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输出结果：</a:t>
            </a:r>
            <a:r>
              <a:rPr lang="en-US" altLang="zh-CN" dirty="0" err="1" smtClean="0"/>
              <a:t>localDate</a:t>
            </a:r>
            <a:r>
              <a:rPr lang="en-US" altLang="zh-CN" dirty="0"/>
              <a:t>: 2017-07-20</a:t>
            </a:r>
            <a:endParaRPr lang="en-US" altLang="zh-CN" dirty="0" smtClean="0"/>
          </a:p>
        </p:txBody>
      </p:sp>
      <p:sp>
        <p:nvSpPr>
          <p:cNvPr id="3" name="文本框 2"/>
          <p:cNvSpPr txBox="1"/>
          <p:nvPr/>
        </p:nvSpPr>
        <p:spPr>
          <a:xfrm>
            <a:off x="565559" y="4269574"/>
            <a:ext cx="84256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创建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endParaRPr lang="it-IT" altLang="zh-CN" dirty="0" smtClean="0"/>
          </a:p>
          <a:p>
            <a:r>
              <a:rPr lang="it-IT" altLang="zh-CN" dirty="0" smtClean="0"/>
              <a:t>LocalDate.of(2017</a:t>
            </a:r>
            <a:r>
              <a:rPr lang="it-IT" altLang="zh-CN" dirty="0"/>
              <a:t>, 07, 20);</a:t>
            </a:r>
          </a:p>
          <a:p>
            <a:r>
              <a:rPr lang="it-IT" altLang="zh-CN" dirty="0"/>
              <a:t>LocalDate.parse("2017-07-20");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653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1600" dirty="0" err="1" smtClean="0"/>
              <a:t>LocalDate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LocalTime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LocalDateTime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LocalDate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31" y="2094468"/>
            <a:ext cx="3534268" cy="140989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881" y="2166418"/>
            <a:ext cx="3562847" cy="144800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78375" y="3798321"/>
            <a:ext cx="259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1-1</a:t>
            </a:r>
            <a:r>
              <a:rPr lang="zh-CN" altLang="en-US" sz="1200" dirty="0" smtClean="0"/>
              <a:t>日期的加法</a:t>
            </a:r>
            <a:endParaRPr lang="zh-CN" altLang="en-US" sz="1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71031" y="3801976"/>
            <a:ext cx="259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1-1</a:t>
            </a:r>
            <a:r>
              <a:rPr lang="zh-CN" altLang="en-US" sz="1200" dirty="0" smtClean="0"/>
              <a:t>日期的减法</a:t>
            </a:r>
            <a:endParaRPr lang="zh-CN" altLang="en-US" sz="1200" dirty="0"/>
          </a:p>
        </p:txBody>
      </p:sp>
      <p:sp>
        <p:nvSpPr>
          <p:cNvPr id="13" name="文本框 12"/>
          <p:cNvSpPr txBox="1"/>
          <p:nvPr/>
        </p:nvSpPr>
        <p:spPr>
          <a:xfrm>
            <a:off x="459672" y="1567280"/>
            <a:ext cx="770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LocalDate</a:t>
            </a:r>
            <a:r>
              <a:rPr lang="zh-CN" altLang="en-US" dirty="0" smtClean="0"/>
              <a:t>日期加减：</a:t>
            </a:r>
            <a:endParaRPr lang="en-US" altLang="zh-CN" dirty="0" smtClean="0"/>
          </a:p>
          <a:p>
            <a:endParaRPr lang="en-US" altLang="zh-CN" dirty="0" smtClean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4213558"/>
            <a:ext cx="3600953" cy="105742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339752" y="5517232"/>
            <a:ext cx="3600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+mn-ea"/>
              </a:rPr>
              <a:t>图</a:t>
            </a:r>
            <a:r>
              <a:rPr lang="en-US" altLang="zh-CN" sz="1200" dirty="0" smtClean="0">
                <a:latin typeface="+mn-ea"/>
              </a:rPr>
              <a:t>1-3 </a:t>
            </a:r>
            <a:r>
              <a:rPr lang="zh-CN" altLang="en-US" sz="1200" dirty="0" smtClean="0">
                <a:latin typeface="+mn-ea"/>
              </a:rPr>
              <a:t>日期的设置</a:t>
            </a:r>
            <a:endParaRPr lang="zh-CN" alt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815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11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1600" dirty="0" err="1" smtClean="0"/>
              <a:t>LocalDate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LocalTime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LocalDateTime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LocalTime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932040" y="5178371"/>
            <a:ext cx="259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1-5</a:t>
            </a:r>
            <a:r>
              <a:rPr lang="zh-CN" altLang="en-US" sz="1200" dirty="0" smtClean="0"/>
              <a:t>日期的加法</a:t>
            </a:r>
            <a:endParaRPr lang="zh-CN" altLang="en-US" sz="1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827584" y="5142422"/>
            <a:ext cx="259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1-4</a:t>
            </a:r>
            <a:r>
              <a:rPr lang="zh-CN" altLang="en-US" sz="1200" dirty="0" smtClean="0"/>
              <a:t>时间的减法</a:t>
            </a:r>
            <a:endParaRPr lang="zh-CN" altLang="en-US" sz="1200" dirty="0"/>
          </a:p>
        </p:txBody>
      </p:sp>
      <p:sp>
        <p:nvSpPr>
          <p:cNvPr id="13" name="文本框 12"/>
          <p:cNvSpPr txBox="1"/>
          <p:nvPr/>
        </p:nvSpPr>
        <p:spPr>
          <a:xfrm>
            <a:off x="459672" y="1567280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LocalTime</a:t>
            </a:r>
            <a:r>
              <a:rPr lang="zh-CN" altLang="en-US" dirty="0" smtClean="0"/>
              <a:t>的创建</a:t>
            </a:r>
            <a:endParaRPr lang="en-US" altLang="zh-CN" dirty="0" smtClean="0"/>
          </a:p>
          <a:p>
            <a:r>
              <a:rPr lang="en-US" altLang="zh-CN" dirty="0" err="1" smtClean="0"/>
              <a:t>LocalTime</a:t>
            </a:r>
            <a:r>
              <a:rPr lang="en-US" altLang="zh-CN" dirty="0" smtClean="0"/>
              <a:t> now = </a:t>
            </a:r>
            <a:r>
              <a:rPr lang="en-US" altLang="zh-CN" dirty="0" err="1" smtClean="0"/>
              <a:t>LocalTime.now</a:t>
            </a:r>
            <a:r>
              <a:rPr lang="en-US" altLang="zh-CN" dirty="0" smtClean="0"/>
              <a:t>();</a:t>
            </a:r>
          </a:p>
          <a:p>
            <a:r>
              <a:rPr lang="en-US" altLang="zh-CN" dirty="0" err="1" smtClean="0"/>
              <a:t>LocalTime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localTime</a:t>
            </a:r>
            <a:r>
              <a:rPr lang="en-US" altLang="zh-CN" dirty="0" smtClean="0"/>
              <a:t> </a:t>
            </a:r>
            <a:r>
              <a:rPr lang="en-US" altLang="zh-CN" dirty="0"/>
              <a:t>= </a:t>
            </a:r>
            <a:r>
              <a:rPr lang="en-US" altLang="zh-CN" dirty="0" err="1"/>
              <a:t>LocalTime.of</a:t>
            </a:r>
            <a:r>
              <a:rPr lang="en-US" altLang="zh-CN" dirty="0"/>
              <a:t>(hour, minute</a:t>
            </a:r>
            <a:r>
              <a:rPr lang="en-US" altLang="zh-CN" dirty="0" smtClean="0"/>
              <a:t>);</a:t>
            </a:r>
          </a:p>
          <a:p>
            <a:r>
              <a:rPr lang="en-US" altLang="zh-CN" dirty="0" err="1" smtClean="0"/>
              <a:t>LocalTime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localTime</a:t>
            </a:r>
            <a:r>
              <a:rPr lang="en-US" altLang="zh-CN" dirty="0" smtClean="0"/>
              <a:t> </a:t>
            </a:r>
            <a:r>
              <a:rPr lang="en-US" altLang="zh-CN" dirty="0"/>
              <a:t>= </a:t>
            </a:r>
            <a:r>
              <a:rPr lang="en-US" altLang="zh-CN" dirty="0" err="1"/>
              <a:t>LocalTime.parse</a:t>
            </a:r>
            <a:r>
              <a:rPr lang="en-US" altLang="zh-CN" dirty="0"/>
              <a:t>("11:00");</a:t>
            </a:r>
            <a:endParaRPr lang="en-US" altLang="zh-CN" dirty="0" smtClean="0"/>
          </a:p>
        </p:txBody>
      </p:sp>
      <p:sp>
        <p:nvSpPr>
          <p:cNvPr id="3" name="文本框 2"/>
          <p:cNvSpPr txBox="1"/>
          <p:nvPr/>
        </p:nvSpPr>
        <p:spPr>
          <a:xfrm>
            <a:off x="673311" y="2884957"/>
            <a:ext cx="7292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LocalTime</a:t>
            </a:r>
            <a:r>
              <a:rPr lang="zh-CN" altLang="en-US" dirty="0" smtClean="0"/>
              <a:t>的加减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75" y="3463750"/>
            <a:ext cx="3524742" cy="15051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97" y="3374328"/>
            <a:ext cx="3572374" cy="16480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27584" y="5589240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时间的设置</a:t>
            </a:r>
            <a:r>
              <a:rPr lang="en-US" altLang="zh-CN" dirty="0" err="1" smtClean="0"/>
              <a:t>withSecond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withMinute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withSecond</a:t>
            </a:r>
            <a:r>
              <a:rPr lang="zh-CN" altLang="en-US" dirty="0" smtClean="0"/>
              <a:t>、</a:t>
            </a:r>
            <a:r>
              <a:rPr lang="en-US" altLang="zh-CN" dirty="0" err="1"/>
              <a:t>withNano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8262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11" grpId="0"/>
      <p:bldP spid="3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1600" dirty="0" err="1" smtClean="0"/>
              <a:t>LocalDate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LocalTime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LocalDateTime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LocalDateTime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459672" y="1567280"/>
            <a:ext cx="77048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LocalDateTime</a:t>
            </a:r>
            <a:r>
              <a:rPr lang="zh-CN" altLang="en-US" dirty="0" smtClean="0"/>
              <a:t>的创建</a:t>
            </a:r>
            <a:endParaRPr lang="en-US" altLang="zh-CN" dirty="0" smtClean="0"/>
          </a:p>
          <a:p>
            <a:r>
              <a:rPr lang="en-US" altLang="zh-CN" dirty="0" err="1"/>
              <a:t>LocalDateTime</a:t>
            </a:r>
            <a:r>
              <a:rPr lang="en-US" altLang="zh-CN" dirty="0"/>
              <a:t> </a:t>
            </a:r>
            <a:r>
              <a:rPr lang="en-US" altLang="zh-CN" dirty="0" err="1"/>
              <a:t>localDateTime</a:t>
            </a:r>
            <a:r>
              <a:rPr lang="en-US" altLang="zh-CN" dirty="0"/>
              <a:t> = </a:t>
            </a:r>
            <a:r>
              <a:rPr lang="en-US" altLang="zh-CN" dirty="0" err="1"/>
              <a:t>LocalDateTime.now</a:t>
            </a:r>
            <a:r>
              <a:rPr lang="en-US" altLang="zh-CN" dirty="0" smtClean="0"/>
              <a:t>();</a:t>
            </a:r>
          </a:p>
          <a:p>
            <a:r>
              <a:rPr lang="en-US" altLang="zh-CN" dirty="0" err="1"/>
              <a:t>LocalDateTime.of</a:t>
            </a:r>
            <a:r>
              <a:rPr lang="en-US" altLang="zh-CN" dirty="0"/>
              <a:t>(</a:t>
            </a:r>
            <a:r>
              <a:rPr lang="en-US" altLang="zh-CN" dirty="0" err="1"/>
              <a:t>LocalDate</a:t>
            </a:r>
            <a:r>
              <a:rPr lang="en-US" altLang="zh-CN" dirty="0"/>
              <a:t>, </a:t>
            </a:r>
            <a:r>
              <a:rPr lang="en-US" altLang="zh-CN" dirty="0" err="1"/>
              <a:t>LocalTime</a:t>
            </a:r>
            <a:r>
              <a:rPr lang="en-US" altLang="zh-CN" dirty="0" smtClean="0"/>
              <a:t>)</a:t>
            </a:r>
          </a:p>
          <a:p>
            <a:r>
              <a:rPr lang="en-US" altLang="zh-CN" dirty="0" err="1"/>
              <a:t>LocalDateTime.of</a:t>
            </a:r>
            <a:r>
              <a:rPr lang="en-US" altLang="zh-CN" dirty="0"/>
              <a:t>(year, month, </a:t>
            </a:r>
            <a:r>
              <a:rPr lang="en-US" altLang="zh-CN" dirty="0" err="1"/>
              <a:t>dayOfMonth</a:t>
            </a:r>
            <a:r>
              <a:rPr lang="en-US" altLang="zh-CN" dirty="0"/>
              <a:t>, hour, minute, second)</a:t>
            </a:r>
            <a:endParaRPr lang="en-US" altLang="zh-CN" dirty="0" smtClean="0"/>
          </a:p>
          <a:p>
            <a:r>
              <a:rPr lang="en-US" altLang="zh-CN" dirty="0" err="1"/>
              <a:t>LocalDateTime.parse</a:t>
            </a:r>
            <a:r>
              <a:rPr lang="en-US" altLang="zh-CN" dirty="0"/>
              <a:t>(text)</a:t>
            </a:r>
            <a:endParaRPr lang="en-US" altLang="zh-CN" dirty="0" smtClean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36" y="3140968"/>
            <a:ext cx="7650490" cy="217888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331640" y="5589240"/>
            <a:ext cx="6332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1-6 </a:t>
            </a:r>
            <a:r>
              <a:rPr lang="zh-CN" altLang="en-US" sz="1200" dirty="0" smtClean="0"/>
              <a:t>日期的设置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753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1600" dirty="0" err="1" smtClean="0"/>
              <a:t>LocalDate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LocalTime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LocalDateTime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 smtClean="0"/>
              <a:t>LocalDateTime</a:t>
            </a:r>
            <a:r>
              <a:rPr lang="en-US" altLang="zh-CN" dirty="0" smtClean="0"/>
              <a:t> &lt;-&gt; </a:t>
            </a:r>
            <a:r>
              <a:rPr lang="en-US" altLang="zh-CN" dirty="0" err="1" smtClean="0"/>
              <a:t>LocalDate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LocalTime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71600" y="3114143"/>
            <a:ext cx="259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1-7 </a:t>
            </a:r>
            <a:r>
              <a:rPr lang="en-US" altLang="zh-CN" sz="1200" dirty="0" err="1"/>
              <a:t>L</a:t>
            </a:r>
            <a:r>
              <a:rPr lang="en-US" altLang="zh-CN" sz="1200" dirty="0" err="1" smtClean="0"/>
              <a:t>ocalDate</a:t>
            </a:r>
            <a:r>
              <a:rPr lang="en-US" altLang="zh-CN" sz="1200" dirty="0" smtClean="0"/>
              <a:t> -&gt;</a:t>
            </a:r>
            <a:r>
              <a:rPr lang="ja-JP" altLang="en-US" sz="1200" dirty="0" smtClean="0"/>
              <a:t>　</a:t>
            </a:r>
            <a:endParaRPr lang="zh-CN" altLang="en-US" sz="12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77" y="1884342"/>
            <a:ext cx="3553321" cy="66684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610906"/>
            <a:ext cx="3829584" cy="138131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044779" y="3114143"/>
            <a:ext cx="259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1-8 </a:t>
            </a:r>
            <a:r>
              <a:rPr lang="en-US" altLang="zh-CN" sz="1200" dirty="0" err="1" smtClean="0"/>
              <a:t>LocalDateTime</a:t>
            </a:r>
            <a:r>
              <a:rPr lang="en-US" altLang="zh-CN" sz="1200" dirty="0" smtClean="0"/>
              <a:t>-&lt;</a:t>
            </a:r>
            <a:endParaRPr lang="zh-CN" altLang="en-US" sz="1200" dirty="0"/>
          </a:p>
        </p:txBody>
      </p:sp>
      <p:sp>
        <p:nvSpPr>
          <p:cNvPr id="14" name="文本框 13"/>
          <p:cNvSpPr txBox="1"/>
          <p:nvPr/>
        </p:nvSpPr>
        <p:spPr>
          <a:xfrm>
            <a:off x="323528" y="3664111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 smtClean="0"/>
              <a:t>LocalDateTime</a:t>
            </a:r>
            <a:r>
              <a:rPr lang="en-US" altLang="zh-CN" dirty="0"/>
              <a:t> </a:t>
            </a:r>
            <a:r>
              <a:rPr lang="en-US" altLang="zh-CN" dirty="0" smtClean="0"/>
              <a:t>&lt;-&gt; Date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95536" y="4315269"/>
            <a:ext cx="77048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 err="1" smtClean="0"/>
              <a:t>LocalDateTime</a:t>
            </a:r>
            <a:r>
              <a:rPr lang="en-US" altLang="zh-CN" dirty="0" smtClean="0"/>
              <a:t> -&gt; Date</a:t>
            </a:r>
          </a:p>
          <a:p>
            <a:r>
              <a:rPr lang="en-US" altLang="zh-CN" dirty="0" err="1"/>
              <a:t>Date.from</a:t>
            </a:r>
            <a:r>
              <a:rPr lang="en-US" altLang="zh-CN" dirty="0"/>
              <a:t>(</a:t>
            </a:r>
            <a:r>
              <a:rPr lang="en-US" altLang="zh-CN" dirty="0" err="1"/>
              <a:t>localDateTime.atZone</a:t>
            </a:r>
            <a:r>
              <a:rPr lang="en-US" altLang="zh-CN" dirty="0"/>
              <a:t>(</a:t>
            </a:r>
            <a:r>
              <a:rPr lang="en-US" altLang="zh-CN" dirty="0" err="1"/>
              <a:t>ZoneId.systemDefault</a:t>
            </a:r>
            <a:r>
              <a:rPr lang="en-US" altLang="zh-CN" dirty="0"/>
              <a:t>()).</a:t>
            </a:r>
            <a:r>
              <a:rPr lang="en-US" altLang="zh-CN" dirty="0" err="1"/>
              <a:t>toInstant</a:t>
            </a:r>
            <a:r>
              <a:rPr lang="en-US" altLang="zh-CN" dirty="0" smtClean="0"/>
              <a:t>());</a:t>
            </a:r>
          </a:p>
          <a:p>
            <a:endParaRPr lang="en-US" altLang="zh-CN" dirty="0"/>
          </a:p>
          <a:p>
            <a:r>
              <a:rPr lang="en-US" altLang="zh-CN" dirty="0" smtClean="0"/>
              <a:t>2. Date -&gt; </a:t>
            </a:r>
            <a:r>
              <a:rPr lang="en-US" altLang="zh-CN" dirty="0" err="1" smtClean="0"/>
              <a:t>LocalDateTime</a:t>
            </a:r>
            <a:endParaRPr lang="en-US" altLang="zh-CN" dirty="0" smtClean="0"/>
          </a:p>
          <a:p>
            <a:r>
              <a:rPr lang="en-US" altLang="zh-CN" dirty="0" err="1"/>
              <a:t>LocalDateTime.ofInstant</a:t>
            </a:r>
            <a:r>
              <a:rPr lang="en-US" altLang="zh-CN" dirty="0"/>
              <a:t>(new Date().</a:t>
            </a:r>
            <a:r>
              <a:rPr lang="en-US" altLang="zh-CN" dirty="0" err="1"/>
              <a:t>toInstant</a:t>
            </a:r>
            <a:r>
              <a:rPr lang="en-US" altLang="zh-CN" dirty="0"/>
              <a:t>(), </a:t>
            </a:r>
            <a:r>
              <a:rPr lang="en-US" altLang="zh-CN" dirty="0" err="1"/>
              <a:t>ZoneId.systemDefault</a:t>
            </a:r>
            <a:r>
              <a:rPr lang="en-US" altLang="zh-CN" dirty="0"/>
              <a:t>())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5689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1600" dirty="0" err="1" smtClean="0"/>
              <a:t>LocalDate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LocalTime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LocalDateTime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LocalDate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LocalTime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LocalDateTime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35901" y="1379325"/>
            <a:ext cx="77048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日期格式化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-&gt;</a:t>
            </a:r>
            <a:r>
              <a:rPr lang="zh-CN" altLang="en-US" dirty="0" smtClean="0"/>
              <a:t>放弃</a:t>
            </a:r>
            <a:r>
              <a:rPr lang="en-US" altLang="zh-CN" dirty="0" err="1" smtClean="0"/>
              <a:t>SimpleDateFormat</a:t>
            </a:r>
            <a:r>
              <a:rPr lang="zh-CN" altLang="en-US" dirty="0" smtClean="0"/>
              <a:t>（线程不安全）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-&gt;</a:t>
            </a:r>
            <a:r>
              <a:rPr lang="zh-CN" altLang="en-US" dirty="0" smtClean="0"/>
              <a:t>使用</a:t>
            </a:r>
            <a:r>
              <a:rPr lang="en-US" altLang="zh-CN" dirty="0" err="1" smtClean="0"/>
              <a:t>DateTimeFormatter</a:t>
            </a:r>
            <a:r>
              <a:rPr lang="en-US" altLang="zh-CN" dirty="0" smtClean="0"/>
              <a:t>.</a:t>
            </a:r>
            <a:r>
              <a:rPr lang="en-US" altLang="zh-CN" i="1" dirty="0"/>
              <a:t> </a:t>
            </a:r>
            <a:r>
              <a:rPr lang="en-US" altLang="zh-CN" i="1" dirty="0" err="1" smtClean="0"/>
              <a:t>ofPattern</a:t>
            </a:r>
            <a:r>
              <a:rPr lang="en-US" altLang="zh-CN" i="1" dirty="0" smtClean="0"/>
              <a:t>(String).format(</a:t>
            </a:r>
            <a:r>
              <a:rPr lang="en-US" altLang="zh-CN" dirty="0" err="1" smtClean="0"/>
              <a:t>TemporalAccessor</a:t>
            </a:r>
            <a:r>
              <a:rPr lang="en-US" altLang="zh-CN" i="1" dirty="0" smtClean="0"/>
              <a:t>)</a:t>
            </a:r>
            <a:endParaRPr lang="en-US" altLang="zh-CN" dirty="0" smtClean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01" y="3284984"/>
            <a:ext cx="8058150" cy="2171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195736" y="5661248"/>
            <a:ext cx="4320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+mn-ea"/>
              </a:rPr>
              <a:t>图</a:t>
            </a:r>
            <a:r>
              <a:rPr lang="en-US" altLang="zh-CN" sz="1200" dirty="0" smtClean="0">
                <a:latin typeface="+mn-ea"/>
              </a:rPr>
              <a:t>1-9 </a:t>
            </a:r>
            <a:r>
              <a:rPr lang="zh-CN" altLang="en-US" sz="1200" dirty="0" smtClean="0">
                <a:latin typeface="+mn-ea"/>
              </a:rPr>
              <a:t>日期格式化</a:t>
            </a:r>
            <a:r>
              <a:rPr lang="en-US" altLang="zh-CN" sz="1200" dirty="0" smtClean="0">
                <a:latin typeface="+mn-ea"/>
              </a:rPr>
              <a:t> </a:t>
            </a:r>
            <a:endParaRPr lang="zh-CN" alt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2300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5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A4F19B66-1C01-4C84-B3AE-98D2415A0E13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71" name="灯片编号占位符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6BF3205-7203-408E-AA4F-8A5726B75BD8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72" name="内容占位符 1"/>
          <p:cNvSpPr>
            <a:spLocks noGrp="1"/>
          </p:cNvSpPr>
          <p:nvPr>
            <p:ph idx="1"/>
          </p:nvPr>
        </p:nvSpPr>
        <p:spPr bwMode="auto">
          <a:xfrm>
            <a:off x="1115616" y="2348880"/>
            <a:ext cx="6282333" cy="2340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2400" dirty="0"/>
              <a:t>函数式接口</a:t>
            </a:r>
          </a:p>
          <a:p>
            <a:pPr algn="ctr" eaLnBrk="1" hangingPunct="1"/>
            <a:r>
              <a:rPr lang="zh-CN" altLang="en-US" sz="2400" dirty="0"/>
              <a:t>接口默认方法</a:t>
            </a:r>
          </a:p>
          <a:p>
            <a:pPr algn="ctr" eaLnBrk="1" hangingPunct="1"/>
            <a:r>
              <a:rPr lang="zh-CN" altLang="en-US" sz="2400" dirty="0"/>
              <a:t>方法引用</a:t>
            </a:r>
          </a:p>
          <a:p>
            <a:pPr algn="ctr" eaLnBrk="1" hangingPunct="1"/>
            <a:r>
              <a:rPr lang="en-US" altLang="zh-CN" sz="2400" dirty="0"/>
              <a:t>Lambda</a:t>
            </a:r>
            <a:r>
              <a:rPr lang="zh-CN" altLang="en-US" sz="2400" dirty="0"/>
              <a:t>表达式</a:t>
            </a:r>
          </a:p>
        </p:txBody>
      </p:sp>
    </p:spTree>
    <p:extLst>
      <p:ext uri="{BB962C8B-B14F-4D97-AF65-F5344CB8AC3E}">
        <p14:creationId xmlns:p14="http://schemas.microsoft.com/office/powerpoint/2010/main" val="2956510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Function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函数式</a:t>
            </a:r>
            <a:r>
              <a:rPr lang="zh-CN" altLang="en-US" dirty="0" smtClean="0"/>
              <a:t>接口：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62" y="1844824"/>
            <a:ext cx="3248025" cy="1543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34" y="4437112"/>
            <a:ext cx="3312875" cy="120468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055" y="1630414"/>
            <a:ext cx="4923195" cy="351491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49893" y="3508394"/>
            <a:ext cx="23003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1-10 </a:t>
            </a:r>
            <a:r>
              <a:rPr lang="zh-CN" altLang="en-US" sz="1200" dirty="0" smtClean="0"/>
              <a:t>函数式接口</a:t>
            </a:r>
            <a:endParaRPr lang="zh-CN" altLang="en-US" sz="1200" dirty="0"/>
          </a:p>
        </p:txBody>
      </p:sp>
      <p:sp>
        <p:nvSpPr>
          <p:cNvPr id="10" name="文本框 9"/>
          <p:cNvSpPr txBox="1"/>
          <p:nvPr/>
        </p:nvSpPr>
        <p:spPr>
          <a:xfrm>
            <a:off x="849893" y="5503294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1-11 </a:t>
            </a:r>
            <a:r>
              <a:rPr lang="zh-CN" altLang="en-US" sz="1200" dirty="0" smtClean="0"/>
              <a:t>接口实现类</a:t>
            </a:r>
            <a:endParaRPr lang="zh-CN" altLang="en-US" sz="1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225536" y="5145333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1-12 </a:t>
            </a:r>
            <a:r>
              <a:rPr lang="zh-CN" altLang="en-US" sz="1200" dirty="0" smtClean="0"/>
              <a:t>调用方法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4536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Function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函数式</a:t>
            </a:r>
            <a:r>
              <a:rPr lang="zh-CN" altLang="en-US" dirty="0" smtClean="0"/>
              <a:t>接口</a:t>
            </a:r>
            <a:r>
              <a:rPr lang="en-US" altLang="zh-CN" dirty="0"/>
              <a:t>@</a:t>
            </a:r>
            <a:r>
              <a:rPr lang="en-US" altLang="zh-CN" dirty="0" err="1"/>
              <a:t>FunctionalInterface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412776"/>
            <a:ext cx="8116433" cy="460121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635896" y="6007503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1-13 Function</a:t>
            </a:r>
            <a:r>
              <a:rPr lang="zh-CN" altLang="en-US" sz="1200" dirty="0" smtClean="0"/>
              <a:t>接口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110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Function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Function</a:t>
            </a:r>
            <a:r>
              <a:rPr lang="zh-CN" altLang="en-US" sz="2800" dirty="0" smtClean="0"/>
              <a:t>主要方法：</a:t>
            </a:r>
            <a:endParaRPr lang="zh-CN" altLang="en-US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412980" y="1988840"/>
            <a:ext cx="77048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apply </a:t>
            </a:r>
            <a:r>
              <a:rPr lang="zh-CN" altLang="en-US" sz="2400" dirty="0" smtClean="0"/>
              <a:t>：</a:t>
            </a:r>
            <a:r>
              <a:rPr lang="en-US" altLang="zh-CN" sz="2400" dirty="0" smtClean="0"/>
              <a:t>f(x)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compose </a:t>
            </a:r>
            <a:r>
              <a:rPr lang="zh-CN" altLang="en-US" sz="2400" dirty="0"/>
              <a:t>：</a:t>
            </a:r>
            <a:r>
              <a:rPr lang="en-US" altLang="zh-CN" sz="2400" dirty="0" smtClean="0"/>
              <a:t>f(g(x))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err="1" smtClean="0"/>
              <a:t>andThen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：</a:t>
            </a:r>
            <a:r>
              <a:rPr lang="en-US" altLang="zh-CN" sz="2400" dirty="0" smtClean="0"/>
              <a:t>g(f(x</a:t>
            </a:r>
            <a:r>
              <a:rPr lang="en-US" altLang="zh-CN" sz="2400" dirty="0"/>
              <a:t>))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41550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Function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函数式</a:t>
            </a:r>
            <a:r>
              <a:rPr lang="zh-CN" altLang="en-US" dirty="0" smtClean="0"/>
              <a:t>接口</a:t>
            </a:r>
            <a:r>
              <a:rPr lang="zh-CN" altLang="en-US" dirty="0"/>
              <a:t>接收值：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67544" y="1628800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类</a:t>
            </a:r>
            <a:r>
              <a:rPr lang="en-US" altLang="zh-CN" dirty="0"/>
              <a:t>/</a:t>
            </a:r>
            <a:r>
              <a:rPr lang="zh-CN" altLang="en-US" dirty="0"/>
              <a:t>对象的静态方法引用、实例方法</a:t>
            </a:r>
            <a:r>
              <a:rPr lang="zh-CN" altLang="en-US" dirty="0" smtClean="0"/>
              <a:t>引用</a:t>
            </a:r>
            <a:r>
              <a:rPr lang="en-US" altLang="zh-CN" dirty="0" smtClean="0"/>
              <a:t>,</a:t>
            </a:r>
            <a:r>
              <a:rPr lang="zh-CN" altLang="en-US" dirty="0"/>
              <a:t>引用符号为双冒号 </a:t>
            </a:r>
            <a:r>
              <a:rPr lang="en-US" altLang="zh-CN" dirty="0"/>
              <a:t>:: 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 </a:t>
            </a:r>
            <a:r>
              <a:rPr lang="zh-CN" altLang="en-US" dirty="0" smtClean="0"/>
              <a:t>类</a:t>
            </a:r>
            <a:r>
              <a:rPr lang="zh-CN" altLang="en-US" dirty="0"/>
              <a:t>的构造器引用</a:t>
            </a:r>
            <a:r>
              <a:rPr lang="en-US" altLang="zh-CN" dirty="0"/>
              <a:t>:</a:t>
            </a:r>
            <a:r>
              <a:rPr lang="zh-CN" altLang="en-US" dirty="0"/>
              <a:t>比如 </a:t>
            </a:r>
            <a:r>
              <a:rPr lang="en-US" altLang="zh-CN" dirty="0"/>
              <a:t>Class::</a:t>
            </a:r>
            <a:r>
              <a:rPr lang="en-US" altLang="zh-CN" dirty="0" smtClean="0"/>
              <a:t>new	</a:t>
            </a:r>
            <a:r>
              <a:rPr lang="en-US" altLang="zh-CN" dirty="0"/>
              <a:t> 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lambda</a:t>
            </a:r>
            <a:r>
              <a:rPr lang="zh-CN" altLang="en-US" dirty="0"/>
              <a:t>表达式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29" y="3107869"/>
            <a:ext cx="7252344" cy="101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06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Lambda</a:t>
            </a:r>
            <a:endParaRPr lang="zh-CN" altLang="en-US" sz="1600" dirty="0" smtClean="0"/>
          </a:p>
        </p:txBody>
      </p:sp>
      <p:sp>
        <p:nvSpPr>
          <p:cNvPr id="8197" name="内容占位符 4"/>
          <p:cNvSpPr>
            <a:spLocks noGrp="1"/>
          </p:cNvSpPr>
          <p:nvPr>
            <p:ph idx="1"/>
          </p:nvPr>
        </p:nvSpPr>
        <p:spPr bwMode="auto">
          <a:xfrm>
            <a:off x="657225" y="1028701"/>
            <a:ext cx="8010525" cy="510116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11560" y="947222"/>
            <a:ext cx="7394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什么是</a:t>
            </a:r>
            <a:r>
              <a:rPr lang="en-US" altLang="zh-CN" dirty="0"/>
              <a:t>lambda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表达式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8175" y="1484784"/>
            <a:ext cx="7318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lambda</a:t>
            </a:r>
            <a:r>
              <a:rPr lang="zh-CN" altLang="en-US" dirty="0" smtClean="0"/>
              <a:t>表达式</a:t>
            </a:r>
            <a:r>
              <a:rPr lang="zh-CN" altLang="en-US" dirty="0"/>
              <a:t>即匿名函数</a:t>
            </a:r>
            <a:r>
              <a:rPr lang="en-US" altLang="zh-CN" dirty="0"/>
              <a:t>,</a:t>
            </a:r>
            <a:r>
              <a:rPr lang="zh-CN" altLang="en-US" dirty="0"/>
              <a:t>它是一段没有函数名的函数体</a:t>
            </a:r>
            <a:r>
              <a:rPr lang="en-US" altLang="zh-CN" dirty="0"/>
              <a:t>,</a:t>
            </a:r>
            <a:r>
              <a:rPr lang="zh-CN" altLang="en-US" dirty="0"/>
              <a:t>可以作为参数直接传递给相关调用者</a:t>
            </a:r>
            <a:r>
              <a:rPr lang="zh-CN" altLang="en-US" dirty="0" smtClean="0"/>
              <a:t>。例</a:t>
            </a:r>
            <a:r>
              <a:rPr lang="en-US" altLang="zh-CN" dirty="0" smtClean="0"/>
              <a:t>: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39552" y="2564904"/>
            <a:ext cx="74168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a, </a:t>
            </a:r>
            <a:r>
              <a:rPr lang="en-US" altLang="zh-CN" dirty="0" err="1"/>
              <a:t>int</a:t>
            </a:r>
            <a:r>
              <a:rPr lang="en-US" altLang="zh-CN" dirty="0"/>
              <a:t> b) -&gt; {  return a + b; }  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() </a:t>
            </a:r>
            <a:r>
              <a:rPr lang="en-US" altLang="zh-CN" dirty="0"/>
              <a:t>-&gt; </a:t>
            </a:r>
            <a:r>
              <a:rPr lang="en-US" altLang="zh-CN" dirty="0" err="1"/>
              <a:t>System.out.println</a:t>
            </a:r>
            <a:r>
              <a:rPr lang="en-US" altLang="zh-CN" dirty="0"/>
              <a:t>("Hello World");  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(</a:t>
            </a:r>
            <a:r>
              <a:rPr lang="en-US" altLang="zh-CN" dirty="0"/>
              <a:t>String s) -&gt; { </a:t>
            </a:r>
            <a:r>
              <a:rPr lang="en-US" altLang="zh-CN" dirty="0" err="1"/>
              <a:t>System.out.println</a:t>
            </a:r>
            <a:r>
              <a:rPr lang="en-US" altLang="zh-CN" dirty="0"/>
              <a:t>(s); }  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() </a:t>
            </a:r>
            <a:r>
              <a:rPr lang="en-US" altLang="zh-CN" dirty="0"/>
              <a:t>-&gt; 42 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() </a:t>
            </a:r>
            <a:r>
              <a:rPr lang="en-US" altLang="zh-CN" dirty="0"/>
              <a:t>-&gt; { return 3.1415 }; 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631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Lambda</a:t>
            </a:r>
            <a:r>
              <a:rPr lang="zh-CN" altLang="en-US" sz="1600" dirty="0" smtClean="0"/>
              <a:t/>
            </a:r>
            <a:br>
              <a:rPr lang="zh-CN" altLang="en-US" sz="1600" dirty="0" smtClean="0"/>
            </a:br>
            <a:endParaRPr lang="zh-CN" altLang="en-US" sz="1600" dirty="0" smtClean="0"/>
          </a:p>
        </p:txBody>
      </p:sp>
      <p:sp>
        <p:nvSpPr>
          <p:cNvPr id="8197" name="内容占位符 4"/>
          <p:cNvSpPr>
            <a:spLocks noGrp="1"/>
          </p:cNvSpPr>
          <p:nvPr>
            <p:ph idx="1"/>
          </p:nvPr>
        </p:nvSpPr>
        <p:spPr bwMode="auto">
          <a:xfrm>
            <a:off x="657225" y="1028701"/>
            <a:ext cx="8010525" cy="510116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14442" y="1020367"/>
            <a:ext cx="7394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dirty="0" smtClean="0"/>
              <a:t>Lambda</a:t>
            </a:r>
            <a:r>
              <a:rPr lang="zh-CN" altLang="en-US" dirty="0" smtClean="0"/>
              <a:t>结构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663575" y="1772816"/>
            <a:ext cx="75088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一个 </a:t>
            </a:r>
            <a:r>
              <a:rPr lang="en-US" altLang="zh-CN" dirty="0" smtClean="0"/>
              <a:t>Lambda </a:t>
            </a:r>
            <a:r>
              <a:rPr lang="zh-CN" altLang="en-US" dirty="0"/>
              <a:t>表达式可以有零个或多个参数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参数</a:t>
            </a:r>
            <a:r>
              <a:rPr lang="zh-CN" altLang="en-US" dirty="0"/>
              <a:t>的类型既可以明确声明，也可以根据上下文来推断</a:t>
            </a:r>
            <a:r>
              <a:rPr lang="en-US" altLang="zh-CN" dirty="0"/>
              <a:t>,</a:t>
            </a:r>
            <a:r>
              <a:rPr lang="zh-CN" altLang="en-US" dirty="0"/>
              <a:t>例如</a:t>
            </a:r>
            <a:r>
              <a:rPr lang="en-US" altLang="zh-CN" dirty="0"/>
              <a:t>,(</a:t>
            </a:r>
            <a:r>
              <a:rPr lang="en-US" altLang="zh-CN" dirty="0" err="1"/>
              <a:t>int</a:t>
            </a:r>
            <a:r>
              <a:rPr lang="en-US" altLang="zh-CN" dirty="0"/>
              <a:t> a)</a:t>
            </a:r>
            <a:r>
              <a:rPr lang="zh-CN" altLang="en-US" dirty="0"/>
              <a:t>与</a:t>
            </a:r>
            <a:r>
              <a:rPr lang="en-US" altLang="zh-CN" dirty="0"/>
              <a:t>(a)</a:t>
            </a:r>
            <a:r>
              <a:rPr lang="zh-CN" altLang="en-US" dirty="0"/>
              <a:t>效果相同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所有</a:t>
            </a:r>
            <a:r>
              <a:rPr lang="zh-CN" altLang="en-US" dirty="0"/>
              <a:t>参数需包含在圆括号内，参数之间用逗号相隔。例如</a:t>
            </a:r>
            <a:r>
              <a:rPr lang="en-US" altLang="zh-CN" dirty="0"/>
              <a:t>(a, b) </a:t>
            </a:r>
            <a:r>
              <a:rPr lang="zh-CN" altLang="en-US" dirty="0"/>
              <a:t>或 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a, </a:t>
            </a:r>
            <a:r>
              <a:rPr lang="en-US" altLang="zh-CN" dirty="0" err="1"/>
              <a:t>int</a:t>
            </a:r>
            <a:r>
              <a:rPr lang="en-US" altLang="zh-CN" dirty="0"/>
              <a:t> b) </a:t>
            </a:r>
            <a:r>
              <a:rPr lang="zh-CN" altLang="en-US" dirty="0"/>
              <a:t>或 </a:t>
            </a:r>
            <a:r>
              <a:rPr lang="en-US" altLang="zh-CN" dirty="0"/>
              <a:t>(String a, </a:t>
            </a:r>
            <a:r>
              <a:rPr lang="en-US" altLang="zh-CN" dirty="0" err="1"/>
              <a:t>int</a:t>
            </a:r>
            <a:r>
              <a:rPr lang="en-US" altLang="zh-CN" dirty="0"/>
              <a:t> b, float 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空</a:t>
            </a:r>
            <a:r>
              <a:rPr lang="zh-CN" altLang="en-US" dirty="0"/>
              <a:t>圆括号代表参数集为空。例如</a:t>
            </a:r>
            <a:r>
              <a:rPr lang="en-US" altLang="zh-CN" dirty="0"/>
              <a:t>() -&gt; 42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当</a:t>
            </a:r>
            <a:r>
              <a:rPr lang="zh-CN" altLang="en-US" dirty="0"/>
              <a:t>只有一个参数</a:t>
            </a:r>
            <a:r>
              <a:rPr lang="en-US" altLang="zh-CN" dirty="0"/>
              <a:t>,</a:t>
            </a:r>
            <a:r>
              <a:rPr lang="zh-CN" altLang="en-US" dirty="0"/>
              <a:t>且其类型可推导时</a:t>
            </a:r>
            <a:r>
              <a:rPr lang="en-US" altLang="zh-CN" dirty="0"/>
              <a:t>,</a:t>
            </a:r>
            <a:r>
              <a:rPr lang="zh-CN" altLang="en-US" dirty="0"/>
              <a:t>圆括号可省略。例如</a:t>
            </a:r>
            <a:r>
              <a:rPr lang="en-US" altLang="zh-CN" dirty="0"/>
              <a:t>a -&gt; return a*a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Lambda </a:t>
            </a:r>
            <a:r>
              <a:rPr lang="zh-CN" altLang="en-US" dirty="0"/>
              <a:t>表达式的主体可包含零条或多条语句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如果 </a:t>
            </a:r>
            <a:r>
              <a:rPr lang="en-US" altLang="zh-CN" dirty="0" smtClean="0"/>
              <a:t>Lambda </a:t>
            </a:r>
            <a:r>
              <a:rPr lang="zh-CN" altLang="en-US" dirty="0"/>
              <a:t>表达式的主体只有一条语句</a:t>
            </a:r>
            <a:r>
              <a:rPr lang="en-US" altLang="zh-CN" dirty="0"/>
              <a:t>,</a:t>
            </a:r>
            <a:r>
              <a:rPr lang="zh-CN" altLang="en-US" dirty="0"/>
              <a:t>花括号</a:t>
            </a:r>
            <a:r>
              <a:rPr lang="en-US" altLang="zh-CN" dirty="0"/>
              <a:t>{}</a:t>
            </a:r>
            <a:r>
              <a:rPr lang="zh-CN" altLang="en-US" dirty="0"/>
              <a:t>可省略。匿名函数的返回类型与该主体表达式一致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如果 </a:t>
            </a:r>
            <a:r>
              <a:rPr lang="en-US" altLang="zh-CN" dirty="0"/>
              <a:t>Lambda </a:t>
            </a:r>
            <a:r>
              <a:rPr lang="zh-CN" altLang="en-US" dirty="0"/>
              <a:t>表达式的主体包含一条以上语句</a:t>
            </a:r>
            <a:r>
              <a:rPr lang="en-US" altLang="zh-CN" dirty="0"/>
              <a:t>,</a:t>
            </a:r>
            <a:r>
              <a:rPr lang="zh-CN" altLang="en-US" dirty="0"/>
              <a:t>则表达式必须包含在花括号</a:t>
            </a:r>
            <a:r>
              <a:rPr lang="en-US" altLang="zh-CN" dirty="0"/>
              <a:t>{}</a:t>
            </a:r>
            <a:r>
              <a:rPr lang="zh-CN" altLang="en-US" dirty="0"/>
              <a:t>中</a:t>
            </a:r>
            <a:r>
              <a:rPr lang="en-US" altLang="zh-CN" dirty="0"/>
              <a:t>,</a:t>
            </a:r>
            <a:r>
              <a:rPr lang="zh-CN" altLang="en-US" dirty="0"/>
              <a:t>形成代码块。匿名函数的返回类型与代码块的返回类型一致</a:t>
            </a:r>
            <a:r>
              <a:rPr lang="en-US" altLang="zh-CN" dirty="0"/>
              <a:t>,</a:t>
            </a:r>
            <a:r>
              <a:rPr lang="zh-CN" altLang="en-US" dirty="0"/>
              <a:t>若没有返回则为空</a:t>
            </a:r>
          </a:p>
        </p:txBody>
      </p:sp>
    </p:spTree>
    <p:extLst>
      <p:ext uri="{BB962C8B-B14F-4D97-AF65-F5344CB8AC3E}">
        <p14:creationId xmlns:p14="http://schemas.microsoft.com/office/powerpoint/2010/main" val="3253328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Function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主要接口：</a:t>
            </a:r>
            <a:endParaRPr lang="zh-CN" altLang="en-US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395536" y="1685204"/>
            <a:ext cx="770485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Supplier&lt;T</a:t>
            </a:r>
            <a:r>
              <a:rPr lang="en-US" altLang="zh-CN" sz="2000" dirty="0"/>
              <a:t>&gt;: </a:t>
            </a:r>
            <a:r>
              <a:rPr lang="zh-CN" altLang="en-US" sz="2000" dirty="0"/>
              <a:t>数据提供</a:t>
            </a:r>
            <a:r>
              <a:rPr lang="zh-CN" altLang="en-US" sz="2000" dirty="0" smtClean="0"/>
              <a:t>器</a:t>
            </a:r>
            <a:endParaRPr lang="en-US" altLang="zh-C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Function&lt;T,R</a:t>
            </a:r>
            <a:r>
              <a:rPr lang="en-US" altLang="zh-CN" sz="2000" dirty="0"/>
              <a:t>&gt;: </a:t>
            </a:r>
            <a:r>
              <a:rPr lang="zh-CN" altLang="en-US" sz="2000" dirty="0" smtClean="0"/>
              <a:t>数据转换器</a:t>
            </a:r>
            <a:r>
              <a:rPr lang="zh-CN" altLang="en-US" sz="2000" dirty="0"/>
              <a:t/>
            </a:r>
            <a:br>
              <a:rPr lang="zh-CN" altLang="en-US" sz="2000" dirty="0"/>
            </a:br>
            <a:r>
              <a:rPr lang="en-US" altLang="zh-CN" sz="2000" dirty="0" smtClean="0"/>
              <a:t>	1.BinaryOperator(</a:t>
            </a:r>
            <a:r>
              <a:rPr lang="en-US" altLang="zh-CN" sz="2000" dirty="0" err="1" smtClean="0"/>
              <a:t>BinaryOperator</a:t>
            </a:r>
            <a:r>
              <a:rPr lang="en-US" altLang="zh-CN" sz="2000" dirty="0" smtClean="0"/>
              <a:t>&lt;T</a:t>
            </a:r>
            <a:r>
              <a:rPr lang="en-US" altLang="zh-CN" sz="2000" dirty="0"/>
              <a:t>&gt; extends </a:t>
            </a:r>
            <a:r>
              <a:rPr lang="en-US" altLang="zh-CN" sz="2000" dirty="0" err="1"/>
              <a:t>BiFunction</a:t>
            </a:r>
            <a:r>
              <a:rPr lang="en-US" altLang="zh-CN" sz="2000" dirty="0"/>
              <a:t>&lt;T,T,T&gt;)</a:t>
            </a:r>
            <a:br>
              <a:rPr lang="en-US" altLang="zh-CN" sz="2000" dirty="0"/>
            </a:br>
            <a:r>
              <a:rPr lang="en-US" altLang="zh-CN" sz="2000" dirty="0"/>
              <a:t>	</a:t>
            </a:r>
            <a:r>
              <a:rPr lang="en-US" altLang="zh-CN" sz="2000" dirty="0" smtClean="0"/>
              <a:t>2.BiFunction(</a:t>
            </a:r>
            <a:r>
              <a:rPr lang="en-US" altLang="zh-CN" sz="2000" dirty="0" err="1"/>
              <a:t>BiFunction</a:t>
            </a:r>
            <a:r>
              <a:rPr lang="en-US" altLang="zh-CN" sz="2000" dirty="0"/>
              <a:t>&lt;Integer, Integer, Integer</a:t>
            </a:r>
            <a:r>
              <a:rPr lang="en-US" altLang="zh-CN" sz="2000" dirty="0" smtClean="0"/>
              <a:t>&gt;)</a:t>
            </a:r>
            <a:r>
              <a:rPr lang="en-US" altLang="zh-CN" sz="2000" dirty="0"/>
              <a:t/>
            </a:r>
            <a:br>
              <a:rPr lang="en-US" altLang="zh-CN" sz="2000" dirty="0"/>
            </a:br>
            <a:r>
              <a:rPr lang="en-US" altLang="zh-CN" sz="2000" dirty="0"/>
              <a:t>	3.UnaryOperator(</a:t>
            </a:r>
            <a:r>
              <a:rPr lang="en-US" altLang="zh-CN" sz="2000" dirty="0" err="1"/>
              <a:t>UnaryOperator</a:t>
            </a:r>
            <a:r>
              <a:rPr lang="en-US" altLang="zh-CN" sz="2000" dirty="0"/>
              <a:t>&lt;T&gt; extends Function&lt;T, T</a:t>
            </a:r>
            <a:r>
              <a:rPr lang="en-US" altLang="zh-CN" sz="2000" dirty="0" smtClean="0"/>
              <a:t>&gt;)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Consumer&lt;T</a:t>
            </a:r>
            <a:r>
              <a:rPr lang="en-US" altLang="zh-CN" sz="2000" dirty="0"/>
              <a:t>&gt;: </a:t>
            </a:r>
            <a:r>
              <a:rPr lang="zh-CN" altLang="en-US" sz="2000" dirty="0"/>
              <a:t>数据消费</a:t>
            </a:r>
            <a:r>
              <a:rPr lang="zh-CN" altLang="en-US" sz="2000" dirty="0" smtClean="0"/>
              <a:t>器</a:t>
            </a:r>
            <a:endParaRPr lang="en-US" altLang="zh-C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Predicate&lt;T</a:t>
            </a:r>
            <a:r>
              <a:rPr lang="en-US" altLang="zh-CN" sz="2000" dirty="0"/>
              <a:t>&gt;: </a:t>
            </a:r>
            <a:r>
              <a:rPr lang="zh-CN" altLang="en-US" sz="2000" dirty="0"/>
              <a:t>条件测试器</a:t>
            </a:r>
          </a:p>
        </p:txBody>
      </p:sp>
    </p:spTree>
    <p:extLst>
      <p:ext uri="{BB962C8B-B14F-4D97-AF65-F5344CB8AC3E}">
        <p14:creationId xmlns:p14="http://schemas.microsoft.com/office/powerpoint/2010/main" val="346057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Function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主要接口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：</a:t>
            </a:r>
            <a:endParaRPr lang="zh-CN" altLang="en-US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395536" y="1685204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Supplier&lt;T</a:t>
            </a:r>
            <a:r>
              <a:rPr lang="en-US" altLang="zh-CN" sz="2000" dirty="0"/>
              <a:t>&gt;: </a:t>
            </a:r>
            <a:r>
              <a:rPr lang="zh-CN" altLang="en-US" sz="2000" dirty="0"/>
              <a:t>数据提供</a:t>
            </a:r>
            <a:r>
              <a:rPr lang="zh-CN" altLang="en-US" sz="2000" dirty="0" smtClean="0"/>
              <a:t>器</a:t>
            </a:r>
            <a:endParaRPr lang="en-US" altLang="zh-CN" sz="2000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420888"/>
            <a:ext cx="7452320" cy="325128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059832" y="5675014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1-14 supplier</a:t>
            </a:r>
            <a:r>
              <a:rPr lang="zh-CN" altLang="en-US" sz="1200" dirty="0" smtClean="0"/>
              <a:t>的使用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42040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Function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主要接口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：</a:t>
            </a:r>
            <a:endParaRPr lang="zh-CN" altLang="en-US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395536" y="1685204"/>
            <a:ext cx="77048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Function&lt;T,R</a:t>
            </a:r>
            <a:r>
              <a:rPr lang="en-US" altLang="zh-CN" sz="2000" dirty="0"/>
              <a:t>&gt;: </a:t>
            </a:r>
            <a:r>
              <a:rPr lang="zh-CN" altLang="en-US" sz="2000" dirty="0" smtClean="0"/>
              <a:t>数据转换器</a:t>
            </a:r>
            <a:r>
              <a:rPr lang="zh-CN" altLang="en-US" sz="2000" dirty="0"/>
              <a:t/>
            </a:r>
            <a:br>
              <a:rPr lang="zh-CN" altLang="en-US" sz="2000" dirty="0"/>
            </a:br>
            <a:r>
              <a:rPr lang="en-US" altLang="zh-CN" sz="2000" dirty="0" smtClean="0"/>
              <a:t>	1.BinaryOperator(</a:t>
            </a:r>
            <a:r>
              <a:rPr lang="en-US" altLang="zh-CN" sz="2000" dirty="0" err="1" smtClean="0"/>
              <a:t>BinaryOperator</a:t>
            </a:r>
            <a:r>
              <a:rPr lang="en-US" altLang="zh-CN" sz="2000" dirty="0" smtClean="0"/>
              <a:t>&lt;T</a:t>
            </a:r>
            <a:r>
              <a:rPr lang="en-US" altLang="zh-CN" sz="2000" dirty="0"/>
              <a:t>&gt; extends </a:t>
            </a:r>
            <a:r>
              <a:rPr lang="en-US" altLang="zh-CN" sz="2000" dirty="0" err="1"/>
              <a:t>BiFunction</a:t>
            </a:r>
            <a:r>
              <a:rPr lang="en-US" altLang="zh-CN" sz="2000" dirty="0"/>
              <a:t>&lt;T,T,T&gt;)</a:t>
            </a:r>
            <a:br>
              <a:rPr lang="en-US" altLang="zh-CN" sz="2000" dirty="0"/>
            </a:br>
            <a:r>
              <a:rPr lang="en-US" altLang="zh-CN" sz="2000" dirty="0"/>
              <a:t>	</a:t>
            </a:r>
            <a:r>
              <a:rPr lang="en-US" altLang="zh-CN" sz="2000" dirty="0" smtClean="0"/>
              <a:t>2.BiFunction(</a:t>
            </a:r>
            <a:r>
              <a:rPr lang="en-US" altLang="zh-CN" sz="2000" dirty="0" err="1"/>
              <a:t>BiFunction</a:t>
            </a:r>
            <a:r>
              <a:rPr lang="en-US" altLang="zh-CN" sz="2000" dirty="0"/>
              <a:t>&lt;Integer, Integer, Integer</a:t>
            </a:r>
            <a:r>
              <a:rPr lang="en-US" altLang="zh-CN" sz="2000" dirty="0" smtClean="0"/>
              <a:t>&gt;)</a:t>
            </a:r>
            <a:r>
              <a:rPr lang="en-US" altLang="zh-CN" sz="2000" dirty="0"/>
              <a:t/>
            </a:r>
            <a:br>
              <a:rPr lang="en-US" altLang="zh-CN" sz="2000" dirty="0"/>
            </a:br>
            <a:r>
              <a:rPr lang="en-US" altLang="zh-CN" sz="2000" dirty="0"/>
              <a:t>	3.UnaryOperator(</a:t>
            </a:r>
            <a:r>
              <a:rPr lang="en-US" altLang="zh-CN" sz="2000" dirty="0" err="1"/>
              <a:t>UnaryOperator</a:t>
            </a:r>
            <a:r>
              <a:rPr lang="en-US" altLang="zh-CN" sz="2000" dirty="0"/>
              <a:t>&lt;T&gt; extends Function&lt;T, T</a:t>
            </a:r>
            <a:r>
              <a:rPr lang="en-US" altLang="zh-CN" sz="2000" dirty="0" smtClean="0"/>
              <a:t>&gt;)</a:t>
            </a:r>
          </a:p>
        </p:txBody>
      </p:sp>
    </p:spTree>
    <p:extLst>
      <p:ext uri="{BB962C8B-B14F-4D97-AF65-F5344CB8AC3E}">
        <p14:creationId xmlns:p14="http://schemas.microsoft.com/office/powerpoint/2010/main" val="386157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Function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主要接口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：</a:t>
            </a:r>
            <a:endParaRPr lang="zh-CN" altLang="en-US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395536" y="1685204"/>
            <a:ext cx="7704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Consumer&lt;T</a:t>
            </a:r>
            <a:r>
              <a:rPr lang="en-US" altLang="zh-CN" sz="2000" dirty="0"/>
              <a:t>&gt;: </a:t>
            </a:r>
            <a:r>
              <a:rPr lang="zh-CN" altLang="en-US" sz="2000" dirty="0"/>
              <a:t>数据消费</a:t>
            </a:r>
            <a:r>
              <a:rPr lang="zh-CN" altLang="en-US" sz="2000" dirty="0" smtClean="0"/>
              <a:t>器</a:t>
            </a:r>
            <a:endParaRPr lang="en-US" altLang="zh-CN" sz="2000" dirty="0" smtClean="0"/>
          </a:p>
          <a:p>
            <a:endParaRPr lang="zh-CN" altLang="en-US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70" y="2088540"/>
            <a:ext cx="7092280" cy="184160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074194" y="4056486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1-15 consumer</a:t>
            </a:r>
            <a:r>
              <a:rPr lang="zh-CN" altLang="en-US" sz="1200" dirty="0" smtClean="0"/>
              <a:t>的使用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10495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Function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主要接口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：</a:t>
            </a:r>
            <a:endParaRPr lang="zh-CN" altLang="en-US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395536" y="1685204"/>
            <a:ext cx="7704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Consumer&lt;T</a:t>
            </a:r>
            <a:r>
              <a:rPr lang="en-US" altLang="zh-CN" sz="2000" dirty="0"/>
              <a:t>&gt;: </a:t>
            </a:r>
            <a:r>
              <a:rPr lang="zh-CN" altLang="en-US" sz="2000" dirty="0"/>
              <a:t>数据消费</a:t>
            </a:r>
            <a:r>
              <a:rPr lang="zh-CN" altLang="en-US" sz="2000" dirty="0" smtClean="0"/>
              <a:t>器</a:t>
            </a:r>
            <a:endParaRPr lang="en-US" altLang="zh-CN" sz="2000" dirty="0" smtClean="0"/>
          </a:p>
          <a:p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19" y="2424124"/>
            <a:ext cx="8388424" cy="27786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203848" y="5364071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1-16 consume</a:t>
            </a:r>
            <a:r>
              <a:rPr lang="zh-CN" altLang="en-US" sz="1200" dirty="0" smtClean="0"/>
              <a:t>使用</a:t>
            </a:r>
            <a:r>
              <a:rPr lang="en-US" altLang="zh-CN" sz="1200" dirty="0" smtClean="0"/>
              <a:t>2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62851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Function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主要接口</a:t>
            </a:r>
            <a:r>
              <a:rPr lang="en-US" altLang="zh-CN" sz="2800" dirty="0" smtClean="0"/>
              <a:t>4</a:t>
            </a:r>
            <a:r>
              <a:rPr lang="zh-CN" altLang="en-US" sz="2800" dirty="0" smtClean="0"/>
              <a:t>：</a:t>
            </a:r>
            <a:endParaRPr lang="zh-CN" altLang="en-US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395536" y="1685204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Predicate&lt;T</a:t>
            </a:r>
            <a:r>
              <a:rPr lang="en-US" altLang="zh-CN" sz="2000" dirty="0"/>
              <a:t>&gt;: </a:t>
            </a:r>
            <a:r>
              <a:rPr lang="zh-CN" altLang="en-US" sz="2000" dirty="0"/>
              <a:t>条件测试器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348880"/>
            <a:ext cx="7956376" cy="27997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203848" y="5349153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1-17 predicate</a:t>
            </a:r>
            <a:r>
              <a:rPr lang="zh-CN" altLang="en-US" sz="1200" dirty="0" smtClean="0"/>
              <a:t>的使用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5178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Function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使用</a:t>
            </a:r>
            <a:r>
              <a:rPr lang="en-US" altLang="zh-CN" sz="2800" dirty="0" smtClean="0"/>
              <a:t>1. </a:t>
            </a:r>
            <a:r>
              <a:rPr lang="zh-CN" altLang="en-US" sz="2800" dirty="0" smtClean="0"/>
              <a:t>排序</a:t>
            </a:r>
            <a:endParaRPr lang="zh-CN" altLang="en-US" sz="2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934" y="1089916"/>
            <a:ext cx="3820058" cy="30484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50" y="1821445"/>
            <a:ext cx="8505825" cy="321648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203847" y="5216930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1-18 </a:t>
            </a:r>
            <a:r>
              <a:rPr lang="zh-CN" altLang="en-US" sz="1200" dirty="0" smtClean="0"/>
              <a:t>方法引用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8146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Function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使用</a:t>
            </a:r>
            <a:r>
              <a:rPr lang="en-US" altLang="zh-CN" sz="2800" dirty="0" smtClean="0"/>
              <a:t>2. map</a:t>
            </a:r>
            <a:r>
              <a:rPr lang="zh-CN" altLang="en-US" sz="2800" dirty="0" smtClean="0"/>
              <a:t>指默认值</a:t>
            </a:r>
            <a:endParaRPr lang="zh-CN" altLang="en-US" sz="2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1089916"/>
            <a:ext cx="3515216" cy="30484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27" y="1777199"/>
            <a:ext cx="8402223" cy="430590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131840" y="5942726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1-19 map</a:t>
            </a:r>
            <a:r>
              <a:rPr lang="zh-CN" altLang="en-US" sz="1200" dirty="0" smtClean="0"/>
              <a:t>类的</a:t>
            </a:r>
            <a:r>
              <a:rPr lang="en-US" altLang="zh-CN" sz="1200" dirty="0" smtClean="0"/>
              <a:t>function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778141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5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A4F19B66-1C01-4C84-B3AE-98D2415A0E13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71" name="灯片编号占位符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6BF3205-7203-408E-AA4F-8A5726B75BD8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72" name="内容占位符 1"/>
          <p:cNvSpPr>
            <a:spLocks noGrp="1"/>
          </p:cNvSpPr>
          <p:nvPr>
            <p:ph idx="1"/>
          </p:nvPr>
        </p:nvSpPr>
        <p:spPr bwMode="auto">
          <a:xfrm>
            <a:off x="1115616" y="2924944"/>
            <a:ext cx="6282333" cy="144016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2400" dirty="0" smtClean="0"/>
              <a:t>Stream</a:t>
            </a:r>
          </a:p>
          <a:p>
            <a:pPr algn="ctr" eaLnBrk="1" hangingPunct="1"/>
            <a:r>
              <a:rPr lang="en-US" altLang="zh-CN" sz="2400" dirty="0" smtClean="0"/>
              <a:t>Optional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19088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Stream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流的使用</a:t>
            </a:r>
            <a:endParaRPr lang="zh-CN" altLang="en-US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395536" y="1649525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所有流计算都有一种共同的结构</a:t>
            </a:r>
            <a:r>
              <a:rPr lang="en-US" altLang="zh-CN" sz="2400" dirty="0"/>
              <a:t>,</a:t>
            </a:r>
            <a:r>
              <a:rPr lang="zh-CN" altLang="en-US" sz="2400" dirty="0"/>
              <a:t>它们具有一个流来源、多个中间操作</a:t>
            </a:r>
            <a:r>
              <a:rPr lang="en-US" altLang="zh-CN" sz="2400" dirty="0"/>
              <a:t>,</a:t>
            </a:r>
            <a:r>
              <a:rPr lang="zh-CN" altLang="en-US" sz="2400" dirty="0"/>
              <a:t>以及一个终止操作。流的元素可以是任意对象。 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95536" y="3006364"/>
            <a:ext cx="7704856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流</a:t>
            </a:r>
            <a:r>
              <a:rPr lang="zh-CN" altLang="en-US" dirty="0"/>
              <a:t>主要</a:t>
            </a:r>
            <a:r>
              <a:rPr lang="zh-CN" altLang="en-US" dirty="0" smtClean="0"/>
              <a:t>来源</a:t>
            </a:r>
            <a:r>
              <a:rPr lang="en-US" altLang="zh-CN" dirty="0" smtClean="0"/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 </a:t>
            </a:r>
            <a:r>
              <a:rPr lang="en-US" altLang="zh-CN" dirty="0" err="1" smtClean="0"/>
              <a:t>Collection.stream</a:t>
            </a:r>
            <a:r>
              <a:rPr lang="en-US" altLang="zh-CN" dirty="0"/>
              <a:t> 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/>
              <a:t>	Stream </a:t>
            </a:r>
            <a:r>
              <a:rPr lang="en-US" altLang="zh-CN" dirty="0" err="1"/>
              <a:t>stream</a:t>
            </a:r>
            <a:r>
              <a:rPr lang="en-US" altLang="zh-CN" dirty="0"/>
              <a:t> = </a:t>
            </a:r>
            <a:r>
              <a:rPr lang="en-US" altLang="zh-CN" dirty="0" err="1"/>
              <a:t>Stream.of</a:t>
            </a:r>
            <a:r>
              <a:rPr lang="en-US" altLang="zh-CN" dirty="0"/>
              <a:t>("a", "b", "c");  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 smtClean="0"/>
              <a:t>Steam.of</a:t>
            </a:r>
            <a:r>
              <a:rPr lang="en-US" altLang="zh-CN" dirty="0" smtClean="0"/>
              <a:t>(T[]) </a:t>
            </a:r>
            <a:r>
              <a:rPr lang="en-US" altLang="zh-CN" dirty="0"/>
              <a:t> </a:t>
            </a:r>
            <a:endParaRPr lang="en-US" altLang="zh-CN" dirty="0" smtClean="0"/>
          </a:p>
          <a:p>
            <a:pPr lvl="2">
              <a:lnSpc>
                <a:spcPct val="150000"/>
              </a:lnSpc>
            </a:pPr>
            <a:r>
              <a:rPr lang="en-US" altLang="zh-CN" dirty="0"/>
              <a:t>List&lt;String&gt; list = </a:t>
            </a:r>
            <a:r>
              <a:rPr lang="en-US" altLang="zh-CN" dirty="0" err="1"/>
              <a:t>Arrays.asList</a:t>
            </a:r>
            <a:r>
              <a:rPr lang="en-US" altLang="zh-CN" dirty="0"/>
              <a:t>(</a:t>
            </a:r>
            <a:r>
              <a:rPr lang="en-US" altLang="zh-CN" dirty="0" err="1"/>
              <a:t>strArray</a:t>
            </a:r>
            <a:r>
              <a:rPr lang="en-US" altLang="zh-CN" dirty="0"/>
              <a:t>);  </a:t>
            </a:r>
            <a:br>
              <a:rPr lang="en-US" altLang="zh-CN" dirty="0"/>
            </a:br>
            <a:r>
              <a:rPr lang="en-US" altLang="zh-CN" dirty="0"/>
              <a:t>stream = </a:t>
            </a:r>
            <a:r>
              <a:rPr lang="en-US" altLang="zh-CN" dirty="0" err="1"/>
              <a:t>list.stream</a:t>
            </a:r>
            <a:r>
              <a:rPr lang="en-US" altLang="zh-CN" dirty="0"/>
              <a:t>(); 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60465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Stream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流的操作</a:t>
            </a:r>
            <a:endParaRPr lang="zh-CN" altLang="en-US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395536" y="1700808"/>
            <a:ext cx="770485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中间操作</a:t>
            </a:r>
            <a:r>
              <a:rPr lang="en-US" altLang="zh-CN" dirty="0"/>
              <a:t>:(</a:t>
            </a:r>
            <a:r>
              <a:rPr lang="zh-CN" altLang="en-US" dirty="0"/>
              <a:t>把一个流转换为另一个流</a:t>
            </a:r>
            <a:r>
              <a:rPr lang="en-US" altLang="zh-CN" dirty="0"/>
              <a:t>) 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 </a:t>
            </a:r>
            <a:r>
              <a:rPr lang="en-US" altLang="zh-CN" dirty="0" smtClean="0"/>
              <a:t>.filter(</a:t>
            </a:r>
            <a:r>
              <a:rPr lang="en-US" altLang="zh-CN" dirty="0"/>
              <a:t>Predicate&lt;? super T&gt; </a:t>
            </a:r>
            <a:r>
              <a:rPr lang="en-US" altLang="zh-CN" dirty="0" smtClean="0"/>
              <a:t>predicate)</a:t>
            </a:r>
            <a:r>
              <a:rPr lang="en-US" altLang="zh-CN" dirty="0"/>
              <a:t>  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/>
              <a:t>.map(</a:t>
            </a:r>
            <a:r>
              <a:rPr lang="fr-FR" altLang="zh-CN" dirty="0"/>
              <a:t>Function&lt;? super T, ? extends R&gt; </a:t>
            </a:r>
            <a:r>
              <a:rPr lang="fr-FR" altLang="zh-CN" dirty="0" smtClean="0"/>
              <a:t>mapper)</a:t>
            </a:r>
            <a:r>
              <a:rPr lang="en-US" altLang="zh-CN" dirty="0"/>
              <a:t>  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 </a:t>
            </a:r>
            <a:r>
              <a:rPr lang="en-US" altLang="zh-CN" dirty="0" smtClean="0"/>
              <a:t>.</a:t>
            </a:r>
            <a:r>
              <a:rPr lang="en-US" altLang="zh-CN" dirty="0" err="1" smtClean="0"/>
              <a:t>flatMap</a:t>
            </a:r>
            <a:r>
              <a:rPr lang="en-US" altLang="zh-CN" dirty="0" smtClean="0"/>
              <a:t>(</a:t>
            </a:r>
            <a:r>
              <a:rPr lang="en-US" altLang="zh-CN" dirty="0"/>
              <a:t>Function&lt;? super T, ? extends Stream&lt;? extends R&gt;&gt; mapper</a:t>
            </a:r>
            <a:r>
              <a:rPr lang="en-US" altLang="zh-CN" dirty="0" smtClean="0"/>
              <a:t>)</a:t>
            </a:r>
            <a:r>
              <a:rPr lang="en-US" altLang="zh-CN" dirty="0"/>
              <a:t> 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 </a:t>
            </a:r>
            <a:r>
              <a:rPr lang="en-US" altLang="zh-CN" dirty="0" smtClean="0"/>
              <a:t>.distinct()</a:t>
            </a:r>
            <a:r>
              <a:rPr lang="en-US" altLang="zh-CN" dirty="0"/>
              <a:t>  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/>
              <a:t>.sorted()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sorted(</a:t>
            </a:r>
            <a:r>
              <a:rPr lang="en-US" altLang="zh-CN" dirty="0"/>
              <a:t>Comparator&lt;? super T&gt; </a:t>
            </a:r>
            <a:r>
              <a:rPr lang="en-US" altLang="zh-CN" u="sng" dirty="0" smtClean="0"/>
              <a:t>comparator)</a:t>
            </a:r>
            <a:r>
              <a:rPr lang="en-US" altLang="zh-CN" dirty="0"/>
              <a:t>  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 </a:t>
            </a:r>
            <a:r>
              <a:rPr lang="en-US" altLang="zh-CN" dirty="0" smtClean="0"/>
              <a:t>.limit(</a:t>
            </a:r>
            <a:r>
              <a:rPr lang="en-US" altLang="zh-CN" dirty="0"/>
              <a:t>long </a:t>
            </a:r>
            <a:r>
              <a:rPr lang="en-US" altLang="zh-CN" dirty="0" err="1" smtClean="0"/>
              <a:t>maxSize</a:t>
            </a:r>
            <a:r>
              <a:rPr lang="en-US" altLang="zh-CN" dirty="0" smtClean="0"/>
              <a:t>)</a:t>
            </a:r>
            <a:r>
              <a:rPr lang="en-US" altLang="zh-CN" dirty="0"/>
              <a:t> 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 </a:t>
            </a:r>
            <a:r>
              <a:rPr lang="en-US" altLang="zh-CN" dirty="0" smtClean="0"/>
              <a:t>.skip(</a:t>
            </a:r>
            <a:r>
              <a:rPr lang="en-US" altLang="zh-CN" dirty="0"/>
              <a:t>long </a:t>
            </a:r>
            <a:r>
              <a:rPr lang="en-US" altLang="zh-CN" dirty="0" smtClean="0"/>
              <a:t>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/>
              <a:t>.peek(</a:t>
            </a:r>
            <a:r>
              <a:rPr lang="en-US" altLang="zh-CN" dirty="0"/>
              <a:t>Consumer&lt;? super T&gt; </a:t>
            </a:r>
            <a:r>
              <a:rPr lang="en-US" altLang="zh-CN" dirty="0" smtClean="0"/>
              <a:t>action)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 </a:t>
            </a:r>
            <a:r>
              <a:rPr lang="en-US" altLang="zh-CN" dirty="0" smtClean="0"/>
              <a:t>......</a:t>
            </a:r>
          </a:p>
        </p:txBody>
      </p:sp>
    </p:spTree>
    <p:extLst>
      <p:ext uri="{BB962C8B-B14F-4D97-AF65-F5344CB8AC3E}">
        <p14:creationId xmlns:p14="http://schemas.microsoft.com/office/powerpoint/2010/main" val="2217247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Stream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流的操作</a:t>
            </a:r>
            <a:endParaRPr lang="zh-CN" altLang="en-US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395536" y="1700808"/>
            <a:ext cx="77048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终止操作</a:t>
            </a:r>
            <a:r>
              <a:rPr lang="en-US" altLang="zh-CN" dirty="0" smtClean="0"/>
              <a:t>:</a:t>
            </a:r>
            <a:r>
              <a:rPr lang="en-US" altLang="zh-CN" dirty="0" smtClean="0">
                <a:sym typeface="Wingdings" panose="05000000000000000000" pitchFamily="2" charset="2"/>
              </a:rPr>
              <a:t>(</a:t>
            </a:r>
            <a:r>
              <a:rPr lang="zh-CN" altLang="en-US" dirty="0" smtClean="0">
                <a:sym typeface="Wingdings" panose="05000000000000000000" pitchFamily="2" charset="2"/>
              </a:rPr>
              <a:t>结束流，开始流的运算</a:t>
            </a:r>
            <a:r>
              <a:rPr lang="en-US" altLang="zh-CN" dirty="0" smtClean="0">
                <a:sym typeface="Wingdings" panose="05000000000000000000" pitchFamily="2" charset="2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/>
              <a:t>.</a:t>
            </a:r>
            <a:r>
              <a:rPr lang="en-US" altLang="zh-CN" dirty="0" err="1" smtClean="0"/>
              <a:t>forEach</a:t>
            </a:r>
            <a:r>
              <a:rPr lang="en-US" altLang="zh-CN" dirty="0" smtClean="0"/>
              <a:t>(</a:t>
            </a:r>
            <a:r>
              <a:rPr lang="en-US" altLang="zh-CN" dirty="0"/>
              <a:t>Consumer&lt;? </a:t>
            </a:r>
            <a:r>
              <a:rPr lang="en-US" altLang="zh-CN" b="1" dirty="0"/>
              <a:t>super T&gt; </a:t>
            </a:r>
            <a:r>
              <a:rPr lang="en-US" altLang="zh-CN" b="1" dirty="0" smtClean="0"/>
              <a:t>action)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 .reduce:</a:t>
            </a:r>
            <a:r>
              <a:rPr lang="zh-CN" altLang="en-US" dirty="0"/>
              <a:t>将流的元素聚合为一个汇总</a:t>
            </a:r>
            <a:r>
              <a:rPr lang="zh-CN" altLang="en-US" dirty="0" smtClean="0"/>
              <a:t>值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smtClean="0"/>
              <a:t>reduce(</a:t>
            </a:r>
            <a:r>
              <a:rPr lang="en-US" altLang="zh-CN" dirty="0"/>
              <a:t>T identity, </a:t>
            </a:r>
            <a:r>
              <a:rPr lang="en-US" altLang="zh-CN" dirty="0" err="1"/>
              <a:t>BinaryOperator</a:t>
            </a:r>
            <a:r>
              <a:rPr lang="en-US" altLang="zh-CN" dirty="0"/>
              <a:t>&lt;T&gt; </a:t>
            </a:r>
            <a:r>
              <a:rPr lang="en-US" altLang="zh-CN" dirty="0" smtClean="0"/>
              <a:t>accumulator)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smtClean="0"/>
              <a:t>reduce(</a:t>
            </a:r>
            <a:r>
              <a:rPr lang="en-US" altLang="zh-CN" dirty="0" err="1" smtClean="0"/>
              <a:t>BinaryOperator</a:t>
            </a:r>
            <a:r>
              <a:rPr lang="en-US" altLang="zh-CN" dirty="0" smtClean="0"/>
              <a:t>&lt;T</a:t>
            </a:r>
            <a:r>
              <a:rPr lang="en-US" altLang="zh-CN" dirty="0"/>
              <a:t>&gt; </a:t>
            </a:r>
            <a:r>
              <a:rPr lang="en-US" altLang="zh-CN" dirty="0" smtClean="0"/>
              <a:t>accumulator</a:t>
            </a:r>
            <a:r>
              <a:rPr lang="en-US" altLang="zh-CN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 .</a:t>
            </a:r>
            <a:r>
              <a:rPr lang="en-US" altLang="zh-CN" dirty="0" smtClean="0"/>
              <a:t>max(</a:t>
            </a:r>
            <a:r>
              <a:rPr lang="en-US" altLang="zh-CN" dirty="0"/>
              <a:t>Comparator&lt;? </a:t>
            </a:r>
            <a:r>
              <a:rPr lang="en-US" altLang="zh-CN" b="1" dirty="0"/>
              <a:t>super T&gt; </a:t>
            </a:r>
            <a:r>
              <a:rPr lang="en-US" altLang="zh-CN" b="1" dirty="0" smtClean="0"/>
              <a:t>comparator)</a:t>
            </a:r>
            <a:r>
              <a:rPr lang="en-US" altLang="zh-CN" dirty="0"/>
              <a:t> 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 .</a:t>
            </a:r>
            <a:r>
              <a:rPr lang="en-US" altLang="zh-CN" dirty="0" smtClean="0"/>
              <a:t>min(</a:t>
            </a:r>
            <a:r>
              <a:rPr lang="en-US" altLang="zh-CN" dirty="0"/>
              <a:t>Comparator&lt;? </a:t>
            </a:r>
            <a:r>
              <a:rPr lang="en-US" altLang="zh-CN" b="1" dirty="0"/>
              <a:t>super T&gt; comparator</a:t>
            </a:r>
            <a:r>
              <a:rPr lang="en-US" altLang="zh-CN" dirty="0" smtClean="0"/>
              <a:t>)</a:t>
            </a:r>
            <a:r>
              <a:rPr lang="en-US" altLang="zh-CN" dirty="0"/>
              <a:t>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/>
              <a:t>.</a:t>
            </a:r>
            <a:r>
              <a:rPr lang="en-US" altLang="zh-CN" dirty="0"/>
              <a:t>count</a:t>
            </a:r>
            <a:r>
              <a:rPr lang="en-US" altLang="zh-CN" dirty="0" smtClean="0"/>
              <a:t>():</a:t>
            </a:r>
          </a:p>
        </p:txBody>
      </p:sp>
    </p:spTree>
    <p:extLst>
      <p:ext uri="{BB962C8B-B14F-4D97-AF65-F5344CB8AC3E}">
        <p14:creationId xmlns:p14="http://schemas.microsoft.com/office/powerpoint/2010/main" val="3435082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Stream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流的操作</a:t>
            </a:r>
            <a:endParaRPr lang="zh-CN" altLang="en-US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395536" y="1700808"/>
            <a:ext cx="7704856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Collect(</a:t>
            </a:r>
            <a:r>
              <a:rPr lang="en-US" altLang="zh-CN" dirty="0"/>
              <a:t>Collector&lt;? </a:t>
            </a:r>
            <a:r>
              <a:rPr lang="en-US" altLang="zh-CN" b="1" dirty="0"/>
              <a:t>super T, A, R&gt; collector</a:t>
            </a:r>
            <a:r>
              <a:rPr lang="en-US" altLang="zh-CN" dirty="0" smtClean="0"/>
              <a:t>):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39552" y="2420888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一</a:t>
            </a:r>
            <a:r>
              <a:rPr lang="zh-CN" altLang="en-US" dirty="0"/>
              <a:t>种生成空结果容器的</a:t>
            </a:r>
            <a:r>
              <a:rPr lang="zh-CN" altLang="en-US" dirty="0" smtClean="0"/>
              <a:t>途径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一</a:t>
            </a:r>
            <a:r>
              <a:rPr lang="zh-CN" altLang="en-US" dirty="0"/>
              <a:t>种将新元素合并到结果容器中的</a:t>
            </a:r>
            <a:r>
              <a:rPr lang="zh-CN" altLang="en-US" dirty="0" smtClean="0"/>
              <a:t>途径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一</a:t>
            </a:r>
            <a:r>
              <a:rPr lang="zh-CN" altLang="en-US" dirty="0"/>
              <a:t>种合并两个结果容器的途径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9552" y="4149080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 smtClean="0"/>
              <a:t>toList</a:t>
            </a:r>
            <a:r>
              <a:rPr lang="en-US" altLang="zh-CN" dirty="0" smtClean="0"/>
              <a:t>()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 smtClean="0"/>
              <a:t>toSet</a:t>
            </a:r>
            <a:r>
              <a:rPr lang="en-US" altLang="zh-CN" dirty="0" smtClean="0"/>
              <a:t>()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 smtClean="0"/>
              <a:t>toCollection</a:t>
            </a:r>
            <a:r>
              <a:rPr lang="en-US" altLang="zh-CN" dirty="0" smtClean="0"/>
              <a:t>(supplier&lt;Collection&gt;)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例 </a:t>
            </a:r>
            <a:r>
              <a:rPr lang="en-US" altLang="zh-CN" dirty="0" err="1"/>
              <a:t>Collectors.toCollection</a:t>
            </a:r>
            <a:r>
              <a:rPr lang="en-US" altLang="zh-CN" dirty="0"/>
              <a:t>(</a:t>
            </a:r>
            <a:r>
              <a:rPr lang="en-US" altLang="zh-CN" dirty="0" err="1"/>
              <a:t>TreeSet</a:t>
            </a:r>
            <a:r>
              <a:rPr lang="en-US" altLang="zh-CN" dirty="0"/>
              <a:t>::new</a:t>
            </a:r>
            <a:r>
              <a:rPr lang="en-US" altLang="zh-CN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 smtClean="0"/>
              <a:t>toMap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Funtion</a:t>
            </a:r>
            <a:r>
              <a:rPr lang="en-US" altLang="zh-CN" dirty="0" smtClean="0"/>
              <a:t>&lt;T</a:t>
            </a:r>
            <a:r>
              <a:rPr lang="en-US" altLang="zh-CN" dirty="0"/>
              <a:t>, K&gt; Function&lt;T, V&gt;)</a:t>
            </a:r>
            <a:br>
              <a:rPr lang="en-US" altLang="zh-CN" dirty="0"/>
            </a:br>
            <a:r>
              <a:rPr lang="en-US" altLang="zh-CN" dirty="0"/>
              <a:t>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517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Lambda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Null</a:t>
            </a:r>
            <a:r>
              <a:rPr lang="zh-CN" altLang="en-US" sz="2800" dirty="0" smtClean="0"/>
              <a:t>的处理</a:t>
            </a:r>
            <a:r>
              <a:rPr lang="en-US" altLang="zh-CN" sz="2800" dirty="0" smtClean="0"/>
              <a:t>-&gt;Optional</a:t>
            </a:r>
            <a:endParaRPr lang="zh-CN" altLang="en-US" sz="2800" dirty="0"/>
          </a:p>
        </p:txBody>
      </p:sp>
      <p:sp>
        <p:nvSpPr>
          <p:cNvPr id="4" name="文本框 3"/>
          <p:cNvSpPr txBox="1"/>
          <p:nvPr/>
        </p:nvSpPr>
        <p:spPr>
          <a:xfrm>
            <a:off x="378902" y="2060848"/>
            <a:ext cx="86575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ifPresent</a:t>
            </a:r>
            <a:r>
              <a:rPr lang="en-US" altLang="zh-CN" dirty="0"/>
              <a:t>  </a:t>
            </a:r>
            <a:endParaRPr lang="en-US" altLang="zh-CN" dirty="0" smtClean="0"/>
          </a:p>
          <a:p>
            <a:r>
              <a:rPr lang="en-US" altLang="zh-CN" dirty="0"/>
              <a:t>	 </a:t>
            </a:r>
            <a:r>
              <a:rPr lang="en-US" altLang="zh-CN" dirty="0" err="1"/>
              <a:t>opt.ifPresent</a:t>
            </a:r>
            <a:r>
              <a:rPr lang="en-US" altLang="zh-CN" dirty="0"/>
              <a:t>(</a:t>
            </a:r>
            <a:r>
              <a:rPr lang="en-US" altLang="zh-CN" dirty="0" err="1"/>
              <a:t>labmda</a:t>
            </a:r>
            <a:r>
              <a:rPr lang="en-US" altLang="zh-CN" dirty="0"/>
              <a:t>)</a:t>
            </a:r>
            <a:r>
              <a:rPr lang="zh-CN" altLang="en-US" dirty="0"/>
              <a:t>如果对象不为空则执行传入的</a:t>
            </a:r>
            <a:r>
              <a:rPr lang="en-US" altLang="zh-CN" dirty="0" err="1"/>
              <a:t>labmda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 smtClean="0"/>
              <a:t>orElse</a:t>
            </a:r>
            <a:endParaRPr lang="en-US" altLang="zh-CN" dirty="0" smtClean="0"/>
          </a:p>
          <a:p>
            <a:r>
              <a:rPr lang="en-US" altLang="zh-CN" dirty="0"/>
              <a:t>	 </a:t>
            </a:r>
            <a:r>
              <a:rPr lang="en-US" altLang="zh-CN" dirty="0" err="1"/>
              <a:t>Optional.ofNullable</a:t>
            </a:r>
            <a:r>
              <a:rPr lang="en-US" altLang="zh-CN" dirty="0"/>
              <a:t>(user).</a:t>
            </a:r>
            <a:r>
              <a:rPr lang="en-US" altLang="zh-CN" dirty="0" err="1"/>
              <a:t>orElse</a:t>
            </a:r>
            <a:r>
              <a:rPr lang="en-US" altLang="zh-CN" dirty="0"/>
              <a:t>(user2);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 smtClean="0"/>
              <a:t>orElseGet</a:t>
            </a:r>
            <a:endParaRPr lang="en-US" altLang="zh-CN" dirty="0" smtClean="0"/>
          </a:p>
          <a:p>
            <a:r>
              <a:rPr lang="en-US" altLang="zh-CN" dirty="0"/>
              <a:t>	 </a:t>
            </a:r>
            <a:r>
              <a:rPr lang="en-US" altLang="zh-CN" dirty="0" err="1"/>
              <a:t>Optional.ofNullable</a:t>
            </a:r>
            <a:r>
              <a:rPr lang="en-US" altLang="zh-CN" dirty="0"/>
              <a:t>(user).</a:t>
            </a:r>
            <a:r>
              <a:rPr lang="en-US" altLang="zh-CN" dirty="0" err="1"/>
              <a:t>orElseGet</a:t>
            </a:r>
            <a:r>
              <a:rPr lang="en-US" altLang="zh-CN" dirty="0"/>
              <a:t>( () -&gt; user2);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 smtClean="0"/>
              <a:t>orElseThrow</a:t>
            </a:r>
            <a:r>
              <a:rPr lang="en-US" altLang="zh-CN" dirty="0"/>
              <a:t>:</a:t>
            </a:r>
            <a:r>
              <a:rPr lang="zh-CN" altLang="en-US" dirty="0"/>
              <a:t>空抛出异常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611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Lambda</a:t>
            </a:r>
            <a:endParaRPr lang="zh-CN" altLang="en-US" sz="1600" dirty="0" smtClean="0"/>
          </a:p>
        </p:txBody>
      </p:sp>
      <p:sp>
        <p:nvSpPr>
          <p:cNvPr id="8197" name="内容占位符 4"/>
          <p:cNvSpPr>
            <a:spLocks noGrp="1"/>
          </p:cNvSpPr>
          <p:nvPr>
            <p:ph idx="1"/>
          </p:nvPr>
        </p:nvSpPr>
        <p:spPr bwMode="auto">
          <a:xfrm>
            <a:off x="732857" y="3282304"/>
            <a:ext cx="8010525" cy="30243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altLang="zh-CN" sz="2000" dirty="0" smtClean="0"/>
              <a:t> User </a:t>
            </a:r>
            <a:r>
              <a:rPr lang="en-US" altLang="zh-CN" sz="2000" dirty="0" err="1"/>
              <a:t>user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UserSupplier.</a:t>
            </a:r>
            <a:r>
              <a:rPr lang="en-US" altLang="zh-CN" sz="2000" i="1" dirty="0" err="1"/>
              <a:t>getDefaultUser</a:t>
            </a:r>
            <a:r>
              <a:rPr lang="en-US" altLang="zh-CN" sz="2000" i="1" dirty="0"/>
              <a:t>().get();</a:t>
            </a:r>
          </a:p>
          <a:p>
            <a:pPr marL="0" indent="0">
              <a:buNone/>
            </a:pPr>
            <a:r>
              <a:rPr lang="en-US" altLang="zh-CN" sz="2000" dirty="0" smtClean="0"/>
              <a:t>        </a:t>
            </a:r>
            <a:r>
              <a:rPr lang="en-US" altLang="zh-CN" sz="2000" dirty="0"/>
              <a:t>String </a:t>
            </a:r>
            <a:r>
              <a:rPr lang="en-US" altLang="zh-CN" sz="2000" dirty="0" err="1" smtClean="0"/>
              <a:t>userCode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= </a:t>
            </a:r>
            <a:r>
              <a:rPr lang="en-US" altLang="zh-CN" sz="2000" dirty="0" err="1"/>
              <a:t>Optional.</a:t>
            </a:r>
            <a:r>
              <a:rPr lang="en-US" altLang="zh-CN" sz="2000" i="1" dirty="0" err="1"/>
              <a:t>ofNullable</a:t>
            </a:r>
            <a:r>
              <a:rPr lang="en-US" altLang="zh-CN" sz="2000" i="1" dirty="0"/>
              <a:t>(user)</a:t>
            </a:r>
          </a:p>
          <a:p>
            <a:pPr marL="0" indent="0">
              <a:buNone/>
            </a:pPr>
            <a:r>
              <a:rPr lang="en-US" altLang="zh-CN" sz="2000" dirty="0"/>
              <a:t>                .map(x-&gt;</a:t>
            </a:r>
            <a:r>
              <a:rPr lang="en-US" altLang="zh-CN" sz="2000" dirty="0" err="1"/>
              <a:t>x.getAddress</a:t>
            </a:r>
            <a:r>
              <a:rPr lang="en-US" altLang="zh-CN" sz="2000" dirty="0"/>
              <a:t>())</a:t>
            </a:r>
          </a:p>
          <a:p>
            <a:pPr marL="0" indent="0">
              <a:buNone/>
            </a:pPr>
            <a:r>
              <a:rPr lang="en-US" altLang="zh-CN" sz="2000" dirty="0"/>
              <a:t>                .map(y-&gt;</a:t>
            </a:r>
            <a:r>
              <a:rPr lang="en-US" altLang="zh-CN" sz="2000" dirty="0" err="1"/>
              <a:t>y.getCountry</a:t>
            </a:r>
            <a:r>
              <a:rPr lang="en-US" altLang="zh-CN" sz="2000" dirty="0"/>
              <a:t>())</a:t>
            </a:r>
          </a:p>
          <a:p>
            <a:pPr marL="0" indent="0">
              <a:buNone/>
            </a:pPr>
            <a:r>
              <a:rPr lang="en-US" altLang="zh-CN" sz="2000" dirty="0"/>
              <a:t>                .map(z-&gt;</a:t>
            </a:r>
            <a:r>
              <a:rPr lang="en-US" altLang="zh-CN" sz="2000" dirty="0" err="1"/>
              <a:t>z.getIsoCode</a:t>
            </a:r>
            <a:r>
              <a:rPr lang="en-US" altLang="zh-CN" sz="2000" dirty="0"/>
              <a:t>())</a:t>
            </a:r>
          </a:p>
          <a:p>
            <a:pPr marL="0" indent="0">
              <a:buNone/>
            </a:pPr>
            <a:r>
              <a:rPr lang="en-US" altLang="zh-CN" sz="2000" dirty="0"/>
              <a:t>                .map(a-&gt;</a:t>
            </a:r>
            <a:r>
              <a:rPr lang="en-US" altLang="zh-CN" sz="2000" dirty="0" err="1"/>
              <a:t>a.getCode</a:t>
            </a:r>
            <a:r>
              <a:rPr lang="en-US" altLang="zh-CN" sz="2000" dirty="0"/>
              <a:t>()).</a:t>
            </a:r>
            <a:r>
              <a:rPr lang="en-US" altLang="zh-CN" sz="2000" dirty="0" err="1"/>
              <a:t>orElse</a:t>
            </a:r>
            <a:r>
              <a:rPr lang="en-US" altLang="zh-CN" sz="2000" dirty="0"/>
              <a:t>("-----");</a:t>
            </a:r>
          </a:p>
          <a:p>
            <a:pPr marL="0" indent="0"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System.</a:t>
            </a:r>
            <a:r>
              <a:rPr lang="en-US" altLang="zh-CN" sz="2000" b="1" i="1" dirty="0" err="1"/>
              <a:t>out.println</a:t>
            </a:r>
            <a:r>
              <a:rPr lang="en-US" altLang="zh-CN" sz="2000" b="1" i="1" dirty="0"/>
              <a:t>(</a:t>
            </a:r>
            <a:r>
              <a:rPr lang="en-US" altLang="zh-CN" sz="2000" b="1" i="1" dirty="0" err="1"/>
              <a:t>userSchoolCode</a:t>
            </a:r>
            <a:r>
              <a:rPr lang="en-US" altLang="zh-CN" sz="2000" b="1" i="1" dirty="0"/>
              <a:t>);</a:t>
            </a:r>
            <a:endParaRPr lang="zh-CN" altLang="en-US" sz="2000" dirty="0"/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3" name="文本框 2"/>
          <p:cNvSpPr txBox="1"/>
          <p:nvPr/>
        </p:nvSpPr>
        <p:spPr>
          <a:xfrm>
            <a:off x="663575" y="980728"/>
            <a:ext cx="5132561" cy="648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lambda</a:t>
            </a:r>
            <a:r>
              <a:rPr lang="zh-CN" altLang="en-US" dirty="0" smtClean="0"/>
              <a:t>使用</a:t>
            </a:r>
            <a:r>
              <a:rPr lang="en-US" altLang="zh-CN" dirty="0" smtClean="0"/>
              <a:t>-&gt;Optional</a:t>
            </a:r>
            <a:r>
              <a:rPr lang="zh-CN" altLang="en-US" sz="1100" dirty="0"/>
              <a:t/>
            </a:r>
            <a:br>
              <a:rPr lang="zh-CN" altLang="en-US" sz="1100" dirty="0"/>
            </a:b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12" y="1542763"/>
            <a:ext cx="7489527" cy="146659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229855" y="3031876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1-20 User</a:t>
            </a:r>
            <a:r>
              <a:rPr lang="zh-CN" altLang="en-US" sz="1200" dirty="0" smtClean="0"/>
              <a:t>类图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0135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1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Function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使用</a:t>
            </a:r>
            <a:r>
              <a:rPr lang="en-US" altLang="zh-CN" sz="2800" dirty="0"/>
              <a:t>3</a:t>
            </a:r>
            <a:r>
              <a:rPr lang="en-US" altLang="zh-CN" sz="2800" dirty="0" smtClean="0"/>
              <a:t>. Optional</a:t>
            </a:r>
            <a:r>
              <a:rPr lang="zh-CN" altLang="en-US" sz="2800" dirty="0" smtClean="0"/>
              <a:t>空处理</a:t>
            </a:r>
            <a:r>
              <a:rPr lang="en-US" altLang="zh-CN" sz="2800" dirty="0" smtClean="0"/>
              <a:t>+predicate</a:t>
            </a:r>
            <a:r>
              <a:rPr lang="zh-CN" altLang="en-US" sz="2800" dirty="0" smtClean="0"/>
              <a:t>过滤集合</a:t>
            </a:r>
            <a:endParaRPr lang="zh-CN" altLang="en-US" sz="2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51" y="1613339"/>
            <a:ext cx="8388424" cy="374311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059832" y="5468689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1-21 </a:t>
            </a:r>
            <a:r>
              <a:rPr lang="zh-CN" altLang="en-US" sz="1200" dirty="0" smtClean="0"/>
              <a:t>业务使用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0973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smtClean="0"/>
              <a:t>Function</a:t>
            </a:r>
            <a:endParaRPr lang="zh-CN" altLang="en-US" sz="16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395536" y="980728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使用</a:t>
            </a:r>
            <a:r>
              <a:rPr lang="en-US" altLang="zh-CN" sz="2800" dirty="0" smtClean="0"/>
              <a:t>4. </a:t>
            </a:r>
            <a:r>
              <a:rPr lang="en-US" altLang="zh-CN" sz="2800" dirty="0" err="1" smtClean="0"/>
              <a:t>DateTranslateService</a:t>
            </a:r>
            <a:endParaRPr lang="zh-CN" altLang="en-US" sz="2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10" y="2002025"/>
            <a:ext cx="8532440" cy="29978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63688" y="4999910"/>
            <a:ext cx="3528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1-22 </a:t>
            </a:r>
            <a:r>
              <a:rPr lang="zh-CN" altLang="en-US" sz="1200" dirty="0" smtClean="0"/>
              <a:t>源码中使用到</a:t>
            </a:r>
            <a:r>
              <a:rPr lang="en-US" altLang="zh-CN" sz="1200" dirty="0" smtClean="0"/>
              <a:t>Function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0822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5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A4F19B66-1C01-4C84-B3AE-98D2415A0E13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71" name="灯片编号占位符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6BF3205-7203-408E-AA4F-8A5726B75BD8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72" name="内容占位符 1"/>
          <p:cNvSpPr>
            <a:spLocks noGrp="1"/>
          </p:cNvSpPr>
          <p:nvPr>
            <p:ph idx="1"/>
          </p:nvPr>
        </p:nvSpPr>
        <p:spPr bwMode="auto">
          <a:xfrm>
            <a:off x="1115616" y="3284984"/>
            <a:ext cx="6282333" cy="2340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2400" dirty="0" err="1"/>
              <a:t>Nashorn</a:t>
            </a:r>
            <a:r>
              <a:rPr lang="zh-CN" altLang="en-US" sz="2400" dirty="0"/>
              <a:t>、</a:t>
            </a:r>
            <a:r>
              <a:rPr lang="en-US" altLang="zh-CN" sz="2400" dirty="0"/>
              <a:t>JavaScript</a:t>
            </a:r>
            <a:r>
              <a:rPr lang="zh-CN" altLang="en-US" sz="2400" dirty="0"/>
              <a:t>引擎</a:t>
            </a:r>
            <a:endParaRPr lang="en-US" altLang="zh-CN" sz="2400" dirty="0"/>
          </a:p>
          <a:p>
            <a:pPr algn="ctr" eaLnBrk="1" hangingPunct="1"/>
            <a:r>
              <a:rPr lang="en-US" altLang="zh-CN" sz="2400" dirty="0"/>
              <a:t>Base64</a:t>
            </a:r>
          </a:p>
        </p:txBody>
      </p:sp>
    </p:spTree>
    <p:extLst>
      <p:ext uri="{BB962C8B-B14F-4D97-AF65-F5344CB8AC3E}">
        <p14:creationId xmlns:p14="http://schemas.microsoft.com/office/powerpoint/2010/main" val="549369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err="1" smtClean="0"/>
              <a:t>Nashorn</a:t>
            </a:r>
            <a:r>
              <a:rPr lang="zh-CN" altLang="en-US" dirty="0" smtClean="0"/>
              <a:t>引擎</a:t>
            </a:r>
            <a:endParaRPr lang="zh-CN" altLang="en-US" sz="1600" dirty="0" smtClean="0"/>
          </a:p>
        </p:txBody>
      </p:sp>
      <p:sp>
        <p:nvSpPr>
          <p:cNvPr id="3" name="文本框 2"/>
          <p:cNvSpPr txBox="1"/>
          <p:nvPr/>
        </p:nvSpPr>
        <p:spPr>
          <a:xfrm>
            <a:off x="663575" y="980728"/>
            <a:ext cx="5132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Java</a:t>
            </a:r>
            <a:r>
              <a:rPr lang="zh-CN" altLang="en-US" dirty="0" smtClean="0"/>
              <a:t>中使用</a:t>
            </a:r>
            <a:r>
              <a:rPr lang="en-US" altLang="zh-CN" dirty="0" smtClean="0"/>
              <a:t>JavaScript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62" y="1360607"/>
            <a:ext cx="7678241" cy="437029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059832" y="5468689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1-23 java</a:t>
            </a:r>
            <a:r>
              <a:rPr lang="zh-CN" altLang="en-US" sz="1200" dirty="0" smtClean="0"/>
              <a:t>中调用</a:t>
            </a:r>
            <a:r>
              <a:rPr lang="en-US" altLang="zh-CN" sz="1200" dirty="0" smtClean="0"/>
              <a:t>JavaScript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00457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/>
              <a:t>JavaScript</a:t>
            </a:r>
            <a:r>
              <a:rPr lang="zh-CN" altLang="en-US" dirty="0"/>
              <a:t>引擎</a:t>
            </a:r>
            <a:endParaRPr lang="zh-CN" altLang="en-US" sz="1600" dirty="0" smtClean="0"/>
          </a:p>
        </p:txBody>
      </p:sp>
      <p:sp>
        <p:nvSpPr>
          <p:cNvPr id="3" name="文本框 2"/>
          <p:cNvSpPr txBox="1"/>
          <p:nvPr/>
        </p:nvSpPr>
        <p:spPr>
          <a:xfrm>
            <a:off x="663575" y="980728"/>
            <a:ext cx="5132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JavaScript</a:t>
            </a:r>
            <a:r>
              <a:rPr lang="zh-CN" altLang="en-US" dirty="0" smtClean="0"/>
              <a:t>中使用</a:t>
            </a:r>
            <a:r>
              <a:rPr lang="en-US" altLang="zh-CN" dirty="0" smtClean="0"/>
              <a:t>Java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331398"/>
            <a:ext cx="7262191" cy="490924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046331" y="6239928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1-24 </a:t>
            </a:r>
            <a:r>
              <a:rPr lang="zh-CN" altLang="en-US" sz="1200" dirty="0" smtClean="0"/>
              <a:t>调用</a:t>
            </a:r>
            <a:r>
              <a:rPr lang="en-US" altLang="zh-CN" sz="1200" dirty="0" smtClean="0"/>
              <a:t>java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7195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A739B28-06EF-44A3-ACB5-E8F93072B332}" type="datetime1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2018/11/28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A0E4B-0E03-4ABC-B4E0-2826FFA5B4D3}" type="slidenum">
              <a:rPr lang="zh-CN" altLang="en-US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zh-CN" altLang="en-US" smtClean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6" name="标题 3"/>
          <p:cNvSpPr>
            <a:spLocks noGrp="1"/>
          </p:cNvSpPr>
          <p:nvPr>
            <p:ph type="title"/>
          </p:nvPr>
        </p:nvSpPr>
        <p:spPr bwMode="auto">
          <a:xfrm>
            <a:off x="663575" y="67733"/>
            <a:ext cx="8229600" cy="5778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 smtClean="0"/>
              <a:t>内置</a:t>
            </a:r>
            <a:r>
              <a:rPr lang="en-US" altLang="zh-CN" dirty="0" smtClean="0"/>
              <a:t>Base64</a:t>
            </a:r>
            <a:endParaRPr lang="zh-CN" altLang="en-US" sz="16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2175700"/>
            <a:ext cx="7659534" cy="2650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3528" y="1124744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Base64 </a:t>
            </a:r>
            <a:r>
              <a:rPr lang="zh-CN" altLang="en-US" dirty="0" smtClean="0"/>
              <a:t>加密与解密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843808" y="4941168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图</a:t>
            </a:r>
            <a:r>
              <a:rPr lang="en-US" altLang="zh-CN" sz="1200" dirty="0" smtClean="0"/>
              <a:t>1-24 base64</a:t>
            </a:r>
            <a:r>
              <a:rPr lang="zh-CN" altLang="en-US" sz="1200" dirty="0" smtClean="0"/>
              <a:t>加密、解密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7045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" y="3989946"/>
            <a:ext cx="9144000" cy="953508"/>
          </a:xfrm>
        </p:spPr>
        <p:txBody>
          <a:bodyPr>
            <a:noAutofit/>
          </a:bodyPr>
          <a:lstStyle/>
          <a:p>
            <a:r>
              <a:rPr lang="zh-CN" altLang="en-US" sz="6000" dirty="0" smtClean="0">
                <a:latin typeface="微软雅黑" pitchFamily="34" charset="-122"/>
                <a:ea typeface="微软雅黑" pitchFamily="34" charset="-122"/>
              </a:rPr>
              <a:t>谢 谢</a:t>
            </a:r>
            <a:endParaRPr lang="zh-CN" altLang="en-US" sz="6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6578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音视频架构分析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3">
          <a:schemeClr val="accent3"/>
        </a:lnRef>
        <a:fillRef idx="0">
          <a:schemeClr val="accent3"/>
        </a:fillRef>
        <a:effectRef idx="2">
          <a:schemeClr val="accent3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10426</TotalTime>
  <Words>1049</Words>
  <Application>Microsoft Office PowerPoint</Application>
  <PresentationFormat>全屏显示(4:3)</PresentationFormat>
  <Paragraphs>329</Paragraphs>
  <Slides>38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50" baseType="lpstr">
      <vt:lpstr>Exo</vt:lpstr>
      <vt:lpstr>ＭＳ Ｐゴシック</vt:lpstr>
      <vt:lpstr>方正兰亭纤黑_GBK</vt:lpstr>
      <vt:lpstr>黑体</vt:lpstr>
      <vt:lpstr>宋体</vt:lpstr>
      <vt:lpstr>微软雅黑</vt:lpstr>
      <vt:lpstr>Arial</vt:lpstr>
      <vt:lpstr>Arial Black</vt:lpstr>
      <vt:lpstr>Calibri</vt:lpstr>
      <vt:lpstr>Wingdings</vt:lpstr>
      <vt:lpstr>Office 主题</vt:lpstr>
      <vt:lpstr>音视频架构分析</vt:lpstr>
      <vt:lpstr>PowerPoint 演示文稿</vt:lpstr>
      <vt:lpstr>PowerPoint 演示文稿</vt:lpstr>
      <vt:lpstr>PowerPoint 演示文稿</vt:lpstr>
      <vt:lpstr>LocalDate、LocalTime、LocalDateTime</vt:lpstr>
      <vt:lpstr>LocalDate、LocalTime、LocalDateTime</vt:lpstr>
      <vt:lpstr>LocalDate、LocalTime、LocalDateTime</vt:lpstr>
      <vt:lpstr>LocalDate、LocalTime、LocalDateTime</vt:lpstr>
      <vt:lpstr>LocalDate、LocalTime、LocalDateTime</vt:lpstr>
      <vt:lpstr>LocalDate、LocalTime、LocalDateTime</vt:lpstr>
      <vt:lpstr>PowerPoint 演示文稿</vt:lpstr>
      <vt:lpstr>Function</vt:lpstr>
      <vt:lpstr>Function</vt:lpstr>
      <vt:lpstr>Function</vt:lpstr>
      <vt:lpstr>Function</vt:lpstr>
      <vt:lpstr>Lambda</vt:lpstr>
      <vt:lpstr>Lambda </vt:lpstr>
      <vt:lpstr>Function</vt:lpstr>
      <vt:lpstr>Function</vt:lpstr>
      <vt:lpstr>Function</vt:lpstr>
      <vt:lpstr>Function</vt:lpstr>
      <vt:lpstr>Function</vt:lpstr>
      <vt:lpstr>Function</vt:lpstr>
      <vt:lpstr>Function</vt:lpstr>
      <vt:lpstr>Function</vt:lpstr>
      <vt:lpstr>PowerPoint 演示文稿</vt:lpstr>
      <vt:lpstr>Stream</vt:lpstr>
      <vt:lpstr>Stream</vt:lpstr>
      <vt:lpstr>Stream</vt:lpstr>
      <vt:lpstr>Stream</vt:lpstr>
      <vt:lpstr>Lambda</vt:lpstr>
      <vt:lpstr>Lambda</vt:lpstr>
      <vt:lpstr>Function</vt:lpstr>
      <vt:lpstr>Function</vt:lpstr>
      <vt:lpstr>PowerPoint 演示文稿</vt:lpstr>
      <vt:lpstr>Nashorn引擎</vt:lpstr>
      <vt:lpstr>JavaScript引擎</vt:lpstr>
      <vt:lpstr>内置Base64</vt:lpstr>
      <vt:lpstr>谢 谢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杨凯</dc:creator>
  <cp:lastModifiedBy>wangj</cp:lastModifiedBy>
  <cp:revision>1869</cp:revision>
  <dcterms:created xsi:type="dcterms:W3CDTF">2015-07-20T02:02:56Z</dcterms:created>
  <dcterms:modified xsi:type="dcterms:W3CDTF">2018-11-28T06:58:17Z</dcterms:modified>
</cp:coreProperties>
</file>