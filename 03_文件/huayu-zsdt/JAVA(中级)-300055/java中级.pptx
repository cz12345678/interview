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56" r:id="rId2"/>
    <p:sldId id="258" r:id="rId3"/>
    <p:sldId id="285" r:id="rId4"/>
    <p:sldId id="286" r:id="rId5"/>
    <p:sldId id="287" r:id="rId6"/>
    <p:sldId id="288" r:id="rId7"/>
    <p:sldId id="289" r:id="rId8"/>
    <p:sldId id="290" r:id="rId9"/>
    <p:sldId id="291" r:id="rId10"/>
    <p:sldId id="292" r:id="rId11"/>
    <p:sldId id="293" r:id="rId12"/>
    <p:sldId id="294" r:id="rId13"/>
    <p:sldId id="284" r:id="rId14"/>
    <p:sldId id="295" r:id="rId15"/>
    <p:sldId id="296" r:id="rId16"/>
    <p:sldId id="297" r:id="rId17"/>
    <p:sldId id="298" r:id="rId18"/>
    <p:sldId id="299" r:id="rId19"/>
    <p:sldId id="300" r:id="rId20"/>
    <p:sldId id="301" r:id="rId21"/>
    <p:sldId id="302" r:id="rId22"/>
    <p:sldId id="303" r:id="rId23"/>
    <p:sldId id="304" r:id="rId24"/>
    <p:sldId id="305" r:id="rId25"/>
    <p:sldId id="306" r:id="rId26"/>
    <p:sldId id="307" r:id="rId27"/>
    <p:sldId id="308" r:id="rId28"/>
    <p:sldId id="309" r:id="rId29"/>
    <p:sldId id="310" r:id="rId30"/>
    <p:sldId id="311" r:id="rId31"/>
    <p:sldId id="312" r:id="rId32"/>
    <p:sldId id="313" r:id="rId33"/>
    <p:sldId id="314" r:id="rId34"/>
    <p:sldId id="315" r:id="rId35"/>
    <p:sldId id="316" r:id="rId36"/>
    <p:sldId id="317" r:id="rId37"/>
    <p:sldId id="318" r:id="rId38"/>
    <p:sldId id="319" r:id="rId39"/>
    <p:sldId id="320" r:id="rId40"/>
    <p:sldId id="321" r:id="rId41"/>
    <p:sldId id="322" r:id="rId42"/>
    <p:sldId id="323" r:id="rId43"/>
    <p:sldId id="283" r:id="rId44"/>
    <p:sldId id="325" r:id="rId45"/>
    <p:sldId id="327" r:id="rId46"/>
    <p:sldId id="328" r:id="rId47"/>
    <p:sldId id="329" r:id="rId48"/>
    <p:sldId id="330" r:id="rId49"/>
    <p:sldId id="331" r:id="rId50"/>
    <p:sldId id="324" r:id="rId51"/>
    <p:sldId id="282" r:id="rId5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59">
          <p15:clr>
            <a:srgbClr val="A4A3A4"/>
          </p15:clr>
        </p15:guide>
        <p15:guide id="2" pos="52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757"/>
    <a:srgbClr val="7ECEF4"/>
    <a:srgbClr val="0062AD"/>
    <a:srgbClr val="000000"/>
    <a:srgbClr val="66FFFF"/>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73" autoAdjust="0"/>
    <p:restoredTop sz="78817" autoAdjust="0"/>
  </p:normalViewPr>
  <p:slideViewPr>
    <p:cSldViewPr showGuides="1">
      <p:cViewPr varScale="1">
        <p:scale>
          <a:sx n="91" d="100"/>
          <a:sy n="91" d="100"/>
        </p:scale>
        <p:origin x="2052" y="96"/>
      </p:cViewPr>
      <p:guideLst>
        <p:guide orient="horz" pos="459"/>
        <p:guide pos="52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1212"/>
    </p:cViewPr>
  </p:sorterViewPr>
  <p:notesViewPr>
    <p:cSldViewPr>
      <p:cViewPr varScale="1">
        <p:scale>
          <a:sx n="88" d="100"/>
          <a:sy n="88" d="100"/>
        </p:scale>
        <p:origin x="3822"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C43D383-601C-49DF-A412-49D6A837806B}" type="datetimeFigureOut">
              <a:rPr lang="zh-CN" altLang="en-US" smtClean="0"/>
              <a:pPr/>
              <a:t>2018-7-11</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7A752CB-F267-409C-B428-174C2912518B}" type="slidenum">
              <a:rPr lang="zh-CN" altLang="en-US" smtClean="0"/>
              <a:pPr/>
              <a:t>‹#›</a:t>
            </a:fld>
            <a:endParaRPr lang="zh-CN" altLang="en-US"/>
          </a:p>
        </p:txBody>
      </p:sp>
    </p:spTree>
    <p:extLst>
      <p:ext uri="{BB962C8B-B14F-4D97-AF65-F5344CB8AC3E}">
        <p14:creationId xmlns:p14="http://schemas.microsoft.com/office/powerpoint/2010/main" val="2198376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想象一下，你从文件</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网络读取数据， 这些数据像河流一样“流”向你， 是不是很形象？   由于是“流”， 你读到了第</a:t>
            </a:r>
            <a:r>
              <a:rPr lang="en-US" altLang="zh-CN" sz="1200" b="0" i="0" kern="1200" dirty="0" smtClean="0">
                <a:solidFill>
                  <a:schemeClr val="tx1"/>
                </a:solidFill>
                <a:effectLst/>
                <a:latin typeface="+mn-lt"/>
                <a:ea typeface="+mn-ea"/>
                <a:cs typeface="+mn-cs"/>
              </a:rPr>
              <a:t>100</a:t>
            </a:r>
            <a:r>
              <a:rPr lang="zh-CN" altLang="en-US" sz="1200" b="0" i="0" kern="1200" dirty="0" smtClean="0">
                <a:solidFill>
                  <a:schemeClr val="tx1"/>
                </a:solidFill>
                <a:effectLst/>
                <a:latin typeface="+mn-lt"/>
                <a:ea typeface="+mn-ea"/>
                <a:cs typeface="+mn-cs"/>
              </a:rPr>
              <a:t>个字节， 然后想退回到第</a:t>
            </a:r>
            <a:r>
              <a:rPr lang="en-US" altLang="zh-CN" sz="1200" b="0" i="0" kern="1200" dirty="0" smtClean="0">
                <a:solidFill>
                  <a:schemeClr val="tx1"/>
                </a:solidFill>
                <a:effectLst/>
                <a:latin typeface="+mn-lt"/>
                <a:ea typeface="+mn-ea"/>
                <a:cs typeface="+mn-cs"/>
              </a:rPr>
              <a:t>10</a:t>
            </a:r>
            <a:r>
              <a:rPr lang="zh-CN" altLang="en-US" sz="1200" b="0" i="0" kern="1200" dirty="0" smtClean="0">
                <a:solidFill>
                  <a:schemeClr val="tx1"/>
                </a:solidFill>
                <a:effectLst/>
                <a:latin typeface="+mn-lt"/>
                <a:ea typeface="+mn-ea"/>
                <a:cs typeface="+mn-cs"/>
              </a:rPr>
              <a:t>个字节重新读， 那我是不允许的， 河流是不允许倒退的。</a:t>
            </a:r>
            <a:endParaRPr lang="zh-CN" altLang="en-US" dirty="0"/>
          </a:p>
        </p:txBody>
      </p:sp>
      <p:sp>
        <p:nvSpPr>
          <p:cNvPr id="4" name="灯片编号占位符 3"/>
          <p:cNvSpPr>
            <a:spLocks noGrp="1"/>
          </p:cNvSpPr>
          <p:nvPr>
            <p:ph type="sldNum" sz="quarter" idx="10"/>
          </p:nvPr>
        </p:nvSpPr>
        <p:spPr/>
        <p:txBody>
          <a:bodyPr/>
          <a:lstStyle/>
          <a:p>
            <a:fld id="{57A752CB-F267-409C-B428-174C2912518B}" type="slidenum">
              <a:rPr lang="zh-CN" altLang="en-US" smtClean="0"/>
              <a:pPr/>
              <a:t>4</a:t>
            </a:fld>
            <a:endParaRPr lang="zh-CN" altLang="en-US"/>
          </a:p>
        </p:txBody>
      </p:sp>
    </p:spTree>
    <p:extLst>
      <p:ext uri="{BB962C8B-B14F-4D97-AF65-F5344CB8AC3E}">
        <p14:creationId xmlns:p14="http://schemas.microsoft.com/office/powerpoint/2010/main" val="548092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追根溯源， 计算机中的一切都是二进制的字节， 包括你现在正在看到的文章， 但是你们码农如果直接用</a:t>
            </a:r>
            <a:r>
              <a:rPr lang="en-US" altLang="zh-CN" sz="1200" b="0" i="0" kern="1200" dirty="0" err="1" smtClean="0">
                <a:solidFill>
                  <a:schemeClr val="tx1"/>
                </a:solidFill>
                <a:effectLst/>
                <a:latin typeface="+mn-lt"/>
                <a:ea typeface="+mn-ea"/>
                <a:cs typeface="+mn-cs"/>
              </a:rPr>
              <a:t>InputStream</a:t>
            </a:r>
            <a:r>
              <a:rPr lang="en-US" altLang="zh-CN"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OutStream</a:t>
            </a:r>
            <a:r>
              <a:rPr lang="zh-CN" altLang="en-US" sz="1200" b="0" i="0" kern="1200" dirty="0" smtClean="0">
                <a:solidFill>
                  <a:schemeClr val="tx1"/>
                </a:solidFill>
                <a:effectLst/>
                <a:latin typeface="+mn-lt"/>
                <a:ea typeface="+mn-ea"/>
                <a:cs typeface="+mn-cs"/>
              </a:rPr>
              <a:t>来读取这些文本内容， 势必有点麻烦，还得翻译成字符， 所以为了方便你们我就提供了</a:t>
            </a:r>
            <a:r>
              <a:rPr lang="en-US" altLang="zh-CN" sz="1200" b="0" i="0" kern="1200" dirty="0" smtClean="0">
                <a:solidFill>
                  <a:schemeClr val="tx1"/>
                </a:solidFill>
                <a:effectLst/>
                <a:latin typeface="+mn-lt"/>
                <a:ea typeface="+mn-ea"/>
                <a:cs typeface="+mn-cs"/>
              </a:rPr>
              <a:t>Reader/Writer </a:t>
            </a:r>
            <a:r>
              <a:rPr lang="zh-CN" altLang="en-US" sz="1200" b="0" i="0" kern="1200" dirty="0" smtClean="0">
                <a:solidFill>
                  <a:schemeClr val="tx1"/>
                </a:solidFill>
                <a:effectLst/>
                <a:latin typeface="+mn-lt"/>
                <a:ea typeface="+mn-ea"/>
                <a:cs typeface="+mn-cs"/>
              </a:rPr>
              <a:t>接口， 专门用于处理字符流。</a:t>
            </a:r>
            <a:endParaRPr lang="zh-CN" altLang="en-US" dirty="0"/>
          </a:p>
        </p:txBody>
      </p:sp>
      <p:sp>
        <p:nvSpPr>
          <p:cNvPr id="4" name="灯片编号占位符 3"/>
          <p:cNvSpPr>
            <a:spLocks noGrp="1"/>
          </p:cNvSpPr>
          <p:nvPr>
            <p:ph type="sldNum" sz="quarter" idx="10"/>
          </p:nvPr>
        </p:nvSpPr>
        <p:spPr/>
        <p:txBody>
          <a:bodyPr/>
          <a:lstStyle/>
          <a:p>
            <a:fld id="{57A752CB-F267-409C-B428-174C2912518B}" type="slidenum">
              <a:rPr lang="zh-CN" altLang="en-US" smtClean="0"/>
              <a:pPr/>
              <a:t>5</a:t>
            </a:fld>
            <a:endParaRPr lang="zh-CN" altLang="en-US"/>
          </a:p>
        </p:txBody>
      </p:sp>
    </p:spTree>
    <p:extLst>
      <p:ext uri="{BB962C8B-B14F-4D97-AF65-F5344CB8AC3E}">
        <p14:creationId xmlns:p14="http://schemas.microsoft.com/office/powerpoint/2010/main" val="32225386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7A752CB-F267-409C-B428-174C2912518B}" type="slidenum">
              <a:rPr lang="zh-CN" altLang="en-US" smtClean="0"/>
              <a:pPr/>
              <a:t>6</a:t>
            </a:fld>
            <a:endParaRPr lang="zh-CN" altLang="en-US"/>
          </a:p>
        </p:txBody>
      </p:sp>
    </p:spTree>
    <p:extLst>
      <p:ext uri="{BB962C8B-B14F-4D97-AF65-F5344CB8AC3E}">
        <p14:creationId xmlns:p14="http://schemas.microsoft.com/office/powerpoint/2010/main" val="13365811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为什么我们不能直接以缓存方式（</a:t>
            </a:r>
            <a:r>
              <a:rPr lang="en-US" altLang="zh-CN" sz="1200" b="0" i="0" kern="1200" dirty="0" err="1" smtClean="0">
                <a:solidFill>
                  <a:schemeClr val="tx1"/>
                </a:solidFill>
                <a:effectLst/>
                <a:latin typeface="+mn-lt"/>
                <a:ea typeface="+mn-ea"/>
                <a:cs typeface="+mn-cs"/>
              </a:rPr>
              <a:t>BufferedInputStream</a:t>
            </a:r>
            <a:r>
              <a:rPr lang="zh-CN" altLang="en-US" sz="1200" b="0" i="0" kern="1200" dirty="0" smtClean="0">
                <a:solidFill>
                  <a:schemeClr val="tx1"/>
                </a:solidFill>
                <a:effectLst/>
                <a:latin typeface="+mn-lt"/>
                <a:ea typeface="+mn-ea"/>
                <a:cs typeface="+mn-cs"/>
              </a:rPr>
              <a:t>）从文件中读取数据呢？</a:t>
            </a:r>
            <a:endParaRPr lang="zh-CN" altLang="en-US" dirty="0"/>
          </a:p>
        </p:txBody>
      </p:sp>
      <p:sp>
        <p:nvSpPr>
          <p:cNvPr id="4" name="灯片编号占位符 3"/>
          <p:cNvSpPr>
            <a:spLocks noGrp="1"/>
          </p:cNvSpPr>
          <p:nvPr>
            <p:ph type="sldNum" sz="quarter" idx="10"/>
          </p:nvPr>
        </p:nvSpPr>
        <p:spPr/>
        <p:txBody>
          <a:bodyPr/>
          <a:lstStyle/>
          <a:p>
            <a:fld id="{57A752CB-F267-409C-B428-174C2912518B}" type="slidenum">
              <a:rPr lang="zh-CN" altLang="en-US" smtClean="0"/>
              <a:pPr/>
              <a:t>7</a:t>
            </a:fld>
            <a:endParaRPr lang="zh-CN" altLang="en-US"/>
          </a:p>
        </p:txBody>
      </p:sp>
    </p:spTree>
    <p:extLst>
      <p:ext uri="{BB962C8B-B14F-4D97-AF65-F5344CB8AC3E}">
        <p14:creationId xmlns:p14="http://schemas.microsoft.com/office/powerpoint/2010/main" val="20744738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老大叫</a:t>
            </a:r>
            <a:r>
              <a:rPr lang="en-US" altLang="zh-CN" sz="1200" b="0" i="0" kern="1200" dirty="0" err="1" smtClean="0">
                <a:solidFill>
                  <a:schemeClr val="tx1"/>
                </a:solidFill>
                <a:effectLst/>
                <a:latin typeface="+mn-lt"/>
                <a:ea typeface="+mn-ea"/>
                <a:cs typeface="+mn-cs"/>
              </a:rPr>
              <a:t>FileInputStream</a:t>
            </a:r>
            <a:r>
              <a:rPr lang="zh-CN" altLang="en-US" sz="1200" b="0" i="0" kern="1200" dirty="0" smtClean="0">
                <a:solidFill>
                  <a:schemeClr val="tx1"/>
                </a:solidFill>
                <a:effectLst/>
                <a:latin typeface="+mn-lt"/>
                <a:ea typeface="+mn-ea"/>
                <a:cs typeface="+mn-cs"/>
              </a:rPr>
              <a:t>，处理文件，老二叫</a:t>
            </a:r>
            <a:r>
              <a:rPr lang="en-US" altLang="zh-CN" sz="1200" b="0" i="0" kern="1200" dirty="0" err="1" smtClean="0">
                <a:solidFill>
                  <a:schemeClr val="tx1"/>
                </a:solidFill>
                <a:effectLst/>
                <a:latin typeface="+mn-lt"/>
                <a:ea typeface="+mn-ea"/>
                <a:cs typeface="+mn-cs"/>
              </a:rPr>
              <a:t>ByteArrayInputStream</a:t>
            </a:r>
            <a:r>
              <a:rPr lang="zh-CN" altLang="en-US" sz="1200" b="0" i="0" kern="1200" dirty="0" smtClean="0">
                <a:solidFill>
                  <a:schemeClr val="tx1"/>
                </a:solidFill>
                <a:effectLst/>
                <a:latin typeface="+mn-lt"/>
                <a:ea typeface="+mn-ea"/>
                <a:cs typeface="+mn-cs"/>
              </a:rPr>
              <a:t>，处理字节数组，老三叫</a:t>
            </a:r>
            <a:r>
              <a:rPr lang="en-US" altLang="zh-CN" sz="1200" b="0" i="0" kern="1200" dirty="0" err="1" smtClean="0">
                <a:solidFill>
                  <a:schemeClr val="tx1"/>
                </a:solidFill>
                <a:effectLst/>
                <a:latin typeface="+mn-lt"/>
                <a:ea typeface="+mn-ea"/>
                <a:cs typeface="+mn-cs"/>
              </a:rPr>
              <a:t>StringBufferInputStream</a:t>
            </a:r>
            <a:r>
              <a:rPr lang="zh-CN" altLang="en-US" sz="1200" b="0" i="0" kern="1200" dirty="0" smtClean="0">
                <a:solidFill>
                  <a:schemeClr val="tx1"/>
                </a:solidFill>
                <a:effectLst/>
                <a:latin typeface="+mn-lt"/>
                <a:ea typeface="+mn-ea"/>
                <a:cs typeface="+mn-cs"/>
              </a:rPr>
              <a:t>，处理</a:t>
            </a:r>
            <a:r>
              <a:rPr lang="en-US" altLang="zh-CN" sz="1200" b="0" i="0" kern="1200" dirty="0" err="1" smtClean="0">
                <a:solidFill>
                  <a:schemeClr val="tx1"/>
                </a:solidFill>
                <a:effectLst/>
                <a:latin typeface="+mn-lt"/>
                <a:ea typeface="+mn-ea"/>
                <a:cs typeface="+mn-cs"/>
              </a:rPr>
              <a:t>StringBuffer</a:t>
            </a:r>
            <a:r>
              <a:rPr lang="zh-CN" altLang="en-US" sz="1200" b="0" i="0" kern="1200" dirty="0" smtClean="0">
                <a:solidFill>
                  <a:schemeClr val="tx1"/>
                </a:solidFill>
                <a:effectLst/>
                <a:latin typeface="+mn-lt"/>
                <a:ea typeface="+mn-ea"/>
                <a:cs typeface="+mn-cs"/>
              </a:rPr>
              <a:t>，老四叫</a:t>
            </a:r>
            <a:r>
              <a:rPr lang="en-US" altLang="zh-CN" sz="1200" b="0" i="0" kern="1200" dirty="0" err="1" smtClean="0">
                <a:solidFill>
                  <a:schemeClr val="tx1"/>
                </a:solidFill>
                <a:effectLst/>
                <a:latin typeface="+mn-lt"/>
                <a:ea typeface="+mn-ea"/>
                <a:cs typeface="+mn-cs"/>
              </a:rPr>
              <a:t>PipedInputStream</a:t>
            </a:r>
            <a:r>
              <a:rPr lang="zh-CN" altLang="en-US" sz="1200" b="0" i="0" kern="1200" dirty="0" smtClean="0">
                <a:solidFill>
                  <a:schemeClr val="tx1"/>
                </a:solidFill>
                <a:effectLst/>
                <a:latin typeface="+mn-lt"/>
                <a:ea typeface="+mn-ea"/>
                <a:cs typeface="+mn-cs"/>
              </a:rPr>
              <a:t>，处理线程间的输入流，老五叫</a:t>
            </a:r>
            <a:r>
              <a:rPr lang="en-US" altLang="zh-CN" sz="1200" b="0" i="0" kern="1200" dirty="0" err="1" smtClean="0">
                <a:solidFill>
                  <a:schemeClr val="tx1"/>
                </a:solidFill>
                <a:effectLst/>
                <a:latin typeface="+mn-lt"/>
                <a:ea typeface="+mn-ea"/>
                <a:cs typeface="+mn-cs"/>
              </a:rPr>
              <a:t>ObjectInputStream</a:t>
            </a:r>
            <a:r>
              <a:rPr lang="zh-CN" altLang="en-US" sz="1200" b="0" i="0" kern="1200" dirty="0" smtClean="0">
                <a:solidFill>
                  <a:schemeClr val="tx1"/>
                </a:solidFill>
                <a:effectLst/>
                <a:latin typeface="+mn-lt"/>
                <a:ea typeface="+mn-ea"/>
                <a:cs typeface="+mn-cs"/>
              </a:rPr>
              <a:t>，处理被序列化的对象，再生一个</a:t>
            </a:r>
            <a:r>
              <a:rPr lang="en-US" altLang="zh-CN" sz="1200" b="0" i="0" kern="1200" dirty="0" err="1" smtClean="0">
                <a:solidFill>
                  <a:schemeClr val="tx1"/>
                </a:solidFill>
                <a:effectLst/>
                <a:latin typeface="+mn-lt"/>
                <a:ea typeface="+mn-ea"/>
                <a:cs typeface="+mn-cs"/>
              </a:rPr>
              <a:t>SequenceInputStream</a:t>
            </a:r>
            <a:r>
              <a:rPr lang="zh-CN" altLang="en-US" sz="1200" b="0" i="0" kern="1200" dirty="0" smtClean="0">
                <a:solidFill>
                  <a:schemeClr val="tx1"/>
                </a:solidFill>
                <a:effectLst/>
                <a:latin typeface="+mn-lt"/>
                <a:ea typeface="+mn-ea"/>
                <a:cs typeface="+mn-cs"/>
              </a:rPr>
              <a:t>，处理一个包裹里有多种数据来源的业务。</a:t>
            </a:r>
            <a:endParaRPr lang="zh-CN" altLang="en-US" dirty="0"/>
          </a:p>
        </p:txBody>
      </p:sp>
      <p:sp>
        <p:nvSpPr>
          <p:cNvPr id="4" name="灯片编号占位符 3"/>
          <p:cNvSpPr>
            <a:spLocks noGrp="1"/>
          </p:cNvSpPr>
          <p:nvPr>
            <p:ph type="sldNum" sz="quarter" idx="10"/>
          </p:nvPr>
        </p:nvSpPr>
        <p:spPr/>
        <p:txBody>
          <a:bodyPr/>
          <a:lstStyle/>
          <a:p>
            <a:fld id="{57A752CB-F267-409C-B428-174C2912518B}" type="slidenum">
              <a:rPr lang="zh-CN" altLang="en-US" smtClean="0"/>
              <a:pPr/>
              <a:t>8</a:t>
            </a:fld>
            <a:endParaRPr lang="zh-CN" altLang="en-US"/>
          </a:p>
        </p:txBody>
      </p:sp>
    </p:spTree>
    <p:extLst>
      <p:ext uri="{BB962C8B-B14F-4D97-AF65-F5344CB8AC3E}">
        <p14:creationId xmlns:p14="http://schemas.microsoft.com/office/powerpoint/2010/main" val="7719041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读数据慢、基本类型、读出来的数据再推回</a:t>
            </a:r>
            <a:r>
              <a:rPr lang="en-US" altLang="zh-CN" sz="1200" b="0" i="0" kern="1200" dirty="0" smtClean="0">
                <a:solidFill>
                  <a:schemeClr val="tx1"/>
                </a:solidFill>
                <a:effectLst/>
                <a:latin typeface="+mn-lt"/>
                <a:ea typeface="+mn-ea"/>
                <a:cs typeface="+mn-cs"/>
              </a:rPr>
              <a:t>Stream</a:t>
            </a:r>
            <a:r>
              <a:rPr lang="zh-CN" altLang="en-US" sz="1200" b="0" i="0" kern="1200" dirty="0" smtClean="0">
                <a:solidFill>
                  <a:schemeClr val="tx1"/>
                </a:solidFill>
                <a:effectLst/>
                <a:latin typeface="+mn-lt"/>
                <a:ea typeface="+mn-ea"/>
                <a:cs typeface="+mn-cs"/>
              </a:rPr>
              <a:t>里面</a:t>
            </a:r>
            <a:endParaRPr lang="en-US" altLang="zh-CN"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拥有缓存的</a:t>
            </a:r>
            <a:r>
              <a:rPr lang="en-US" altLang="zh-CN" sz="1200" b="0" i="0" kern="1200" dirty="0" err="1" smtClean="0">
                <a:solidFill>
                  <a:schemeClr val="tx1"/>
                </a:solidFill>
                <a:effectLst/>
                <a:latin typeface="+mn-lt"/>
                <a:ea typeface="+mn-ea"/>
                <a:cs typeface="+mn-cs"/>
              </a:rPr>
              <a:t>BufferedInputStream</a:t>
            </a:r>
            <a:r>
              <a:rPr lang="zh-CN" altLang="en-US" sz="1200" b="0" i="0" kern="1200" dirty="0" smtClean="0">
                <a:solidFill>
                  <a:schemeClr val="tx1"/>
                </a:solidFill>
                <a:effectLst/>
                <a:latin typeface="+mn-lt"/>
                <a:ea typeface="+mn-ea"/>
                <a:cs typeface="+mn-cs"/>
              </a:rPr>
              <a:t>，把</a:t>
            </a:r>
            <a:r>
              <a:rPr lang="en-US" altLang="zh-CN" sz="1200" b="0" i="0" kern="1200" dirty="0" smtClean="0">
                <a:solidFill>
                  <a:schemeClr val="tx1"/>
                </a:solidFill>
                <a:effectLst/>
                <a:latin typeface="+mn-lt"/>
                <a:ea typeface="+mn-ea"/>
                <a:cs typeface="+mn-cs"/>
              </a:rPr>
              <a:t>byte</a:t>
            </a:r>
            <a:r>
              <a:rPr lang="zh-CN" altLang="en-US" sz="1200" b="0" i="0" kern="1200" dirty="0" smtClean="0">
                <a:solidFill>
                  <a:schemeClr val="tx1"/>
                </a:solidFill>
                <a:effectLst/>
                <a:latin typeface="+mn-lt"/>
                <a:ea typeface="+mn-ea"/>
                <a:cs typeface="+mn-cs"/>
              </a:rPr>
              <a:t>转换成</a:t>
            </a:r>
            <a:r>
              <a:rPr lang="en-US" altLang="zh-CN" sz="1200" b="0" i="0" kern="1200" dirty="0" smtClean="0">
                <a:solidFill>
                  <a:schemeClr val="tx1"/>
                </a:solidFill>
                <a:effectLst/>
                <a:latin typeface="+mn-lt"/>
                <a:ea typeface="+mn-ea"/>
                <a:cs typeface="+mn-cs"/>
              </a:rPr>
              <a:t>JAVA</a:t>
            </a:r>
            <a:r>
              <a:rPr lang="zh-CN" altLang="en-US" sz="1200" b="0" i="0" kern="1200" dirty="0" smtClean="0">
                <a:solidFill>
                  <a:schemeClr val="tx1"/>
                </a:solidFill>
                <a:effectLst/>
                <a:latin typeface="+mn-lt"/>
                <a:ea typeface="+mn-ea"/>
                <a:cs typeface="+mn-cs"/>
              </a:rPr>
              <a:t>基本类型的</a:t>
            </a:r>
            <a:r>
              <a:rPr lang="en-US" altLang="zh-CN" sz="1200" b="0" i="0" kern="1200" dirty="0" err="1" smtClean="0">
                <a:solidFill>
                  <a:schemeClr val="tx1"/>
                </a:solidFill>
                <a:effectLst/>
                <a:latin typeface="+mn-lt"/>
                <a:ea typeface="+mn-ea"/>
                <a:cs typeface="+mn-cs"/>
              </a:rPr>
              <a:t>DataInputStream</a:t>
            </a:r>
            <a:r>
              <a:rPr lang="zh-CN" altLang="en-US" sz="1200" b="0" i="0" kern="1200" dirty="0" smtClean="0">
                <a:solidFill>
                  <a:schemeClr val="tx1"/>
                </a:solidFill>
                <a:effectLst/>
                <a:latin typeface="+mn-lt"/>
                <a:ea typeface="+mn-ea"/>
                <a:cs typeface="+mn-cs"/>
              </a:rPr>
              <a:t>和回写数据到</a:t>
            </a:r>
            <a:r>
              <a:rPr lang="en-US" altLang="zh-CN" sz="1200" b="0" i="0" kern="1200" dirty="0" smtClean="0">
                <a:solidFill>
                  <a:schemeClr val="tx1"/>
                </a:solidFill>
                <a:effectLst/>
                <a:latin typeface="+mn-lt"/>
                <a:ea typeface="+mn-ea"/>
                <a:cs typeface="+mn-cs"/>
              </a:rPr>
              <a:t>stream</a:t>
            </a:r>
            <a:r>
              <a:rPr lang="zh-CN" altLang="en-US" sz="1200" b="0" i="0" kern="1200" dirty="0" smtClean="0">
                <a:solidFill>
                  <a:schemeClr val="tx1"/>
                </a:solidFill>
                <a:effectLst/>
                <a:latin typeface="+mn-lt"/>
                <a:ea typeface="+mn-ea"/>
                <a:cs typeface="+mn-cs"/>
              </a:rPr>
              <a:t>的</a:t>
            </a:r>
            <a:r>
              <a:rPr lang="en-US" altLang="zh-CN" sz="1200" b="0" i="0" kern="1200" dirty="0" err="1" smtClean="0">
                <a:solidFill>
                  <a:schemeClr val="tx1"/>
                </a:solidFill>
                <a:effectLst/>
                <a:latin typeface="+mn-lt"/>
                <a:ea typeface="+mn-ea"/>
                <a:cs typeface="+mn-cs"/>
              </a:rPr>
              <a:t>PushbackInputStream</a:t>
            </a:r>
            <a:endParaRPr lang="zh-CN" altLang="en-US" dirty="0"/>
          </a:p>
        </p:txBody>
      </p:sp>
      <p:sp>
        <p:nvSpPr>
          <p:cNvPr id="4" name="灯片编号占位符 3"/>
          <p:cNvSpPr>
            <a:spLocks noGrp="1"/>
          </p:cNvSpPr>
          <p:nvPr>
            <p:ph type="sldNum" sz="quarter" idx="10"/>
          </p:nvPr>
        </p:nvSpPr>
        <p:spPr/>
        <p:txBody>
          <a:bodyPr/>
          <a:lstStyle/>
          <a:p>
            <a:fld id="{57A752CB-F267-409C-B428-174C2912518B}" type="slidenum">
              <a:rPr lang="zh-CN" altLang="en-US" smtClean="0"/>
              <a:pPr/>
              <a:t>9</a:t>
            </a:fld>
            <a:endParaRPr lang="zh-CN" altLang="en-US"/>
          </a:p>
        </p:txBody>
      </p:sp>
    </p:spTree>
    <p:extLst>
      <p:ext uri="{BB962C8B-B14F-4D97-AF65-F5344CB8AC3E}">
        <p14:creationId xmlns:p14="http://schemas.microsoft.com/office/powerpoint/2010/main" val="36106241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7A752CB-F267-409C-B428-174C2912518B}" type="slidenum">
              <a:rPr lang="zh-CN" altLang="en-US" smtClean="0"/>
              <a:pPr/>
              <a:t>10</a:t>
            </a:fld>
            <a:endParaRPr lang="zh-CN" altLang="en-US"/>
          </a:p>
        </p:txBody>
      </p:sp>
    </p:spTree>
    <p:extLst>
      <p:ext uri="{BB962C8B-B14F-4D97-AF65-F5344CB8AC3E}">
        <p14:creationId xmlns:p14="http://schemas.microsoft.com/office/powerpoint/2010/main" val="32345943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7A752CB-F267-409C-B428-174C2912518B}" type="slidenum">
              <a:rPr lang="zh-CN" altLang="en-US" smtClean="0"/>
              <a:pPr/>
              <a:t>11</a:t>
            </a:fld>
            <a:endParaRPr lang="zh-CN" altLang="en-US"/>
          </a:p>
        </p:txBody>
      </p:sp>
    </p:spTree>
    <p:extLst>
      <p:ext uri="{BB962C8B-B14F-4D97-AF65-F5344CB8AC3E}">
        <p14:creationId xmlns:p14="http://schemas.microsoft.com/office/powerpoint/2010/main" val="18391049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7A752CB-F267-409C-B428-174C2912518B}" type="slidenum">
              <a:rPr lang="zh-CN" altLang="en-US" smtClean="0"/>
              <a:pPr/>
              <a:t>12</a:t>
            </a:fld>
            <a:endParaRPr lang="zh-CN" altLang="en-US"/>
          </a:p>
        </p:txBody>
      </p:sp>
    </p:spTree>
    <p:extLst>
      <p:ext uri="{BB962C8B-B14F-4D97-AF65-F5344CB8AC3E}">
        <p14:creationId xmlns:p14="http://schemas.microsoft.com/office/powerpoint/2010/main" val="6886498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在</a:t>
            </a:r>
            <a:r>
              <a:rPr lang="en-US" altLang="zh-CN" sz="1200" b="0" i="0" kern="1200" dirty="0" smtClean="0">
                <a:solidFill>
                  <a:schemeClr val="tx1"/>
                </a:solidFill>
                <a:effectLst/>
                <a:latin typeface="+mn-lt"/>
                <a:ea typeface="+mn-ea"/>
                <a:cs typeface="+mn-cs"/>
              </a:rPr>
              <a:t>Java</a:t>
            </a:r>
            <a:r>
              <a:rPr lang="zh-CN" altLang="en-US" sz="1200" b="0" i="0" kern="1200" dirty="0" smtClean="0">
                <a:solidFill>
                  <a:schemeClr val="tx1"/>
                </a:solidFill>
                <a:effectLst/>
                <a:latin typeface="+mn-lt"/>
                <a:ea typeface="+mn-ea"/>
                <a:cs typeface="+mn-cs"/>
              </a:rPr>
              <a:t>中一个线程就会相应有一个线程栈与之对应，这点很容易理解，因为不同的线程执行逻辑有所不同，因此需要一个独立的线程栈。而堆则是所有线程共享的。栈因为是运行单位，因此里面存储的信息都是跟当前线程（或程序）相关信息的。包括局部变量、程序运行状态、方法返回值等等；而堆只负责存储对象信息。</a:t>
            </a:r>
            <a:endParaRPr lang="zh-CN" altLang="en-US" dirty="0"/>
          </a:p>
        </p:txBody>
      </p:sp>
      <p:sp>
        <p:nvSpPr>
          <p:cNvPr id="4" name="灯片编号占位符 3"/>
          <p:cNvSpPr>
            <a:spLocks noGrp="1"/>
          </p:cNvSpPr>
          <p:nvPr>
            <p:ph type="sldNum" sz="quarter" idx="10"/>
          </p:nvPr>
        </p:nvSpPr>
        <p:spPr/>
        <p:txBody>
          <a:bodyPr/>
          <a:lstStyle/>
          <a:p>
            <a:fld id="{57A752CB-F267-409C-B428-174C2912518B}" type="slidenum">
              <a:rPr lang="zh-CN" altLang="en-US" smtClean="0"/>
              <a:pPr/>
              <a:t>14</a:t>
            </a:fld>
            <a:endParaRPr lang="zh-CN" altLang="en-US"/>
          </a:p>
        </p:txBody>
      </p:sp>
    </p:spTree>
    <p:extLst>
      <p:ext uri="{BB962C8B-B14F-4D97-AF65-F5344CB8AC3E}">
        <p14:creationId xmlns:p14="http://schemas.microsoft.com/office/powerpoint/2010/main" val="15339619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堆和栈中，栈是程序运行最根本的东西。程序运行可以没有堆，但是不能没有栈。而堆是为栈进行数据存储服务，说白了堆就是一块共享的内存。不过，正是因为堆和栈的分离的思想，才使得</a:t>
            </a:r>
            <a:r>
              <a:rPr lang="en-US" altLang="zh-CN" sz="1200" b="0" i="0" kern="1200" dirty="0" smtClean="0">
                <a:solidFill>
                  <a:schemeClr val="tx1"/>
                </a:solidFill>
                <a:effectLst/>
                <a:latin typeface="+mn-lt"/>
                <a:ea typeface="+mn-ea"/>
                <a:cs typeface="+mn-cs"/>
              </a:rPr>
              <a:t>Java</a:t>
            </a:r>
            <a:r>
              <a:rPr lang="zh-CN" altLang="en-US" sz="1200" b="0" i="0" kern="1200" dirty="0" smtClean="0">
                <a:solidFill>
                  <a:schemeClr val="tx1"/>
                </a:solidFill>
                <a:effectLst/>
                <a:latin typeface="+mn-lt"/>
                <a:ea typeface="+mn-ea"/>
                <a:cs typeface="+mn-cs"/>
              </a:rPr>
              <a:t>的垃圾回收成为可能。</a:t>
            </a:r>
          </a:p>
          <a:p>
            <a:r>
              <a:rPr lang="en-US" altLang="zh-CN" sz="1200" b="0" i="0" kern="1200" dirty="0" smtClean="0">
                <a:solidFill>
                  <a:schemeClr val="tx1"/>
                </a:solidFill>
                <a:effectLst/>
                <a:latin typeface="+mn-lt"/>
                <a:ea typeface="+mn-ea"/>
                <a:cs typeface="+mn-cs"/>
              </a:rPr>
              <a:t>Java</a:t>
            </a:r>
            <a:r>
              <a:rPr lang="zh-CN" altLang="en-US" sz="1200" b="0" i="0" kern="1200" dirty="0" smtClean="0">
                <a:solidFill>
                  <a:schemeClr val="tx1"/>
                </a:solidFill>
                <a:effectLst/>
                <a:latin typeface="+mn-lt"/>
                <a:ea typeface="+mn-ea"/>
                <a:cs typeface="+mn-cs"/>
              </a:rPr>
              <a:t>中，栈的大小通过</a:t>
            </a:r>
            <a:r>
              <a:rPr lang="en-US" altLang="zh-CN"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Xss</a:t>
            </a:r>
            <a:r>
              <a:rPr lang="zh-CN" altLang="en-US" sz="1200" b="0" i="0" kern="1200" dirty="0" smtClean="0">
                <a:solidFill>
                  <a:schemeClr val="tx1"/>
                </a:solidFill>
                <a:effectLst/>
                <a:latin typeface="+mn-lt"/>
                <a:ea typeface="+mn-ea"/>
                <a:cs typeface="+mn-cs"/>
              </a:rPr>
              <a:t>来设置，当栈中存储数据比较多时，需要适当调大这个值，否则会出现</a:t>
            </a:r>
            <a:r>
              <a:rPr lang="en-US" altLang="zh-CN" sz="1200" b="0" i="0" kern="1200" dirty="0" err="1" smtClean="0">
                <a:solidFill>
                  <a:schemeClr val="tx1"/>
                </a:solidFill>
                <a:effectLst/>
                <a:latin typeface="+mn-lt"/>
                <a:ea typeface="+mn-ea"/>
                <a:cs typeface="+mn-cs"/>
              </a:rPr>
              <a:t>java.lang.StackOverflowError</a:t>
            </a:r>
            <a:r>
              <a:rPr lang="zh-CN" altLang="en-US" sz="1200" b="0" i="0" kern="1200" dirty="0" smtClean="0">
                <a:solidFill>
                  <a:schemeClr val="tx1"/>
                </a:solidFill>
                <a:effectLst/>
                <a:latin typeface="+mn-lt"/>
                <a:ea typeface="+mn-ea"/>
                <a:cs typeface="+mn-cs"/>
              </a:rPr>
              <a:t>异常。常见的出现这个异常的是无法返回的递归，因为此时栈中保存的信息都是方法返回的记录点。</a:t>
            </a:r>
          </a:p>
          <a:p>
            <a:endParaRPr lang="zh-CN" altLang="en-US" dirty="0"/>
          </a:p>
        </p:txBody>
      </p:sp>
      <p:sp>
        <p:nvSpPr>
          <p:cNvPr id="4" name="灯片编号占位符 3"/>
          <p:cNvSpPr>
            <a:spLocks noGrp="1"/>
          </p:cNvSpPr>
          <p:nvPr>
            <p:ph type="sldNum" sz="quarter" idx="10"/>
          </p:nvPr>
        </p:nvSpPr>
        <p:spPr/>
        <p:txBody>
          <a:bodyPr/>
          <a:lstStyle/>
          <a:p>
            <a:fld id="{57A752CB-F267-409C-B428-174C2912518B}" type="slidenum">
              <a:rPr lang="zh-CN" altLang="en-US" smtClean="0"/>
              <a:pPr/>
              <a:t>15</a:t>
            </a:fld>
            <a:endParaRPr lang="zh-CN" altLang="en-US"/>
          </a:p>
        </p:txBody>
      </p:sp>
    </p:spTree>
    <p:extLst>
      <p:ext uri="{BB962C8B-B14F-4D97-AF65-F5344CB8AC3E}">
        <p14:creationId xmlns:p14="http://schemas.microsoft.com/office/powerpoint/2010/main" val="5481223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7A752CB-F267-409C-B428-174C2912518B}" type="slidenum">
              <a:rPr lang="zh-CN" altLang="en-US" smtClean="0"/>
              <a:pPr/>
              <a:t>16</a:t>
            </a:fld>
            <a:endParaRPr lang="zh-CN" altLang="en-US"/>
          </a:p>
        </p:txBody>
      </p:sp>
    </p:spTree>
    <p:extLst>
      <p:ext uri="{BB962C8B-B14F-4D97-AF65-F5344CB8AC3E}">
        <p14:creationId xmlns:p14="http://schemas.microsoft.com/office/powerpoint/2010/main" val="14294819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7A752CB-F267-409C-B428-174C2912518B}" type="slidenum">
              <a:rPr lang="zh-CN" altLang="en-US" smtClean="0"/>
              <a:pPr/>
              <a:t>17</a:t>
            </a:fld>
            <a:endParaRPr lang="zh-CN" altLang="en-US"/>
          </a:p>
        </p:txBody>
      </p:sp>
    </p:spTree>
    <p:extLst>
      <p:ext uri="{BB962C8B-B14F-4D97-AF65-F5344CB8AC3E}">
        <p14:creationId xmlns:p14="http://schemas.microsoft.com/office/powerpoint/2010/main" val="38392542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上面说到的“引用计数”法，通过统计控制生成对象和删除对象时的引用数来判断。垃圾回收程序收集计数为</a:t>
            </a:r>
            <a:r>
              <a:rPr lang="en-US" altLang="zh-CN" sz="1200" b="0" i="0" kern="1200" dirty="0" smtClean="0">
                <a:solidFill>
                  <a:schemeClr val="tx1"/>
                </a:solidFill>
                <a:effectLst/>
                <a:latin typeface="+mn-lt"/>
                <a:ea typeface="+mn-ea"/>
                <a:cs typeface="+mn-cs"/>
              </a:rPr>
              <a:t>0</a:t>
            </a:r>
            <a:r>
              <a:rPr lang="zh-CN" altLang="en-US" sz="1200" b="0" i="0" kern="1200" dirty="0" smtClean="0">
                <a:solidFill>
                  <a:schemeClr val="tx1"/>
                </a:solidFill>
                <a:effectLst/>
                <a:latin typeface="+mn-lt"/>
                <a:ea typeface="+mn-ea"/>
                <a:cs typeface="+mn-cs"/>
              </a:rPr>
              <a:t>的对象即可。但是这种方法无法解决循环引用。所以，后来实现的垃圾判断算法中，都是从程序运行的根节点出发，遍历整个对象引用，查找存活的对象。</a:t>
            </a:r>
            <a:endParaRPr lang="zh-CN" altLang="en-US" dirty="0"/>
          </a:p>
        </p:txBody>
      </p:sp>
      <p:sp>
        <p:nvSpPr>
          <p:cNvPr id="4" name="灯片编号占位符 3"/>
          <p:cNvSpPr>
            <a:spLocks noGrp="1"/>
          </p:cNvSpPr>
          <p:nvPr>
            <p:ph type="sldNum" sz="quarter" idx="10"/>
          </p:nvPr>
        </p:nvSpPr>
        <p:spPr/>
        <p:txBody>
          <a:bodyPr/>
          <a:lstStyle/>
          <a:p>
            <a:fld id="{57A752CB-F267-409C-B428-174C2912518B}" type="slidenum">
              <a:rPr lang="zh-CN" altLang="en-US" smtClean="0"/>
              <a:pPr/>
              <a:t>19</a:t>
            </a:fld>
            <a:endParaRPr lang="zh-CN" altLang="en-US"/>
          </a:p>
        </p:txBody>
      </p:sp>
    </p:spTree>
    <p:extLst>
      <p:ext uri="{BB962C8B-B14F-4D97-AF65-F5344CB8AC3E}">
        <p14:creationId xmlns:p14="http://schemas.microsoft.com/office/powerpoint/2010/main" val="31212353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此算法执行分两阶段。第一阶段从引用根节点开始标记所有被引用的对象，第二阶段遍历整个堆，把未标记的对象清除。此算法需要暂停整个应用，同时，会产生内存碎片。</a:t>
            </a:r>
            <a:endParaRPr lang="zh-CN" altLang="en-US" dirty="0"/>
          </a:p>
        </p:txBody>
      </p:sp>
      <p:sp>
        <p:nvSpPr>
          <p:cNvPr id="4" name="灯片编号占位符 3"/>
          <p:cNvSpPr>
            <a:spLocks noGrp="1"/>
          </p:cNvSpPr>
          <p:nvPr>
            <p:ph type="sldNum" sz="quarter" idx="10"/>
          </p:nvPr>
        </p:nvSpPr>
        <p:spPr/>
        <p:txBody>
          <a:bodyPr/>
          <a:lstStyle/>
          <a:p>
            <a:fld id="{57A752CB-F267-409C-B428-174C2912518B}" type="slidenum">
              <a:rPr lang="zh-CN" altLang="en-US" smtClean="0"/>
              <a:pPr/>
              <a:t>20</a:t>
            </a:fld>
            <a:endParaRPr lang="zh-CN" altLang="en-US"/>
          </a:p>
        </p:txBody>
      </p:sp>
    </p:spTree>
    <p:extLst>
      <p:ext uri="{BB962C8B-B14F-4D97-AF65-F5344CB8AC3E}">
        <p14:creationId xmlns:p14="http://schemas.microsoft.com/office/powerpoint/2010/main" val="21784471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7A752CB-F267-409C-B428-174C2912518B}" type="slidenum">
              <a:rPr lang="zh-CN" altLang="en-US" smtClean="0"/>
              <a:pPr/>
              <a:t>21</a:t>
            </a:fld>
            <a:endParaRPr lang="zh-CN" altLang="en-US"/>
          </a:p>
        </p:txBody>
      </p:sp>
    </p:spTree>
    <p:extLst>
      <p:ext uri="{BB962C8B-B14F-4D97-AF65-F5344CB8AC3E}">
        <p14:creationId xmlns:p14="http://schemas.microsoft.com/office/powerpoint/2010/main" val="24251666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此算法把内存空间划为两个相等的区域，每次只使用其中一个区域。垃圾回收时，遍历当前使用区域，把正在使用中的对象复制到另外一个区域中。次算法每次只处理正在使用中的对象，因此复制成本比较小，同时复制过去以后还能进行相应的内存整理，不会出现“碎片”问题。当然，此算法的缺点也是很明显的，就是需要两倍内存空间。</a:t>
            </a:r>
            <a:endParaRPr lang="zh-CN" altLang="en-US" dirty="0"/>
          </a:p>
        </p:txBody>
      </p:sp>
      <p:sp>
        <p:nvSpPr>
          <p:cNvPr id="4" name="灯片编号占位符 3"/>
          <p:cNvSpPr>
            <a:spLocks noGrp="1"/>
          </p:cNvSpPr>
          <p:nvPr>
            <p:ph type="sldNum" sz="quarter" idx="10"/>
          </p:nvPr>
        </p:nvSpPr>
        <p:spPr/>
        <p:txBody>
          <a:bodyPr/>
          <a:lstStyle/>
          <a:p>
            <a:fld id="{57A752CB-F267-409C-B428-174C2912518B}" type="slidenum">
              <a:rPr lang="zh-CN" altLang="en-US" smtClean="0"/>
              <a:pPr/>
              <a:t>22</a:t>
            </a:fld>
            <a:endParaRPr lang="zh-CN" altLang="en-US"/>
          </a:p>
        </p:txBody>
      </p:sp>
    </p:spTree>
    <p:extLst>
      <p:ext uri="{BB962C8B-B14F-4D97-AF65-F5344CB8AC3E}">
        <p14:creationId xmlns:p14="http://schemas.microsoft.com/office/powerpoint/2010/main" val="23694018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此算法结合了“标记</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清除”和“复制”两个算法的优点。也是分两阶段，第一阶段从根节点开始标记所有被引用对象，第二阶段遍历整个堆，把清除未标记对象并且把存活对象“压缩”到堆的其中一块，按顺序排放。此算法避免了“标记</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清除”的碎片问题，同时也避免了“复制”算法的空间问题。</a:t>
            </a:r>
            <a:endParaRPr lang="zh-CN" altLang="en-US" dirty="0"/>
          </a:p>
        </p:txBody>
      </p:sp>
      <p:sp>
        <p:nvSpPr>
          <p:cNvPr id="4" name="灯片编号占位符 3"/>
          <p:cNvSpPr>
            <a:spLocks noGrp="1"/>
          </p:cNvSpPr>
          <p:nvPr>
            <p:ph type="sldNum" sz="quarter" idx="10"/>
          </p:nvPr>
        </p:nvSpPr>
        <p:spPr/>
        <p:txBody>
          <a:bodyPr/>
          <a:lstStyle/>
          <a:p>
            <a:fld id="{57A752CB-F267-409C-B428-174C2912518B}" type="slidenum">
              <a:rPr lang="zh-CN" altLang="en-US" smtClean="0"/>
              <a:pPr/>
              <a:t>23</a:t>
            </a:fld>
            <a:endParaRPr lang="zh-CN" altLang="en-US"/>
          </a:p>
        </p:txBody>
      </p:sp>
    </p:spTree>
    <p:extLst>
      <p:ext uri="{BB962C8B-B14F-4D97-AF65-F5344CB8AC3E}">
        <p14:creationId xmlns:p14="http://schemas.microsoft.com/office/powerpoint/2010/main" val="40049492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）年轻代</a:t>
            </a:r>
            <a:r>
              <a:rPr lang="en-US" altLang="zh-CN" sz="1200" b="0" i="0" kern="1200" dirty="0" smtClean="0">
                <a:solidFill>
                  <a:schemeClr val="tx1"/>
                </a:solidFill>
                <a:effectLst/>
                <a:latin typeface="+mn-lt"/>
                <a:ea typeface="+mn-ea"/>
                <a:cs typeface="+mn-cs"/>
              </a:rPr>
              <a:t>:</a:t>
            </a:r>
          </a:p>
          <a:p>
            <a:r>
              <a:rPr lang="zh-CN" altLang="en-US" sz="1200" b="0" i="0" kern="1200" dirty="0" smtClean="0">
                <a:solidFill>
                  <a:schemeClr val="tx1"/>
                </a:solidFill>
                <a:effectLst/>
                <a:latin typeface="+mn-lt"/>
                <a:ea typeface="+mn-ea"/>
                <a:cs typeface="+mn-cs"/>
              </a:rPr>
              <a:t>所有新生成的对象首先都是放在年轻代的。年轻代的目标就是尽可能快速的收集掉那些生命周期短的对象。年轻代分三个区。一个</a:t>
            </a:r>
            <a:r>
              <a:rPr lang="en-US" altLang="zh-CN" sz="1200" b="0" i="0" kern="1200" dirty="0" smtClean="0">
                <a:solidFill>
                  <a:schemeClr val="tx1"/>
                </a:solidFill>
                <a:effectLst/>
                <a:latin typeface="+mn-lt"/>
                <a:ea typeface="+mn-ea"/>
                <a:cs typeface="+mn-cs"/>
              </a:rPr>
              <a:t>Eden</a:t>
            </a:r>
            <a:r>
              <a:rPr lang="zh-CN" altLang="en-US" sz="1200" b="0" i="0" kern="1200" dirty="0" smtClean="0">
                <a:solidFill>
                  <a:schemeClr val="tx1"/>
                </a:solidFill>
                <a:effectLst/>
                <a:latin typeface="+mn-lt"/>
                <a:ea typeface="+mn-ea"/>
                <a:cs typeface="+mn-cs"/>
              </a:rPr>
              <a:t>区，两个</a:t>
            </a:r>
            <a:r>
              <a:rPr lang="en-US" altLang="zh-CN" sz="1200" b="0" i="0" kern="1200" dirty="0" smtClean="0">
                <a:solidFill>
                  <a:schemeClr val="tx1"/>
                </a:solidFill>
                <a:effectLst/>
                <a:latin typeface="+mn-lt"/>
                <a:ea typeface="+mn-ea"/>
                <a:cs typeface="+mn-cs"/>
              </a:rPr>
              <a:t>Survivor</a:t>
            </a:r>
            <a:r>
              <a:rPr lang="zh-CN" altLang="en-US" sz="1200" b="0" i="0" kern="1200" dirty="0" smtClean="0">
                <a:solidFill>
                  <a:schemeClr val="tx1"/>
                </a:solidFill>
                <a:effectLst/>
                <a:latin typeface="+mn-lt"/>
                <a:ea typeface="+mn-ea"/>
                <a:cs typeface="+mn-cs"/>
              </a:rPr>
              <a:t>区</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一般而言</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a:t>
            </a:r>
          </a:p>
          <a:p>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2</a:t>
            </a:r>
            <a:r>
              <a:rPr lang="zh-CN" altLang="en-US" sz="1200" b="0" i="0" kern="1200" dirty="0" smtClean="0">
                <a:solidFill>
                  <a:schemeClr val="tx1"/>
                </a:solidFill>
                <a:effectLst/>
                <a:latin typeface="+mn-lt"/>
                <a:ea typeface="+mn-ea"/>
                <a:cs typeface="+mn-cs"/>
              </a:rPr>
              <a:t>）年老代</a:t>
            </a:r>
            <a:r>
              <a:rPr lang="en-US" altLang="zh-CN" sz="1200" b="0" i="0" kern="1200" dirty="0" smtClean="0">
                <a:solidFill>
                  <a:schemeClr val="tx1"/>
                </a:solidFill>
                <a:effectLst/>
                <a:latin typeface="+mn-lt"/>
                <a:ea typeface="+mn-ea"/>
                <a:cs typeface="+mn-cs"/>
              </a:rPr>
              <a:t>:</a:t>
            </a:r>
          </a:p>
          <a:p>
            <a:r>
              <a:rPr lang="zh-CN" altLang="en-US" sz="1200" b="0" i="0" kern="1200" dirty="0" smtClean="0">
                <a:solidFill>
                  <a:schemeClr val="tx1"/>
                </a:solidFill>
                <a:effectLst/>
                <a:latin typeface="+mn-lt"/>
                <a:ea typeface="+mn-ea"/>
                <a:cs typeface="+mn-cs"/>
              </a:rPr>
              <a:t>在年轻代中经历了</a:t>
            </a:r>
            <a:r>
              <a:rPr lang="en-US" altLang="zh-CN" sz="1200" b="0" i="0" kern="1200" dirty="0" smtClean="0">
                <a:solidFill>
                  <a:schemeClr val="tx1"/>
                </a:solidFill>
                <a:effectLst/>
                <a:latin typeface="+mn-lt"/>
                <a:ea typeface="+mn-ea"/>
                <a:cs typeface="+mn-cs"/>
              </a:rPr>
              <a:t>N</a:t>
            </a:r>
            <a:r>
              <a:rPr lang="zh-CN" altLang="en-US" sz="1200" b="0" i="0" kern="1200" dirty="0" smtClean="0">
                <a:solidFill>
                  <a:schemeClr val="tx1"/>
                </a:solidFill>
                <a:effectLst/>
                <a:latin typeface="+mn-lt"/>
                <a:ea typeface="+mn-ea"/>
                <a:cs typeface="+mn-cs"/>
              </a:rPr>
              <a:t>次垃圾回收后仍然存活的对象，就会被放到年老代中。因此，可以认为年老代中存放的都是一些生命周期较长的对象。</a:t>
            </a:r>
          </a:p>
          <a:p>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3</a:t>
            </a:r>
            <a:r>
              <a:rPr lang="zh-CN" altLang="en-US" sz="1200" b="0" i="0" kern="1200" dirty="0" smtClean="0">
                <a:solidFill>
                  <a:schemeClr val="tx1"/>
                </a:solidFill>
                <a:effectLst/>
                <a:latin typeface="+mn-lt"/>
                <a:ea typeface="+mn-ea"/>
                <a:cs typeface="+mn-cs"/>
              </a:rPr>
              <a:t>）持久代</a:t>
            </a:r>
            <a:r>
              <a:rPr lang="en-US" altLang="zh-CN" sz="1200" b="0" i="0" kern="1200" dirty="0" smtClean="0">
                <a:solidFill>
                  <a:schemeClr val="tx1"/>
                </a:solidFill>
                <a:effectLst/>
                <a:latin typeface="+mn-lt"/>
                <a:ea typeface="+mn-ea"/>
                <a:cs typeface="+mn-cs"/>
              </a:rPr>
              <a:t>:</a:t>
            </a:r>
          </a:p>
          <a:p>
            <a:r>
              <a:rPr lang="zh-CN" altLang="en-US" sz="1200" b="0" i="0" kern="1200" dirty="0" smtClean="0">
                <a:solidFill>
                  <a:schemeClr val="tx1"/>
                </a:solidFill>
                <a:effectLst/>
                <a:latin typeface="+mn-lt"/>
                <a:ea typeface="+mn-ea"/>
                <a:cs typeface="+mn-cs"/>
              </a:rPr>
              <a:t>用于存放静态文件，如今</a:t>
            </a:r>
            <a:r>
              <a:rPr lang="en-US" altLang="zh-CN" sz="1200" b="0" i="0" kern="1200" dirty="0" smtClean="0">
                <a:solidFill>
                  <a:schemeClr val="tx1"/>
                </a:solidFill>
                <a:effectLst/>
                <a:latin typeface="+mn-lt"/>
                <a:ea typeface="+mn-ea"/>
                <a:cs typeface="+mn-cs"/>
              </a:rPr>
              <a:t>Java</a:t>
            </a:r>
            <a:r>
              <a:rPr lang="zh-CN" altLang="en-US" sz="1200" b="0" i="0" kern="1200" dirty="0" smtClean="0">
                <a:solidFill>
                  <a:schemeClr val="tx1"/>
                </a:solidFill>
                <a:effectLst/>
                <a:latin typeface="+mn-lt"/>
                <a:ea typeface="+mn-ea"/>
                <a:cs typeface="+mn-cs"/>
              </a:rPr>
              <a:t>类、方法等。持久代对垃圾回收没有显著影响，但是有些应用可能动态生成或者调用一些</a:t>
            </a:r>
            <a:r>
              <a:rPr lang="en-US" altLang="zh-CN" sz="1200" b="0" i="0" kern="1200" dirty="0" smtClean="0">
                <a:solidFill>
                  <a:schemeClr val="tx1"/>
                </a:solidFill>
                <a:effectLst/>
                <a:latin typeface="+mn-lt"/>
                <a:ea typeface="+mn-ea"/>
                <a:cs typeface="+mn-cs"/>
              </a:rPr>
              <a:t>class</a:t>
            </a:r>
            <a:r>
              <a:rPr lang="zh-CN" altLang="en-US" sz="1200" b="0" i="0" kern="1200" dirty="0" smtClean="0">
                <a:solidFill>
                  <a:schemeClr val="tx1"/>
                </a:solidFill>
                <a:effectLst/>
                <a:latin typeface="+mn-lt"/>
                <a:ea typeface="+mn-ea"/>
                <a:cs typeface="+mn-cs"/>
              </a:rPr>
              <a:t>，例如</a:t>
            </a:r>
            <a:r>
              <a:rPr lang="en-US" altLang="zh-CN" sz="1200" b="0" i="0" kern="1200" dirty="0" smtClean="0">
                <a:solidFill>
                  <a:schemeClr val="tx1"/>
                </a:solidFill>
                <a:effectLst/>
                <a:latin typeface="+mn-lt"/>
                <a:ea typeface="+mn-ea"/>
                <a:cs typeface="+mn-cs"/>
              </a:rPr>
              <a:t>Hibernate</a:t>
            </a:r>
            <a:r>
              <a:rPr lang="zh-CN" altLang="en-US" sz="1200" b="0" i="0" kern="1200" dirty="0" smtClean="0">
                <a:solidFill>
                  <a:schemeClr val="tx1"/>
                </a:solidFill>
                <a:effectLst/>
                <a:latin typeface="+mn-lt"/>
                <a:ea typeface="+mn-ea"/>
                <a:cs typeface="+mn-cs"/>
              </a:rPr>
              <a:t>等，在这种时候需要设置一个比较大的持久代空间来存放这些运行过程中新增的类。持久代大小通过</a:t>
            </a:r>
            <a:r>
              <a:rPr lang="en-US" altLang="zh-CN"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XX:MaxPermSize</a:t>
            </a:r>
            <a:r>
              <a:rPr lang="en-US" altLang="zh-CN" sz="1200" b="0" i="0" kern="1200" dirty="0" smtClean="0">
                <a:solidFill>
                  <a:schemeClr val="tx1"/>
                </a:solidFill>
                <a:effectLst/>
                <a:latin typeface="+mn-lt"/>
                <a:ea typeface="+mn-ea"/>
                <a:cs typeface="+mn-cs"/>
              </a:rPr>
              <a:t>=&lt;N&gt;</a:t>
            </a:r>
            <a:r>
              <a:rPr lang="zh-CN" altLang="en-US" sz="1200" b="0" i="0" kern="1200" dirty="0" smtClean="0">
                <a:solidFill>
                  <a:schemeClr val="tx1"/>
                </a:solidFill>
                <a:effectLst/>
                <a:latin typeface="+mn-lt"/>
                <a:ea typeface="+mn-ea"/>
                <a:cs typeface="+mn-cs"/>
              </a:rPr>
              <a:t>进行设置。</a:t>
            </a:r>
          </a:p>
        </p:txBody>
      </p:sp>
      <p:sp>
        <p:nvSpPr>
          <p:cNvPr id="4" name="灯片编号占位符 3"/>
          <p:cNvSpPr>
            <a:spLocks noGrp="1"/>
          </p:cNvSpPr>
          <p:nvPr>
            <p:ph type="sldNum" sz="quarter" idx="10"/>
          </p:nvPr>
        </p:nvSpPr>
        <p:spPr/>
        <p:txBody>
          <a:bodyPr/>
          <a:lstStyle/>
          <a:p>
            <a:fld id="{57A752CB-F267-409C-B428-174C2912518B}" type="slidenum">
              <a:rPr lang="zh-CN" altLang="en-US" smtClean="0"/>
              <a:pPr/>
              <a:t>24</a:t>
            </a:fld>
            <a:endParaRPr lang="zh-CN" altLang="en-US"/>
          </a:p>
        </p:txBody>
      </p:sp>
    </p:spTree>
    <p:extLst>
      <p:ext uri="{BB962C8B-B14F-4D97-AF65-F5344CB8AC3E}">
        <p14:creationId xmlns:p14="http://schemas.microsoft.com/office/powerpoint/2010/main" val="23442688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b="0" i="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57A752CB-F267-409C-B428-174C2912518B}" type="slidenum">
              <a:rPr lang="zh-CN" altLang="en-US" smtClean="0"/>
              <a:pPr/>
              <a:t>25</a:t>
            </a:fld>
            <a:endParaRPr lang="zh-CN" altLang="en-US"/>
          </a:p>
        </p:txBody>
      </p:sp>
    </p:spTree>
    <p:extLst>
      <p:ext uri="{BB962C8B-B14F-4D97-AF65-F5344CB8AC3E}">
        <p14:creationId xmlns:p14="http://schemas.microsoft.com/office/powerpoint/2010/main" val="17107756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7A752CB-F267-409C-B428-174C2912518B}" type="slidenum">
              <a:rPr lang="zh-CN" altLang="en-US" smtClean="0"/>
              <a:pPr/>
              <a:t>26</a:t>
            </a:fld>
            <a:endParaRPr lang="zh-CN" altLang="en-US"/>
          </a:p>
        </p:txBody>
      </p:sp>
    </p:spTree>
    <p:extLst>
      <p:ext uri="{BB962C8B-B14F-4D97-AF65-F5344CB8AC3E}">
        <p14:creationId xmlns:p14="http://schemas.microsoft.com/office/powerpoint/2010/main" val="21516977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7A752CB-F267-409C-B428-174C2912518B}" type="slidenum">
              <a:rPr lang="zh-CN" altLang="en-US" smtClean="0"/>
              <a:pPr/>
              <a:t>27</a:t>
            </a:fld>
            <a:endParaRPr lang="zh-CN" altLang="en-US"/>
          </a:p>
        </p:txBody>
      </p:sp>
    </p:spTree>
    <p:extLst>
      <p:ext uri="{BB962C8B-B14F-4D97-AF65-F5344CB8AC3E}">
        <p14:creationId xmlns:p14="http://schemas.microsoft.com/office/powerpoint/2010/main" val="39784209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7A752CB-F267-409C-B428-174C2912518B}" type="slidenum">
              <a:rPr lang="zh-CN" altLang="en-US" smtClean="0"/>
              <a:pPr/>
              <a:t>28</a:t>
            </a:fld>
            <a:endParaRPr lang="zh-CN" altLang="en-US"/>
          </a:p>
        </p:txBody>
      </p:sp>
    </p:spTree>
    <p:extLst>
      <p:ext uri="{BB962C8B-B14F-4D97-AF65-F5344CB8AC3E}">
        <p14:creationId xmlns:p14="http://schemas.microsoft.com/office/powerpoint/2010/main" val="17963102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7A752CB-F267-409C-B428-174C2912518B}" type="slidenum">
              <a:rPr lang="zh-CN" altLang="en-US" smtClean="0"/>
              <a:pPr/>
              <a:t>29</a:t>
            </a:fld>
            <a:endParaRPr lang="zh-CN" altLang="en-US"/>
          </a:p>
        </p:txBody>
      </p:sp>
    </p:spTree>
    <p:extLst>
      <p:ext uri="{BB962C8B-B14F-4D97-AF65-F5344CB8AC3E}">
        <p14:creationId xmlns:p14="http://schemas.microsoft.com/office/powerpoint/2010/main" val="42617237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用单线程处理所有垃圾回收工作，因为无需多线程交互，所以效率比较高。但是，也无法使用多处理器的优势，所以此收集器适合单处理器机器。</a:t>
            </a:r>
            <a:endParaRPr lang="zh-CN" altLang="en-US" dirty="0"/>
          </a:p>
        </p:txBody>
      </p:sp>
      <p:sp>
        <p:nvSpPr>
          <p:cNvPr id="4" name="灯片编号占位符 3"/>
          <p:cNvSpPr>
            <a:spLocks noGrp="1"/>
          </p:cNvSpPr>
          <p:nvPr>
            <p:ph type="sldNum" sz="quarter" idx="10"/>
          </p:nvPr>
        </p:nvSpPr>
        <p:spPr/>
        <p:txBody>
          <a:bodyPr/>
          <a:lstStyle/>
          <a:p>
            <a:fld id="{57A752CB-F267-409C-B428-174C2912518B}" type="slidenum">
              <a:rPr lang="zh-CN" altLang="en-US" smtClean="0"/>
              <a:pPr/>
              <a:t>30</a:t>
            </a:fld>
            <a:endParaRPr lang="zh-CN" altLang="en-US"/>
          </a:p>
        </p:txBody>
      </p:sp>
    </p:spTree>
    <p:extLst>
      <p:ext uri="{BB962C8B-B14F-4D97-AF65-F5344CB8AC3E}">
        <p14:creationId xmlns:p14="http://schemas.microsoft.com/office/powerpoint/2010/main" val="16287270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对年轻代进行并行垃圾回收，因此可以减少垃圾回收时间。一般在多线程多处理器机器上使用。</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并行收集器在</a:t>
            </a:r>
            <a:r>
              <a:rPr lang="en-US" altLang="zh-CN" sz="1200" b="0" i="0" kern="1200" dirty="0" smtClean="0">
                <a:solidFill>
                  <a:schemeClr val="tx1"/>
                </a:solidFill>
                <a:effectLst/>
                <a:latin typeface="+mn-lt"/>
                <a:ea typeface="+mn-ea"/>
                <a:cs typeface="+mn-cs"/>
              </a:rPr>
              <a:t>J2SE5.0</a:t>
            </a:r>
            <a:r>
              <a:rPr lang="zh-CN" altLang="en-US" sz="1200" b="0" i="0" kern="1200" dirty="0" smtClean="0">
                <a:solidFill>
                  <a:schemeClr val="tx1"/>
                </a:solidFill>
                <a:effectLst/>
                <a:latin typeface="+mn-lt"/>
                <a:ea typeface="+mn-ea"/>
                <a:cs typeface="+mn-cs"/>
              </a:rPr>
              <a:t>引入，在</a:t>
            </a:r>
            <a:r>
              <a:rPr lang="en-US" altLang="zh-CN" sz="1200" b="0" i="0" kern="1200" dirty="0" smtClean="0">
                <a:solidFill>
                  <a:schemeClr val="tx1"/>
                </a:solidFill>
                <a:effectLst/>
                <a:latin typeface="+mn-lt"/>
                <a:ea typeface="+mn-ea"/>
                <a:cs typeface="+mn-cs"/>
              </a:rPr>
              <a:t>Java SE6.0</a:t>
            </a:r>
            <a:r>
              <a:rPr lang="zh-CN" altLang="en-US" sz="1200" b="0" i="0" kern="1200" dirty="0" smtClean="0">
                <a:solidFill>
                  <a:schemeClr val="tx1"/>
                </a:solidFill>
                <a:effectLst/>
                <a:latin typeface="+mn-lt"/>
                <a:ea typeface="+mn-ea"/>
                <a:cs typeface="+mn-cs"/>
              </a:rPr>
              <a:t>中进行了增强</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可以对年老代进行并行收集。</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使用</a:t>
            </a:r>
            <a:r>
              <a:rPr lang="en-US" altLang="zh-CN"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XX:ParallelGCThreads</a:t>
            </a:r>
            <a:r>
              <a:rPr lang="en-US" altLang="zh-CN" sz="1200" b="0" i="0" kern="1200" dirty="0" smtClean="0">
                <a:solidFill>
                  <a:schemeClr val="tx1"/>
                </a:solidFill>
                <a:effectLst/>
                <a:latin typeface="+mn-lt"/>
                <a:ea typeface="+mn-ea"/>
                <a:cs typeface="+mn-cs"/>
              </a:rPr>
              <a:t>=&lt;N&gt;</a:t>
            </a:r>
            <a:r>
              <a:rPr lang="zh-CN" altLang="en-US" sz="1200" b="0" i="0" kern="1200" dirty="0" smtClean="0">
                <a:solidFill>
                  <a:schemeClr val="tx1"/>
                </a:solidFill>
                <a:effectLst/>
                <a:latin typeface="+mn-lt"/>
                <a:ea typeface="+mn-ea"/>
                <a:cs typeface="+mn-cs"/>
              </a:rPr>
              <a:t>设置并行垃圾回收的线程数。此值可以设置与机器处理器数量相等。</a:t>
            </a:r>
            <a:endParaRPr lang="en-US" altLang="zh-CN" sz="1200" b="0" i="0" kern="1200" dirty="0" smtClean="0">
              <a:solidFill>
                <a:schemeClr val="tx1"/>
              </a:solidFill>
              <a:effectLst/>
              <a:latin typeface="+mn-lt"/>
              <a:ea typeface="+mn-ea"/>
              <a:cs typeface="+mn-cs"/>
            </a:endParaRPr>
          </a:p>
          <a:p>
            <a:r>
              <a:rPr lang="zh-CN" altLang="en-US" sz="1200" b="1" i="0" kern="1200" dirty="0" smtClean="0">
                <a:solidFill>
                  <a:schemeClr val="tx1"/>
                </a:solidFill>
                <a:effectLst/>
                <a:latin typeface="+mn-lt"/>
                <a:ea typeface="+mn-ea"/>
                <a:cs typeface="+mn-cs"/>
              </a:rPr>
              <a:t>最大垃圾回收暂停：</a:t>
            </a:r>
            <a:r>
              <a:rPr lang="zh-CN" altLang="en-US" sz="1200" b="0" i="0" kern="1200" dirty="0" smtClean="0">
                <a:solidFill>
                  <a:schemeClr val="tx1"/>
                </a:solidFill>
                <a:effectLst/>
                <a:latin typeface="+mn-lt"/>
                <a:ea typeface="+mn-ea"/>
                <a:cs typeface="+mn-cs"/>
              </a:rPr>
              <a:t>指定垃圾回收时的最长暂停时间，通过</a:t>
            </a:r>
            <a:r>
              <a:rPr lang="en-US" altLang="zh-CN"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XX:MaxGCPauseMillis</a:t>
            </a:r>
            <a:r>
              <a:rPr lang="en-US" altLang="zh-CN" sz="1200" b="0" i="0" kern="1200" dirty="0" smtClean="0">
                <a:solidFill>
                  <a:schemeClr val="tx1"/>
                </a:solidFill>
                <a:effectLst/>
                <a:latin typeface="+mn-lt"/>
                <a:ea typeface="+mn-ea"/>
                <a:cs typeface="+mn-cs"/>
              </a:rPr>
              <a:t>=&lt;N&gt;</a:t>
            </a:r>
            <a:r>
              <a:rPr lang="zh-CN" altLang="en-US" sz="1200" b="0" i="0" kern="1200" dirty="0" smtClean="0">
                <a:solidFill>
                  <a:schemeClr val="tx1"/>
                </a:solidFill>
                <a:effectLst/>
                <a:latin typeface="+mn-lt"/>
                <a:ea typeface="+mn-ea"/>
                <a:cs typeface="+mn-cs"/>
              </a:rPr>
              <a:t>指定。</a:t>
            </a:r>
            <a:r>
              <a:rPr lang="en-US" altLang="zh-CN" sz="1200" b="0" i="0" kern="1200" dirty="0" smtClean="0">
                <a:solidFill>
                  <a:schemeClr val="tx1"/>
                </a:solidFill>
                <a:effectLst/>
                <a:latin typeface="+mn-lt"/>
                <a:ea typeface="+mn-ea"/>
                <a:cs typeface="+mn-cs"/>
              </a:rPr>
              <a:t>&lt;N&gt;</a:t>
            </a:r>
            <a:r>
              <a:rPr lang="zh-CN" altLang="en-US" sz="1200" b="0" i="0" kern="1200" dirty="0" smtClean="0">
                <a:solidFill>
                  <a:schemeClr val="tx1"/>
                </a:solidFill>
                <a:effectLst/>
                <a:latin typeface="+mn-lt"/>
                <a:ea typeface="+mn-ea"/>
                <a:cs typeface="+mn-cs"/>
              </a:rPr>
              <a:t>为毫秒</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如果指定了此值的话，堆大小和垃圾回收相关参数会进行调整以达到指定值。设定此值可能会减少应用的吞吐量。</a:t>
            </a:r>
          </a:p>
          <a:p>
            <a:r>
              <a:rPr lang="zh-CN" altLang="en-US" sz="1200" b="1" i="0" kern="1200" dirty="0" smtClean="0">
                <a:solidFill>
                  <a:schemeClr val="tx1"/>
                </a:solidFill>
                <a:effectLst/>
                <a:latin typeface="+mn-lt"/>
                <a:ea typeface="+mn-ea"/>
                <a:cs typeface="+mn-cs"/>
              </a:rPr>
              <a:t>吞吐量：</a:t>
            </a:r>
            <a:r>
              <a:rPr lang="zh-CN" altLang="en-US" sz="1200" b="0" i="0" kern="1200" dirty="0" smtClean="0">
                <a:solidFill>
                  <a:schemeClr val="tx1"/>
                </a:solidFill>
                <a:effectLst/>
                <a:latin typeface="+mn-lt"/>
                <a:ea typeface="+mn-ea"/>
                <a:cs typeface="+mn-cs"/>
              </a:rPr>
              <a:t>吞吐量为垃圾回收时间与非垃圾回收时间的比值，通过</a:t>
            </a:r>
            <a:r>
              <a:rPr lang="en-US" altLang="zh-CN"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XX:GCTimeRatio</a:t>
            </a:r>
            <a:r>
              <a:rPr lang="en-US" altLang="zh-CN" sz="1200" b="0" i="0" kern="1200" dirty="0" smtClean="0">
                <a:solidFill>
                  <a:schemeClr val="tx1"/>
                </a:solidFill>
                <a:effectLst/>
                <a:latin typeface="+mn-lt"/>
                <a:ea typeface="+mn-ea"/>
                <a:cs typeface="+mn-cs"/>
              </a:rPr>
              <a:t>=&lt;N&gt;</a:t>
            </a:r>
            <a:r>
              <a:rPr lang="zh-CN" altLang="en-US" sz="1200" b="0" i="0" kern="1200" dirty="0" smtClean="0">
                <a:solidFill>
                  <a:schemeClr val="tx1"/>
                </a:solidFill>
                <a:effectLst/>
                <a:latin typeface="+mn-lt"/>
                <a:ea typeface="+mn-ea"/>
                <a:cs typeface="+mn-cs"/>
              </a:rPr>
              <a:t>来设定，公式为</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1+N</a:t>
            </a:r>
            <a:r>
              <a:rPr lang="zh-CN" altLang="en-US" sz="1200" b="0" i="0" kern="1200" dirty="0" smtClean="0">
                <a:solidFill>
                  <a:schemeClr val="tx1"/>
                </a:solidFill>
                <a:effectLst/>
                <a:latin typeface="+mn-lt"/>
                <a:ea typeface="+mn-ea"/>
                <a:cs typeface="+mn-cs"/>
              </a:rPr>
              <a:t>）。例如，</a:t>
            </a:r>
            <a:r>
              <a:rPr lang="en-US" altLang="zh-CN"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XX:GCTimeRatio</a:t>
            </a:r>
            <a:r>
              <a:rPr lang="en-US" altLang="zh-CN" sz="1200" b="0" i="0" kern="1200" dirty="0" smtClean="0">
                <a:solidFill>
                  <a:schemeClr val="tx1"/>
                </a:solidFill>
                <a:effectLst/>
                <a:latin typeface="+mn-lt"/>
                <a:ea typeface="+mn-ea"/>
                <a:cs typeface="+mn-cs"/>
              </a:rPr>
              <a:t>=19</a:t>
            </a:r>
            <a:r>
              <a:rPr lang="zh-CN" altLang="en-US" sz="1200" b="0" i="0" kern="1200" dirty="0" smtClean="0">
                <a:solidFill>
                  <a:schemeClr val="tx1"/>
                </a:solidFill>
                <a:effectLst/>
                <a:latin typeface="+mn-lt"/>
                <a:ea typeface="+mn-ea"/>
                <a:cs typeface="+mn-cs"/>
              </a:rPr>
              <a:t>时，表示</a:t>
            </a:r>
            <a:r>
              <a:rPr lang="en-US" altLang="zh-CN" sz="1200" b="0" i="0" kern="1200" dirty="0" smtClean="0">
                <a:solidFill>
                  <a:schemeClr val="tx1"/>
                </a:solidFill>
                <a:effectLst/>
                <a:latin typeface="+mn-lt"/>
                <a:ea typeface="+mn-ea"/>
                <a:cs typeface="+mn-cs"/>
              </a:rPr>
              <a:t>5%</a:t>
            </a:r>
            <a:r>
              <a:rPr lang="zh-CN" altLang="en-US" sz="1200" b="0" i="0" kern="1200" dirty="0" smtClean="0">
                <a:solidFill>
                  <a:schemeClr val="tx1"/>
                </a:solidFill>
                <a:effectLst/>
                <a:latin typeface="+mn-lt"/>
                <a:ea typeface="+mn-ea"/>
                <a:cs typeface="+mn-cs"/>
              </a:rPr>
              <a:t>的时间用于垃圾回收。默认情况为</a:t>
            </a:r>
            <a:r>
              <a:rPr lang="en-US" altLang="zh-CN" sz="1200" b="0" i="0" kern="1200" dirty="0" smtClean="0">
                <a:solidFill>
                  <a:schemeClr val="tx1"/>
                </a:solidFill>
                <a:effectLst/>
                <a:latin typeface="+mn-lt"/>
                <a:ea typeface="+mn-ea"/>
                <a:cs typeface="+mn-cs"/>
              </a:rPr>
              <a:t>99</a:t>
            </a:r>
            <a:r>
              <a:rPr lang="zh-CN" altLang="en-US" sz="1200" b="0" i="0" kern="1200" dirty="0" smtClean="0">
                <a:solidFill>
                  <a:schemeClr val="tx1"/>
                </a:solidFill>
                <a:effectLst/>
                <a:latin typeface="+mn-lt"/>
                <a:ea typeface="+mn-ea"/>
                <a:cs typeface="+mn-cs"/>
              </a:rPr>
              <a:t>，即</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的时间用于垃圾回收。</a:t>
            </a:r>
          </a:p>
          <a:p>
            <a:endParaRPr lang="zh-CN" altLang="en-US" dirty="0"/>
          </a:p>
        </p:txBody>
      </p:sp>
      <p:sp>
        <p:nvSpPr>
          <p:cNvPr id="4" name="灯片编号占位符 3"/>
          <p:cNvSpPr>
            <a:spLocks noGrp="1"/>
          </p:cNvSpPr>
          <p:nvPr>
            <p:ph type="sldNum" sz="quarter" idx="10"/>
          </p:nvPr>
        </p:nvSpPr>
        <p:spPr/>
        <p:txBody>
          <a:bodyPr/>
          <a:lstStyle/>
          <a:p>
            <a:fld id="{57A752CB-F267-409C-B428-174C2912518B}" type="slidenum">
              <a:rPr lang="zh-CN" altLang="en-US" smtClean="0"/>
              <a:pPr/>
              <a:t>31</a:t>
            </a:fld>
            <a:endParaRPr lang="zh-CN" altLang="en-US"/>
          </a:p>
        </p:txBody>
      </p:sp>
    </p:spTree>
    <p:extLst>
      <p:ext uri="{BB962C8B-B14F-4D97-AF65-F5344CB8AC3E}">
        <p14:creationId xmlns:p14="http://schemas.microsoft.com/office/powerpoint/2010/main" val="38016972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六步</a:t>
            </a:r>
            <a:endParaRPr lang="en-US" altLang="zh-CN" sz="1200" b="0" i="0" kern="1200" dirty="0" smtClean="0">
              <a:solidFill>
                <a:schemeClr val="tx1"/>
              </a:solidFill>
              <a:effectLst/>
              <a:latin typeface="+mn-lt"/>
              <a:ea typeface="+mn-ea"/>
              <a:cs typeface="+mn-cs"/>
            </a:endParaRPr>
          </a:p>
          <a:p>
            <a:r>
              <a:rPr lang="en-US" altLang="zh-CN" sz="1200" b="0" i="0" kern="1200" dirty="0" smtClean="0">
                <a:solidFill>
                  <a:schemeClr val="tx1"/>
                </a:solidFill>
                <a:effectLst/>
                <a:latin typeface="+mn-lt"/>
                <a:ea typeface="+mn-ea"/>
                <a:cs typeface="+mn-cs"/>
              </a:rPr>
              <a:t># STW initial mark</a:t>
            </a:r>
            <a:r>
              <a:rPr lang="en-US" altLang="zh-CN" dirty="0" smtClean="0"/>
              <a:t/>
            </a:r>
            <a:br>
              <a:rPr lang="en-US" altLang="zh-CN" dirty="0" smtClean="0"/>
            </a:br>
            <a:r>
              <a:rPr lang="en-US" altLang="zh-CN" sz="1200" b="0" i="0" kern="1200" dirty="0" smtClean="0">
                <a:solidFill>
                  <a:schemeClr val="tx1"/>
                </a:solidFill>
                <a:effectLst/>
                <a:latin typeface="+mn-lt"/>
                <a:ea typeface="+mn-ea"/>
                <a:cs typeface="+mn-cs"/>
              </a:rPr>
              <a:t># Concurrent marking</a:t>
            </a:r>
            <a:r>
              <a:rPr lang="en-US" altLang="zh-CN" dirty="0" smtClean="0"/>
              <a:t/>
            </a:r>
            <a:br>
              <a:rPr lang="en-US" altLang="zh-CN" dirty="0" smtClean="0"/>
            </a:br>
            <a:r>
              <a:rPr lang="en-US" altLang="zh-CN" sz="1200" b="0" i="0" kern="1200" dirty="0" smtClean="0">
                <a:solidFill>
                  <a:schemeClr val="tx1"/>
                </a:solidFill>
                <a:effectLst/>
                <a:latin typeface="+mn-lt"/>
                <a:ea typeface="+mn-ea"/>
                <a:cs typeface="+mn-cs"/>
              </a:rPr>
              <a:t># Concurrent </a:t>
            </a:r>
            <a:r>
              <a:rPr lang="en-US" altLang="zh-CN" sz="1200" b="0" i="0" kern="1200" dirty="0" err="1" smtClean="0">
                <a:solidFill>
                  <a:schemeClr val="tx1"/>
                </a:solidFill>
                <a:effectLst/>
                <a:latin typeface="+mn-lt"/>
                <a:ea typeface="+mn-ea"/>
                <a:cs typeface="+mn-cs"/>
              </a:rPr>
              <a:t>precleaning</a:t>
            </a:r>
            <a:r>
              <a:rPr lang="en-US" altLang="zh-CN" dirty="0" smtClean="0"/>
              <a:t/>
            </a:r>
            <a:br>
              <a:rPr lang="en-US" altLang="zh-CN" dirty="0" smtClean="0"/>
            </a:br>
            <a:r>
              <a:rPr lang="en-US" altLang="zh-CN" sz="1200" b="0" i="0" kern="1200" dirty="0" smtClean="0">
                <a:solidFill>
                  <a:schemeClr val="tx1"/>
                </a:solidFill>
                <a:effectLst/>
                <a:latin typeface="+mn-lt"/>
                <a:ea typeface="+mn-ea"/>
                <a:cs typeface="+mn-cs"/>
              </a:rPr>
              <a:t># STW remark</a:t>
            </a:r>
            <a:r>
              <a:rPr lang="en-US" altLang="zh-CN" dirty="0" smtClean="0"/>
              <a:t/>
            </a:r>
            <a:br>
              <a:rPr lang="en-US" altLang="zh-CN" dirty="0" smtClean="0"/>
            </a:br>
            <a:r>
              <a:rPr lang="en-US" altLang="zh-CN" sz="1200" b="0" i="0" kern="1200" dirty="0" smtClean="0">
                <a:solidFill>
                  <a:schemeClr val="tx1"/>
                </a:solidFill>
                <a:effectLst/>
                <a:latin typeface="+mn-lt"/>
                <a:ea typeface="+mn-ea"/>
                <a:cs typeface="+mn-cs"/>
              </a:rPr>
              <a:t># Concurrent sweeping</a:t>
            </a:r>
            <a:r>
              <a:rPr lang="en-US" altLang="zh-CN" dirty="0" smtClean="0"/>
              <a:t/>
            </a:r>
            <a:br>
              <a:rPr lang="en-US" altLang="zh-CN" dirty="0" smtClean="0"/>
            </a:br>
            <a:r>
              <a:rPr lang="en-US" altLang="zh-CN" sz="1200" b="0" i="0" kern="1200" dirty="0" smtClean="0">
                <a:solidFill>
                  <a:schemeClr val="tx1"/>
                </a:solidFill>
                <a:effectLst/>
                <a:latin typeface="+mn-lt"/>
                <a:ea typeface="+mn-ea"/>
                <a:cs typeface="+mn-cs"/>
              </a:rPr>
              <a:t># Concurrent reset</a:t>
            </a:r>
            <a:endParaRPr lang="zh-CN" altLang="en-US" dirty="0"/>
          </a:p>
        </p:txBody>
      </p:sp>
      <p:sp>
        <p:nvSpPr>
          <p:cNvPr id="4" name="灯片编号占位符 3"/>
          <p:cNvSpPr>
            <a:spLocks noGrp="1"/>
          </p:cNvSpPr>
          <p:nvPr>
            <p:ph type="sldNum" sz="quarter" idx="10"/>
          </p:nvPr>
        </p:nvSpPr>
        <p:spPr/>
        <p:txBody>
          <a:bodyPr/>
          <a:lstStyle/>
          <a:p>
            <a:fld id="{57A752CB-F267-409C-B428-174C2912518B}" type="slidenum">
              <a:rPr lang="zh-CN" altLang="en-US" smtClean="0"/>
              <a:pPr/>
              <a:t>32</a:t>
            </a:fld>
            <a:endParaRPr lang="zh-CN" altLang="en-US"/>
          </a:p>
        </p:txBody>
      </p:sp>
    </p:spTree>
    <p:extLst>
      <p:ext uri="{BB962C8B-B14F-4D97-AF65-F5344CB8AC3E}">
        <p14:creationId xmlns:p14="http://schemas.microsoft.com/office/powerpoint/2010/main" val="7934429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7A752CB-F267-409C-B428-174C2912518B}" type="slidenum">
              <a:rPr lang="zh-CN" altLang="en-US" smtClean="0"/>
              <a:pPr/>
              <a:t>34</a:t>
            </a:fld>
            <a:endParaRPr lang="zh-CN" altLang="en-US"/>
          </a:p>
        </p:txBody>
      </p:sp>
    </p:spTree>
    <p:extLst>
      <p:ext uri="{BB962C8B-B14F-4D97-AF65-F5344CB8AC3E}">
        <p14:creationId xmlns:p14="http://schemas.microsoft.com/office/powerpoint/2010/main" val="1695626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7A752CB-F267-409C-B428-174C2912518B}" type="slidenum">
              <a:rPr lang="zh-CN" altLang="en-US" smtClean="0"/>
              <a:pPr/>
              <a:t>35</a:t>
            </a:fld>
            <a:endParaRPr lang="zh-CN" altLang="en-US"/>
          </a:p>
        </p:txBody>
      </p:sp>
    </p:spTree>
    <p:extLst>
      <p:ext uri="{BB962C8B-B14F-4D97-AF65-F5344CB8AC3E}">
        <p14:creationId xmlns:p14="http://schemas.microsoft.com/office/powerpoint/2010/main" val="31608943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7A752CB-F267-409C-B428-174C2912518B}" type="slidenum">
              <a:rPr lang="zh-CN" altLang="en-US" smtClean="0"/>
              <a:pPr/>
              <a:t>36</a:t>
            </a:fld>
            <a:endParaRPr lang="zh-CN" altLang="en-US"/>
          </a:p>
        </p:txBody>
      </p:sp>
    </p:spTree>
    <p:extLst>
      <p:ext uri="{BB962C8B-B14F-4D97-AF65-F5344CB8AC3E}">
        <p14:creationId xmlns:p14="http://schemas.microsoft.com/office/powerpoint/2010/main" val="6556072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7A752CB-F267-409C-B428-174C2912518B}" type="slidenum">
              <a:rPr lang="zh-CN" altLang="en-US" smtClean="0"/>
              <a:pPr/>
              <a:t>40</a:t>
            </a:fld>
            <a:endParaRPr lang="zh-CN" altLang="en-US"/>
          </a:p>
        </p:txBody>
      </p:sp>
    </p:spTree>
    <p:extLst>
      <p:ext uri="{BB962C8B-B14F-4D97-AF65-F5344CB8AC3E}">
        <p14:creationId xmlns:p14="http://schemas.microsoft.com/office/powerpoint/2010/main" val="32404368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7A752CB-F267-409C-B428-174C2912518B}" type="slidenum">
              <a:rPr lang="zh-CN" altLang="en-US" smtClean="0"/>
              <a:pPr/>
              <a:t>41</a:t>
            </a:fld>
            <a:endParaRPr lang="zh-CN" altLang="en-US"/>
          </a:p>
        </p:txBody>
      </p:sp>
    </p:spTree>
    <p:extLst>
      <p:ext uri="{BB962C8B-B14F-4D97-AF65-F5344CB8AC3E}">
        <p14:creationId xmlns:p14="http://schemas.microsoft.com/office/powerpoint/2010/main" val="19087170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7A752CB-F267-409C-B428-174C2912518B}" type="slidenum">
              <a:rPr lang="zh-CN" altLang="en-US" smtClean="0"/>
              <a:pPr/>
              <a:t>42</a:t>
            </a:fld>
            <a:endParaRPr lang="zh-CN" altLang="en-US"/>
          </a:p>
        </p:txBody>
      </p:sp>
    </p:spTree>
    <p:extLst>
      <p:ext uri="{BB962C8B-B14F-4D97-AF65-F5344CB8AC3E}">
        <p14:creationId xmlns:p14="http://schemas.microsoft.com/office/powerpoint/2010/main" val="8479693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并行：多个</a:t>
            </a:r>
            <a:r>
              <a:rPr lang="en-US" altLang="zh-CN" sz="1200" b="0" i="0" kern="1200" dirty="0" err="1" smtClean="0">
                <a:solidFill>
                  <a:schemeClr val="tx1"/>
                </a:solidFill>
                <a:effectLst/>
                <a:latin typeface="+mn-lt"/>
                <a:ea typeface="+mn-ea"/>
                <a:cs typeface="+mn-cs"/>
              </a:rPr>
              <a:t>cpu</a:t>
            </a:r>
            <a:r>
              <a:rPr lang="zh-CN" altLang="en-US" sz="1200" b="0" i="0" kern="1200" dirty="0" smtClean="0">
                <a:solidFill>
                  <a:schemeClr val="tx1"/>
                </a:solidFill>
                <a:effectLst/>
                <a:latin typeface="+mn-lt"/>
                <a:ea typeface="+mn-ea"/>
                <a:cs typeface="+mn-cs"/>
              </a:rPr>
              <a:t>实例或者多台机器同时执行一段处理逻辑，是真正的同时。</a:t>
            </a:r>
          </a:p>
          <a:p>
            <a:r>
              <a:rPr lang="zh-CN" altLang="en-US" sz="1200" b="0" i="0" kern="1200" dirty="0" smtClean="0">
                <a:solidFill>
                  <a:schemeClr val="tx1"/>
                </a:solidFill>
                <a:effectLst/>
                <a:latin typeface="+mn-lt"/>
                <a:ea typeface="+mn-ea"/>
                <a:cs typeface="+mn-cs"/>
              </a:rPr>
              <a:t>并发：通过</a:t>
            </a:r>
            <a:r>
              <a:rPr lang="en-US" altLang="zh-CN" sz="1200" b="0" i="0" kern="1200" dirty="0" err="1" smtClean="0">
                <a:solidFill>
                  <a:schemeClr val="tx1"/>
                </a:solidFill>
                <a:effectLst/>
                <a:latin typeface="+mn-lt"/>
                <a:ea typeface="+mn-ea"/>
                <a:cs typeface="+mn-cs"/>
              </a:rPr>
              <a:t>cpu</a:t>
            </a:r>
            <a:r>
              <a:rPr lang="zh-CN" altLang="en-US" sz="1200" b="0" i="0" kern="1200" dirty="0" smtClean="0">
                <a:solidFill>
                  <a:schemeClr val="tx1"/>
                </a:solidFill>
                <a:effectLst/>
                <a:latin typeface="+mn-lt"/>
                <a:ea typeface="+mn-ea"/>
                <a:cs typeface="+mn-cs"/>
              </a:rPr>
              <a:t>调度算法，让用户看上去同时执行，实际上从</a:t>
            </a:r>
            <a:r>
              <a:rPr lang="en-US" altLang="zh-CN" sz="1200" b="0" i="0" kern="1200" dirty="0" err="1" smtClean="0">
                <a:solidFill>
                  <a:schemeClr val="tx1"/>
                </a:solidFill>
                <a:effectLst/>
                <a:latin typeface="+mn-lt"/>
                <a:ea typeface="+mn-ea"/>
                <a:cs typeface="+mn-cs"/>
              </a:rPr>
              <a:t>cpu</a:t>
            </a:r>
            <a:r>
              <a:rPr lang="zh-CN" altLang="en-US" sz="1200" b="0" i="0" kern="1200" dirty="0" smtClean="0">
                <a:solidFill>
                  <a:schemeClr val="tx1"/>
                </a:solidFill>
                <a:effectLst/>
                <a:latin typeface="+mn-lt"/>
                <a:ea typeface="+mn-ea"/>
                <a:cs typeface="+mn-cs"/>
              </a:rPr>
              <a:t>操作层面不是真正的同时。并发往往在场景中有公用的资源，那么针对这个公用的资源往往产生瓶颈，我们会用</a:t>
            </a:r>
            <a:r>
              <a:rPr lang="en-US" altLang="zh-CN" sz="1200" b="0" i="0" kern="1200" dirty="0" smtClean="0">
                <a:solidFill>
                  <a:schemeClr val="tx1"/>
                </a:solidFill>
                <a:effectLst/>
                <a:latin typeface="+mn-lt"/>
                <a:ea typeface="+mn-ea"/>
                <a:cs typeface="+mn-cs"/>
              </a:rPr>
              <a:t>TPS</a:t>
            </a:r>
            <a:r>
              <a:rPr lang="zh-CN" altLang="en-US" sz="1200" b="0" i="0" kern="1200" dirty="0" smtClean="0">
                <a:solidFill>
                  <a:schemeClr val="tx1"/>
                </a:solidFill>
                <a:effectLst/>
                <a:latin typeface="+mn-lt"/>
                <a:ea typeface="+mn-ea"/>
                <a:cs typeface="+mn-cs"/>
              </a:rPr>
              <a:t>或者</a:t>
            </a:r>
            <a:r>
              <a:rPr lang="en-US" altLang="zh-CN" sz="1200" b="0" i="0" kern="1200" dirty="0" smtClean="0">
                <a:solidFill>
                  <a:schemeClr val="tx1"/>
                </a:solidFill>
                <a:effectLst/>
                <a:latin typeface="+mn-lt"/>
                <a:ea typeface="+mn-ea"/>
                <a:cs typeface="+mn-cs"/>
              </a:rPr>
              <a:t>QPS</a:t>
            </a:r>
            <a:r>
              <a:rPr lang="zh-CN" altLang="en-US" sz="1200" b="0" i="0" kern="1200" dirty="0" smtClean="0">
                <a:solidFill>
                  <a:schemeClr val="tx1"/>
                </a:solidFill>
                <a:effectLst/>
                <a:latin typeface="+mn-lt"/>
                <a:ea typeface="+mn-ea"/>
                <a:cs typeface="+mn-cs"/>
              </a:rPr>
              <a:t>来反应这个系统的处理能力。</a:t>
            </a:r>
          </a:p>
        </p:txBody>
      </p:sp>
      <p:sp>
        <p:nvSpPr>
          <p:cNvPr id="4" name="灯片编号占位符 3"/>
          <p:cNvSpPr>
            <a:spLocks noGrp="1"/>
          </p:cNvSpPr>
          <p:nvPr>
            <p:ph type="sldNum" sz="quarter" idx="10"/>
          </p:nvPr>
        </p:nvSpPr>
        <p:spPr/>
        <p:txBody>
          <a:bodyPr/>
          <a:lstStyle/>
          <a:p>
            <a:fld id="{57A752CB-F267-409C-B428-174C2912518B}" type="slidenum">
              <a:rPr lang="zh-CN" altLang="en-US" smtClean="0"/>
              <a:pPr/>
              <a:t>44</a:t>
            </a:fld>
            <a:endParaRPr lang="zh-CN" altLang="en-US"/>
          </a:p>
        </p:txBody>
      </p:sp>
    </p:spTree>
    <p:extLst>
      <p:ext uri="{BB962C8B-B14F-4D97-AF65-F5344CB8AC3E}">
        <p14:creationId xmlns:p14="http://schemas.microsoft.com/office/powerpoint/2010/main" val="11764115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i="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57A752CB-F267-409C-B428-174C2912518B}" type="slidenum">
              <a:rPr lang="zh-CN" altLang="en-US" smtClean="0"/>
              <a:pPr/>
              <a:t>45</a:t>
            </a:fld>
            <a:endParaRPr lang="zh-CN" altLang="en-US"/>
          </a:p>
        </p:txBody>
      </p:sp>
    </p:spTree>
    <p:extLst>
      <p:ext uri="{BB962C8B-B14F-4D97-AF65-F5344CB8AC3E}">
        <p14:creationId xmlns:p14="http://schemas.microsoft.com/office/powerpoint/2010/main" val="7402336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grpSp>
        <p:nvGrpSpPr>
          <p:cNvPr id="16" name="组合 13"/>
          <p:cNvGrpSpPr>
            <a:grpSpLocks/>
          </p:cNvGrpSpPr>
          <p:nvPr userDrawn="1"/>
        </p:nvGrpSpPr>
        <p:grpSpPr bwMode="auto">
          <a:xfrm>
            <a:off x="-17463" y="2228850"/>
            <a:ext cx="9159876" cy="4171950"/>
            <a:chOff x="-26775" y="3348455"/>
            <a:chExt cx="14427135" cy="72000"/>
          </a:xfrm>
        </p:grpSpPr>
        <p:sp>
          <p:nvSpPr>
            <p:cNvPr id="17" name="矩形 14"/>
            <p:cNvSpPr>
              <a:spLocks noChangeArrowheads="1"/>
            </p:cNvSpPr>
            <p:nvPr userDrawn="1"/>
          </p:nvSpPr>
          <p:spPr bwMode="auto">
            <a:xfrm>
              <a:off x="382492" y="3348455"/>
              <a:ext cx="1305245" cy="72000"/>
            </a:xfrm>
            <a:prstGeom prst="rect">
              <a:avLst/>
            </a:prstGeom>
            <a:solidFill>
              <a:srgbClr val="00A073"/>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defTabSz="579438"/>
              <a:endParaRPr lang="zh-CN" altLang="en-US" sz="1300"/>
            </a:p>
          </p:txBody>
        </p:sp>
        <p:sp>
          <p:nvSpPr>
            <p:cNvPr id="19" name="矩形 15"/>
            <p:cNvSpPr>
              <a:spLocks noChangeArrowheads="1"/>
            </p:cNvSpPr>
            <p:nvPr userDrawn="1"/>
          </p:nvSpPr>
          <p:spPr bwMode="auto">
            <a:xfrm>
              <a:off x="1796795" y="3348455"/>
              <a:ext cx="1305245" cy="72000"/>
            </a:xfrm>
            <a:prstGeom prst="rect">
              <a:avLst/>
            </a:prstGeom>
            <a:solidFill>
              <a:srgbClr val="0062AD"/>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defTabSz="579438"/>
              <a:endParaRPr lang="zh-CN" altLang="en-US" sz="1300"/>
            </a:p>
          </p:txBody>
        </p:sp>
        <p:sp>
          <p:nvSpPr>
            <p:cNvPr id="20" name="矩形 16"/>
            <p:cNvSpPr>
              <a:spLocks noChangeArrowheads="1"/>
            </p:cNvSpPr>
            <p:nvPr userDrawn="1"/>
          </p:nvSpPr>
          <p:spPr bwMode="auto">
            <a:xfrm>
              <a:off x="2340360" y="3348455"/>
              <a:ext cx="12060000" cy="72000"/>
            </a:xfrm>
            <a:prstGeom prst="rect">
              <a:avLst/>
            </a:prstGeom>
            <a:solidFill>
              <a:srgbClr val="00479D"/>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defTabSz="579438"/>
              <a:endParaRPr lang="zh-CN" altLang="en-US" sz="1300"/>
            </a:p>
          </p:txBody>
        </p:sp>
        <p:sp>
          <p:nvSpPr>
            <p:cNvPr id="21" name="矩形 17"/>
            <p:cNvSpPr>
              <a:spLocks noChangeArrowheads="1"/>
            </p:cNvSpPr>
            <p:nvPr userDrawn="1"/>
          </p:nvSpPr>
          <p:spPr bwMode="auto">
            <a:xfrm>
              <a:off x="-26775" y="3348455"/>
              <a:ext cx="1152000" cy="72000"/>
            </a:xfrm>
            <a:prstGeom prst="rect">
              <a:avLst/>
            </a:prstGeom>
            <a:solidFill>
              <a:srgbClr val="00819C"/>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defTabSz="579438"/>
              <a:endParaRPr lang="zh-CN" altLang="en-US" sz="1300"/>
            </a:p>
          </p:txBody>
        </p:sp>
      </p:grpSp>
      <p:sp>
        <p:nvSpPr>
          <p:cNvPr id="2" name="标题 1"/>
          <p:cNvSpPr>
            <a:spLocks noGrp="1"/>
          </p:cNvSpPr>
          <p:nvPr userDrawn="1">
            <p:ph type="ctrTitle"/>
          </p:nvPr>
        </p:nvSpPr>
        <p:spPr>
          <a:xfrm>
            <a:off x="1624136" y="2130425"/>
            <a:ext cx="7772400" cy="1470025"/>
          </a:xfrm>
        </p:spPr>
        <p:txBody>
          <a:bodyPr>
            <a:normAutofit/>
          </a:bodyPr>
          <a:lstStyle>
            <a:lvl1pPr>
              <a:defRPr sz="4000">
                <a:solidFill>
                  <a:schemeClr val="bg1"/>
                </a:solidFill>
                <a:latin typeface="微软雅黑" pitchFamily="34" charset="-122"/>
                <a:ea typeface="微软雅黑" pitchFamily="34" charset="-122"/>
              </a:defRPr>
            </a:lvl1pPr>
          </a:lstStyle>
          <a:p>
            <a:r>
              <a:rPr lang="zh-CN" altLang="en-US" smtClean="0"/>
              <a:t>单击此处编辑母版标题样式</a:t>
            </a:r>
            <a:endParaRPr lang="zh-CN" altLang="en-US" dirty="0"/>
          </a:p>
        </p:txBody>
      </p:sp>
      <p:sp>
        <p:nvSpPr>
          <p:cNvPr id="4" name="日期占位符 3"/>
          <p:cNvSpPr>
            <a:spLocks noGrp="1"/>
          </p:cNvSpPr>
          <p:nvPr userDrawn="1">
            <p:ph type="dt" sz="half" idx="10"/>
          </p:nvPr>
        </p:nvSpPr>
        <p:spPr/>
        <p:txBody>
          <a:bodyPr/>
          <a:lstStyle/>
          <a:p>
            <a:fld id="{CD81A037-8D57-41A5-A253-A9E887D684E4}" type="datetime1">
              <a:rPr lang="zh-CN" altLang="en-US" smtClean="0"/>
              <a:pPr/>
              <a:t>2018-7-11</a:t>
            </a:fld>
            <a:endParaRPr lang="zh-CN" altLang="en-US"/>
          </a:p>
        </p:txBody>
      </p:sp>
      <p:sp>
        <p:nvSpPr>
          <p:cNvPr id="5" name="页脚占位符 4"/>
          <p:cNvSpPr>
            <a:spLocks noGrp="1"/>
          </p:cNvSpPr>
          <p:nvPr userDrawn="1">
            <p:ph type="ftr" sz="quarter" idx="11"/>
          </p:nvPr>
        </p:nvSpPr>
        <p:spPr/>
        <p:txBody>
          <a:bodyPr/>
          <a:lstStyle/>
          <a:p>
            <a:endParaRPr lang="zh-CN" altLang="en-US"/>
          </a:p>
        </p:txBody>
      </p:sp>
      <p:sp>
        <p:nvSpPr>
          <p:cNvPr id="6" name="灯片编号占位符 5"/>
          <p:cNvSpPr>
            <a:spLocks noGrp="1"/>
          </p:cNvSpPr>
          <p:nvPr userDrawn="1">
            <p:ph type="sldNum" sz="quarter" idx="12"/>
          </p:nvPr>
        </p:nvSpPr>
        <p:spPr/>
        <p:txBody>
          <a:bodyPr/>
          <a:lstStyle/>
          <a:p>
            <a:fld id="{5C794E63-F2AF-49E2-AE37-43481CC587E5}" type="slidenum">
              <a:rPr lang="zh-CN" altLang="en-US" smtClean="0"/>
              <a:pPr/>
              <a:t>‹#›</a:t>
            </a:fld>
            <a:endParaRPr lang="zh-CN" altLang="en-US"/>
          </a:p>
        </p:txBody>
      </p:sp>
      <p:pic>
        <p:nvPicPr>
          <p:cNvPr id="12" name="Picture 7" descr="彩色logo"/>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35000" y="539750"/>
            <a:ext cx="25654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9"/>
          <p:cNvSpPr txBox="1">
            <a:spLocks noChangeArrowheads="1"/>
          </p:cNvSpPr>
          <p:nvPr userDrawn="1"/>
        </p:nvSpPr>
        <p:spPr bwMode="auto">
          <a:xfrm>
            <a:off x="7200900" y="714375"/>
            <a:ext cx="1685925"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055" tIns="29028" rIns="58055" bIns="29028">
            <a:spAutoFit/>
          </a:bodyPr>
          <a:lstStyle>
            <a:lvl1pPr defTabSz="1293813" eaLnBrk="0" hangingPunct="0">
              <a:defRPr sz="2800">
                <a:solidFill>
                  <a:schemeClr val="tx1"/>
                </a:solidFill>
                <a:latin typeface="Arial" charset="0"/>
                <a:ea typeface="宋体" charset="-122"/>
              </a:defRPr>
            </a:lvl1pPr>
            <a:lvl2pPr marL="742950" indent="-285750" defTabSz="1293813" eaLnBrk="0" hangingPunct="0">
              <a:defRPr sz="2800">
                <a:solidFill>
                  <a:schemeClr val="tx1"/>
                </a:solidFill>
                <a:latin typeface="Arial" charset="0"/>
                <a:ea typeface="宋体" charset="-122"/>
              </a:defRPr>
            </a:lvl2pPr>
            <a:lvl3pPr marL="1143000" indent="-228600" defTabSz="1293813" eaLnBrk="0" hangingPunct="0">
              <a:defRPr sz="2800">
                <a:solidFill>
                  <a:schemeClr val="tx1"/>
                </a:solidFill>
                <a:latin typeface="Arial" charset="0"/>
                <a:ea typeface="宋体" charset="-122"/>
              </a:defRPr>
            </a:lvl3pPr>
            <a:lvl4pPr marL="1600200" indent="-228600" defTabSz="1293813" eaLnBrk="0" hangingPunct="0">
              <a:defRPr sz="2800">
                <a:solidFill>
                  <a:schemeClr val="tx1"/>
                </a:solidFill>
                <a:latin typeface="Arial" charset="0"/>
                <a:ea typeface="宋体" charset="-122"/>
              </a:defRPr>
            </a:lvl4pPr>
            <a:lvl5pPr marL="2057400" indent="-228600" defTabSz="1293813" eaLnBrk="0" hangingPunct="0">
              <a:defRPr sz="2800">
                <a:solidFill>
                  <a:schemeClr val="tx1"/>
                </a:solidFill>
                <a:latin typeface="Arial" charset="0"/>
                <a:ea typeface="宋体" charset="-122"/>
              </a:defRPr>
            </a:lvl5pPr>
            <a:lvl6pPr marL="2514600" indent="-228600" defTabSz="1293813" eaLnBrk="0" fontAlgn="base" hangingPunct="0">
              <a:spcBef>
                <a:spcPct val="0"/>
              </a:spcBef>
              <a:spcAft>
                <a:spcPct val="0"/>
              </a:spcAft>
              <a:buFont typeface="Arial" charset="0"/>
              <a:defRPr sz="2800">
                <a:solidFill>
                  <a:schemeClr val="tx1"/>
                </a:solidFill>
                <a:latin typeface="Arial" charset="0"/>
                <a:ea typeface="宋体" charset="-122"/>
              </a:defRPr>
            </a:lvl6pPr>
            <a:lvl7pPr marL="2971800" indent="-228600" defTabSz="1293813" eaLnBrk="0" fontAlgn="base" hangingPunct="0">
              <a:spcBef>
                <a:spcPct val="0"/>
              </a:spcBef>
              <a:spcAft>
                <a:spcPct val="0"/>
              </a:spcAft>
              <a:buFont typeface="Arial" charset="0"/>
              <a:defRPr sz="2800">
                <a:solidFill>
                  <a:schemeClr val="tx1"/>
                </a:solidFill>
                <a:latin typeface="Arial" charset="0"/>
                <a:ea typeface="宋体" charset="-122"/>
              </a:defRPr>
            </a:lvl7pPr>
            <a:lvl8pPr marL="3429000" indent="-228600" defTabSz="1293813" eaLnBrk="0" fontAlgn="base" hangingPunct="0">
              <a:spcBef>
                <a:spcPct val="0"/>
              </a:spcBef>
              <a:spcAft>
                <a:spcPct val="0"/>
              </a:spcAft>
              <a:buFont typeface="Arial" charset="0"/>
              <a:defRPr sz="2800">
                <a:solidFill>
                  <a:schemeClr val="tx1"/>
                </a:solidFill>
                <a:latin typeface="Arial" charset="0"/>
                <a:ea typeface="宋体" charset="-122"/>
              </a:defRPr>
            </a:lvl8pPr>
            <a:lvl9pPr marL="3886200" indent="-228600" defTabSz="1293813" eaLnBrk="0" fontAlgn="base" hangingPunct="0">
              <a:spcBef>
                <a:spcPct val="0"/>
              </a:spcBef>
              <a:spcAft>
                <a:spcPct val="0"/>
              </a:spcAft>
              <a:buFont typeface="Arial" charset="0"/>
              <a:defRPr sz="2800">
                <a:solidFill>
                  <a:schemeClr val="tx1"/>
                </a:solidFill>
                <a:latin typeface="Arial" charset="0"/>
                <a:ea typeface="宋体" charset="-122"/>
              </a:defRPr>
            </a:lvl9pPr>
          </a:lstStyle>
          <a:p>
            <a:pPr eaLnBrk="1" hangingPunct="1">
              <a:spcBef>
                <a:spcPct val="50000"/>
              </a:spcBef>
              <a:defRPr/>
            </a:pPr>
            <a:r>
              <a:rPr lang="en-US" altLang="zh-CN" sz="1100" dirty="0" smtClean="0">
                <a:solidFill>
                  <a:srgbClr val="0068B7"/>
                </a:solidFill>
                <a:latin typeface="Arial" pitchFamily="34" charset="0"/>
                <a:cs typeface="Arial" pitchFamily="34" charset="0"/>
              </a:rPr>
              <a:t>www.thunisoft.com</a:t>
            </a:r>
            <a:endParaRPr lang="zh-CN" altLang="en-US" sz="1100" dirty="0" smtClean="0">
              <a:solidFill>
                <a:srgbClr val="0068B7"/>
              </a:solidFill>
              <a:latin typeface="Arial" pitchFamily="34" charset="0"/>
              <a:cs typeface="Arial" pitchFamily="34" charset="0"/>
            </a:endParaRPr>
          </a:p>
        </p:txBody>
      </p:sp>
      <p:sp>
        <p:nvSpPr>
          <p:cNvPr id="15" name="Rectangle 11"/>
          <p:cNvSpPr>
            <a:spLocks noChangeArrowheads="1"/>
          </p:cNvSpPr>
          <p:nvPr userDrawn="1"/>
        </p:nvSpPr>
        <p:spPr bwMode="auto">
          <a:xfrm>
            <a:off x="1646238" y="6065838"/>
            <a:ext cx="5429596" cy="212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58055" tIns="29028" rIns="58055" bIns="29028">
            <a:spAutoFit/>
          </a:bodyPr>
          <a:lstStyle/>
          <a:p>
            <a:pPr defTabSz="820738"/>
            <a:r>
              <a:rPr lang="zh-CN" altLang="en-US" sz="1000" dirty="0" smtClean="0">
                <a:solidFill>
                  <a:schemeClr val="bg1"/>
                </a:solidFill>
                <a:latin typeface="微软雅黑" pitchFamily="34" charset="-122"/>
                <a:ea typeface="微软雅黑" pitchFamily="34" charset="-122"/>
              </a:rPr>
              <a:t>北京华宇信息技术有限公司</a:t>
            </a:r>
            <a:r>
              <a:rPr lang="zh-CN" altLang="en-US" sz="900" dirty="0" smtClean="0">
                <a:solidFill>
                  <a:schemeClr val="bg1"/>
                </a:solidFill>
                <a:latin typeface="微软雅黑" pitchFamily="34" charset="-122"/>
                <a:ea typeface="微软雅黑" pitchFamily="34" charset="-122"/>
              </a:rPr>
              <a:t> </a:t>
            </a:r>
            <a:r>
              <a:rPr lang="en-US" altLang="zh-CN" sz="800" dirty="0" smtClean="0">
                <a:solidFill>
                  <a:schemeClr val="bg1"/>
                </a:solidFill>
                <a:latin typeface="Arial" pitchFamily="34" charset="0"/>
                <a:cs typeface="Arial" pitchFamily="34" charset="0"/>
              </a:rPr>
              <a:t>BEIJING THUNISOFT INFORMATION TECHNOLOGY CORPORATION LIMITED</a:t>
            </a:r>
            <a:endParaRPr lang="zh-CN" altLang="en-US" sz="800" dirty="0">
              <a:solidFill>
                <a:schemeClr val="bg1"/>
              </a:solidFill>
              <a:latin typeface="Arial" pitchFamily="34" charset="0"/>
              <a:cs typeface="Arial" pitchFamily="34" charset="0"/>
            </a:endParaRPr>
          </a:p>
        </p:txBody>
      </p:sp>
      <p:sp>
        <p:nvSpPr>
          <p:cNvPr id="18" name="Rectangle 4"/>
          <p:cNvSpPr txBox="1">
            <a:spLocks noChangeArrowheads="1"/>
          </p:cNvSpPr>
          <p:nvPr userDrawn="1"/>
        </p:nvSpPr>
        <p:spPr>
          <a:xfrm>
            <a:off x="1638300" y="5553075"/>
            <a:ext cx="2133600" cy="476250"/>
          </a:xfrm>
          <a:prstGeom prst="rect">
            <a:avLst/>
          </a:prstGeom>
        </p:spPr>
        <p:txBody>
          <a:bodyPr vert="horz" lIns="91440" tIns="45720" rIns="91440" bIns="45720" rtlCol="0" anchor="ctr"/>
          <a:lstStyle>
            <a:defPPr>
              <a:defRPr lang="zh-CN"/>
            </a:defPPr>
            <a:lvl1pPr marL="0" algn="l" defTabSz="914400" rtl="0" eaLnBrk="1" latinLnBrk="0" hangingPunct="1">
              <a:defRPr sz="1200" i="0" kern="1200" smtClean="0">
                <a:solidFill>
                  <a:schemeClr val="bg1"/>
                </a:solidFill>
                <a:latin typeface="Exo"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A9329283-96AF-4146-A0DF-F154670DCF22}" type="datetime1">
              <a:rPr lang="zh-CN" altLang="en-US" smtClean="0">
                <a:latin typeface="Arial" pitchFamily="34" charset="0"/>
                <a:cs typeface="Arial" pitchFamily="34" charset="0"/>
              </a:rPr>
              <a:pPr>
                <a:defRPr/>
              </a:pPr>
              <a:t>2018-7-11</a:t>
            </a:fld>
            <a:endParaRPr lang="zh-CN" altLang="zh-CN" dirty="0">
              <a:latin typeface="Arial" pitchFamily="34" charset="0"/>
              <a:cs typeface="Arial" pitchFamily="34" charset="0"/>
            </a:endParaRPr>
          </a:p>
        </p:txBody>
      </p:sp>
    </p:spTree>
    <p:extLst>
      <p:ext uri="{BB962C8B-B14F-4D97-AF65-F5344CB8AC3E}">
        <p14:creationId xmlns:p14="http://schemas.microsoft.com/office/powerpoint/2010/main" val="380936959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5472608" cy="490066"/>
          </a:xfrm>
        </p:spPr>
        <p:txBody>
          <a:bodyPr>
            <a:noAutofit/>
          </a:bodyPr>
          <a:lstStyle>
            <a:lvl1pPr>
              <a:defRPr sz="3000"/>
            </a:lvl1pPr>
          </a:lstStyle>
          <a:p>
            <a:r>
              <a:rPr lang="zh-CN" altLang="en-US" smtClean="0"/>
              <a:t>单击此处编辑母版标题样式</a:t>
            </a:r>
            <a:endParaRPr lang="zh-CN" altLang="en-US" dirty="0"/>
          </a:p>
        </p:txBody>
      </p:sp>
      <p:sp>
        <p:nvSpPr>
          <p:cNvPr id="3" name="内容占位符 2"/>
          <p:cNvSpPr>
            <a:spLocks noGrp="1"/>
          </p:cNvSpPr>
          <p:nvPr>
            <p:ph idx="1"/>
          </p:nvPr>
        </p:nvSpPr>
        <p:spPr>
          <a:xfrm>
            <a:off x="719572" y="980728"/>
            <a:ext cx="7848872" cy="5328592"/>
          </a:xfrm>
        </p:spPr>
        <p:txBody>
          <a:bodyPr/>
          <a:lstStyle>
            <a:lvl1pPr>
              <a:defRPr b="0">
                <a:solidFill>
                  <a:srgbClr val="595757"/>
                </a:solidFill>
              </a:defRPr>
            </a:lvl1pPr>
            <a:lvl2pPr>
              <a:defRPr>
                <a:solidFill>
                  <a:srgbClr val="595757"/>
                </a:solidFill>
              </a:defRPr>
            </a:lvl2pPr>
            <a:lvl3pPr>
              <a:defRPr sz="2400">
                <a:solidFill>
                  <a:srgbClr val="595757"/>
                </a:solidFill>
              </a:defRPr>
            </a:lvl3pPr>
            <a:lvl4pPr>
              <a:defRPr sz="2000">
                <a:solidFill>
                  <a:srgbClr val="595757"/>
                </a:solidFill>
              </a:defRPr>
            </a:lvl4pPr>
            <a:lvl5pPr>
              <a:defRPr sz="1800">
                <a:solidFill>
                  <a:srgbClr val="595757"/>
                </a:solidFill>
                <a:latin typeface="微软雅黑" pitchFamily="34" charset="-122"/>
                <a:ea typeface="微软雅黑" pitchFamily="34" charset="-122"/>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dirty="0"/>
          </a:p>
        </p:txBody>
      </p:sp>
      <p:sp>
        <p:nvSpPr>
          <p:cNvPr id="4" name="日期占位符 3"/>
          <p:cNvSpPr>
            <a:spLocks noGrp="1"/>
          </p:cNvSpPr>
          <p:nvPr>
            <p:ph type="dt" sz="half" idx="10"/>
          </p:nvPr>
        </p:nvSpPr>
        <p:spPr/>
        <p:txBody>
          <a:bodyPr/>
          <a:lstStyle/>
          <a:p>
            <a:fld id="{4D01DF33-5A38-4035-AC9E-B8E17EB22BE4}" type="datetime1">
              <a:rPr lang="zh-CN" altLang="en-US" smtClean="0"/>
              <a:pPr/>
              <a:t>2018-7-11</a:t>
            </a:fld>
            <a:endParaRPr lang="zh-CN" altLang="en-US" dirty="0"/>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C794E63-F2AF-49E2-AE37-43481CC587E5}" type="slidenum">
              <a:rPr lang="zh-CN" altLang="en-US" smtClean="0"/>
              <a:pPr/>
              <a:t>‹#›</a:t>
            </a:fld>
            <a:endParaRPr lang="zh-CN" altLang="en-US"/>
          </a:p>
        </p:txBody>
      </p:sp>
    </p:spTree>
    <p:extLst>
      <p:ext uri="{BB962C8B-B14F-4D97-AF65-F5344CB8AC3E}">
        <p14:creationId xmlns:p14="http://schemas.microsoft.com/office/powerpoint/2010/main" val="869305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D01DF33-5A38-4035-AC9E-B8E17EB22BE4}" type="datetime1">
              <a:rPr lang="zh-CN" altLang="en-US" smtClean="0"/>
              <a:pPr/>
              <a:t>2018-7-11</a:t>
            </a:fld>
            <a:endParaRPr lang="zh-CN" altLang="en-US" dirty="0"/>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C794E63-F2AF-49E2-AE37-43481CC587E5}" type="slidenum">
              <a:rPr lang="zh-CN" altLang="en-US" smtClean="0"/>
              <a:pPr/>
              <a:t>‹#›</a:t>
            </a:fld>
            <a:endParaRPr lang="zh-CN" altLang="en-US"/>
          </a:p>
        </p:txBody>
      </p:sp>
      <p:sp>
        <p:nvSpPr>
          <p:cNvPr id="7" name="Text Box 8"/>
          <p:cNvSpPr txBox="1">
            <a:spLocks noChangeArrowheads="1"/>
          </p:cNvSpPr>
          <p:nvPr userDrawn="1"/>
        </p:nvSpPr>
        <p:spPr bwMode="auto">
          <a:xfrm>
            <a:off x="1223628" y="1592796"/>
            <a:ext cx="4140460" cy="607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58055" tIns="29028" rIns="58055" bIns="29028">
            <a:spAutoFit/>
          </a:bodyPr>
          <a:lstStyle>
            <a:lvl1pPr defTabSz="1293813" eaLnBrk="0" hangingPunct="0">
              <a:defRPr sz="2800">
                <a:solidFill>
                  <a:schemeClr val="tx1"/>
                </a:solidFill>
                <a:latin typeface="Arial" charset="0"/>
                <a:ea typeface="宋体" pitchFamily="2" charset="-122"/>
              </a:defRPr>
            </a:lvl1pPr>
            <a:lvl2pPr marL="742950" indent="-285750" defTabSz="1293813" eaLnBrk="0" hangingPunct="0">
              <a:defRPr sz="2800">
                <a:solidFill>
                  <a:schemeClr val="tx1"/>
                </a:solidFill>
                <a:latin typeface="Arial" charset="0"/>
                <a:ea typeface="宋体" pitchFamily="2" charset="-122"/>
              </a:defRPr>
            </a:lvl2pPr>
            <a:lvl3pPr marL="1143000" indent="-228600" defTabSz="1293813" eaLnBrk="0" hangingPunct="0">
              <a:defRPr sz="2800">
                <a:solidFill>
                  <a:schemeClr val="tx1"/>
                </a:solidFill>
                <a:latin typeface="Arial" charset="0"/>
                <a:ea typeface="宋体" pitchFamily="2" charset="-122"/>
              </a:defRPr>
            </a:lvl3pPr>
            <a:lvl4pPr marL="1600200" indent="-228600" defTabSz="1293813" eaLnBrk="0" hangingPunct="0">
              <a:defRPr sz="2800">
                <a:solidFill>
                  <a:schemeClr val="tx1"/>
                </a:solidFill>
                <a:latin typeface="Arial" charset="0"/>
                <a:ea typeface="宋体" pitchFamily="2" charset="-122"/>
              </a:defRPr>
            </a:lvl4pPr>
            <a:lvl5pPr marL="2057400" indent="-228600" defTabSz="1293813" eaLnBrk="0" hangingPunct="0">
              <a:defRPr sz="2800">
                <a:solidFill>
                  <a:schemeClr val="tx1"/>
                </a:solidFill>
                <a:latin typeface="Arial" charset="0"/>
                <a:ea typeface="宋体" pitchFamily="2" charset="-122"/>
              </a:defRPr>
            </a:lvl5pPr>
            <a:lvl6pPr marL="2514600" indent="-228600" defTabSz="1293813" eaLnBrk="0" fontAlgn="base" hangingPunct="0">
              <a:spcBef>
                <a:spcPct val="0"/>
              </a:spcBef>
              <a:spcAft>
                <a:spcPct val="0"/>
              </a:spcAft>
              <a:buFont typeface="Arial" charset="0"/>
              <a:defRPr sz="2800">
                <a:solidFill>
                  <a:schemeClr val="tx1"/>
                </a:solidFill>
                <a:latin typeface="Arial" charset="0"/>
                <a:ea typeface="宋体" pitchFamily="2" charset="-122"/>
              </a:defRPr>
            </a:lvl6pPr>
            <a:lvl7pPr marL="2971800" indent="-228600" defTabSz="1293813" eaLnBrk="0" fontAlgn="base" hangingPunct="0">
              <a:spcBef>
                <a:spcPct val="0"/>
              </a:spcBef>
              <a:spcAft>
                <a:spcPct val="0"/>
              </a:spcAft>
              <a:buFont typeface="Arial" charset="0"/>
              <a:defRPr sz="2800">
                <a:solidFill>
                  <a:schemeClr val="tx1"/>
                </a:solidFill>
                <a:latin typeface="Arial" charset="0"/>
                <a:ea typeface="宋体" pitchFamily="2" charset="-122"/>
              </a:defRPr>
            </a:lvl7pPr>
            <a:lvl8pPr marL="3429000" indent="-228600" defTabSz="1293813" eaLnBrk="0" fontAlgn="base" hangingPunct="0">
              <a:spcBef>
                <a:spcPct val="0"/>
              </a:spcBef>
              <a:spcAft>
                <a:spcPct val="0"/>
              </a:spcAft>
              <a:buFont typeface="Arial" charset="0"/>
              <a:defRPr sz="2800">
                <a:solidFill>
                  <a:schemeClr val="tx1"/>
                </a:solidFill>
                <a:latin typeface="Arial" charset="0"/>
                <a:ea typeface="宋体" pitchFamily="2" charset="-122"/>
              </a:defRPr>
            </a:lvl8pPr>
            <a:lvl9pPr marL="3886200" indent="-228600" defTabSz="1293813" eaLnBrk="0" fontAlgn="base" hangingPunct="0">
              <a:spcBef>
                <a:spcPct val="0"/>
              </a:spcBef>
              <a:spcAft>
                <a:spcPct val="0"/>
              </a:spcAft>
              <a:buFont typeface="Arial" charset="0"/>
              <a:defRPr sz="2800">
                <a:solidFill>
                  <a:schemeClr val="tx1"/>
                </a:solidFill>
                <a:latin typeface="Arial" charset="0"/>
                <a:ea typeface="宋体" pitchFamily="2" charset="-122"/>
              </a:defRPr>
            </a:lvl9pPr>
          </a:lstStyle>
          <a:p>
            <a:pPr eaLnBrk="1" hangingPunct="1">
              <a:lnSpc>
                <a:spcPct val="130000"/>
              </a:lnSpc>
            </a:pPr>
            <a:r>
              <a:rPr lang="zh-CN" altLang="en-US" sz="3000" dirty="0" smtClean="0">
                <a:solidFill>
                  <a:srgbClr val="0062AD"/>
                </a:solidFill>
                <a:latin typeface="微软雅黑" pitchFamily="34" charset="-122"/>
                <a:ea typeface="微软雅黑" pitchFamily="34" charset="-122"/>
              </a:rPr>
              <a:t>目 录</a:t>
            </a:r>
            <a:endParaRPr lang="en-US" altLang="zh-CN" sz="3200" dirty="0">
              <a:solidFill>
                <a:schemeClr val="bg1">
                  <a:lumMod val="75000"/>
                </a:schemeClr>
              </a:solidFill>
              <a:latin typeface="Arial Black" pitchFamily="34" charset="0"/>
              <a:cs typeface="Arial" pitchFamily="34" charset="0"/>
            </a:endParaRPr>
          </a:p>
        </p:txBody>
      </p:sp>
      <p:sp>
        <p:nvSpPr>
          <p:cNvPr id="9" name="内容占位符 2"/>
          <p:cNvSpPr>
            <a:spLocks noGrp="1"/>
          </p:cNvSpPr>
          <p:nvPr>
            <p:ph idx="1" hasCustomPrompt="1"/>
          </p:nvPr>
        </p:nvSpPr>
        <p:spPr>
          <a:xfrm>
            <a:off x="1259632" y="2600908"/>
            <a:ext cx="7309320" cy="3420380"/>
          </a:xfrm>
        </p:spPr>
        <p:txBody>
          <a:bodyPr>
            <a:normAutofit/>
          </a:bodyPr>
          <a:lstStyle>
            <a:lvl1pPr marL="0" indent="0">
              <a:lnSpc>
                <a:spcPct val="150000"/>
              </a:lnSpc>
              <a:buFontTx/>
              <a:buNone/>
              <a:defRPr sz="2400" b="0" baseline="0">
                <a:solidFill>
                  <a:srgbClr val="595757"/>
                </a:solidFill>
              </a:defRPr>
            </a:lvl1pPr>
            <a:lvl2pPr marL="457200" indent="0">
              <a:buFontTx/>
              <a:buNone/>
              <a:defRPr>
                <a:solidFill>
                  <a:srgbClr val="595757"/>
                </a:solidFill>
              </a:defRPr>
            </a:lvl2pPr>
            <a:lvl3pPr marL="914400" indent="0">
              <a:buFontTx/>
              <a:buNone/>
              <a:defRPr sz="2400">
                <a:solidFill>
                  <a:srgbClr val="595757"/>
                </a:solidFill>
              </a:defRPr>
            </a:lvl3pPr>
            <a:lvl4pPr marL="1371600" indent="0">
              <a:buFontTx/>
              <a:buNone/>
              <a:defRPr sz="2000">
                <a:solidFill>
                  <a:srgbClr val="595757"/>
                </a:solidFill>
              </a:defRPr>
            </a:lvl4pPr>
            <a:lvl5pPr marL="1828800" indent="0">
              <a:buFontTx/>
              <a:buNone/>
              <a:defRPr sz="1800">
                <a:solidFill>
                  <a:srgbClr val="595757"/>
                </a:solidFill>
                <a:latin typeface="微软雅黑" pitchFamily="34" charset="-122"/>
                <a:ea typeface="微软雅黑" pitchFamily="34" charset="-122"/>
              </a:defRPr>
            </a:lvl5pPr>
          </a:lstStyle>
          <a:p>
            <a:pPr lvl="0"/>
            <a:r>
              <a:rPr lang="zh-CN" altLang="en-US" dirty="0" smtClean="0"/>
              <a:t>一、</a:t>
            </a:r>
            <a:endParaRPr lang="en-US" altLang="zh-CN" dirty="0" smtClean="0"/>
          </a:p>
          <a:p>
            <a:pPr lvl="0"/>
            <a:r>
              <a:rPr lang="zh-CN" altLang="en-US" dirty="0" smtClean="0"/>
              <a:t>二、</a:t>
            </a:r>
            <a:endParaRPr lang="en-US" altLang="zh-CN" dirty="0" smtClean="0"/>
          </a:p>
          <a:p>
            <a:pPr lvl="0"/>
            <a:r>
              <a:rPr lang="zh-CN" altLang="en-US" dirty="0" smtClean="0"/>
              <a:t>三、</a:t>
            </a:r>
            <a:endParaRPr lang="en-US" altLang="zh-CN" dirty="0" smtClean="0"/>
          </a:p>
          <a:p>
            <a:pPr lvl="0"/>
            <a:r>
              <a:rPr lang="zh-CN" altLang="en-US" dirty="0" smtClean="0"/>
              <a:t>四、</a:t>
            </a:r>
            <a:endParaRPr lang="zh-CN" altLang="en-US" dirty="0"/>
          </a:p>
        </p:txBody>
      </p:sp>
    </p:spTree>
    <p:extLst>
      <p:ext uri="{BB962C8B-B14F-4D97-AF65-F5344CB8AC3E}">
        <p14:creationId xmlns:p14="http://schemas.microsoft.com/office/powerpoint/2010/main" val="1567107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节标题">
    <p:spTree>
      <p:nvGrpSpPr>
        <p:cNvPr id="1" name=""/>
        <p:cNvGrpSpPr/>
        <p:nvPr/>
      </p:nvGrpSpPr>
      <p:grpSpPr>
        <a:xfrm>
          <a:off x="0" y="0"/>
          <a:ext cx="0" cy="0"/>
          <a:chOff x="0" y="0"/>
          <a:chExt cx="0" cy="0"/>
        </a:xfrm>
      </p:grpSpPr>
      <p:grpSp>
        <p:nvGrpSpPr>
          <p:cNvPr id="7" name="组合 13"/>
          <p:cNvGrpSpPr>
            <a:grpSpLocks/>
          </p:cNvGrpSpPr>
          <p:nvPr userDrawn="1"/>
        </p:nvGrpSpPr>
        <p:grpSpPr bwMode="auto">
          <a:xfrm>
            <a:off x="-17463" y="3000375"/>
            <a:ext cx="9159876" cy="3857625"/>
            <a:chOff x="-26775" y="3348455"/>
            <a:chExt cx="14427135" cy="72000"/>
          </a:xfrm>
        </p:grpSpPr>
        <p:sp>
          <p:nvSpPr>
            <p:cNvPr id="8" name="矩形 14"/>
            <p:cNvSpPr>
              <a:spLocks noChangeArrowheads="1"/>
            </p:cNvSpPr>
            <p:nvPr userDrawn="1"/>
          </p:nvSpPr>
          <p:spPr bwMode="auto">
            <a:xfrm>
              <a:off x="382492" y="3348455"/>
              <a:ext cx="1305245" cy="72000"/>
            </a:xfrm>
            <a:prstGeom prst="rect">
              <a:avLst/>
            </a:prstGeom>
            <a:solidFill>
              <a:srgbClr val="00A073"/>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defTabSz="579438"/>
              <a:endParaRPr lang="zh-CN" altLang="en-US" sz="1300"/>
            </a:p>
          </p:txBody>
        </p:sp>
        <p:sp>
          <p:nvSpPr>
            <p:cNvPr id="9" name="矩形 15"/>
            <p:cNvSpPr>
              <a:spLocks noChangeArrowheads="1"/>
            </p:cNvSpPr>
            <p:nvPr userDrawn="1"/>
          </p:nvSpPr>
          <p:spPr bwMode="auto">
            <a:xfrm>
              <a:off x="1796795" y="3348455"/>
              <a:ext cx="1305245" cy="72000"/>
            </a:xfrm>
            <a:prstGeom prst="rect">
              <a:avLst/>
            </a:prstGeom>
            <a:solidFill>
              <a:srgbClr val="0062AD"/>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defTabSz="579438"/>
              <a:endParaRPr lang="zh-CN" altLang="en-US" sz="1300"/>
            </a:p>
          </p:txBody>
        </p:sp>
        <p:sp>
          <p:nvSpPr>
            <p:cNvPr id="10" name="矩形 16"/>
            <p:cNvSpPr>
              <a:spLocks noChangeArrowheads="1"/>
            </p:cNvSpPr>
            <p:nvPr userDrawn="1"/>
          </p:nvSpPr>
          <p:spPr bwMode="auto">
            <a:xfrm>
              <a:off x="2340360" y="3348455"/>
              <a:ext cx="12060000" cy="72000"/>
            </a:xfrm>
            <a:prstGeom prst="rect">
              <a:avLst/>
            </a:prstGeom>
            <a:solidFill>
              <a:srgbClr val="00479D"/>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defTabSz="579438"/>
              <a:endParaRPr lang="zh-CN" altLang="en-US" sz="1300"/>
            </a:p>
          </p:txBody>
        </p:sp>
        <p:sp>
          <p:nvSpPr>
            <p:cNvPr id="11" name="矩形 17"/>
            <p:cNvSpPr>
              <a:spLocks noChangeArrowheads="1"/>
            </p:cNvSpPr>
            <p:nvPr userDrawn="1"/>
          </p:nvSpPr>
          <p:spPr bwMode="auto">
            <a:xfrm>
              <a:off x="-26775" y="3348455"/>
              <a:ext cx="1152000" cy="72000"/>
            </a:xfrm>
            <a:prstGeom prst="rect">
              <a:avLst/>
            </a:prstGeom>
            <a:solidFill>
              <a:srgbClr val="00819C"/>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defTabSz="579438"/>
              <a:endParaRPr lang="zh-CN" altLang="en-US" sz="1300"/>
            </a:p>
          </p:txBody>
        </p:sp>
      </p:grpSp>
      <p:sp>
        <p:nvSpPr>
          <p:cNvPr id="12" name="Rectangle 9"/>
          <p:cNvSpPr>
            <a:spLocks noChangeArrowheads="1"/>
          </p:cNvSpPr>
          <p:nvPr userDrawn="1"/>
        </p:nvSpPr>
        <p:spPr bwMode="auto">
          <a:xfrm>
            <a:off x="-72516" y="6315075"/>
            <a:ext cx="9216515" cy="212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58055" tIns="29028" rIns="58055" bIns="29028">
            <a:spAutoFit/>
          </a:bodyPr>
          <a:lstStyle/>
          <a:p>
            <a:pPr algn="ctr" defTabSz="820738"/>
            <a:r>
              <a:rPr lang="zh-CN" altLang="en-US" sz="1000" dirty="0" smtClean="0">
                <a:solidFill>
                  <a:schemeClr val="bg1"/>
                </a:solidFill>
                <a:latin typeface="微软雅黑" pitchFamily="34" charset="-122"/>
                <a:ea typeface="微软雅黑" pitchFamily="34" charset="-122"/>
              </a:rPr>
              <a:t>北京华宇信息技术有限公司  </a:t>
            </a:r>
            <a:r>
              <a:rPr lang="en-US" altLang="zh-CN" sz="800" dirty="0" smtClean="0">
                <a:solidFill>
                  <a:schemeClr val="bg1"/>
                </a:solidFill>
                <a:latin typeface="Arial" pitchFamily="34" charset="0"/>
                <a:ea typeface="微软雅黑" pitchFamily="34" charset="-122"/>
                <a:cs typeface="Arial" pitchFamily="34" charset="0"/>
              </a:rPr>
              <a:t>BEIJING THUNISOFT INFORMATION TECHNOLOGY CORPORATION LIMITED</a:t>
            </a:r>
            <a:endParaRPr lang="zh-CN" altLang="en-US" sz="800" dirty="0">
              <a:solidFill>
                <a:schemeClr val="bg1"/>
              </a:solidFill>
              <a:latin typeface="Arial" pitchFamily="34" charset="0"/>
              <a:ea typeface="微软雅黑" pitchFamily="34" charset="-122"/>
              <a:cs typeface="Arial" pitchFamily="34" charset="0"/>
            </a:endParaRPr>
          </a:p>
        </p:txBody>
      </p:sp>
      <p:pic>
        <p:nvPicPr>
          <p:cNvPr id="13" name="Picture 10" descr="竖版LOGO"/>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629025" y="650875"/>
            <a:ext cx="1828800" cy="166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标题 1"/>
          <p:cNvSpPr>
            <a:spLocks noGrp="1"/>
          </p:cNvSpPr>
          <p:nvPr>
            <p:ph type="title"/>
          </p:nvPr>
        </p:nvSpPr>
        <p:spPr>
          <a:xfrm>
            <a:off x="1" y="3989946"/>
            <a:ext cx="9144000" cy="953508"/>
          </a:xfrm>
        </p:spPr>
        <p:txBody>
          <a:bodyPr anchor="t">
            <a:noAutofit/>
          </a:bodyPr>
          <a:lstStyle>
            <a:lvl1pPr algn="ctr">
              <a:defRPr sz="6000" b="0" cap="all">
                <a:solidFill>
                  <a:schemeClr val="bg1"/>
                </a:solidFill>
                <a:latin typeface="方正兰亭纤黑_GBK" pitchFamily="2" charset="-122"/>
                <a:ea typeface="方正兰亭纤黑_GBK" pitchFamily="2" charset="-122"/>
              </a:defRPr>
            </a:lvl1pPr>
          </a:lstStyle>
          <a:p>
            <a:r>
              <a:rPr lang="zh-CN" altLang="en-US" smtClean="0"/>
              <a:t>单击此处编辑母版标题样式</a:t>
            </a:r>
            <a:endParaRPr lang="zh-CN" altLang="en-US" dirty="0"/>
          </a:p>
        </p:txBody>
      </p:sp>
    </p:spTree>
    <p:extLst>
      <p:ext uri="{BB962C8B-B14F-4D97-AF65-F5344CB8AC3E}">
        <p14:creationId xmlns:p14="http://schemas.microsoft.com/office/powerpoint/2010/main" val="337924595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1F792A1F-7F4F-4A9E-AC8E-D70E794B105F}" type="datetime1">
              <a:rPr lang="zh-CN" altLang="en-US" smtClean="0"/>
              <a:pPr/>
              <a:t>2018-7-11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C794E63-F2AF-49E2-AE37-43481CC587E5}" type="slidenum">
              <a:rPr lang="zh-CN" altLang="en-US" smtClean="0"/>
              <a:pPr/>
              <a:t>‹#›</a:t>
            </a:fld>
            <a:endParaRPr lang="zh-CN" altLang="en-US"/>
          </a:p>
        </p:txBody>
      </p:sp>
    </p:spTree>
    <p:extLst>
      <p:ext uri="{BB962C8B-B14F-4D97-AF65-F5344CB8AC3E}">
        <p14:creationId xmlns:p14="http://schemas.microsoft.com/office/powerpoint/2010/main" val="379425021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6206D87D-5373-4AD0-B56A-9967F8C0C571}" type="datetime1">
              <a:rPr lang="zh-CN" altLang="en-US" smtClean="0"/>
              <a:pPr/>
              <a:t>2018-7-11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C794E63-F2AF-49E2-AE37-43481CC587E5}" type="slidenum">
              <a:rPr lang="zh-CN" altLang="en-US" smtClean="0"/>
              <a:pPr/>
              <a:t>‹#›</a:t>
            </a:fld>
            <a:endParaRPr lang="zh-CN" altLang="en-US"/>
          </a:p>
        </p:txBody>
      </p:sp>
    </p:spTree>
    <p:extLst>
      <p:ext uri="{BB962C8B-B14F-4D97-AF65-F5344CB8AC3E}">
        <p14:creationId xmlns:p14="http://schemas.microsoft.com/office/powerpoint/2010/main" val="3334179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1D480752-F7E5-44E2-8AA3-21EF20F87492}" type="datetime1">
              <a:rPr lang="zh-CN" altLang="en-US" smtClean="0"/>
              <a:pPr/>
              <a:t>2018-7-11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C794E63-F2AF-49E2-AE37-43481CC587E5}" type="slidenum">
              <a:rPr lang="zh-CN" altLang="en-US" smtClean="0"/>
              <a:pPr/>
              <a:t>‹#›</a:t>
            </a:fld>
            <a:endParaRPr lang="zh-CN" altLang="en-US"/>
          </a:p>
        </p:txBody>
      </p:sp>
    </p:spTree>
    <p:extLst>
      <p:ext uri="{BB962C8B-B14F-4D97-AF65-F5344CB8AC3E}">
        <p14:creationId xmlns:p14="http://schemas.microsoft.com/office/powerpoint/2010/main" val="2405080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A40FE5E-E76A-4B18-92BB-C6BBC29BC225}" type="datetime1">
              <a:rPr lang="zh-CN" altLang="en-US" smtClean="0"/>
              <a:pPr/>
              <a:t>2018-7-11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C794E63-F2AF-49E2-AE37-43481CC587E5}" type="slidenum">
              <a:rPr lang="zh-CN" altLang="en-US" smtClean="0"/>
              <a:pPr/>
              <a:t>‹#›</a:t>
            </a:fld>
            <a:endParaRPr lang="zh-CN" altLang="en-US"/>
          </a:p>
        </p:txBody>
      </p:sp>
    </p:spTree>
    <p:extLst>
      <p:ext uri="{BB962C8B-B14F-4D97-AF65-F5344CB8AC3E}">
        <p14:creationId xmlns:p14="http://schemas.microsoft.com/office/powerpoint/2010/main" val="2878251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62E9E165-A031-464B-BD7E-7E82C482BEDF}" type="datetime1">
              <a:rPr lang="zh-CN" altLang="en-US" smtClean="0"/>
              <a:pPr/>
              <a:t>2018-7-11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C794E63-F2AF-49E2-AE37-43481CC587E5}" type="slidenum">
              <a:rPr lang="zh-CN" altLang="en-US" smtClean="0"/>
              <a:pPr/>
              <a:t>‹#›</a:t>
            </a:fld>
            <a:endParaRPr lang="zh-CN" altLang="en-US"/>
          </a:p>
        </p:txBody>
      </p:sp>
    </p:spTree>
    <p:extLst>
      <p:ext uri="{BB962C8B-B14F-4D97-AF65-F5344CB8AC3E}">
        <p14:creationId xmlns:p14="http://schemas.microsoft.com/office/powerpoint/2010/main" val="2329016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7E369F04-C1B7-4CEA-9291-EA11D6E04CCC}" type="datetime1">
              <a:rPr lang="zh-CN" altLang="en-US" smtClean="0"/>
              <a:pPr/>
              <a:t>2018-7-11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C794E63-F2AF-49E2-AE37-43481CC587E5}" type="slidenum">
              <a:rPr lang="zh-CN" altLang="en-US" smtClean="0"/>
              <a:pPr/>
              <a:t>‹#›</a:t>
            </a:fld>
            <a:endParaRPr lang="zh-CN" altLang="en-US"/>
          </a:p>
        </p:txBody>
      </p:sp>
    </p:spTree>
    <p:extLst>
      <p:ext uri="{BB962C8B-B14F-4D97-AF65-F5344CB8AC3E}">
        <p14:creationId xmlns:p14="http://schemas.microsoft.com/office/powerpoint/2010/main" val="10654696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298FAF6-3209-4067-A7F8-040A8184C6B7}" type="datetime1">
              <a:rPr lang="zh-CN" altLang="en-US" smtClean="0"/>
              <a:pPr/>
              <a:t>2018-7-11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C794E63-F2AF-49E2-AE37-43481CC587E5}" type="slidenum">
              <a:rPr lang="zh-CN" altLang="en-US" smtClean="0"/>
              <a:pPr/>
              <a:t>‹#›</a:t>
            </a:fld>
            <a:endParaRPr lang="zh-CN" altLang="en-US"/>
          </a:p>
        </p:txBody>
      </p:sp>
    </p:spTree>
    <p:extLst>
      <p:ext uri="{BB962C8B-B14F-4D97-AF65-F5344CB8AC3E}">
        <p14:creationId xmlns:p14="http://schemas.microsoft.com/office/powerpoint/2010/main" val="23060802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70C8505-0372-41F5-B7B2-72EF063B6600}" type="datetime1">
              <a:rPr lang="zh-CN" altLang="en-US" smtClean="0"/>
              <a:pPr/>
              <a:t>2018-7-11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C794E63-F2AF-49E2-AE37-43481CC587E5}" type="slidenum">
              <a:rPr lang="zh-CN" altLang="en-US" smtClean="0"/>
              <a:pPr/>
              <a:t>‹#›</a:t>
            </a:fld>
            <a:endParaRPr lang="zh-CN" altLang="en-US"/>
          </a:p>
        </p:txBody>
      </p:sp>
    </p:spTree>
    <p:extLst>
      <p:ext uri="{BB962C8B-B14F-4D97-AF65-F5344CB8AC3E}">
        <p14:creationId xmlns:p14="http://schemas.microsoft.com/office/powerpoint/2010/main" val="1108960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719572" y="151200"/>
            <a:ext cx="5472608" cy="490066"/>
          </a:xfrm>
          <a:prstGeom prst="rect">
            <a:avLst/>
          </a:prstGeom>
        </p:spPr>
        <p:txBody>
          <a:bodyPr vert="horz" lIns="91440" tIns="45720" rIns="91440" bIns="45720" rtlCol="0" anchor="ctr">
            <a:no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719572" y="980728"/>
            <a:ext cx="7848872" cy="5328592"/>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altLang="zh-CN" dirty="0" smtClean="0"/>
          </a:p>
          <a:p>
            <a:pPr lvl="4"/>
            <a:endParaRPr lang="en-US" altLang="zh-CN" dirty="0" smtClean="0"/>
          </a:p>
          <a:p>
            <a:pPr lvl="4"/>
            <a:endParaRPr lang="zh-CN" altLang="en-US" dirty="0"/>
          </a:p>
        </p:txBody>
      </p:sp>
      <p:sp>
        <p:nvSpPr>
          <p:cNvPr id="4" name="日期占位符 3"/>
          <p:cNvSpPr>
            <a:spLocks noGrp="1"/>
          </p:cNvSpPr>
          <p:nvPr>
            <p:ph type="dt" sz="half" idx="2"/>
          </p:nvPr>
        </p:nvSpPr>
        <p:spPr>
          <a:xfrm>
            <a:off x="710208" y="6356350"/>
            <a:ext cx="2133600" cy="365125"/>
          </a:xfrm>
          <a:prstGeom prst="rect">
            <a:avLst/>
          </a:prstGeom>
        </p:spPr>
        <p:txBody>
          <a:bodyPr vert="horz" lIns="91440" tIns="45720" rIns="91440" bIns="45720" rtlCol="0" anchor="ctr"/>
          <a:lstStyle>
            <a:lvl1pPr algn="l">
              <a:defRPr sz="1100" i="1">
                <a:solidFill>
                  <a:srgbClr val="00B0F0"/>
                </a:solidFill>
                <a:latin typeface="Arial" pitchFamily="34" charset="0"/>
                <a:cs typeface="Arial" pitchFamily="34" charset="0"/>
              </a:defRPr>
            </a:lvl1pPr>
          </a:lstStyle>
          <a:p>
            <a:fld id="{C1D3EEC2-3DBC-43AD-837B-AE7C27033FDD}" type="datetime1">
              <a:rPr lang="zh-CN" altLang="en-US" smtClean="0"/>
              <a:pPr/>
              <a:t>2018-7-11</a:t>
            </a:fld>
            <a:endParaRPr lang="zh-CN" altLang="en-US" dirty="0"/>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16216" y="6356350"/>
            <a:ext cx="2133600" cy="365125"/>
          </a:xfrm>
          <a:prstGeom prst="rect">
            <a:avLst/>
          </a:prstGeom>
        </p:spPr>
        <p:txBody>
          <a:bodyPr vert="horz" lIns="91440" tIns="45720" rIns="91440" bIns="45720" rtlCol="0" anchor="ctr"/>
          <a:lstStyle>
            <a:lvl1pPr algn="r">
              <a:defRPr sz="1100" i="1">
                <a:solidFill>
                  <a:srgbClr val="00B0F0"/>
                </a:solidFill>
                <a:latin typeface="Arial" pitchFamily="34" charset="0"/>
                <a:cs typeface="Arial" pitchFamily="34" charset="0"/>
              </a:defRPr>
            </a:lvl1pPr>
          </a:lstStyle>
          <a:p>
            <a:fld id="{5C794E63-F2AF-49E2-AE37-43481CC587E5}" type="slidenum">
              <a:rPr lang="zh-CN" altLang="en-US" smtClean="0"/>
              <a:pPr/>
              <a:t>‹#›</a:t>
            </a:fld>
            <a:endParaRPr lang="zh-CN" altLang="en-US" dirty="0"/>
          </a:p>
        </p:txBody>
      </p:sp>
      <p:grpSp>
        <p:nvGrpSpPr>
          <p:cNvPr id="7" name="组合 7"/>
          <p:cNvGrpSpPr>
            <a:grpSpLocks/>
          </p:cNvGrpSpPr>
          <p:nvPr/>
        </p:nvGrpSpPr>
        <p:grpSpPr bwMode="auto">
          <a:xfrm>
            <a:off x="0" y="742950"/>
            <a:ext cx="9144000" cy="46038"/>
            <a:chOff x="0" y="1440235"/>
            <a:chExt cx="14401800" cy="72000"/>
          </a:xfrm>
        </p:grpSpPr>
        <p:sp>
          <p:nvSpPr>
            <p:cNvPr id="8" name="矩形 8"/>
            <p:cNvSpPr>
              <a:spLocks noChangeArrowheads="1"/>
            </p:cNvSpPr>
            <p:nvPr userDrawn="1"/>
          </p:nvSpPr>
          <p:spPr bwMode="auto">
            <a:xfrm>
              <a:off x="652622" y="1440235"/>
              <a:ext cx="1305245" cy="72000"/>
            </a:xfrm>
            <a:prstGeom prst="rect">
              <a:avLst/>
            </a:prstGeom>
            <a:solidFill>
              <a:srgbClr val="00A073"/>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defTabSz="579438"/>
              <a:endParaRPr lang="zh-CN" altLang="en-US" sz="1300"/>
            </a:p>
          </p:txBody>
        </p:sp>
        <p:sp>
          <p:nvSpPr>
            <p:cNvPr id="9" name="矩形 9"/>
            <p:cNvSpPr>
              <a:spLocks noChangeArrowheads="1"/>
            </p:cNvSpPr>
            <p:nvPr userDrawn="1"/>
          </p:nvSpPr>
          <p:spPr bwMode="auto">
            <a:xfrm>
              <a:off x="2066925" y="1440235"/>
              <a:ext cx="1305245" cy="72000"/>
            </a:xfrm>
            <a:prstGeom prst="rect">
              <a:avLst/>
            </a:prstGeom>
            <a:solidFill>
              <a:srgbClr val="0062AD"/>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defTabSz="579438"/>
              <a:endParaRPr lang="zh-CN" altLang="en-US" sz="1300"/>
            </a:p>
          </p:txBody>
        </p:sp>
        <p:sp>
          <p:nvSpPr>
            <p:cNvPr id="10" name="矩形 10"/>
            <p:cNvSpPr>
              <a:spLocks noChangeArrowheads="1"/>
            </p:cNvSpPr>
            <p:nvPr userDrawn="1"/>
          </p:nvSpPr>
          <p:spPr bwMode="auto">
            <a:xfrm>
              <a:off x="2880420" y="1440235"/>
              <a:ext cx="11521380" cy="72000"/>
            </a:xfrm>
            <a:prstGeom prst="rect">
              <a:avLst/>
            </a:prstGeom>
            <a:solidFill>
              <a:srgbClr val="00479D"/>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defTabSz="579438"/>
              <a:endParaRPr lang="zh-CN" altLang="en-US" sz="1300"/>
            </a:p>
          </p:txBody>
        </p:sp>
        <p:sp>
          <p:nvSpPr>
            <p:cNvPr id="11" name="矩形 11"/>
            <p:cNvSpPr>
              <a:spLocks noChangeArrowheads="1"/>
            </p:cNvSpPr>
            <p:nvPr userDrawn="1"/>
          </p:nvSpPr>
          <p:spPr bwMode="auto">
            <a:xfrm>
              <a:off x="0" y="1440235"/>
              <a:ext cx="1305245" cy="72000"/>
            </a:xfrm>
            <a:prstGeom prst="rect">
              <a:avLst/>
            </a:prstGeom>
            <a:solidFill>
              <a:srgbClr val="00819C"/>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defTabSz="579438"/>
              <a:endParaRPr lang="zh-CN" altLang="en-US" sz="1300"/>
            </a:p>
          </p:txBody>
        </p:sp>
      </p:grpSp>
      <p:pic>
        <p:nvPicPr>
          <p:cNvPr id="12" name="Picture 7" descr="彩色logo"/>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7133282" y="136525"/>
            <a:ext cx="132715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334168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p:txStyles>
    <p:titleStyle>
      <a:lvl1pPr algn="l" defTabSz="914400" rtl="0" eaLnBrk="1" latinLnBrk="0" hangingPunct="1">
        <a:spcBef>
          <a:spcPct val="0"/>
        </a:spcBef>
        <a:buNone/>
        <a:defRPr sz="3000" kern="1200">
          <a:solidFill>
            <a:srgbClr val="595757"/>
          </a:solidFill>
          <a:latin typeface="微软雅黑" pitchFamily="34" charset="-122"/>
          <a:ea typeface="微软雅黑" pitchFamily="34" charset="-122"/>
          <a:cs typeface="+mj-cs"/>
        </a:defRPr>
      </a:lvl1pPr>
    </p:titleStyle>
    <p:bodyStyle>
      <a:lvl1pPr marL="342900" indent="-342900" algn="just" defTabSz="914400" rtl="0" eaLnBrk="1" latinLnBrk="0" hangingPunct="1">
        <a:lnSpc>
          <a:spcPct val="125000"/>
        </a:lnSpc>
        <a:spcBef>
          <a:spcPts val="300"/>
        </a:spcBef>
        <a:buClr>
          <a:srgbClr val="00479D"/>
        </a:buClr>
        <a:buSzPct val="60000"/>
        <a:buFont typeface="Wingdings" pitchFamily="2" charset="2"/>
        <a:buChar char="n"/>
        <a:defRPr sz="2800" kern="1200">
          <a:solidFill>
            <a:srgbClr val="595757"/>
          </a:solidFill>
          <a:latin typeface="微软雅黑" pitchFamily="34" charset="-122"/>
          <a:ea typeface="微软雅黑" pitchFamily="34" charset="-122"/>
          <a:cs typeface="+mn-cs"/>
        </a:defRPr>
      </a:lvl1pPr>
      <a:lvl2pPr marL="742950" indent="-285750" algn="just" defTabSz="914400" rtl="0" eaLnBrk="1" latinLnBrk="0" hangingPunct="1">
        <a:lnSpc>
          <a:spcPct val="125000"/>
        </a:lnSpc>
        <a:spcBef>
          <a:spcPts val="300"/>
        </a:spcBef>
        <a:buClr>
          <a:srgbClr val="0070C0"/>
        </a:buClr>
        <a:buSzPct val="60000"/>
        <a:buFont typeface="Wingdings" pitchFamily="2" charset="2"/>
        <a:buChar char="p"/>
        <a:defRPr sz="2400" kern="1200">
          <a:solidFill>
            <a:srgbClr val="595757"/>
          </a:solidFill>
          <a:latin typeface="微软雅黑" pitchFamily="34" charset="-122"/>
          <a:ea typeface="微软雅黑" pitchFamily="34" charset="-122"/>
          <a:cs typeface="+mn-cs"/>
        </a:defRPr>
      </a:lvl2pPr>
      <a:lvl3pPr marL="1143000" indent="-228600" algn="just" defTabSz="914400" rtl="0" eaLnBrk="1" latinLnBrk="0" hangingPunct="1">
        <a:lnSpc>
          <a:spcPct val="125000"/>
        </a:lnSpc>
        <a:spcBef>
          <a:spcPts val="300"/>
        </a:spcBef>
        <a:buClr>
          <a:srgbClr val="0070C0"/>
        </a:buClr>
        <a:buFont typeface="Arial" pitchFamily="34" charset="0"/>
        <a:buChar char="•"/>
        <a:defRPr sz="2400" kern="1200">
          <a:solidFill>
            <a:srgbClr val="595757"/>
          </a:solidFill>
          <a:latin typeface="微软雅黑" pitchFamily="34" charset="-122"/>
          <a:ea typeface="微软雅黑" pitchFamily="34" charset="-122"/>
          <a:cs typeface="+mn-cs"/>
        </a:defRPr>
      </a:lvl3pPr>
      <a:lvl4pPr marL="1600200" indent="-228600" algn="just" defTabSz="914400" rtl="0" eaLnBrk="1" latinLnBrk="0" hangingPunct="1">
        <a:lnSpc>
          <a:spcPct val="125000"/>
        </a:lnSpc>
        <a:spcBef>
          <a:spcPts val="300"/>
        </a:spcBef>
        <a:buClr>
          <a:srgbClr val="0070C0"/>
        </a:buClr>
        <a:buFont typeface="Arial" pitchFamily="34" charset="0"/>
        <a:buChar char="–"/>
        <a:defRPr sz="2000" kern="1200">
          <a:solidFill>
            <a:srgbClr val="595757"/>
          </a:solidFill>
          <a:latin typeface="微软雅黑" pitchFamily="34" charset="-122"/>
          <a:ea typeface="微软雅黑" pitchFamily="34" charset="-122"/>
          <a:cs typeface="+mn-cs"/>
        </a:defRPr>
      </a:lvl4pPr>
      <a:lvl5pPr marL="2057400" indent="-228600" algn="just" defTabSz="914400" rtl="0" eaLnBrk="1" latinLnBrk="0" hangingPunct="1">
        <a:lnSpc>
          <a:spcPct val="125000"/>
        </a:lnSpc>
        <a:spcBef>
          <a:spcPts val="300"/>
        </a:spcBef>
        <a:buClr>
          <a:srgbClr val="0070C0"/>
        </a:buClr>
        <a:buFont typeface="Arial" pitchFamily="34" charset="0"/>
        <a:buChar char="»"/>
        <a:defRPr sz="1800" kern="1200">
          <a:solidFill>
            <a:srgbClr val="595757"/>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10"/>
          <p:cNvSpPr txBox="1">
            <a:spLocks noChangeArrowheads="1"/>
          </p:cNvSpPr>
          <p:nvPr/>
        </p:nvSpPr>
        <p:spPr bwMode="auto">
          <a:xfrm>
            <a:off x="1657048" y="2843389"/>
            <a:ext cx="5219208" cy="1305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58055" tIns="29028" rIns="58055" bIns="29028">
            <a:spAutoFit/>
          </a:bodyPr>
          <a:lstStyle>
            <a:lvl1pPr defTabSz="1293813" eaLnBrk="0" hangingPunct="0">
              <a:defRPr sz="2800">
                <a:solidFill>
                  <a:schemeClr val="tx1"/>
                </a:solidFill>
                <a:latin typeface="Arial" charset="0"/>
                <a:ea typeface="宋体" pitchFamily="2" charset="-122"/>
              </a:defRPr>
            </a:lvl1pPr>
            <a:lvl2pPr marL="742950" indent="-285750" defTabSz="1293813" eaLnBrk="0" hangingPunct="0">
              <a:defRPr sz="2800">
                <a:solidFill>
                  <a:schemeClr val="tx1"/>
                </a:solidFill>
                <a:latin typeface="Arial" charset="0"/>
                <a:ea typeface="宋体" pitchFamily="2" charset="-122"/>
              </a:defRPr>
            </a:lvl2pPr>
            <a:lvl3pPr marL="1143000" indent="-228600" defTabSz="1293813" eaLnBrk="0" hangingPunct="0">
              <a:defRPr sz="2800">
                <a:solidFill>
                  <a:schemeClr val="tx1"/>
                </a:solidFill>
                <a:latin typeface="Arial" charset="0"/>
                <a:ea typeface="宋体" pitchFamily="2" charset="-122"/>
              </a:defRPr>
            </a:lvl3pPr>
            <a:lvl4pPr marL="1600200" indent="-228600" defTabSz="1293813" eaLnBrk="0" hangingPunct="0">
              <a:defRPr sz="2800">
                <a:solidFill>
                  <a:schemeClr val="tx1"/>
                </a:solidFill>
                <a:latin typeface="Arial" charset="0"/>
                <a:ea typeface="宋体" pitchFamily="2" charset="-122"/>
              </a:defRPr>
            </a:lvl4pPr>
            <a:lvl5pPr marL="2057400" indent="-228600" defTabSz="1293813" eaLnBrk="0" hangingPunct="0">
              <a:defRPr sz="2800">
                <a:solidFill>
                  <a:schemeClr val="tx1"/>
                </a:solidFill>
                <a:latin typeface="Arial" charset="0"/>
                <a:ea typeface="宋体" pitchFamily="2" charset="-122"/>
              </a:defRPr>
            </a:lvl5pPr>
            <a:lvl6pPr marL="2514600" indent="-228600" defTabSz="1293813" eaLnBrk="0" fontAlgn="base" hangingPunct="0">
              <a:spcBef>
                <a:spcPct val="0"/>
              </a:spcBef>
              <a:spcAft>
                <a:spcPct val="0"/>
              </a:spcAft>
              <a:buFont typeface="Arial" charset="0"/>
              <a:defRPr sz="2800">
                <a:solidFill>
                  <a:schemeClr val="tx1"/>
                </a:solidFill>
                <a:latin typeface="Arial" charset="0"/>
                <a:ea typeface="宋体" pitchFamily="2" charset="-122"/>
              </a:defRPr>
            </a:lvl6pPr>
            <a:lvl7pPr marL="2971800" indent="-228600" defTabSz="1293813" eaLnBrk="0" fontAlgn="base" hangingPunct="0">
              <a:spcBef>
                <a:spcPct val="0"/>
              </a:spcBef>
              <a:spcAft>
                <a:spcPct val="0"/>
              </a:spcAft>
              <a:buFont typeface="Arial" charset="0"/>
              <a:defRPr sz="2800">
                <a:solidFill>
                  <a:schemeClr val="tx1"/>
                </a:solidFill>
                <a:latin typeface="Arial" charset="0"/>
                <a:ea typeface="宋体" pitchFamily="2" charset="-122"/>
              </a:defRPr>
            </a:lvl7pPr>
            <a:lvl8pPr marL="3429000" indent="-228600" defTabSz="1293813" eaLnBrk="0" fontAlgn="base" hangingPunct="0">
              <a:spcBef>
                <a:spcPct val="0"/>
              </a:spcBef>
              <a:spcAft>
                <a:spcPct val="0"/>
              </a:spcAft>
              <a:buFont typeface="Arial" charset="0"/>
              <a:defRPr sz="2800">
                <a:solidFill>
                  <a:schemeClr val="tx1"/>
                </a:solidFill>
                <a:latin typeface="Arial" charset="0"/>
                <a:ea typeface="宋体" pitchFamily="2" charset="-122"/>
              </a:defRPr>
            </a:lvl8pPr>
            <a:lvl9pPr marL="3886200" indent="-228600" defTabSz="1293813" eaLnBrk="0" fontAlgn="base" hangingPunct="0">
              <a:spcBef>
                <a:spcPct val="0"/>
              </a:spcBef>
              <a:spcAft>
                <a:spcPct val="0"/>
              </a:spcAft>
              <a:buFont typeface="Arial" charset="0"/>
              <a:defRPr sz="2800">
                <a:solidFill>
                  <a:schemeClr val="tx1"/>
                </a:solidFill>
                <a:latin typeface="Arial" charset="0"/>
                <a:ea typeface="宋体" pitchFamily="2" charset="-122"/>
              </a:defRPr>
            </a:lvl9pPr>
          </a:lstStyle>
          <a:p>
            <a:pPr eaLnBrk="1" hangingPunct="1"/>
            <a:r>
              <a:rPr lang="en-US" altLang="zh-CN" sz="4400" dirty="0" smtClean="0">
                <a:solidFill>
                  <a:schemeClr val="bg1"/>
                </a:solidFill>
                <a:latin typeface="微软雅黑" pitchFamily="34" charset="-122"/>
                <a:ea typeface="微软雅黑" pitchFamily="34" charset="-122"/>
              </a:rPr>
              <a:t>JAVA</a:t>
            </a:r>
            <a:r>
              <a:rPr lang="zh-CN" altLang="en-US" sz="4400" dirty="0" smtClean="0">
                <a:solidFill>
                  <a:schemeClr val="bg1"/>
                </a:solidFill>
                <a:latin typeface="微软雅黑" pitchFamily="34" charset="-122"/>
                <a:ea typeface="微软雅黑" pitchFamily="34" charset="-122"/>
              </a:rPr>
              <a:t>中级</a:t>
            </a:r>
            <a:endParaRPr lang="zh-CN" altLang="en-US" sz="4400" dirty="0">
              <a:solidFill>
                <a:schemeClr val="bg1"/>
              </a:solidFill>
              <a:latin typeface="微软雅黑" pitchFamily="34" charset="-122"/>
              <a:ea typeface="微软雅黑" pitchFamily="34" charset="-122"/>
            </a:endParaRPr>
          </a:p>
          <a:p>
            <a:pPr eaLnBrk="1" hangingPunct="1"/>
            <a:endParaRPr lang="zh-CN" altLang="en-US" sz="900" dirty="0">
              <a:solidFill>
                <a:schemeClr val="bg1"/>
              </a:solidFill>
              <a:latin typeface="微软雅黑" pitchFamily="34" charset="-122"/>
              <a:ea typeface="微软雅黑" pitchFamily="34" charset="-122"/>
            </a:endParaRPr>
          </a:p>
          <a:p>
            <a:pPr eaLnBrk="1" hangingPunct="1"/>
            <a:r>
              <a:rPr lang="zh-CN" altLang="en-US" dirty="0" smtClean="0">
                <a:solidFill>
                  <a:srgbClr val="7ECEF4"/>
                </a:solidFill>
                <a:latin typeface="微软雅黑" pitchFamily="34" charset="-122"/>
                <a:ea typeface="微软雅黑" pitchFamily="34" charset="-122"/>
              </a:rPr>
              <a:t>郝正彬</a:t>
            </a:r>
            <a:endParaRPr lang="zh-CN" altLang="en-US"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294847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zh-CN" altLang="en-US" sz="3000" dirty="0" smtClean="0"/>
              <a:t>分享目的</a:t>
            </a:r>
            <a:r>
              <a:rPr lang="zh-CN" altLang="en-US" sz="1600" dirty="0" smtClean="0"/>
              <a:t> </a:t>
            </a:r>
            <a:endParaRPr lang="zh-CN" altLang="en-US" sz="1600" dirty="0"/>
          </a:p>
        </p:txBody>
      </p:sp>
      <p:sp>
        <p:nvSpPr>
          <p:cNvPr id="3" name="内容占位符 2"/>
          <p:cNvSpPr>
            <a:spLocks noGrp="1"/>
          </p:cNvSpPr>
          <p:nvPr>
            <p:ph idx="1"/>
          </p:nvPr>
        </p:nvSpPr>
        <p:spPr/>
        <p:txBody>
          <a:bodyPr>
            <a:normAutofit/>
          </a:bodyPr>
          <a:lstStyle/>
          <a:p>
            <a:r>
              <a:rPr lang="zh-CN" altLang="en-US" dirty="0" smtClean="0"/>
              <a:t>了解</a:t>
            </a:r>
            <a:r>
              <a:rPr lang="en-US" altLang="zh-CN" dirty="0" smtClean="0"/>
              <a:t>JAVA</a:t>
            </a:r>
            <a:r>
              <a:rPr lang="zh-CN" altLang="en-US" dirty="0" smtClean="0"/>
              <a:t>中级的学习方向</a:t>
            </a:r>
            <a:endParaRPr lang="en-US" altLang="zh-CN" dirty="0" smtClean="0"/>
          </a:p>
          <a:p>
            <a:pPr lvl="1"/>
            <a:r>
              <a:rPr lang="zh-CN" altLang="en-US" dirty="0" smtClean="0"/>
              <a:t>多线程、线程池、线程安全</a:t>
            </a:r>
            <a:endParaRPr lang="en-US" altLang="zh-CN" dirty="0" smtClean="0"/>
          </a:p>
          <a:p>
            <a:pPr lvl="1"/>
            <a:r>
              <a:rPr lang="en-US" altLang="zh-CN" dirty="0" smtClean="0"/>
              <a:t>IO</a:t>
            </a:r>
            <a:r>
              <a:rPr lang="zh-CN" altLang="en-US" dirty="0" smtClean="0"/>
              <a:t>流体系</a:t>
            </a:r>
            <a:endParaRPr lang="en-US" altLang="zh-CN" dirty="0" smtClean="0"/>
          </a:p>
          <a:p>
            <a:pPr lvl="1"/>
            <a:r>
              <a:rPr lang="en-US" altLang="zh-CN" dirty="0" smtClean="0"/>
              <a:t>JVM</a:t>
            </a:r>
            <a:r>
              <a:rPr lang="zh-CN" altLang="en-US" dirty="0" smtClean="0"/>
              <a:t>内存模型、参数调优</a:t>
            </a:r>
            <a:endParaRPr lang="en-US" altLang="zh-CN" dirty="0" smtClean="0"/>
          </a:p>
          <a:p>
            <a:pPr lvl="1"/>
            <a:r>
              <a:rPr lang="en-US" altLang="zh-CN" dirty="0"/>
              <a:t>h</a:t>
            </a:r>
            <a:r>
              <a:rPr lang="en-US" altLang="zh-CN" dirty="0" smtClean="0"/>
              <a:t>eap dump</a:t>
            </a:r>
            <a:r>
              <a:rPr lang="zh-CN" altLang="en-US" dirty="0" smtClean="0"/>
              <a:t>分析</a:t>
            </a:r>
            <a:endParaRPr lang="en-US" altLang="zh-CN" dirty="0" smtClean="0"/>
          </a:p>
          <a:p>
            <a:pPr lvl="1"/>
            <a:r>
              <a:rPr lang="en-US" altLang="zh-CN" dirty="0" err="1" smtClean="0"/>
              <a:t>jstack</a:t>
            </a:r>
            <a:r>
              <a:rPr lang="zh-CN" altLang="en-US" dirty="0" smtClean="0"/>
              <a:t>分析</a:t>
            </a:r>
            <a:endParaRPr lang="en-US" altLang="zh-CN" dirty="0" smtClean="0"/>
          </a:p>
          <a:p>
            <a:r>
              <a:rPr lang="zh-CN" altLang="en-US" dirty="0" smtClean="0"/>
              <a:t>了解</a:t>
            </a:r>
            <a:r>
              <a:rPr lang="en-US" altLang="zh-CN" dirty="0" smtClean="0"/>
              <a:t>JAVA</a:t>
            </a:r>
            <a:r>
              <a:rPr lang="zh-CN" altLang="en-US" dirty="0" smtClean="0"/>
              <a:t>中级的考察标准</a:t>
            </a:r>
            <a:endParaRPr lang="en-US" altLang="zh-CN" dirty="0" smtClean="0"/>
          </a:p>
          <a:p>
            <a:pPr lvl="1"/>
            <a:r>
              <a:rPr lang="zh-CN" altLang="en-US" dirty="0" smtClean="0"/>
              <a:t>掌握上述知识点</a:t>
            </a:r>
            <a:endParaRPr lang="en-US" altLang="zh-CN" dirty="0" smtClean="0"/>
          </a:p>
          <a:p>
            <a:pPr lvl="1"/>
            <a:r>
              <a:rPr lang="zh-CN" altLang="en-US" dirty="0" smtClean="0"/>
              <a:t>有项目调优排错经验</a:t>
            </a:r>
            <a:endParaRPr lang="en-US" altLang="zh-CN" dirty="0" smtClean="0"/>
          </a:p>
          <a:p>
            <a:pPr lvl="1"/>
            <a:r>
              <a:rPr lang="zh-CN" altLang="en-US" dirty="0" smtClean="0"/>
              <a:t>有过分析</a:t>
            </a:r>
            <a:r>
              <a:rPr lang="en-US" altLang="zh-CN" dirty="0" smtClean="0"/>
              <a:t>heap dump</a:t>
            </a:r>
            <a:r>
              <a:rPr lang="zh-CN" altLang="en-US" dirty="0" smtClean="0"/>
              <a:t>和线程信息的经验</a:t>
            </a:r>
            <a:endParaRPr lang="en-US" altLang="zh-CN" dirty="0" smtClean="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2</a:t>
            </a:fld>
            <a:endParaRPr lang="zh-CN" altLang="en-US"/>
          </a:p>
        </p:txBody>
      </p:sp>
    </p:spTree>
    <p:extLst>
      <p:ext uri="{BB962C8B-B14F-4D97-AF65-F5344CB8AC3E}">
        <p14:creationId xmlns:p14="http://schemas.microsoft.com/office/powerpoint/2010/main" val="217150906"/>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en-US" altLang="zh-CN" sz="3000" dirty="0" smtClean="0"/>
              <a:t>IO</a:t>
            </a:r>
            <a:r>
              <a:rPr lang="zh-CN" altLang="en-US" sz="1600" dirty="0" smtClean="0"/>
              <a:t> </a:t>
            </a:r>
            <a:endParaRPr lang="zh-CN" altLang="en-US" sz="1600" dirty="0"/>
          </a:p>
        </p:txBody>
      </p:sp>
      <p:sp>
        <p:nvSpPr>
          <p:cNvPr id="3" name="内容占位符 2"/>
          <p:cNvSpPr>
            <a:spLocks noGrp="1"/>
          </p:cNvSpPr>
          <p:nvPr>
            <p:ph idx="1"/>
          </p:nvPr>
        </p:nvSpPr>
        <p:spPr/>
        <p:txBody>
          <a:bodyPr>
            <a:normAutofit/>
          </a:bodyPr>
          <a:lstStyle/>
          <a:p>
            <a:r>
              <a:rPr lang="zh-CN" altLang="en-US" dirty="0" smtClean="0"/>
              <a:t>字符流和字节流</a:t>
            </a:r>
            <a:endParaRPr lang="en-US" altLang="zh-CN" dirty="0" smtClean="0"/>
          </a:p>
          <a:p>
            <a:endParaRPr lang="en-US" altLang="zh-CN" dirty="0"/>
          </a:p>
          <a:p>
            <a:r>
              <a:rPr lang="en-US" altLang="zh-CN" dirty="0" smtClean="0"/>
              <a:t>IO</a:t>
            </a:r>
            <a:r>
              <a:rPr lang="zh-CN" altLang="en-US" dirty="0" smtClean="0"/>
              <a:t>中的设计模式</a:t>
            </a:r>
            <a:endParaRPr lang="en-US" altLang="zh-CN" dirty="0" smtClean="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3</a:t>
            </a:fld>
            <a:endParaRPr lang="zh-CN" altLang="en-US"/>
          </a:p>
        </p:txBody>
      </p:sp>
    </p:spTree>
    <p:extLst>
      <p:ext uri="{BB962C8B-B14F-4D97-AF65-F5344CB8AC3E}">
        <p14:creationId xmlns:p14="http://schemas.microsoft.com/office/powerpoint/2010/main" val="4242380627"/>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124744"/>
            <a:ext cx="9144000" cy="5351451"/>
          </a:xfrm>
          <a:prstGeom prst="rect">
            <a:avLst/>
          </a:prstGeom>
        </p:spPr>
      </p:pic>
      <p:sp>
        <p:nvSpPr>
          <p:cNvPr id="2" name="标题 1"/>
          <p:cNvSpPr>
            <a:spLocks noGrp="1"/>
          </p:cNvSpPr>
          <p:nvPr>
            <p:ph type="title"/>
          </p:nvPr>
        </p:nvSpPr>
        <p:spPr/>
        <p:txBody>
          <a:bodyPr/>
          <a:lstStyle/>
          <a:p>
            <a:r>
              <a:rPr lang="zh-CN" altLang="en-US" dirty="0">
                <a:cs typeface="Arial" pitchFamily="34" charset="0"/>
              </a:rPr>
              <a:t>字符流和字节</a:t>
            </a:r>
            <a:r>
              <a:rPr lang="zh-CN" altLang="en-US" dirty="0" smtClean="0">
                <a:cs typeface="Arial" pitchFamily="34" charset="0"/>
              </a:rPr>
              <a:t>流</a:t>
            </a:r>
            <a:endParaRPr lang="zh-CN" altLang="en-US" dirty="0"/>
          </a:p>
        </p:txBody>
      </p:sp>
      <p:sp>
        <p:nvSpPr>
          <p:cNvPr id="3" name="内容占位符 2"/>
          <p:cNvSpPr>
            <a:spLocks noGrp="1"/>
          </p:cNvSpPr>
          <p:nvPr>
            <p:ph idx="1"/>
          </p:nvPr>
        </p:nvSpPr>
        <p:spPr/>
        <p:txBody>
          <a:bodyPr/>
          <a:lstStyle/>
          <a:p>
            <a:r>
              <a:rPr lang="en-US" altLang="zh-CN" dirty="0" smtClean="0"/>
              <a:t>Stream</a:t>
            </a:r>
          </a:p>
        </p:txBody>
      </p:sp>
      <p:sp>
        <p:nvSpPr>
          <p:cNvPr id="4" name="日期占位符 3"/>
          <p:cNvSpPr>
            <a:spLocks noGrp="1"/>
          </p:cNvSpPr>
          <p:nvPr>
            <p:ph type="dt" sz="half" idx="10"/>
          </p:nvPr>
        </p:nvSpPr>
        <p:spPr/>
        <p:txBody>
          <a:bodyPr/>
          <a:lstStyle/>
          <a:p>
            <a:fld id="{4D01DF33-5A38-4035-AC9E-B8E17EB22BE4}" type="datetime1">
              <a:rPr lang="zh-CN" altLang="en-US" smtClean="0"/>
              <a:pPr/>
              <a:t>2018-7-11</a:t>
            </a:fld>
            <a:endParaRPr lang="zh-CN" altLang="en-US" dirty="0"/>
          </a:p>
        </p:txBody>
      </p:sp>
      <p:sp>
        <p:nvSpPr>
          <p:cNvPr id="5" name="灯片编号占位符 4"/>
          <p:cNvSpPr>
            <a:spLocks noGrp="1"/>
          </p:cNvSpPr>
          <p:nvPr>
            <p:ph type="sldNum" sz="quarter" idx="12"/>
          </p:nvPr>
        </p:nvSpPr>
        <p:spPr/>
        <p:txBody>
          <a:bodyPr/>
          <a:lstStyle/>
          <a:p>
            <a:fld id="{5C794E63-F2AF-49E2-AE37-43481CC587E5}" type="slidenum">
              <a:rPr lang="zh-CN" altLang="en-US" smtClean="0"/>
              <a:pPr/>
              <a:t>4</a:t>
            </a:fld>
            <a:endParaRPr lang="zh-CN" altLang="en-US"/>
          </a:p>
        </p:txBody>
      </p:sp>
    </p:spTree>
    <p:extLst>
      <p:ext uri="{BB962C8B-B14F-4D97-AF65-F5344CB8AC3E}">
        <p14:creationId xmlns:p14="http://schemas.microsoft.com/office/powerpoint/2010/main" val="228916935"/>
      </p:ext>
    </p:extLst>
  </p:cSld>
  <p:clrMapOvr>
    <a:masterClrMapping/>
  </p:clrMapOvr>
  <mc:AlternateContent xmlns:mc="http://schemas.openxmlformats.org/markup-compatibility/2006" xmlns:p15="http://schemas.microsoft.com/office/powerpoint/2012/main">
    <mc:Choice Requires="p15">
      <p:transition spd="med">
        <p15:prstTrans prst="pageCurlDoubl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cs typeface="Arial" pitchFamily="34" charset="0"/>
              </a:rPr>
              <a:t>字符流和字节</a:t>
            </a:r>
            <a:r>
              <a:rPr lang="zh-CN" altLang="en-US" dirty="0" smtClean="0">
                <a:cs typeface="Arial" pitchFamily="34" charset="0"/>
              </a:rPr>
              <a:t>流</a:t>
            </a:r>
            <a:endParaRPr lang="zh-CN" altLang="en-US" dirty="0"/>
          </a:p>
        </p:txBody>
      </p:sp>
      <p:sp>
        <p:nvSpPr>
          <p:cNvPr id="3" name="内容占位符 2"/>
          <p:cNvSpPr>
            <a:spLocks noGrp="1"/>
          </p:cNvSpPr>
          <p:nvPr>
            <p:ph idx="1"/>
          </p:nvPr>
        </p:nvSpPr>
        <p:spPr/>
        <p:txBody>
          <a:bodyPr/>
          <a:lstStyle/>
          <a:p>
            <a:r>
              <a:rPr lang="en-US" altLang="zh-CN" dirty="0" err="1" smtClean="0"/>
              <a:t>InputStream</a:t>
            </a:r>
            <a:r>
              <a:rPr lang="en-US" altLang="zh-CN" dirty="0" smtClean="0"/>
              <a:t>/</a:t>
            </a:r>
            <a:r>
              <a:rPr lang="en-US" altLang="zh-CN" dirty="0" err="1" smtClean="0"/>
              <a:t>OutputStream</a:t>
            </a:r>
            <a:endParaRPr lang="en-US" altLang="zh-CN" dirty="0" smtClean="0"/>
          </a:p>
          <a:p>
            <a:r>
              <a:rPr lang="en-US" altLang="zh-CN" dirty="0" smtClean="0"/>
              <a:t>Reader/Writer</a:t>
            </a:r>
          </a:p>
        </p:txBody>
      </p:sp>
      <p:sp>
        <p:nvSpPr>
          <p:cNvPr id="4" name="日期占位符 3"/>
          <p:cNvSpPr>
            <a:spLocks noGrp="1"/>
          </p:cNvSpPr>
          <p:nvPr>
            <p:ph type="dt" sz="half" idx="10"/>
          </p:nvPr>
        </p:nvSpPr>
        <p:spPr/>
        <p:txBody>
          <a:bodyPr/>
          <a:lstStyle/>
          <a:p>
            <a:fld id="{4D01DF33-5A38-4035-AC9E-B8E17EB22BE4}" type="datetime1">
              <a:rPr lang="zh-CN" altLang="en-US" smtClean="0"/>
              <a:pPr/>
              <a:t>2018-7-11</a:t>
            </a:fld>
            <a:endParaRPr lang="zh-CN" altLang="en-US" dirty="0"/>
          </a:p>
        </p:txBody>
      </p:sp>
      <p:sp>
        <p:nvSpPr>
          <p:cNvPr id="5" name="灯片编号占位符 4"/>
          <p:cNvSpPr>
            <a:spLocks noGrp="1"/>
          </p:cNvSpPr>
          <p:nvPr>
            <p:ph type="sldNum" sz="quarter" idx="12"/>
          </p:nvPr>
        </p:nvSpPr>
        <p:spPr/>
        <p:txBody>
          <a:bodyPr/>
          <a:lstStyle/>
          <a:p>
            <a:fld id="{5C794E63-F2AF-49E2-AE37-43481CC587E5}" type="slidenum">
              <a:rPr lang="zh-CN" altLang="en-US" smtClean="0"/>
              <a:pPr/>
              <a:t>5</a:t>
            </a:fld>
            <a:endParaRPr lang="zh-CN" altLang="en-US"/>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5737" y="2348880"/>
            <a:ext cx="8312727" cy="3777748"/>
          </a:xfrm>
          <a:prstGeom prst="rect">
            <a:avLst/>
          </a:prstGeom>
        </p:spPr>
      </p:pic>
    </p:spTree>
    <p:extLst>
      <p:ext uri="{BB962C8B-B14F-4D97-AF65-F5344CB8AC3E}">
        <p14:creationId xmlns:p14="http://schemas.microsoft.com/office/powerpoint/2010/main" val="3663147435"/>
      </p:ext>
    </p:extLst>
  </p:cSld>
  <p:clrMapOvr>
    <a:masterClrMapping/>
  </p:clrMapOvr>
  <mc:AlternateContent xmlns:mc="http://schemas.openxmlformats.org/markup-compatibility/2006" xmlns:p15="http://schemas.microsoft.com/office/powerpoint/2012/main">
    <mc:Choice Requires="p15">
      <p:transition spd="med">
        <p15:prstTrans prst="pageCurlDoubl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cs typeface="Arial" pitchFamily="34" charset="0"/>
              </a:rPr>
              <a:t>字符流和字节</a:t>
            </a:r>
            <a:r>
              <a:rPr lang="zh-CN" altLang="en-US" dirty="0" smtClean="0">
                <a:cs typeface="Arial" pitchFamily="34" charset="0"/>
              </a:rPr>
              <a:t>流</a:t>
            </a:r>
            <a:endParaRPr lang="zh-CN" altLang="en-US" dirty="0"/>
          </a:p>
        </p:txBody>
      </p:sp>
      <p:sp>
        <p:nvSpPr>
          <p:cNvPr id="3" name="内容占位符 2"/>
          <p:cNvSpPr>
            <a:spLocks noGrp="1"/>
          </p:cNvSpPr>
          <p:nvPr>
            <p:ph idx="1"/>
          </p:nvPr>
        </p:nvSpPr>
        <p:spPr/>
        <p:txBody>
          <a:bodyPr/>
          <a:lstStyle/>
          <a:p>
            <a:r>
              <a:rPr lang="en-US" altLang="zh-CN" dirty="0" smtClean="0"/>
              <a:t>Closeable</a:t>
            </a:r>
            <a:r>
              <a:rPr lang="zh-CN" altLang="en-US" dirty="0" smtClean="0"/>
              <a:t>、</a:t>
            </a:r>
            <a:r>
              <a:rPr lang="en-US" altLang="zh-CN" dirty="0" smtClean="0"/>
              <a:t>Flushable</a:t>
            </a:r>
            <a:r>
              <a:rPr lang="zh-CN" altLang="en-US" dirty="0" smtClean="0"/>
              <a:t>和</a:t>
            </a:r>
            <a:r>
              <a:rPr lang="en-US" altLang="zh-CN" dirty="0" err="1" smtClean="0"/>
              <a:t>AutoCloseable</a:t>
            </a:r>
            <a:endParaRPr lang="en-US" altLang="zh-CN" dirty="0" smtClean="0"/>
          </a:p>
        </p:txBody>
      </p:sp>
      <p:sp>
        <p:nvSpPr>
          <p:cNvPr id="4" name="日期占位符 3"/>
          <p:cNvSpPr>
            <a:spLocks noGrp="1"/>
          </p:cNvSpPr>
          <p:nvPr>
            <p:ph type="dt" sz="half" idx="10"/>
          </p:nvPr>
        </p:nvSpPr>
        <p:spPr/>
        <p:txBody>
          <a:bodyPr/>
          <a:lstStyle/>
          <a:p>
            <a:fld id="{4D01DF33-5A38-4035-AC9E-B8E17EB22BE4}" type="datetime1">
              <a:rPr lang="zh-CN" altLang="en-US" smtClean="0"/>
              <a:pPr/>
              <a:t>2018-7-11</a:t>
            </a:fld>
            <a:endParaRPr lang="zh-CN" altLang="en-US" dirty="0"/>
          </a:p>
        </p:txBody>
      </p:sp>
      <p:sp>
        <p:nvSpPr>
          <p:cNvPr id="5" name="灯片编号占位符 4"/>
          <p:cNvSpPr>
            <a:spLocks noGrp="1"/>
          </p:cNvSpPr>
          <p:nvPr>
            <p:ph type="sldNum" sz="quarter" idx="12"/>
          </p:nvPr>
        </p:nvSpPr>
        <p:spPr/>
        <p:txBody>
          <a:bodyPr/>
          <a:lstStyle/>
          <a:p>
            <a:fld id="{5C794E63-F2AF-49E2-AE37-43481CC587E5}" type="slidenum">
              <a:rPr lang="zh-CN" altLang="en-US" smtClean="0"/>
              <a:pPr/>
              <a:t>6</a:t>
            </a:fld>
            <a:endParaRPr lang="zh-CN" altLang="en-US"/>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552" y="1628800"/>
            <a:ext cx="4772691" cy="4591691"/>
          </a:xfrm>
          <a:prstGeom prst="rect">
            <a:avLst/>
          </a:prstGeom>
        </p:spPr>
      </p:pic>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91880" y="3976615"/>
            <a:ext cx="5611008" cy="1600423"/>
          </a:xfrm>
          <a:prstGeom prst="rect">
            <a:avLst/>
          </a:prstGeom>
        </p:spPr>
      </p:pic>
    </p:spTree>
    <p:extLst>
      <p:ext uri="{BB962C8B-B14F-4D97-AF65-F5344CB8AC3E}">
        <p14:creationId xmlns:p14="http://schemas.microsoft.com/office/powerpoint/2010/main" val="1106196903"/>
      </p:ext>
    </p:extLst>
  </p:cSld>
  <p:clrMapOvr>
    <a:masterClrMapping/>
  </p:clrMapOvr>
  <mc:AlternateContent xmlns:mc="http://schemas.openxmlformats.org/markup-compatibility/2006" xmlns:p15="http://schemas.microsoft.com/office/powerpoint/2012/main">
    <mc:Choice Requires="p15">
      <p:transition spd="med">
        <p15:prstTrans prst="pageCurlDoubl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228692" cy="490066"/>
          </a:xfrm>
        </p:spPr>
        <p:txBody>
          <a:bodyPr/>
          <a:lstStyle/>
          <a:p>
            <a:r>
              <a:rPr lang="en-US" altLang="zh-CN" dirty="0">
                <a:cs typeface="Arial" pitchFamily="34" charset="0"/>
              </a:rPr>
              <a:t>IO</a:t>
            </a:r>
            <a:r>
              <a:rPr lang="zh-CN" altLang="en-US" dirty="0">
                <a:cs typeface="Arial" pitchFamily="34" charset="0"/>
              </a:rPr>
              <a:t>中的设计</a:t>
            </a:r>
            <a:r>
              <a:rPr lang="zh-CN" altLang="en-US" dirty="0" smtClean="0">
                <a:cs typeface="Arial" pitchFamily="34" charset="0"/>
              </a:rPr>
              <a:t>模式</a:t>
            </a:r>
            <a:endParaRPr lang="zh-CN" altLang="en-US" dirty="0"/>
          </a:p>
        </p:txBody>
      </p:sp>
      <p:sp>
        <p:nvSpPr>
          <p:cNvPr id="3" name="内容占位符 2"/>
          <p:cNvSpPr>
            <a:spLocks noGrp="1"/>
          </p:cNvSpPr>
          <p:nvPr>
            <p:ph idx="1"/>
          </p:nvPr>
        </p:nvSpPr>
        <p:spPr/>
        <p:txBody>
          <a:bodyPr/>
          <a:lstStyle/>
          <a:p>
            <a:r>
              <a:rPr lang="zh-CN" altLang="en-US" dirty="0" smtClean="0"/>
              <a:t>有一天</a:t>
            </a:r>
            <a:r>
              <a:rPr lang="en-US" altLang="zh-CN" dirty="0" err="1" smtClean="0"/>
              <a:t>InputStream</a:t>
            </a:r>
            <a:r>
              <a:rPr lang="zh-CN" altLang="en-US" dirty="0" smtClean="0"/>
              <a:t>接受了一次采访</a:t>
            </a:r>
            <a:endParaRPr lang="en-US" altLang="zh-CN" dirty="0" smtClean="0"/>
          </a:p>
          <a:p>
            <a:endParaRPr lang="en-US" altLang="zh-CN" dirty="0" smtClean="0"/>
          </a:p>
          <a:p>
            <a:r>
              <a:rPr lang="en-US" altLang="zh-CN" dirty="0" err="1" smtClean="0"/>
              <a:t>InputStream</a:t>
            </a:r>
            <a:r>
              <a:rPr lang="zh-CN" altLang="en-US" dirty="0" smtClean="0"/>
              <a:t>的子类使用</a:t>
            </a:r>
            <a:r>
              <a:rPr lang="zh-CN" altLang="en-US" dirty="0"/>
              <a:t>起来非常</a:t>
            </a:r>
            <a:r>
              <a:rPr lang="zh-CN" altLang="en-US" dirty="0" smtClean="0"/>
              <a:t>奇怪</a:t>
            </a:r>
            <a:endParaRPr lang="en-US" altLang="zh-CN" dirty="0" smtClean="0"/>
          </a:p>
        </p:txBody>
      </p:sp>
      <p:sp>
        <p:nvSpPr>
          <p:cNvPr id="4" name="日期占位符 3"/>
          <p:cNvSpPr>
            <a:spLocks noGrp="1"/>
          </p:cNvSpPr>
          <p:nvPr>
            <p:ph type="dt" sz="half" idx="10"/>
          </p:nvPr>
        </p:nvSpPr>
        <p:spPr/>
        <p:txBody>
          <a:bodyPr/>
          <a:lstStyle/>
          <a:p>
            <a:fld id="{4D01DF33-5A38-4035-AC9E-B8E17EB22BE4}" type="datetime1">
              <a:rPr lang="zh-CN" altLang="en-US" smtClean="0"/>
              <a:pPr/>
              <a:t>2018-7-11</a:t>
            </a:fld>
            <a:endParaRPr lang="zh-CN" altLang="en-US" dirty="0"/>
          </a:p>
        </p:txBody>
      </p:sp>
      <p:sp>
        <p:nvSpPr>
          <p:cNvPr id="5" name="灯片编号占位符 4"/>
          <p:cNvSpPr>
            <a:spLocks noGrp="1"/>
          </p:cNvSpPr>
          <p:nvPr>
            <p:ph type="sldNum" sz="quarter" idx="12"/>
          </p:nvPr>
        </p:nvSpPr>
        <p:spPr/>
        <p:txBody>
          <a:bodyPr/>
          <a:lstStyle/>
          <a:p>
            <a:fld id="{5C794E63-F2AF-49E2-AE37-43481CC587E5}" type="slidenum">
              <a:rPr lang="zh-CN" altLang="en-US" smtClean="0"/>
              <a:pPr/>
              <a:t>7</a:t>
            </a:fld>
            <a:endParaRPr lang="zh-CN" altLang="en-US"/>
          </a:p>
        </p:txBody>
      </p:sp>
      <p:pic>
        <p:nvPicPr>
          <p:cNvPr id="1026" name="Picture 2" descr="http://img.chuansong.me/mmbiz_png/KyXfCrME6UJ7RLMG8Od0aK5TSx4U6k5jt1zTAbECnRPCmxicRMNdP2cHplAiaqYib0yvicnnxajTpWlDyzUTV61n6g/0?wx_fm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572" y="3076001"/>
            <a:ext cx="8050492" cy="20811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7459029"/>
      </p:ext>
    </p:extLst>
  </p:cSld>
  <p:clrMapOvr>
    <a:masterClrMapping/>
  </p:clrMapOvr>
  <mc:AlternateContent xmlns:mc="http://schemas.openxmlformats.org/markup-compatibility/2006" xmlns:p15="http://schemas.microsoft.com/office/powerpoint/2012/main">
    <mc:Choice Requires="p15">
      <p:transition spd="med">
        <p15:prstTrans prst="pageCurlDoubl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left)">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Effect transition="in" filter="fade">
                                      <p:cBhvr>
                                        <p:cTn id="12" dur="1000"/>
                                        <p:tgtEl>
                                          <p:spTgt spid="1026"/>
                                        </p:tgtEl>
                                      </p:cBhvr>
                                    </p:animEffect>
                                    <p:anim calcmode="lin" valueType="num">
                                      <p:cBhvr>
                                        <p:cTn id="13" dur="1000" fill="hold"/>
                                        <p:tgtEl>
                                          <p:spTgt spid="1026"/>
                                        </p:tgtEl>
                                        <p:attrNameLst>
                                          <p:attrName>ppt_x</p:attrName>
                                        </p:attrNameLst>
                                      </p:cBhvr>
                                      <p:tavLst>
                                        <p:tav tm="0">
                                          <p:val>
                                            <p:strVal val="#ppt_x"/>
                                          </p:val>
                                        </p:tav>
                                        <p:tav tm="100000">
                                          <p:val>
                                            <p:strVal val="#ppt_x"/>
                                          </p:val>
                                        </p:tav>
                                      </p:tavLst>
                                    </p:anim>
                                    <p:anim calcmode="lin" valueType="num">
                                      <p:cBhvr>
                                        <p:cTn id="14"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228692" cy="490066"/>
          </a:xfrm>
        </p:spPr>
        <p:txBody>
          <a:bodyPr/>
          <a:lstStyle/>
          <a:p>
            <a:r>
              <a:rPr lang="en-US" altLang="zh-CN" dirty="0">
                <a:cs typeface="Arial" pitchFamily="34" charset="0"/>
              </a:rPr>
              <a:t>IO</a:t>
            </a:r>
            <a:r>
              <a:rPr lang="zh-CN" altLang="en-US" dirty="0">
                <a:cs typeface="Arial" pitchFamily="34" charset="0"/>
              </a:rPr>
              <a:t>中的设计</a:t>
            </a:r>
            <a:r>
              <a:rPr lang="zh-CN" altLang="en-US" dirty="0" smtClean="0">
                <a:cs typeface="Arial" pitchFamily="34" charset="0"/>
              </a:rPr>
              <a:t>模式</a:t>
            </a:r>
            <a:endParaRPr lang="zh-CN" altLang="en-US" dirty="0"/>
          </a:p>
        </p:txBody>
      </p:sp>
      <p:sp>
        <p:nvSpPr>
          <p:cNvPr id="4" name="日期占位符 3"/>
          <p:cNvSpPr>
            <a:spLocks noGrp="1"/>
          </p:cNvSpPr>
          <p:nvPr>
            <p:ph type="dt" sz="half" idx="10"/>
          </p:nvPr>
        </p:nvSpPr>
        <p:spPr/>
        <p:txBody>
          <a:bodyPr/>
          <a:lstStyle/>
          <a:p>
            <a:fld id="{4D01DF33-5A38-4035-AC9E-B8E17EB22BE4}" type="datetime1">
              <a:rPr lang="zh-CN" altLang="en-US" smtClean="0"/>
              <a:pPr/>
              <a:t>2018-7-11</a:t>
            </a:fld>
            <a:endParaRPr lang="zh-CN" altLang="en-US" dirty="0"/>
          </a:p>
        </p:txBody>
      </p:sp>
      <p:sp>
        <p:nvSpPr>
          <p:cNvPr id="5" name="灯片编号占位符 4"/>
          <p:cNvSpPr>
            <a:spLocks noGrp="1"/>
          </p:cNvSpPr>
          <p:nvPr>
            <p:ph type="sldNum" sz="quarter" idx="12"/>
          </p:nvPr>
        </p:nvSpPr>
        <p:spPr/>
        <p:txBody>
          <a:bodyPr/>
          <a:lstStyle/>
          <a:p>
            <a:fld id="{5C794E63-F2AF-49E2-AE37-43481CC587E5}" type="slidenum">
              <a:rPr lang="zh-CN" altLang="en-US" smtClean="0"/>
              <a:pPr/>
              <a:t>8</a:t>
            </a:fld>
            <a:endParaRPr lang="zh-CN" altLang="en-US"/>
          </a:p>
        </p:txBody>
      </p:sp>
      <p:pic>
        <p:nvPicPr>
          <p:cNvPr id="11" name="内容占位符 10"/>
          <p:cNvPicPr>
            <a:picLocks noGrp="1" noChangeAspect="1"/>
          </p:cNvPicPr>
          <p:nvPr>
            <p:ph idx="1"/>
          </p:nvPr>
        </p:nvPicPr>
        <p:blipFill>
          <a:blip r:embed="rId3"/>
          <a:stretch>
            <a:fillRect/>
          </a:stretch>
        </p:blipFill>
        <p:spPr>
          <a:xfrm>
            <a:off x="719138" y="1606912"/>
            <a:ext cx="7848600" cy="3478272"/>
          </a:xfrm>
          <a:prstGeom prst="rect">
            <a:avLst/>
          </a:prstGeom>
        </p:spPr>
      </p:pic>
      <p:sp>
        <p:nvSpPr>
          <p:cNvPr id="6" name="内容占位符 2"/>
          <p:cNvSpPr txBox="1">
            <a:spLocks/>
          </p:cNvSpPr>
          <p:nvPr/>
        </p:nvSpPr>
        <p:spPr>
          <a:xfrm>
            <a:off x="719572" y="980728"/>
            <a:ext cx="7848872" cy="5328592"/>
          </a:xfrm>
          <a:prstGeom prst="rect">
            <a:avLst/>
          </a:prstGeom>
        </p:spPr>
        <p:txBody>
          <a:bodyPr vert="horz" lIns="91440" tIns="45720" rIns="91440" bIns="45720" rtlCol="0">
            <a:normAutofit/>
          </a:bodyPr>
          <a:lstStyle>
            <a:lvl1pPr marL="342900" indent="-342900" algn="just" defTabSz="914400" rtl="0" eaLnBrk="1" latinLnBrk="0" hangingPunct="1">
              <a:lnSpc>
                <a:spcPct val="125000"/>
              </a:lnSpc>
              <a:spcBef>
                <a:spcPts val="300"/>
              </a:spcBef>
              <a:buClr>
                <a:srgbClr val="00479D"/>
              </a:buClr>
              <a:buSzPct val="60000"/>
              <a:buFont typeface="Wingdings" pitchFamily="2" charset="2"/>
              <a:buChar char="n"/>
              <a:defRPr sz="2800" b="0" kern="1200">
                <a:solidFill>
                  <a:srgbClr val="595757"/>
                </a:solidFill>
                <a:latin typeface="微软雅黑" pitchFamily="34" charset="-122"/>
                <a:ea typeface="微软雅黑" pitchFamily="34" charset="-122"/>
                <a:cs typeface="+mn-cs"/>
              </a:defRPr>
            </a:lvl1pPr>
            <a:lvl2pPr marL="742950" indent="-285750" algn="just" defTabSz="914400" rtl="0" eaLnBrk="1" latinLnBrk="0" hangingPunct="1">
              <a:lnSpc>
                <a:spcPct val="125000"/>
              </a:lnSpc>
              <a:spcBef>
                <a:spcPts val="300"/>
              </a:spcBef>
              <a:buClr>
                <a:srgbClr val="0070C0"/>
              </a:buClr>
              <a:buSzPct val="60000"/>
              <a:buFont typeface="Wingdings" pitchFamily="2" charset="2"/>
              <a:buChar char="p"/>
              <a:defRPr sz="2400" kern="1200">
                <a:solidFill>
                  <a:srgbClr val="595757"/>
                </a:solidFill>
                <a:latin typeface="微软雅黑" pitchFamily="34" charset="-122"/>
                <a:ea typeface="微软雅黑" pitchFamily="34" charset="-122"/>
                <a:cs typeface="+mn-cs"/>
              </a:defRPr>
            </a:lvl2pPr>
            <a:lvl3pPr marL="1143000" indent="-228600" algn="just" defTabSz="914400" rtl="0" eaLnBrk="1" latinLnBrk="0" hangingPunct="1">
              <a:lnSpc>
                <a:spcPct val="125000"/>
              </a:lnSpc>
              <a:spcBef>
                <a:spcPts val="300"/>
              </a:spcBef>
              <a:buClr>
                <a:srgbClr val="0070C0"/>
              </a:buClr>
              <a:buFont typeface="Arial" pitchFamily="34" charset="0"/>
              <a:buChar char="•"/>
              <a:defRPr sz="2400" kern="1200">
                <a:solidFill>
                  <a:srgbClr val="595757"/>
                </a:solidFill>
                <a:latin typeface="微软雅黑" pitchFamily="34" charset="-122"/>
                <a:ea typeface="微软雅黑" pitchFamily="34" charset="-122"/>
                <a:cs typeface="+mn-cs"/>
              </a:defRPr>
            </a:lvl3pPr>
            <a:lvl4pPr marL="1600200" indent="-228600" algn="just" defTabSz="914400" rtl="0" eaLnBrk="1" latinLnBrk="0" hangingPunct="1">
              <a:lnSpc>
                <a:spcPct val="125000"/>
              </a:lnSpc>
              <a:spcBef>
                <a:spcPts val="300"/>
              </a:spcBef>
              <a:buClr>
                <a:srgbClr val="0070C0"/>
              </a:buClr>
              <a:buFont typeface="Arial" pitchFamily="34" charset="0"/>
              <a:buChar char="–"/>
              <a:defRPr sz="2000" kern="1200">
                <a:solidFill>
                  <a:srgbClr val="595757"/>
                </a:solidFill>
                <a:latin typeface="微软雅黑" pitchFamily="34" charset="-122"/>
                <a:ea typeface="微软雅黑" pitchFamily="34" charset="-122"/>
                <a:cs typeface="+mn-cs"/>
              </a:defRPr>
            </a:lvl4pPr>
            <a:lvl5pPr marL="2057400" indent="-228600" algn="just" defTabSz="914400" rtl="0" eaLnBrk="1" latinLnBrk="0" hangingPunct="1">
              <a:lnSpc>
                <a:spcPct val="125000"/>
              </a:lnSpc>
              <a:spcBef>
                <a:spcPts val="300"/>
              </a:spcBef>
              <a:buClr>
                <a:srgbClr val="0070C0"/>
              </a:buClr>
              <a:buFont typeface="Arial" pitchFamily="34" charset="0"/>
              <a:buChar char="»"/>
              <a:defRPr sz="1800" kern="1200">
                <a:solidFill>
                  <a:srgbClr val="595757"/>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smtClean="0"/>
              <a:t>时光倒流到</a:t>
            </a:r>
            <a:r>
              <a:rPr lang="en-US" altLang="zh-CN" dirty="0" smtClean="0"/>
              <a:t>20</a:t>
            </a:r>
            <a:r>
              <a:rPr lang="zh-CN" altLang="en-US" dirty="0" smtClean="0"/>
              <a:t>年前</a:t>
            </a:r>
            <a:endParaRPr lang="en-US" altLang="zh-CN" dirty="0"/>
          </a:p>
        </p:txBody>
      </p:sp>
    </p:spTree>
    <p:extLst>
      <p:ext uri="{BB962C8B-B14F-4D97-AF65-F5344CB8AC3E}">
        <p14:creationId xmlns:p14="http://schemas.microsoft.com/office/powerpoint/2010/main" val="354086692"/>
      </p:ext>
    </p:extLst>
  </p:cSld>
  <p:clrMapOvr>
    <a:masterClrMapping/>
  </p:clrMapOvr>
  <mc:AlternateContent xmlns:mc="http://schemas.openxmlformats.org/markup-compatibility/2006" xmlns:p15="http://schemas.microsoft.com/office/powerpoint/2012/main">
    <mc:Choice Requires="p15">
      <p:transition spd="med">
        <p15:prstTrans prst="pageCurlDoubl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228692" cy="490066"/>
          </a:xfrm>
        </p:spPr>
        <p:txBody>
          <a:bodyPr/>
          <a:lstStyle/>
          <a:p>
            <a:r>
              <a:rPr lang="en-US" altLang="zh-CN" dirty="0">
                <a:cs typeface="Arial" pitchFamily="34" charset="0"/>
              </a:rPr>
              <a:t>IO</a:t>
            </a:r>
            <a:r>
              <a:rPr lang="zh-CN" altLang="en-US" dirty="0">
                <a:cs typeface="Arial" pitchFamily="34" charset="0"/>
              </a:rPr>
              <a:t>中的设计</a:t>
            </a:r>
            <a:r>
              <a:rPr lang="zh-CN" altLang="en-US" dirty="0" smtClean="0">
                <a:cs typeface="Arial" pitchFamily="34" charset="0"/>
              </a:rPr>
              <a:t>模式</a:t>
            </a:r>
            <a:endParaRPr lang="zh-CN" altLang="en-US" dirty="0"/>
          </a:p>
        </p:txBody>
      </p:sp>
      <p:sp>
        <p:nvSpPr>
          <p:cNvPr id="4" name="日期占位符 3"/>
          <p:cNvSpPr>
            <a:spLocks noGrp="1"/>
          </p:cNvSpPr>
          <p:nvPr>
            <p:ph type="dt" sz="half" idx="10"/>
          </p:nvPr>
        </p:nvSpPr>
        <p:spPr/>
        <p:txBody>
          <a:bodyPr/>
          <a:lstStyle/>
          <a:p>
            <a:fld id="{4D01DF33-5A38-4035-AC9E-B8E17EB22BE4}" type="datetime1">
              <a:rPr lang="zh-CN" altLang="en-US" smtClean="0"/>
              <a:pPr/>
              <a:t>2018-7-11</a:t>
            </a:fld>
            <a:endParaRPr lang="zh-CN" altLang="en-US" dirty="0"/>
          </a:p>
        </p:txBody>
      </p:sp>
      <p:sp>
        <p:nvSpPr>
          <p:cNvPr id="5" name="灯片编号占位符 4"/>
          <p:cNvSpPr>
            <a:spLocks noGrp="1"/>
          </p:cNvSpPr>
          <p:nvPr>
            <p:ph type="sldNum" sz="quarter" idx="12"/>
          </p:nvPr>
        </p:nvSpPr>
        <p:spPr/>
        <p:txBody>
          <a:bodyPr/>
          <a:lstStyle/>
          <a:p>
            <a:fld id="{5C794E63-F2AF-49E2-AE37-43481CC587E5}" type="slidenum">
              <a:rPr lang="zh-CN" altLang="en-US" smtClean="0"/>
              <a:pPr/>
              <a:t>9</a:t>
            </a:fld>
            <a:endParaRPr lang="zh-CN" altLang="en-US"/>
          </a:p>
        </p:txBody>
      </p:sp>
      <p:sp>
        <p:nvSpPr>
          <p:cNvPr id="3" name="内容占位符 2"/>
          <p:cNvSpPr>
            <a:spLocks noGrp="1"/>
          </p:cNvSpPr>
          <p:nvPr>
            <p:ph idx="1"/>
          </p:nvPr>
        </p:nvSpPr>
        <p:spPr/>
        <p:txBody>
          <a:bodyPr/>
          <a:lstStyle/>
          <a:p>
            <a:r>
              <a:rPr lang="en-US" altLang="zh-CN" dirty="0" err="1" smtClean="0"/>
              <a:t>BufferedInputStream</a:t>
            </a:r>
            <a:endParaRPr lang="en-US" altLang="zh-CN" dirty="0" smtClean="0"/>
          </a:p>
          <a:p>
            <a:r>
              <a:rPr lang="en-US" altLang="zh-CN" dirty="0" err="1"/>
              <a:t>DataInputStream</a:t>
            </a:r>
            <a:endParaRPr lang="en-US" altLang="zh-CN" dirty="0" smtClean="0"/>
          </a:p>
          <a:p>
            <a:r>
              <a:rPr lang="en-US" altLang="zh-CN" dirty="0" err="1"/>
              <a:t>PushbackInputStream</a:t>
            </a:r>
            <a:endParaRPr lang="zh-CN" alt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9572" y="3098942"/>
            <a:ext cx="3216050" cy="1050138"/>
          </a:xfrm>
          <a:prstGeom prst="rect">
            <a:avLst/>
          </a:prstGeom>
        </p:spPr>
      </p:pic>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0208" y="4598176"/>
            <a:ext cx="5098506" cy="1351104"/>
          </a:xfrm>
          <a:prstGeom prst="rect">
            <a:avLst/>
          </a:prstGeom>
        </p:spPr>
      </p:pic>
      <p:sp>
        <p:nvSpPr>
          <p:cNvPr id="8" name="矩形 7"/>
          <p:cNvSpPr/>
          <p:nvPr/>
        </p:nvSpPr>
        <p:spPr>
          <a:xfrm>
            <a:off x="4689376" y="4238136"/>
            <a:ext cx="3960440" cy="923330"/>
          </a:xfrm>
          <a:prstGeom prst="rect">
            <a:avLst/>
          </a:prstGeom>
          <a:noFill/>
        </p:spPr>
        <p:txBody>
          <a:bodyPr wrap="square" lIns="91440" tIns="45720" rIns="91440" bIns="45720">
            <a:spAutoFit/>
            <a:scene3d>
              <a:camera prst="isometricOffAxis1Right"/>
              <a:lightRig rig="threePt" dir="t"/>
            </a:scene3d>
          </a:bodyPr>
          <a:lstStyle/>
          <a:p>
            <a:pPr algn="ctr"/>
            <a:r>
              <a:rPr lang="en-US" altLang="zh-CN" sz="5400" b="1" dirty="0" smtClean="0">
                <a:ln w="22225">
                  <a:solidFill>
                    <a:schemeClr val="accent2"/>
                  </a:solidFill>
                  <a:prstDash val="solid"/>
                </a:ln>
                <a:solidFill>
                  <a:schemeClr val="accent2">
                    <a:lumMod val="40000"/>
                    <a:lumOff val="60000"/>
                  </a:schemeClr>
                </a:solidFill>
              </a:rPr>
              <a:t>6 * 7 = 42</a:t>
            </a:r>
            <a:endParaRPr lang="zh-CN" altLang="en-US" sz="5400" b="1" dirty="0">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1937694701"/>
      </p:ext>
    </p:extLst>
  </p:cSld>
  <p:clrMapOvr>
    <a:masterClrMapping/>
  </p:clrMapOvr>
  <mc:AlternateContent xmlns:mc="http://schemas.openxmlformats.org/markup-compatibility/2006" xmlns:p15="http://schemas.microsoft.com/office/powerpoint/2012/main">
    <mc:Choice Requires="p15">
      <p:transition spd="med">
        <p15:prstTrans prst="pageCurlDoubl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left)">
                                      <p:cBhvr>
                                        <p:cTn id="10" dur="500"/>
                                        <p:tgtEl>
                                          <p:spTgt spid="3">
                                            <p:txEl>
                                              <p:pRg st="1" end="1"/>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left)">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1000"/>
                                        <p:tgtEl>
                                          <p:spTgt spid="6"/>
                                        </p:tgtEl>
                                      </p:cBhvr>
                                    </p:animEffect>
                                    <p:anim calcmode="lin" valueType="num">
                                      <p:cBhvr>
                                        <p:cTn id="19" dur="1000" fill="hold"/>
                                        <p:tgtEl>
                                          <p:spTgt spid="6"/>
                                        </p:tgtEl>
                                        <p:attrNameLst>
                                          <p:attrName>ppt_x</p:attrName>
                                        </p:attrNameLst>
                                      </p:cBhvr>
                                      <p:tavLst>
                                        <p:tav tm="0">
                                          <p:val>
                                            <p:strVal val="#ppt_x"/>
                                          </p:val>
                                        </p:tav>
                                        <p:tav tm="100000">
                                          <p:val>
                                            <p:strVal val="#ppt_x"/>
                                          </p:val>
                                        </p:tav>
                                      </p:tavLst>
                                    </p:anim>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ppt_x</p:attrName>
                                        </p:attrNameLst>
                                      </p:cBhvr>
                                      <p:tavLst>
                                        <p:tav tm="0">
                                          <p:val>
                                            <p:strVal val="#ppt_x"/>
                                          </p:val>
                                        </p:tav>
                                        <p:tav tm="100000">
                                          <p:val>
                                            <p:strVal val="#ppt_x"/>
                                          </p:val>
                                        </p:tav>
                                      </p:tavLst>
                                    </p:anim>
                                    <p:anim calcmode="lin" valueType="num">
                                      <p:cBhvr>
                                        <p:cTn id="2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1000"/>
                                        <p:tgtEl>
                                          <p:spTgt spid="8"/>
                                        </p:tgtEl>
                                      </p:cBhvr>
                                    </p:animEffect>
                                    <p:anim calcmode="lin" valueType="num">
                                      <p:cBhvr>
                                        <p:cTn id="33" dur="1000" fill="hold"/>
                                        <p:tgtEl>
                                          <p:spTgt spid="8"/>
                                        </p:tgtEl>
                                        <p:attrNameLst>
                                          <p:attrName>ppt_x</p:attrName>
                                        </p:attrNameLst>
                                      </p:cBhvr>
                                      <p:tavLst>
                                        <p:tav tm="0">
                                          <p:val>
                                            <p:strVal val="#ppt_x"/>
                                          </p:val>
                                        </p:tav>
                                        <p:tav tm="100000">
                                          <p:val>
                                            <p:strVal val="#ppt_x"/>
                                          </p:val>
                                        </p:tav>
                                      </p:tavLst>
                                    </p:anim>
                                    <p:anim calcmode="lin" valueType="num">
                                      <p:cBhvr>
                                        <p:cTn id="3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228692" cy="490066"/>
          </a:xfrm>
        </p:spPr>
        <p:txBody>
          <a:bodyPr/>
          <a:lstStyle/>
          <a:p>
            <a:r>
              <a:rPr lang="en-US" altLang="zh-CN" dirty="0">
                <a:cs typeface="Arial" pitchFamily="34" charset="0"/>
              </a:rPr>
              <a:t>IO</a:t>
            </a:r>
            <a:r>
              <a:rPr lang="zh-CN" altLang="en-US" dirty="0">
                <a:cs typeface="Arial" pitchFamily="34" charset="0"/>
              </a:rPr>
              <a:t>中的设计</a:t>
            </a:r>
            <a:r>
              <a:rPr lang="zh-CN" altLang="en-US" dirty="0" smtClean="0">
                <a:cs typeface="Arial" pitchFamily="34" charset="0"/>
              </a:rPr>
              <a:t>模式</a:t>
            </a:r>
            <a:endParaRPr lang="zh-CN" altLang="en-US" dirty="0"/>
          </a:p>
        </p:txBody>
      </p:sp>
      <p:sp>
        <p:nvSpPr>
          <p:cNvPr id="4" name="日期占位符 3"/>
          <p:cNvSpPr>
            <a:spLocks noGrp="1"/>
          </p:cNvSpPr>
          <p:nvPr>
            <p:ph type="dt" sz="half" idx="10"/>
          </p:nvPr>
        </p:nvSpPr>
        <p:spPr/>
        <p:txBody>
          <a:bodyPr/>
          <a:lstStyle/>
          <a:p>
            <a:fld id="{4D01DF33-5A38-4035-AC9E-B8E17EB22BE4}" type="datetime1">
              <a:rPr lang="zh-CN" altLang="en-US" smtClean="0"/>
              <a:pPr/>
              <a:t>2018-7-11</a:t>
            </a:fld>
            <a:endParaRPr lang="zh-CN" altLang="en-US" dirty="0"/>
          </a:p>
        </p:txBody>
      </p:sp>
      <p:sp>
        <p:nvSpPr>
          <p:cNvPr id="5" name="灯片编号占位符 4"/>
          <p:cNvSpPr>
            <a:spLocks noGrp="1"/>
          </p:cNvSpPr>
          <p:nvPr>
            <p:ph type="sldNum" sz="quarter" idx="12"/>
          </p:nvPr>
        </p:nvSpPr>
        <p:spPr/>
        <p:txBody>
          <a:bodyPr/>
          <a:lstStyle/>
          <a:p>
            <a:fld id="{5C794E63-F2AF-49E2-AE37-43481CC587E5}" type="slidenum">
              <a:rPr lang="zh-CN" altLang="en-US" smtClean="0"/>
              <a:pPr/>
              <a:t>10</a:t>
            </a:fld>
            <a:endParaRPr lang="zh-CN" altLang="en-US"/>
          </a:p>
        </p:txBody>
      </p:sp>
      <p:pic>
        <p:nvPicPr>
          <p:cNvPr id="2050" name="Picture 2" descr="https://timgsa.baidu.com/timg?image&amp;quality=80&amp;size=b9999_10000&amp;sec=1517314867207&amp;di=92af8494301cc8a742eab4be0f65697a&amp;imgtype=0&amp;src=http%3A%2F%2Fwww.matryoshka.biz%2Fimages%2F7%2F7004__1.jpg"/>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719138" y="1651540"/>
            <a:ext cx="7848600" cy="39867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9750304"/>
      </p:ext>
    </p:extLst>
  </p:cSld>
  <p:clrMapOvr>
    <a:masterClrMapping/>
  </p:clrMapOvr>
  <mc:AlternateContent xmlns:mc="http://schemas.openxmlformats.org/markup-compatibility/2006" xmlns:p15="http://schemas.microsoft.com/office/powerpoint/2012/main">
    <mc:Choice Requires="p15">
      <p:transition spd="med">
        <p15:prstTrans prst="pageCurlDoubl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228692" cy="490066"/>
          </a:xfrm>
        </p:spPr>
        <p:txBody>
          <a:bodyPr/>
          <a:lstStyle/>
          <a:p>
            <a:r>
              <a:rPr lang="en-US" altLang="zh-CN" dirty="0">
                <a:cs typeface="Arial" pitchFamily="34" charset="0"/>
              </a:rPr>
              <a:t>IO</a:t>
            </a:r>
            <a:r>
              <a:rPr lang="zh-CN" altLang="en-US" dirty="0">
                <a:cs typeface="Arial" pitchFamily="34" charset="0"/>
              </a:rPr>
              <a:t>中的设计</a:t>
            </a:r>
            <a:r>
              <a:rPr lang="zh-CN" altLang="en-US" dirty="0" smtClean="0">
                <a:cs typeface="Arial" pitchFamily="34" charset="0"/>
              </a:rPr>
              <a:t>模式</a:t>
            </a:r>
            <a:endParaRPr lang="zh-CN" altLang="en-US" dirty="0"/>
          </a:p>
        </p:txBody>
      </p:sp>
      <p:sp>
        <p:nvSpPr>
          <p:cNvPr id="4" name="日期占位符 3"/>
          <p:cNvSpPr>
            <a:spLocks noGrp="1"/>
          </p:cNvSpPr>
          <p:nvPr>
            <p:ph type="dt" sz="half" idx="10"/>
          </p:nvPr>
        </p:nvSpPr>
        <p:spPr/>
        <p:txBody>
          <a:bodyPr/>
          <a:lstStyle/>
          <a:p>
            <a:fld id="{4D01DF33-5A38-4035-AC9E-B8E17EB22BE4}" type="datetime1">
              <a:rPr lang="zh-CN" altLang="en-US" smtClean="0"/>
              <a:pPr/>
              <a:t>2018-7-11</a:t>
            </a:fld>
            <a:endParaRPr lang="zh-CN" altLang="en-US" dirty="0"/>
          </a:p>
        </p:txBody>
      </p:sp>
      <p:sp>
        <p:nvSpPr>
          <p:cNvPr id="5" name="灯片编号占位符 4"/>
          <p:cNvSpPr>
            <a:spLocks noGrp="1"/>
          </p:cNvSpPr>
          <p:nvPr>
            <p:ph type="sldNum" sz="quarter" idx="12"/>
          </p:nvPr>
        </p:nvSpPr>
        <p:spPr/>
        <p:txBody>
          <a:bodyPr/>
          <a:lstStyle/>
          <a:p>
            <a:fld id="{5C794E63-F2AF-49E2-AE37-43481CC587E5}" type="slidenum">
              <a:rPr lang="zh-CN" altLang="en-US" smtClean="0"/>
              <a:pPr/>
              <a:t>11</a:t>
            </a:fld>
            <a:endParaRPr lang="zh-CN" altLang="en-US"/>
          </a:p>
        </p:txBody>
      </p:sp>
      <p:pic>
        <p:nvPicPr>
          <p:cNvPr id="9" name="内容占位符 8"/>
          <p:cNvPicPr>
            <a:picLocks noGrp="1" noChangeAspect="1"/>
          </p:cNvPicPr>
          <p:nvPr>
            <p:ph idx="1"/>
          </p:nvPr>
        </p:nvPicPr>
        <p:blipFill>
          <a:blip r:embed="rId3"/>
          <a:stretch>
            <a:fillRect/>
          </a:stretch>
        </p:blipFill>
        <p:spPr>
          <a:xfrm>
            <a:off x="719138" y="1341109"/>
            <a:ext cx="7848600" cy="4607582"/>
          </a:xfrm>
          <a:prstGeom prst="rect">
            <a:avLst/>
          </a:prstGeom>
        </p:spPr>
      </p:pic>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51720" y="1988840"/>
            <a:ext cx="4952634" cy="3087142"/>
          </a:xfrm>
          <a:prstGeom prst="ellipse">
            <a:avLst/>
          </a:prstGeom>
          <a:ln>
            <a:noFill/>
          </a:ln>
          <a:effectLst>
            <a:softEdge rad="112500"/>
          </a:effectLst>
        </p:spPr>
      </p:pic>
      <p:pic>
        <p:nvPicPr>
          <p:cNvPr id="6" name="图片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20072" y="77443"/>
            <a:ext cx="2274656" cy="2055413"/>
          </a:xfrm>
          <a:prstGeom prst="rect">
            <a:avLst/>
          </a:prstGeom>
        </p:spPr>
      </p:pic>
    </p:spTree>
    <p:extLst>
      <p:ext uri="{BB962C8B-B14F-4D97-AF65-F5344CB8AC3E}">
        <p14:creationId xmlns:p14="http://schemas.microsoft.com/office/powerpoint/2010/main" val="2083839046"/>
      </p:ext>
    </p:extLst>
  </p:cSld>
  <p:clrMapOvr>
    <a:masterClrMapping/>
  </p:clrMapOvr>
  <mc:AlternateContent xmlns:mc="http://schemas.openxmlformats.org/markup-compatibility/2006" xmlns:p15="http://schemas.microsoft.com/office/powerpoint/2012/main">
    <mc:Choice Requires="p15">
      <p:transition spd="med">
        <p15:prstTrans prst="pageCurlDoubl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5"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2000"/>
                                        <p:tgtEl>
                                          <p:spTgt spid="6"/>
                                        </p:tgtEl>
                                      </p:cBhvr>
                                    </p:animEffect>
                                    <p:anim calcmode="lin" valueType="num">
                                      <p:cBhvr>
                                        <p:cTn id="15" dur="2000" fill="hold"/>
                                        <p:tgtEl>
                                          <p:spTgt spid="6"/>
                                        </p:tgtEl>
                                        <p:attrNameLst>
                                          <p:attrName>ppt_w</p:attrName>
                                        </p:attrNameLst>
                                      </p:cBhvr>
                                      <p:tavLst>
                                        <p:tav tm="0" fmla="#ppt_w*sin(2.5*pi*$)">
                                          <p:val>
                                            <p:fltVal val="0"/>
                                          </p:val>
                                        </p:tav>
                                        <p:tav tm="100000">
                                          <p:val>
                                            <p:fltVal val="1"/>
                                          </p:val>
                                        </p:tav>
                                      </p:tavLst>
                                    </p:anim>
                                    <p:anim calcmode="lin" valueType="num">
                                      <p:cBhvr>
                                        <p:cTn id="16" dur="20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228692" cy="490066"/>
          </a:xfrm>
        </p:spPr>
        <p:txBody>
          <a:bodyPr/>
          <a:lstStyle/>
          <a:p>
            <a:r>
              <a:rPr lang="en-US" altLang="zh-CN" dirty="0">
                <a:cs typeface="Arial" pitchFamily="34" charset="0"/>
              </a:rPr>
              <a:t>IO</a:t>
            </a:r>
            <a:r>
              <a:rPr lang="zh-CN" altLang="en-US" dirty="0">
                <a:cs typeface="Arial" pitchFamily="34" charset="0"/>
              </a:rPr>
              <a:t>中的设计</a:t>
            </a:r>
            <a:r>
              <a:rPr lang="zh-CN" altLang="en-US" dirty="0" smtClean="0">
                <a:cs typeface="Arial" pitchFamily="34" charset="0"/>
              </a:rPr>
              <a:t>模式</a:t>
            </a:r>
            <a:endParaRPr lang="zh-CN" altLang="en-US" dirty="0"/>
          </a:p>
        </p:txBody>
      </p:sp>
      <p:sp>
        <p:nvSpPr>
          <p:cNvPr id="4" name="日期占位符 3"/>
          <p:cNvSpPr>
            <a:spLocks noGrp="1"/>
          </p:cNvSpPr>
          <p:nvPr>
            <p:ph type="dt" sz="half" idx="10"/>
          </p:nvPr>
        </p:nvSpPr>
        <p:spPr/>
        <p:txBody>
          <a:bodyPr/>
          <a:lstStyle/>
          <a:p>
            <a:fld id="{4D01DF33-5A38-4035-AC9E-B8E17EB22BE4}" type="datetime1">
              <a:rPr lang="zh-CN" altLang="en-US" smtClean="0"/>
              <a:pPr/>
              <a:t>2018-7-11</a:t>
            </a:fld>
            <a:endParaRPr lang="zh-CN" altLang="en-US" dirty="0"/>
          </a:p>
        </p:txBody>
      </p:sp>
      <p:sp>
        <p:nvSpPr>
          <p:cNvPr id="5" name="灯片编号占位符 4"/>
          <p:cNvSpPr>
            <a:spLocks noGrp="1"/>
          </p:cNvSpPr>
          <p:nvPr>
            <p:ph type="sldNum" sz="quarter" idx="12"/>
          </p:nvPr>
        </p:nvSpPr>
        <p:spPr/>
        <p:txBody>
          <a:bodyPr/>
          <a:lstStyle/>
          <a:p>
            <a:fld id="{5C794E63-F2AF-49E2-AE37-43481CC587E5}" type="slidenum">
              <a:rPr lang="zh-CN" altLang="en-US" smtClean="0"/>
              <a:pPr/>
              <a:t>12</a:t>
            </a:fld>
            <a:endParaRPr lang="zh-CN" altLang="en-US"/>
          </a:p>
        </p:txBody>
      </p:sp>
      <p:sp>
        <p:nvSpPr>
          <p:cNvPr id="3" name="内容占位符 2"/>
          <p:cNvSpPr>
            <a:spLocks noGrp="1"/>
          </p:cNvSpPr>
          <p:nvPr>
            <p:ph idx="1"/>
          </p:nvPr>
        </p:nvSpPr>
        <p:spPr/>
        <p:txBody>
          <a:bodyPr/>
          <a:lstStyle/>
          <a:p>
            <a:r>
              <a:rPr lang="zh-CN" altLang="en-US" dirty="0" smtClean="0"/>
              <a:t>回忆结束，回到现在</a:t>
            </a:r>
            <a:endParaRPr lang="en-US" altLang="zh-CN" dirty="0" smtClean="0"/>
          </a:p>
          <a:p>
            <a:endParaRPr lang="en-US" altLang="zh-CN" dirty="0" smtClean="0"/>
          </a:p>
          <a:p>
            <a:endParaRPr lang="en-US" altLang="zh-CN" dirty="0"/>
          </a:p>
          <a:p>
            <a:endParaRPr lang="en-US" altLang="zh-CN" dirty="0"/>
          </a:p>
          <a:p>
            <a:r>
              <a:rPr lang="zh-CN" altLang="en-US" dirty="0"/>
              <a:t>亚瑟</a:t>
            </a:r>
            <a:r>
              <a:rPr lang="en-US" altLang="zh-CN" dirty="0"/>
              <a:t>.</a:t>
            </a:r>
            <a:r>
              <a:rPr lang="zh-CN" altLang="en-US" dirty="0"/>
              <a:t>范</a:t>
            </a:r>
            <a:r>
              <a:rPr lang="en-US" altLang="zh-CN" dirty="0"/>
              <a:t>.</a:t>
            </a:r>
            <a:r>
              <a:rPr lang="zh-CN" altLang="en-US" dirty="0"/>
              <a:t>霍</a:t>
            </a:r>
            <a:r>
              <a:rPr lang="zh-CN" altLang="en-US" dirty="0" smtClean="0"/>
              <a:t>夫</a:t>
            </a:r>
            <a:endParaRPr lang="en-US" altLang="zh-CN" dirty="0" smtClean="0"/>
          </a:p>
          <a:p>
            <a:r>
              <a:rPr lang="en-US" altLang="zh-CN" dirty="0" smtClean="0"/>
              <a:t>(Arthur van </a:t>
            </a:r>
            <a:r>
              <a:rPr lang="en-US" altLang="zh-CN" dirty="0"/>
              <a:t>Hoff)</a:t>
            </a:r>
            <a:endParaRPr lang="zh-CN" altLang="en-US" dirty="0"/>
          </a:p>
        </p:txBody>
      </p:sp>
      <p:pic>
        <p:nvPicPr>
          <p:cNvPr id="3074" name="Picture 2" descr="Arthur van Hof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0032" y="2348880"/>
            <a:ext cx="3240360" cy="3240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7120955"/>
      </p:ext>
    </p:extLst>
  </p:cSld>
  <p:clrMapOvr>
    <a:masterClrMapping/>
  </p:clrMapOvr>
  <mc:AlternateContent xmlns:mc="http://schemas.openxmlformats.org/markup-compatibility/2006" xmlns:p15="http://schemas.microsoft.com/office/powerpoint/2012/main">
    <mc:Choice Requires="p15">
      <p:transition spd="med">
        <p15:prstTrans prst="pageCurlDoubl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left)">
                                      <p:cBhvr>
                                        <p:cTn id="7" dur="500"/>
                                        <p:tgtEl>
                                          <p:spTgt spid="3">
                                            <p:txEl>
                                              <p:pRg st="4" end="4"/>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wipe(left)">
                                      <p:cBhvr>
                                        <p:cTn id="10" dur="500"/>
                                        <p:tgtEl>
                                          <p:spTgt spid="3">
                                            <p:txEl>
                                              <p:pRg st="5" end="5"/>
                                            </p:txEl>
                                          </p:spTgt>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3074"/>
                                        </p:tgtEl>
                                        <p:attrNameLst>
                                          <p:attrName>style.visibility</p:attrName>
                                        </p:attrNameLst>
                                      </p:cBhvr>
                                      <p:to>
                                        <p:strVal val="visible"/>
                                      </p:to>
                                    </p:set>
                                    <p:animEffect transition="in" filter="wipe(left)">
                                      <p:cBhvr>
                                        <p:cTn id="14"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en-US" altLang="zh-CN" dirty="0" smtClean="0"/>
              <a:t>JVM</a:t>
            </a:r>
            <a:r>
              <a:rPr lang="zh-CN" altLang="en-US" dirty="0" smtClean="0"/>
              <a:t>内存模型原理</a:t>
            </a:r>
            <a:r>
              <a:rPr lang="zh-CN" altLang="en-US" sz="1600" dirty="0" smtClean="0"/>
              <a:t> </a:t>
            </a:r>
            <a:endParaRPr lang="zh-CN" altLang="en-US" sz="1600" dirty="0"/>
          </a:p>
        </p:txBody>
      </p:sp>
      <p:sp>
        <p:nvSpPr>
          <p:cNvPr id="3" name="内容占位符 2"/>
          <p:cNvSpPr>
            <a:spLocks noGrp="1"/>
          </p:cNvSpPr>
          <p:nvPr>
            <p:ph idx="1"/>
          </p:nvPr>
        </p:nvSpPr>
        <p:spPr/>
        <p:txBody>
          <a:bodyPr>
            <a:normAutofit/>
          </a:bodyPr>
          <a:lstStyle/>
          <a:p>
            <a:r>
              <a:rPr lang="en-US" altLang="zh-CN" dirty="0"/>
              <a:t>JVM</a:t>
            </a:r>
            <a:r>
              <a:rPr lang="zh-CN" altLang="en-US" dirty="0"/>
              <a:t>组成原理、堆栈</a:t>
            </a:r>
            <a:r>
              <a:rPr lang="zh-CN" altLang="en-US" dirty="0" smtClean="0"/>
              <a:t>模型</a:t>
            </a:r>
            <a:endParaRPr lang="en-US" altLang="zh-CN" dirty="0" smtClean="0"/>
          </a:p>
          <a:p>
            <a:endParaRPr lang="en-US" altLang="zh-CN" dirty="0"/>
          </a:p>
          <a:p>
            <a:r>
              <a:rPr lang="zh-CN" altLang="en-US" dirty="0" smtClean="0"/>
              <a:t>垃圾回收算法</a:t>
            </a:r>
            <a:endParaRPr lang="en-US" altLang="zh-CN" dirty="0" smtClean="0"/>
          </a:p>
          <a:p>
            <a:endParaRPr lang="en-US" altLang="zh-CN" dirty="0"/>
          </a:p>
          <a:p>
            <a:r>
              <a:rPr lang="en-US" altLang="zh-CN" dirty="0" smtClean="0"/>
              <a:t>JVM</a:t>
            </a:r>
            <a:r>
              <a:rPr lang="zh-CN" altLang="en-US" dirty="0" smtClean="0"/>
              <a:t>调优基础、常见配置</a:t>
            </a:r>
            <a:endParaRPr lang="en-US" altLang="zh-CN" dirty="0" smtClean="0"/>
          </a:p>
          <a:p>
            <a:endParaRPr lang="en-US" altLang="zh-CN" dirty="0"/>
          </a:p>
          <a:p>
            <a:r>
              <a:rPr lang="zh-CN" altLang="en-US" dirty="0" smtClean="0"/>
              <a:t>常见排错方法</a:t>
            </a:r>
            <a:endParaRPr lang="en-US" altLang="zh-CN" dirty="0" smtClean="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13</a:t>
            </a:fld>
            <a:endParaRPr lang="zh-CN" altLang="en-US"/>
          </a:p>
        </p:txBody>
      </p:sp>
    </p:spTree>
    <p:extLst>
      <p:ext uri="{BB962C8B-B14F-4D97-AF65-F5344CB8AC3E}">
        <p14:creationId xmlns:p14="http://schemas.microsoft.com/office/powerpoint/2010/main" val="170641129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zh-CN" altLang="en-US" dirty="0" smtClean="0"/>
              <a:t>堆和栈</a:t>
            </a:r>
            <a:r>
              <a:rPr lang="zh-CN" altLang="en-US" sz="1600" dirty="0" smtClean="0"/>
              <a:t> </a:t>
            </a:r>
            <a:endParaRPr lang="zh-CN" altLang="en-US" sz="1600" dirty="0"/>
          </a:p>
        </p:txBody>
      </p:sp>
      <p:sp>
        <p:nvSpPr>
          <p:cNvPr id="3" name="内容占位符 2"/>
          <p:cNvSpPr>
            <a:spLocks noGrp="1"/>
          </p:cNvSpPr>
          <p:nvPr>
            <p:ph idx="1"/>
          </p:nvPr>
        </p:nvSpPr>
        <p:spPr/>
        <p:txBody>
          <a:bodyPr>
            <a:normAutofit/>
          </a:bodyPr>
          <a:lstStyle/>
          <a:p>
            <a:r>
              <a:rPr lang="zh-CN" altLang="en-US" dirty="0" smtClean="0"/>
              <a:t>栈：解决程序运行，即程序如何运行</a:t>
            </a:r>
            <a:endParaRPr lang="en-US" altLang="zh-CN" dirty="0" smtClean="0"/>
          </a:p>
          <a:p>
            <a:r>
              <a:rPr lang="zh-CN" altLang="en-US" dirty="0" smtClean="0"/>
              <a:t>堆：解决数据存储，即数据怎么放，放哪儿</a:t>
            </a:r>
            <a:endParaRPr lang="en-US" altLang="zh-CN" dirty="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14</a:t>
            </a:fld>
            <a:endParaRPr lang="zh-CN" altLang="en-US"/>
          </a:p>
        </p:txBody>
      </p:sp>
      <p:pic>
        <p:nvPicPr>
          <p:cNvPr id="1279" name="Picture 255" descr="http://img.blog.csdn.net/201308121402045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688" y="2341615"/>
            <a:ext cx="5904656" cy="43997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13175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2" presetClass="entr" presetSubtype="0" fill="hold" nodeType="afterEffect">
                                  <p:stCondLst>
                                    <p:cond delay="0"/>
                                  </p:stCondLst>
                                  <p:childTnLst>
                                    <p:set>
                                      <p:cBhvr>
                                        <p:cTn id="17" dur="1" fill="hold">
                                          <p:stCondLst>
                                            <p:cond delay="0"/>
                                          </p:stCondLst>
                                        </p:cTn>
                                        <p:tgtEl>
                                          <p:spTgt spid="1279"/>
                                        </p:tgtEl>
                                        <p:attrNameLst>
                                          <p:attrName>style.visibility</p:attrName>
                                        </p:attrNameLst>
                                      </p:cBhvr>
                                      <p:to>
                                        <p:strVal val="visible"/>
                                      </p:to>
                                    </p:set>
                                    <p:animEffect transition="in" filter="fade">
                                      <p:cBhvr>
                                        <p:cTn id="18" dur="1000"/>
                                        <p:tgtEl>
                                          <p:spTgt spid="1279"/>
                                        </p:tgtEl>
                                      </p:cBhvr>
                                    </p:animEffect>
                                    <p:anim calcmode="lin" valueType="num">
                                      <p:cBhvr>
                                        <p:cTn id="19" dur="1000" fill="hold"/>
                                        <p:tgtEl>
                                          <p:spTgt spid="1279"/>
                                        </p:tgtEl>
                                        <p:attrNameLst>
                                          <p:attrName>ppt_x</p:attrName>
                                        </p:attrNameLst>
                                      </p:cBhvr>
                                      <p:tavLst>
                                        <p:tav tm="0">
                                          <p:val>
                                            <p:strVal val="#ppt_x"/>
                                          </p:val>
                                        </p:tav>
                                        <p:tav tm="100000">
                                          <p:val>
                                            <p:strVal val="#ppt_x"/>
                                          </p:val>
                                        </p:tav>
                                      </p:tavLst>
                                    </p:anim>
                                    <p:anim calcmode="lin" valueType="num">
                                      <p:cBhvr>
                                        <p:cTn id="20" dur="1000" fill="hold"/>
                                        <p:tgtEl>
                                          <p:spTgt spid="127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zh-CN" altLang="en-US" dirty="0" smtClean="0"/>
              <a:t>堆和栈</a:t>
            </a:r>
            <a:r>
              <a:rPr lang="zh-CN" altLang="en-US" sz="1600" dirty="0" smtClean="0"/>
              <a:t> </a:t>
            </a:r>
            <a:endParaRPr lang="zh-CN" altLang="en-US" sz="1600" dirty="0"/>
          </a:p>
        </p:txBody>
      </p:sp>
      <p:sp>
        <p:nvSpPr>
          <p:cNvPr id="3" name="内容占位符 2"/>
          <p:cNvSpPr>
            <a:spLocks noGrp="1"/>
          </p:cNvSpPr>
          <p:nvPr>
            <p:ph idx="1"/>
          </p:nvPr>
        </p:nvSpPr>
        <p:spPr/>
        <p:txBody>
          <a:bodyPr>
            <a:normAutofit/>
          </a:bodyPr>
          <a:lstStyle/>
          <a:p>
            <a:r>
              <a:rPr lang="zh-CN" altLang="en-US" dirty="0"/>
              <a:t>堆中存什么</a:t>
            </a:r>
            <a:r>
              <a:rPr lang="zh-CN" altLang="en-US" dirty="0" smtClean="0"/>
              <a:t>？栈中存什么？</a:t>
            </a:r>
            <a:endParaRPr lang="en-US" altLang="zh-CN" sz="1600" dirty="0"/>
          </a:p>
          <a:p>
            <a:pPr lvl="1"/>
            <a:r>
              <a:rPr lang="zh-CN" altLang="en-US" dirty="0" smtClean="0"/>
              <a:t>堆中存的是对象</a:t>
            </a:r>
            <a:endParaRPr lang="en-US" altLang="zh-CN" dirty="0" smtClean="0"/>
          </a:p>
          <a:p>
            <a:pPr lvl="1"/>
            <a:r>
              <a:rPr lang="zh-CN" altLang="en-US" dirty="0"/>
              <a:t>栈</a:t>
            </a:r>
            <a:r>
              <a:rPr lang="zh-CN" altLang="en-US" dirty="0" smtClean="0"/>
              <a:t>中存的是基本类型和堆中对象的引用</a:t>
            </a:r>
            <a:endParaRPr lang="en-US" altLang="zh-CN" dirty="0" smtClean="0"/>
          </a:p>
          <a:p>
            <a:r>
              <a:rPr lang="en-US" altLang="zh-CN" dirty="0" smtClean="0"/>
              <a:t>Java</a:t>
            </a:r>
            <a:r>
              <a:rPr lang="zh-CN" altLang="en-US" dirty="0" smtClean="0"/>
              <a:t>中参数传递时传的是值？引用？</a:t>
            </a:r>
            <a:endParaRPr lang="en-US" altLang="zh-CN" sz="1600" dirty="0" smtClean="0"/>
          </a:p>
          <a:p>
            <a:pPr lvl="1"/>
            <a:r>
              <a:rPr lang="zh-CN" altLang="en-US" dirty="0" smtClean="0"/>
              <a:t>不要试图与</a:t>
            </a:r>
            <a:r>
              <a:rPr lang="en-US" altLang="zh-CN" dirty="0" smtClean="0"/>
              <a:t>C</a:t>
            </a:r>
            <a:r>
              <a:rPr lang="zh-CN" altLang="en-US" dirty="0" smtClean="0"/>
              <a:t>进行类比，</a:t>
            </a:r>
            <a:r>
              <a:rPr lang="en-US" altLang="zh-CN" dirty="0" smtClean="0"/>
              <a:t>Java</a:t>
            </a:r>
            <a:r>
              <a:rPr lang="zh-CN" altLang="en-US" dirty="0" smtClean="0"/>
              <a:t>没有指针的概念</a:t>
            </a:r>
            <a:endParaRPr lang="en-US" altLang="zh-CN" dirty="0" smtClean="0"/>
          </a:p>
          <a:p>
            <a:pPr lvl="1"/>
            <a:r>
              <a:rPr lang="zh-CN" altLang="en-US" dirty="0" smtClean="0"/>
              <a:t>程序永远是在栈中进行的，因而参数传递只存在基本类型和对象引用的问题，不会直接传对象本身。</a:t>
            </a:r>
            <a:endParaRPr lang="en-US" altLang="zh-CN" dirty="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15</a:t>
            </a:fld>
            <a:endParaRPr lang="zh-CN" altLang="en-US"/>
          </a:p>
        </p:txBody>
      </p:sp>
    </p:spTree>
    <p:extLst>
      <p:ext uri="{BB962C8B-B14F-4D97-AF65-F5344CB8AC3E}">
        <p14:creationId xmlns:p14="http://schemas.microsoft.com/office/powerpoint/2010/main" val="41320668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1000"/>
                                        <p:tgtEl>
                                          <p:spTgt spid="3">
                                            <p:txEl>
                                              <p:pRg st="5" end="5"/>
                                            </p:txEl>
                                          </p:spTgt>
                                        </p:tgtEl>
                                      </p:cBhvr>
                                    </p:animEffect>
                                    <p:anim calcmode="lin" valueType="num">
                                      <p:cBhvr>
                                        <p:cTn id="3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367A7DA-86D1-420F-A51D-4AFD9CBED3AA}" type="datetime1">
              <a:rPr lang="zh-CN" altLang="en-US" smtClean="0"/>
              <a:pPr/>
              <a:t>2018-7-11</a:t>
            </a:fld>
            <a:endParaRPr lang="zh-CN" altLang="en-US" dirty="0"/>
          </a:p>
        </p:txBody>
      </p:sp>
      <p:sp>
        <p:nvSpPr>
          <p:cNvPr id="3" name="灯片编号占位符 2"/>
          <p:cNvSpPr>
            <a:spLocks noGrp="1"/>
          </p:cNvSpPr>
          <p:nvPr>
            <p:ph type="sldNum" sz="quarter" idx="12"/>
          </p:nvPr>
        </p:nvSpPr>
        <p:spPr/>
        <p:txBody>
          <a:bodyPr/>
          <a:lstStyle/>
          <a:p>
            <a:fld id="{68A76D54-3549-4889-A063-7624046C7348}" type="slidenum">
              <a:rPr lang="zh-CN" altLang="en-US" smtClean="0"/>
              <a:pPr/>
              <a:t>16</a:t>
            </a:fld>
            <a:endParaRPr lang="zh-CN" altLang="en-US" dirty="0"/>
          </a:p>
        </p:txBody>
      </p:sp>
      <p:sp>
        <p:nvSpPr>
          <p:cNvPr id="4" name="标题 3"/>
          <p:cNvSpPr>
            <a:spLocks noGrp="1"/>
          </p:cNvSpPr>
          <p:nvPr>
            <p:ph type="title"/>
          </p:nvPr>
        </p:nvSpPr>
        <p:spPr/>
        <p:txBody>
          <a:bodyPr/>
          <a:lstStyle/>
          <a:p>
            <a:r>
              <a:rPr lang="zh-CN" altLang="en-US" dirty="0" smtClean="0"/>
              <a:t>堆和栈</a:t>
            </a:r>
            <a:endParaRPr lang="zh-CN" altLang="en-US" dirty="0"/>
          </a:p>
        </p:txBody>
      </p:sp>
      <p:sp>
        <p:nvSpPr>
          <p:cNvPr id="8" name="内容占位符 7"/>
          <p:cNvSpPr>
            <a:spLocks noGrp="1"/>
          </p:cNvSpPr>
          <p:nvPr>
            <p:ph idx="1"/>
          </p:nvPr>
        </p:nvSpPr>
        <p:spPr/>
        <p:txBody>
          <a:bodyPr>
            <a:normAutofit fontScale="92500"/>
          </a:bodyPr>
          <a:lstStyle/>
          <a:p>
            <a:r>
              <a:rPr lang="en-US" altLang="zh-CN" dirty="0" smtClean="0"/>
              <a:t>Java</a:t>
            </a:r>
            <a:r>
              <a:rPr lang="zh-CN" altLang="en-US" dirty="0" smtClean="0"/>
              <a:t>对象的大小</a:t>
            </a:r>
            <a:endParaRPr lang="en-US" altLang="zh-CN" sz="1600" dirty="0"/>
          </a:p>
          <a:p>
            <a:pPr lvl="1"/>
            <a:r>
              <a:rPr lang="zh-CN" altLang="en-US" dirty="0" smtClean="0"/>
              <a:t>引用占</a:t>
            </a:r>
            <a:r>
              <a:rPr lang="en-US" altLang="zh-CN" dirty="0" smtClean="0"/>
              <a:t>4byte</a:t>
            </a:r>
            <a:r>
              <a:rPr lang="zh-CN" altLang="en-US" dirty="0" smtClean="0"/>
              <a:t>，基本类型的空间一般是</a:t>
            </a:r>
            <a:r>
              <a:rPr lang="en-US" altLang="zh-CN" dirty="0" smtClean="0"/>
              <a:t>1-8byte</a:t>
            </a:r>
          </a:p>
          <a:p>
            <a:pPr lvl="1"/>
            <a:r>
              <a:rPr lang="zh-CN" altLang="en-US" dirty="0" smtClean="0"/>
              <a:t>一个空</a:t>
            </a:r>
            <a:r>
              <a:rPr lang="en-US" altLang="zh-CN" dirty="0" smtClean="0"/>
              <a:t>Object</a:t>
            </a:r>
            <a:r>
              <a:rPr lang="zh-CN" altLang="en-US" dirty="0" smtClean="0"/>
              <a:t>的大小是</a:t>
            </a:r>
            <a:r>
              <a:rPr lang="en-US" altLang="zh-CN" dirty="0" smtClean="0"/>
              <a:t>8byte</a:t>
            </a:r>
          </a:p>
          <a:p>
            <a:pPr lvl="1"/>
            <a:endParaRPr lang="en-US" altLang="zh-CN" dirty="0"/>
          </a:p>
          <a:p>
            <a:pPr lvl="1"/>
            <a:endParaRPr lang="en-US" altLang="zh-CN" dirty="0" smtClean="0"/>
          </a:p>
          <a:p>
            <a:pPr lvl="1"/>
            <a:endParaRPr lang="en-US" altLang="zh-CN" dirty="0"/>
          </a:p>
          <a:p>
            <a:pPr lvl="1"/>
            <a:endParaRPr lang="en-US" altLang="zh-CN" dirty="0" smtClean="0"/>
          </a:p>
          <a:p>
            <a:pPr lvl="1"/>
            <a:endParaRPr lang="en-US" altLang="zh-CN" dirty="0" smtClean="0"/>
          </a:p>
          <a:p>
            <a:pPr lvl="1"/>
            <a:endParaRPr lang="en-US" altLang="zh-CN" dirty="0" smtClean="0"/>
          </a:p>
          <a:p>
            <a:pPr lvl="1"/>
            <a:r>
              <a:rPr lang="zh-CN" altLang="en-US" dirty="0" smtClean="0"/>
              <a:t>空对象大小</a:t>
            </a:r>
            <a:r>
              <a:rPr lang="en-US" altLang="zh-CN" dirty="0" smtClean="0"/>
              <a:t>(8) + </a:t>
            </a:r>
            <a:r>
              <a:rPr lang="en-US" altLang="zh-CN" dirty="0" err="1" smtClean="0"/>
              <a:t>int</a:t>
            </a:r>
            <a:r>
              <a:rPr lang="en-US" altLang="zh-CN" dirty="0" smtClean="0"/>
              <a:t>(4) + </a:t>
            </a:r>
            <a:r>
              <a:rPr lang="en-US" altLang="zh-CN" dirty="0" err="1" smtClean="0"/>
              <a:t>boolean</a:t>
            </a:r>
            <a:r>
              <a:rPr lang="en-US" altLang="zh-CN" dirty="0" smtClean="0"/>
              <a:t>(1) + </a:t>
            </a:r>
            <a:r>
              <a:rPr lang="zh-CN" altLang="en-US" dirty="0" smtClean="0"/>
              <a:t>引用</a:t>
            </a:r>
            <a:r>
              <a:rPr lang="en-US" altLang="zh-CN" dirty="0" smtClean="0"/>
              <a:t>(4) = 17(byte)</a:t>
            </a:r>
            <a:r>
              <a:rPr lang="zh-CN" altLang="en-US" dirty="0" smtClean="0"/>
              <a:t>，</a:t>
            </a:r>
            <a:r>
              <a:rPr lang="en-US" altLang="zh-CN" dirty="0" smtClean="0"/>
              <a:t>java</a:t>
            </a:r>
            <a:r>
              <a:rPr lang="zh-CN" altLang="en-US" dirty="0" smtClean="0"/>
              <a:t>内存分配是以</a:t>
            </a:r>
            <a:r>
              <a:rPr lang="en-US" altLang="zh-CN" dirty="0" smtClean="0"/>
              <a:t>8</a:t>
            </a:r>
            <a:r>
              <a:rPr lang="zh-CN" altLang="en-US" dirty="0" smtClean="0"/>
              <a:t>的整数倍来分，</a:t>
            </a:r>
            <a:r>
              <a:rPr lang="en-US" altLang="zh-CN" dirty="0">
                <a:solidFill>
                  <a:srgbClr val="FF0000"/>
                </a:solidFill>
              </a:rPr>
              <a:t>24byte</a:t>
            </a:r>
            <a:endParaRPr lang="zh-CN" altLang="en-US" dirty="0">
              <a:solidFill>
                <a:srgbClr val="FF0000"/>
              </a:solidFill>
            </a:endParaRPr>
          </a:p>
        </p:txBody>
      </p:sp>
      <p:pic>
        <p:nvPicPr>
          <p:cNvPr id="5" name="图片 4"/>
          <p:cNvPicPr>
            <a:picLocks noChangeAspect="1"/>
          </p:cNvPicPr>
          <p:nvPr/>
        </p:nvPicPr>
        <p:blipFill>
          <a:blip r:embed="rId3"/>
          <a:stretch>
            <a:fillRect/>
          </a:stretch>
        </p:blipFill>
        <p:spPr>
          <a:xfrm>
            <a:off x="1907704" y="2636912"/>
            <a:ext cx="5004556" cy="2574522"/>
          </a:xfrm>
          <a:prstGeom prst="rect">
            <a:avLst/>
          </a:prstGeom>
        </p:spPr>
      </p:pic>
    </p:spTree>
    <p:extLst>
      <p:ext uri="{BB962C8B-B14F-4D97-AF65-F5344CB8AC3E}">
        <p14:creationId xmlns:p14="http://schemas.microsoft.com/office/powerpoint/2010/main" val="38278803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1000"/>
                                        <p:tgtEl>
                                          <p:spTgt spid="8">
                                            <p:txEl>
                                              <p:pRg st="1" end="1"/>
                                            </p:txEl>
                                          </p:spTgt>
                                        </p:tgtEl>
                                      </p:cBhvr>
                                    </p:animEffect>
                                    <p:anim calcmode="lin" valueType="num">
                                      <p:cBhvr>
                                        <p:cTn id="13"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1000"/>
                                        <p:tgtEl>
                                          <p:spTgt spid="8">
                                            <p:txEl>
                                              <p:pRg st="2" end="2"/>
                                            </p:txEl>
                                          </p:spTgt>
                                        </p:tgtEl>
                                      </p:cBhvr>
                                    </p:animEffect>
                                    <p:anim calcmode="lin" valueType="num">
                                      <p:cBhvr>
                                        <p:cTn id="1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1000"/>
                                        <p:tgtEl>
                                          <p:spTgt spid="5"/>
                                        </p:tgtEl>
                                      </p:cBhvr>
                                    </p:animEffect>
                                    <p:anim calcmode="lin" valueType="num">
                                      <p:cBhvr>
                                        <p:cTn id="25" dur="1000" fill="hold"/>
                                        <p:tgtEl>
                                          <p:spTgt spid="5"/>
                                        </p:tgtEl>
                                        <p:attrNameLst>
                                          <p:attrName>ppt_x</p:attrName>
                                        </p:attrNameLst>
                                      </p:cBhvr>
                                      <p:tavLst>
                                        <p:tav tm="0">
                                          <p:val>
                                            <p:strVal val="#ppt_x"/>
                                          </p:val>
                                        </p:tav>
                                        <p:tav tm="100000">
                                          <p:val>
                                            <p:strVal val="#ppt_x"/>
                                          </p:val>
                                        </p:tav>
                                      </p:tavLst>
                                    </p:anim>
                                    <p:anim calcmode="lin" valueType="num">
                                      <p:cBhvr>
                                        <p:cTn id="2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8">
                                            <p:txEl>
                                              <p:pRg st="9" end="9"/>
                                            </p:txEl>
                                          </p:spTgt>
                                        </p:tgtEl>
                                        <p:attrNameLst>
                                          <p:attrName>style.visibility</p:attrName>
                                        </p:attrNameLst>
                                      </p:cBhvr>
                                      <p:to>
                                        <p:strVal val="visible"/>
                                      </p:to>
                                    </p:set>
                                    <p:animEffect transition="in" filter="fade">
                                      <p:cBhvr>
                                        <p:cTn id="31" dur="1000"/>
                                        <p:tgtEl>
                                          <p:spTgt spid="8">
                                            <p:txEl>
                                              <p:pRg st="9" end="9"/>
                                            </p:txEl>
                                          </p:spTgt>
                                        </p:tgtEl>
                                      </p:cBhvr>
                                    </p:animEffect>
                                    <p:anim calcmode="lin" valueType="num">
                                      <p:cBhvr>
                                        <p:cTn id="32" dur="1000" fill="hold"/>
                                        <p:tgtEl>
                                          <p:spTgt spid="8">
                                            <p:txEl>
                                              <p:pRg st="9" end="9"/>
                                            </p:txEl>
                                          </p:spTgt>
                                        </p:tgtEl>
                                        <p:attrNameLst>
                                          <p:attrName>ppt_x</p:attrName>
                                        </p:attrNameLst>
                                      </p:cBhvr>
                                      <p:tavLst>
                                        <p:tav tm="0">
                                          <p:val>
                                            <p:strVal val="#ppt_x"/>
                                          </p:val>
                                        </p:tav>
                                        <p:tav tm="100000">
                                          <p:val>
                                            <p:strVal val="#ppt_x"/>
                                          </p:val>
                                        </p:tav>
                                      </p:tavLst>
                                    </p:anim>
                                    <p:anim calcmode="lin" valueType="num">
                                      <p:cBhvr>
                                        <p:cTn id="33" dur="1000" fill="hold"/>
                                        <p:tgtEl>
                                          <p:spTgt spid="8">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zh-CN" altLang="en-US" dirty="0" smtClean="0"/>
              <a:t>引用类型</a:t>
            </a:r>
            <a:r>
              <a:rPr lang="zh-CN" altLang="en-US" sz="1600" dirty="0" smtClean="0"/>
              <a:t> </a:t>
            </a:r>
            <a:endParaRPr lang="zh-CN" altLang="en-US" sz="1600" dirty="0"/>
          </a:p>
        </p:txBody>
      </p:sp>
      <p:sp>
        <p:nvSpPr>
          <p:cNvPr id="3" name="内容占位符 2"/>
          <p:cNvSpPr>
            <a:spLocks noGrp="1"/>
          </p:cNvSpPr>
          <p:nvPr>
            <p:ph idx="1"/>
          </p:nvPr>
        </p:nvSpPr>
        <p:spPr/>
        <p:txBody>
          <a:bodyPr>
            <a:normAutofit/>
          </a:bodyPr>
          <a:lstStyle/>
          <a:p>
            <a:r>
              <a:rPr lang="zh-CN" altLang="en-US" dirty="0" smtClean="0"/>
              <a:t>强引用</a:t>
            </a:r>
            <a:endParaRPr lang="en-US" altLang="zh-CN" sz="1600" dirty="0"/>
          </a:p>
          <a:p>
            <a:pPr lvl="1"/>
            <a:r>
              <a:rPr lang="zh-CN" altLang="en-US" dirty="0"/>
              <a:t>如果被强引用，则不会被垃圾</a:t>
            </a:r>
            <a:r>
              <a:rPr lang="zh-CN" altLang="en-US" dirty="0" smtClean="0"/>
              <a:t>回收</a:t>
            </a:r>
            <a:r>
              <a:rPr lang="zh-CN" altLang="en-US" sz="1600" dirty="0" smtClean="0"/>
              <a:t> </a:t>
            </a:r>
            <a:endParaRPr lang="en-US" altLang="zh-CN" dirty="0"/>
          </a:p>
          <a:p>
            <a:r>
              <a:rPr lang="zh-CN" altLang="en-US" dirty="0" smtClean="0"/>
              <a:t>软引用</a:t>
            </a:r>
            <a:endParaRPr lang="en-US" altLang="zh-CN" sz="1600" dirty="0"/>
          </a:p>
          <a:p>
            <a:pPr lvl="1"/>
            <a:r>
              <a:rPr lang="zh-CN" altLang="en-US" dirty="0"/>
              <a:t>软引用一般被做为缓存来使</a:t>
            </a:r>
            <a:r>
              <a:rPr lang="zh-CN" altLang="en-US" dirty="0" smtClean="0"/>
              <a:t>用</a:t>
            </a:r>
            <a:endParaRPr lang="en-US" altLang="zh-CN" dirty="0" smtClean="0"/>
          </a:p>
          <a:p>
            <a:pPr lvl="1"/>
            <a:r>
              <a:rPr lang="zh-CN" altLang="en-US" dirty="0" smtClean="0"/>
              <a:t>根据系统剩余</a:t>
            </a:r>
            <a:r>
              <a:rPr lang="zh-CN" altLang="en-US" dirty="0"/>
              <a:t>内存来决定是否对软引用进行</a:t>
            </a:r>
            <a:r>
              <a:rPr lang="zh-CN" altLang="en-US" dirty="0" smtClean="0"/>
              <a:t>回收</a:t>
            </a:r>
            <a:endParaRPr lang="en-US" altLang="zh-CN" dirty="0" smtClean="0"/>
          </a:p>
          <a:p>
            <a:pPr lvl="1"/>
            <a:r>
              <a:rPr lang="zh-CN" altLang="en-US" dirty="0"/>
              <a:t>虚拟机在发生</a:t>
            </a:r>
            <a:r>
              <a:rPr lang="en-US" altLang="zh-CN" dirty="0" err="1"/>
              <a:t>OutOfMemory</a:t>
            </a:r>
            <a:r>
              <a:rPr lang="zh-CN" altLang="en-US" dirty="0"/>
              <a:t>时，肯定是没有软引用存在</a:t>
            </a:r>
            <a:r>
              <a:rPr lang="zh-CN" altLang="en-US" dirty="0" smtClean="0"/>
              <a:t>的</a:t>
            </a:r>
            <a:endParaRPr lang="en-US" altLang="zh-CN" dirty="0"/>
          </a:p>
          <a:p>
            <a:r>
              <a:rPr lang="zh-CN" altLang="en-US" dirty="0" smtClean="0"/>
              <a:t>弱引用</a:t>
            </a:r>
            <a:endParaRPr lang="en-US" altLang="zh-CN" sz="1600" dirty="0"/>
          </a:p>
          <a:p>
            <a:pPr lvl="1"/>
            <a:r>
              <a:rPr lang="zh-CN" altLang="en-US" dirty="0"/>
              <a:t>在进行垃圾回收时，是一定会被回收</a:t>
            </a:r>
            <a:r>
              <a:rPr lang="zh-CN" altLang="en-US" dirty="0" smtClean="0"/>
              <a:t>掉</a:t>
            </a:r>
            <a:r>
              <a:rPr lang="zh-CN" altLang="en-US" dirty="0"/>
              <a:t>的</a:t>
            </a:r>
            <a:endParaRPr lang="en-US" altLang="zh-CN" dirty="0" smtClean="0"/>
          </a:p>
          <a:p>
            <a:pPr lvl="1"/>
            <a:r>
              <a:rPr lang="zh-CN" altLang="en-US" dirty="0"/>
              <a:t>生命周期只存在于一个垃圾回收周期</a:t>
            </a:r>
            <a:r>
              <a:rPr lang="zh-CN" altLang="en-US" dirty="0" smtClean="0"/>
              <a:t>内</a:t>
            </a:r>
            <a:endParaRPr lang="en-US" altLang="zh-CN" dirty="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17</a:t>
            </a:fld>
            <a:endParaRPr lang="zh-CN" altLang="en-US"/>
          </a:p>
        </p:txBody>
      </p:sp>
    </p:spTree>
    <p:extLst>
      <p:ext uri="{BB962C8B-B14F-4D97-AF65-F5344CB8AC3E}">
        <p14:creationId xmlns:p14="http://schemas.microsoft.com/office/powerpoint/2010/main" val="34654436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1000"/>
                                        <p:tgtEl>
                                          <p:spTgt spid="3">
                                            <p:txEl>
                                              <p:pRg st="5" end="5"/>
                                            </p:txEl>
                                          </p:spTgt>
                                        </p:tgtEl>
                                      </p:cBhvr>
                                    </p:animEffect>
                                    <p:anim calcmode="lin" valueType="num">
                                      <p:cBhvr>
                                        <p:cTn id="3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fade">
                                      <p:cBhvr>
                                        <p:cTn id="41" dur="1000"/>
                                        <p:tgtEl>
                                          <p:spTgt spid="3">
                                            <p:txEl>
                                              <p:pRg st="6" end="6"/>
                                            </p:txEl>
                                          </p:spTgt>
                                        </p:tgtEl>
                                      </p:cBhvr>
                                    </p:animEffect>
                                    <p:anim calcmode="lin" valueType="num">
                                      <p:cBhvr>
                                        <p:cTn id="4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3">
                                            <p:txEl>
                                              <p:pRg st="7" end="7"/>
                                            </p:txEl>
                                          </p:spTgt>
                                        </p:tgtEl>
                                        <p:attrNameLst>
                                          <p:attrName>style.visibility</p:attrName>
                                        </p:attrNameLst>
                                      </p:cBhvr>
                                      <p:to>
                                        <p:strVal val="visible"/>
                                      </p:to>
                                    </p:set>
                                    <p:animEffect transition="in" filter="fade">
                                      <p:cBhvr>
                                        <p:cTn id="46" dur="1000"/>
                                        <p:tgtEl>
                                          <p:spTgt spid="3">
                                            <p:txEl>
                                              <p:pRg st="7" end="7"/>
                                            </p:txEl>
                                          </p:spTgt>
                                        </p:tgtEl>
                                      </p:cBhvr>
                                    </p:animEffect>
                                    <p:anim calcmode="lin" valueType="num">
                                      <p:cBhvr>
                                        <p:cTn id="4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8"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3">
                                            <p:txEl>
                                              <p:pRg st="8" end="8"/>
                                            </p:txEl>
                                          </p:spTgt>
                                        </p:tgtEl>
                                        <p:attrNameLst>
                                          <p:attrName>style.visibility</p:attrName>
                                        </p:attrNameLst>
                                      </p:cBhvr>
                                      <p:to>
                                        <p:strVal val="visible"/>
                                      </p:to>
                                    </p:set>
                                    <p:animEffect transition="in" filter="fade">
                                      <p:cBhvr>
                                        <p:cTn id="51" dur="1000"/>
                                        <p:tgtEl>
                                          <p:spTgt spid="3">
                                            <p:txEl>
                                              <p:pRg st="8" end="8"/>
                                            </p:txEl>
                                          </p:spTgt>
                                        </p:tgtEl>
                                      </p:cBhvr>
                                    </p:animEffect>
                                    <p:anim calcmode="lin" valueType="num">
                                      <p:cBhvr>
                                        <p:cTn id="52"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3"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zh-CN" altLang="en-US" dirty="0"/>
              <a:t>基本回收</a:t>
            </a:r>
            <a:r>
              <a:rPr lang="zh-CN" altLang="en-US" dirty="0" smtClean="0"/>
              <a:t>策略</a:t>
            </a:r>
            <a:endParaRPr lang="zh-CN" altLang="en-US" sz="1600" dirty="0"/>
          </a:p>
        </p:txBody>
      </p:sp>
      <p:sp>
        <p:nvSpPr>
          <p:cNvPr id="3" name="内容占位符 2"/>
          <p:cNvSpPr>
            <a:spLocks noGrp="1"/>
          </p:cNvSpPr>
          <p:nvPr>
            <p:ph idx="1"/>
          </p:nvPr>
        </p:nvSpPr>
        <p:spPr/>
        <p:txBody>
          <a:bodyPr>
            <a:normAutofit/>
          </a:bodyPr>
          <a:lstStyle/>
          <a:p>
            <a:r>
              <a:rPr lang="zh-CN" altLang="en-US" dirty="0" smtClean="0"/>
              <a:t>引用计数</a:t>
            </a:r>
            <a:r>
              <a:rPr lang="en-US" altLang="zh-CN" dirty="0" smtClean="0"/>
              <a:t>(</a:t>
            </a:r>
            <a:r>
              <a:rPr lang="en-US" altLang="zh-CN" dirty="0"/>
              <a:t>Reference Counting</a:t>
            </a:r>
            <a:r>
              <a:rPr lang="en-US" altLang="zh-CN" dirty="0" smtClean="0"/>
              <a:t>)</a:t>
            </a:r>
            <a:endParaRPr lang="en-US" altLang="zh-CN" sz="1600" dirty="0" smtClean="0"/>
          </a:p>
          <a:p>
            <a:pPr lvl="1"/>
            <a:r>
              <a:rPr lang="zh-CN" altLang="en-US" dirty="0"/>
              <a:t>比较古老的回收算法</a:t>
            </a:r>
            <a:endParaRPr lang="en-US" altLang="zh-CN" dirty="0" smtClean="0"/>
          </a:p>
          <a:p>
            <a:pPr lvl="1"/>
            <a:r>
              <a:rPr lang="zh-CN" altLang="en-US" dirty="0" smtClean="0"/>
              <a:t>原理</a:t>
            </a:r>
            <a:r>
              <a:rPr lang="zh-CN" altLang="en-US" dirty="0"/>
              <a:t>是此对象有一个引用，即增加一个计数，删除一个引用则减少一个计数</a:t>
            </a:r>
            <a:endParaRPr lang="en-US" altLang="zh-CN" dirty="0" smtClean="0"/>
          </a:p>
          <a:p>
            <a:pPr lvl="1"/>
            <a:r>
              <a:rPr lang="zh-CN" altLang="en-US" dirty="0"/>
              <a:t>垃圾回收时，引用收集计数为</a:t>
            </a:r>
            <a:r>
              <a:rPr lang="en-US" altLang="zh-CN" dirty="0"/>
              <a:t>0</a:t>
            </a:r>
            <a:r>
              <a:rPr lang="zh-CN" altLang="en-US" dirty="0"/>
              <a:t>的对象</a:t>
            </a:r>
            <a:endParaRPr lang="en-US" altLang="zh-CN" dirty="0"/>
          </a:p>
          <a:p>
            <a:pPr lvl="1"/>
            <a:r>
              <a:rPr lang="zh-CN" altLang="en-US" dirty="0"/>
              <a:t>此算法最致命的是无法处理循环引用的</a:t>
            </a:r>
            <a:r>
              <a:rPr lang="zh-CN" altLang="en-US" dirty="0" smtClean="0"/>
              <a:t>问题</a:t>
            </a:r>
            <a:endParaRPr lang="en-US" altLang="zh-CN" sz="1600" dirty="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18</a:t>
            </a:fld>
            <a:endParaRPr lang="zh-CN" altLang="en-US"/>
          </a:p>
        </p:txBody>
      </p:sp>
    </p:spTree>
    <p:extLst>
      <p:ext uri="{BB962C8B-B14F-4D97-AF65-F5344CB8AC3E}">
        <p14:creationId xmlns:p14="http://schemas.microsoft.com/office/powerpoint/2010/main" val="38344994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zh-CN" altLang="en-US" dirty="0"/>
              <a:t>基本回收</a:t>
            </a:r>
            <a:r>
              <a:rPr lang="zh-CN" altLang="en-US" dirty="0" smtClean="0"/>
              <a:t>策略</a:t>
            </a:r>
            <a:endParaRPr lang="zh-CN" altLang="en-US" sz="1600" dirty="0"/>
          </a:p>
        </p:txBody>
      </p:sp>
      <p:sp>
        <p:nvSpPr>
          <p:cNvPr id="3" name="内容占位符 2"/>
          <p:cNvSpPr>
            <a:spLocks noGrp="1"/>
          </p:cNvSpPr>
          <p:nvPr>
            <p:ph idx="1"/>
          </p:nvPr>
        </p:nvSpPr>
        <p:spPr/>
        <p:txBody>
          <a:bodyPr>
            <a:normAutofit/>
          </a:bodyPr>
          <a:lstStyle/>
          <a:p>
            <a:r>
              <a:rPr lang="zh-CN" altLang="en-US" dirty="0" smtClean="0"/>
              <a:t>如何区分垃圾</a:t>
            </a:r>
            <a:endParaRPr lang="en-US" altLang="zh-CN" dirty="0" smtClean="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19</a:t>
            </a:fld>
            <a:endParaRPr lang="zh-CN" altLang="en-US"/>
          </a:p>
        </p:txBody>
      </p:sp>
      <p:pic>
        <p:nvPicPr>
          <p:cNvPr id="6146" name="Picture 2" descr="http://dl.iteye.com/upload/picture/pic/49643/569df8cb-d2a1-3461-a824-d4e4c78e4bd9.png?_=473725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6737" y="2132856"/>
            <a:ext cx="7534541" cy="302433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53358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zh-CN" altLang="en-US" dirty="0"/>
              <a:t>基本回收</a:t>
            </a:r>
            <a:r>
              <a:rPr lang="zh-CN" altLang="en-US" dirty="0" smtClean="0"/>
              <a:t>策略</a:t>
            </a:r>
            <a:endParaRPr lang="zh-CN" altLang="en-US" sz="1600" dirty="0"/>
          </a:p>
        </p:txBody>
      </p:sp>
      <p:sp>
        <p:nvSpPr>
          <p:cNvPr id="3" name="内容占位符 2"/>
          <p:cNvSpPr>
            <a:spLocks noGrp="1"/>
          </p:cNvSpPr>
          <p:nvPr>
            <p:ph idx="1"/>
          </p:nvPr>
        </p:nvSpPr>
        <p:spPr/>
        <p:txBody>
          <a:bodyPr>
            <a:normAutofit/>
          </a:bodyPr>
          <a:lstStyle/>
          <a:p>
            <a:r>
              <a:rPr lang="zh-CN" altLang="en-US" dirty="0"/>
              <a:t>标记</a:t>
            </a:r>
            <a:r>
              <a:rPr lang="en-US" altLang="zh-CN" dirty="0"/>
              <a:t>-</a:t>
            </a:r>
            <a:r>
              <a:rPr lang="zh-CN" altLang="en-US" dirty="0" smtClean="0"/>
              <a:t>清除</a:t>
            </a:r>
            <a:r>
              <a:rPr lang="en-US" altLang="zh-CN" dirty="0" smtClean="0"/>
              <a:t>(Mark-Sweep)</a:t>
            </a:r>
            <a:endParaRPr lang="en-US" altLang="zh-CN" sz="1600" dirty="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20</a:t>
            </a:fld>
            <a:endParaRPr lang="zh-CN" altLang="en-US"/>
          </a:p>
        </p:txBody>
      </p:sp>
      <p:pic>
        <p:nvPicPr>
          <p:cNvPr id="8" name="Picture 2" descr="http://dl.iteye.com/upload/picture/pic/49637/df51497d-3678-3eaa-b68b-ad4b8a895f8a.png?_=473725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040" y="2096852"/>
            <a:ext cx="7713935" cy="309634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14565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zh-CN" altLang="en-US" dirty="0"/>
              <a:t>基本回收</a:t>
            </a:r>
            <a:r>
              <a:rPr lang="zh-CN" altLang="en-US" dirty="0" smtClean="0"/>
              <a:t>策略</a:t>
            </a:r>
            <a:endParaRPr lang="zh-CN" altLang="en-US" sz="1600" dirty="0"/>
          </a:p>
        </p:txBody>
      </p:sp>
      <p:sp>
        <p:nvSpPr>
          <p:cNvPr id="3" name="内容占位符 2"/>
          <p:cNvSpPr>
            <a:spLocks noGrp="1"/>
          </p:cNvSpPr>
          <p:nvPr>
            <p:ph idx="1"/>
          </p:nvPr>
        </p:nvSpPr>
        <p:spPr/>
        <p:txBody>
          <a:bodyPr>
            <a:normAutofit/>
          </a:bodyPr>
          <a:lstStyle/>
          <a:p>
            <a:r>
              <a:rPr lang="zh-CN" altLang="en-US" dirty="0" smtClean="0"/>
              <a:t>如何处理碎片</a:t>
            </a:r>
            <a:endParaRPr lang="en-US" altLang="zh-CN" sz="1600" dirty="0"/>
          </a:p>
          <a:p>
            <a:pPr lvl="1"/>
            <a:r>
              <a:rPr lang="zh-CN" altLang="en-US" dirty="0"/>
              <a:t>不同</a:t>
            </a:r>
            <a:r>
              <a:rPr lang="en-US" altLang="zh-CN" dirty="0"/>
              <a:t>Java</a:t>
            </a:r>
            <a:r>
              <a:rPr lang="zh-CN" altLang="en-US" dirty="0"/>
              <a:t>对象存活时间是不一定</a:t>
            </a:r>
            <a:r>
              <a:rPr lang="zh-CN" altLang="en-US" dirty="0" smtClean="0"/>
              <a:t>的</a:t>
            </a:r>
            <a:endParaRPr lang="en-US" altLang="zh-CN" dirty="0" smtClean="0"/>
          </a:p>
          <a:p>
            <a:pPr lvl="1"/>
            <a:r>
              <a:rPr lang="zh-CN" altLang="en-US" dirty="0"/>
              <a:t>如果不进行内存整理，就会出现零散的内存</a:t>
            </a:r>
            <a:r>
              <a:rPr lang="zh-CN" altLang="en-US" dirty="0" smtClean="0"/>
              <a:t>碎片</a:t>
            </a:r>
            <a:endParaRPr lang="en-US" altLang="zh-CN" dirty="0" smtClean="0"/>
          </a:p>
          <a:p>
            <a:pPr lvl="1"/>
            <a:r>
              <a:rPr lang="zh-CN" altLang="en-US" dirty="0"/>
              <a:t>碎片最直接的问题就是会导致无法分配大块的内存</a:t>
            </a:r>
            <a:r>
              <a:rPr lang="zh-CN" altLang="en-US" dirty="0" smtClean="0"/>
              <a:t>空间</a:t>
            </a:r>
            <a:endParaRPr lang="en-US" altLang="zh-CN" dirty="0" smtClean="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21</a:t>
            </a:fld>
            <a:endParaRPr lang="zh-CN" altLang="en-US"/>
          </a:p>
        </p:txBody>
      </p:sp>
    </p:spTree>
    <p:extLst>
      <p:ext uri="{BB962C8B-B14F-4D97-AF65-F5344CB8AC3E}">
        <p14:creationId xmlns:p14="http://schemas.microsoft.com/office/powerpoint/2010/main" val="38565232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zh-CN" altLang="en-US" dirty="0"/>
              <a:t>基本回收</a:t>
            </a:r>
            <a:r>
              <a:rPr lang="zh-CN" altLang="en-US" dirty="0" smtClean="0"/>
              <a:t>策略</a:t>
            </a:r>
            <a:endParaRPr lang="zh-CN" altLang="en-US" sz="1600" dirty="0"/>
          </a:p>
        </p:txBody>
      </p:sp>
      <p:sp>
        <p:nvSpPr>
          <p:cNvPr id="3" name="内容占位符 2"/>
          <p:cNvSpPr>
            <a:spLocks noGrp="1"/>
          </p:cNvSpPr>
          <p:nvPr>
            <p:ph idx="1"/>
          </p:nvPr>
        </p:nvSpPr>
        <p:spPr/>
        <p:txBody>
          <a:bodyPr>
            <a:normAutofit/>
          </a:bodyPr>
          <a:lstStyle/>
          <a:p>
            <a:r>
              <a:rPr lang="zh-CN" altLang="en-US" dirty="0" smtClean="0"/>
              <a:t>复制</a:t>
            </a:r>
            <a:r>
              <a:rPr lang="en-US" altLang="zh-CN" dirty="0" smtClean="0"/>
              <a:t>(Copying)</a:t>
            </a:r>
            <a:endParaRPr lang="en-US" altLang="zh-CN" sz="1600" dirty="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22</a:t>
            </a:fld>
            <a:endParaRPr lang="zh-CN" altLang="en-US"/>
          </a:p>
        </p:txBody>
      </p:sp>
      <p:pic>
        <p:nvPicPr>
          <p:cNvPr id="8" name="Picture 2" descr="http://dl.iteye.com/upload/picture/pic/49639/cdd58f10-c06b-3ab4-b927-5be187773a87.png?_=473725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2132856"/>
            <a:ext cx="7776864" cy="312160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81535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zh-CN" altLang="en-US" dirty="0"/>
              <a:t>基本回收</a:t>
            </a:r>
            <a:r>
              <a:rPr lang="zh-CN" altLang="en-US" dirty="0" smtClean="0"/>
              <a:t>策略</a:t>
            </a:r>
            <a:endParaRPr lang="zh-CN" altLang="en-US" sz="1600" dirty="0"/>
          </a:p>
        </p:txBody>
      </p:sp>
      <p:sp>
        <p:nvSpPr>
          <p:cNvPr id="3" name="内容占位符 2"/>
          <p:cNvSpPr>
            <a:spLocks noGrp="1"/>
          </p:cNvSpPr>
          <p:nvPr>
            <p:ph idx="1"/>
          </p:nvPr>
        </p:nvSpPr>
        <p:spPr/>
        <p:txBody>
          <a:bodyPr>
            <a:normAutofit/>
          </a:bodyPr>
          <a:lstStyle/>
          <a:p>
            <a:r>
              <a:rPr lang="zh-CN" altLang="en-US" dirty="0"/>
              <a:t>标记</a:t>
            </a:r>
            <a:r>
              <a:rPr lang="en-US" altLang="zh-CN" dirty="0"/>
              <a:t>-</a:t>
            </a:r>
            <a:r>
              <a:rPr lang="zh-CN" altLang="en-US" dirty="0" smtClean="0"/>
              <a:t>整理</a:t>
            </a:r>
            <a:r>
              <a:rPr lang="en-US" altLang="zh-CN" dirty="0" smtClean="0"/>
              <a:t>(Mark-Compact)</a:t>
            </a:r>
            <a:endParaRPr lang="en-US" altLang="zh-CN" sz="1600" dirty="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23</a:t>
            </a:fld>
            <a:endParaRPr lang="zh-CN" altLang="en-US"/>
          </a:p>
        </p:txBody>
      </p:sp>
      <p:pic>
        <p:nvPicPr>
          <p:cNvPr id="5122" name="Picture 2" descr="http://dl.iteye.com/upload/picture/pic/49641/784445ce-0966-341e-aaee-d42d081d4113.png?_=473725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040" y="2096852"/>
            <a:ext cx="7713936" cy="309634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72571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zh-CN" altLang="en-US" dirty="0" smtClean="0"/>
              <a:t>分代</a:t>
            </a:r>
            <a:endParaRPr lang="zh-CN" altLang="en-US" sz="1600" dirty="0"/>
          </a:p>
        </p:txBody>
      </p:sp>
      <p:sp>
        <p:nvSpPr>
          <p:cNvPr id="3" name="内容占位符 2"/>
          <p:cNvSpPr>
            <a:spLocks noGrp="1"/>
          </p:cNvSpPr>
          <p:nvPr>
            <p:ph idx="1"/>
          </p:nvPr>
        </p:nvSpPr>
        <p:spPr/>
        <p:txBody>
          <a:bodyPr>
            <a:normAutofit/>
          </a:bodyPr>
          <a:lstStyle/>
          <a:p>
            <a:r>
              <a:rPr lang="zh-CN" altLang="en-US" dirty="0" smtClean="0"/>
              <a:t>为什么要分代</a:t>
            </a:r>
            <a:endParaRPr lang="en-US" altLang="zh-CN" sz="1600" dirty="0"/>
          </a:p>
          <a:p>
            <a:pPr lvl="1"/>
            <a:r>
              <a:rPr lang="zh-CN" altLang="en-US" dirty="0"/>
              <a:t>不同的对象的生命周期是不一样</a:t>
            </a:r>
            <a:r>
              <a:rPr lang="zh-CN" altLang="en-US" dirty="0" smtClean="0"/>
              <a:t>的</a:t>
            </a:r>
            <a:endParaRPr lang="en-US" altLang="zh-CN" dirty="0" smtClean="0"/>
          </a:p>
          <a:p>
            <a:r>
              <a:rPr lang="zh-CN" altLang="en-US" dirty="0" smtClean="0"/>
              <a:t>如何分代</a:t>
            </a:r>
            <a:endParaRPr lang="en-US" altLang="zh-CN" dirty="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24</a:t>
            </a:fld>
            <a:endParaRPr lang="zh-CN" altLang="en-US"/>
          </a:p>
        </p:txBody>
      </p:sp>
      <p:pic>
        <p:nvPicPr>
          <p:cNvPr id="7170" name="Picture 2" descr="http://dl.iteye.com/upload/picture/pic/49645/0456e532-ad5e-3634-9257-27305f6af4c1.png?_=473725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664" y="2708920"/>
            <a:ext cx="6888766" cy="38164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2654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1000"/>
                            </p:stCondLst>
                            <p:childTnLst>
                              <p:par>
                                <p:cTn id="23" presetID="42" presetClass="entr" presetSubtype="0" fill="hold" nodeType="afterEffect">
                                  <p:stCondLst>
                                    <p:cond delay="0"/>
                                  </p:stCondLst>
                                  <p:childTnLst>
                                    <p:set>
                                      <p:cBhvr>
                                        <p:cTn id="24" dur="1" fill="hold">
                                          <p:stCondLst>
                                            <p:cond delay="0"/>
                                          </p:stCondLst>
                                        </p:cTn>
                                        <p:tgtEl>
                                          <p:spTgt spid="7170"/>
                                        </p:tgtEl>
                                        <p:attrNameLst>
                                          <p:attrName>style.visibility</p:attrName>
                                        </p:attrNameLst>
                                      </p:cBhvr>
                                      <p:to>
                                        <p:strVal val="visible"/>
                                      </p:to>
                                    </p:set>
                                    <p:animEffect transition="in" filter="fade">
                                      <p:cBhvr>
                                        <p:cTn id="25" dur="1000"/>
                                        <p:tgtEl>
                                          <p:spTgt spid="7170"/>
                                        </p:tgtEl>
                                      </p:cBhvr>
                                    </p:animEffect>
                                    <p:anim calcmode="lin" valueType="num">
                                      <p:cBhvr>
                                        <p:cTn id="26" dur="1000" fill="hold"/>
                                        <p:tgtEl>
                                          <p:spTgt spid="7170"/>
                                        </p:tgtEl>
                                        <p:attrNameLst>
                                          <p:attrName>ppt_x</p:attrName>
                                        </p:attrNameLst>
                                      </p:cBhvr>
                                      <p:tavLst>
                                        <p:tav tm="0">
                                          <p:val>
                                            <p:strVal val="#ppt_x"/>
                                          </p:val>
                                        </p:tav>
                                        <p:tav tm="100000">
                                          <p:val>
                                            <p:strVal val="#ppt_x"/>
                                          </p:val>
                                        </p:tav>
                                      </p:tavLst>
                                    </p:anim>
                                    <p:anim calcmode="lin" valueType="num">
                                      <p:cBhvr>
                                        <p:cTn id="27" dur="1000" fill="hold"/>
                                        <p:tgtEl>
                                          <p:spTgt spid="717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zh-CN" altLang="en-US" dirty="0" smtClean="0"/>
              <a:t>什么情况下触发垃圾回收</a:t>
            </a:r>
            <a:endParaRPr lang="zh-CN" altLang="en-US" sz="1600" dirty="0"/>
          </a:p>
        </p:txBody>
      </p:sp>
      <p:sp>
        <p:nvSpPr>
          <p:cNvPr id="3" name="内容占位符 2"/>
          <p:cNvSpPr>
            <a:spLocks noGrp="1"/>
          </p:cNvSpPr>
          <p:nvPr>
            <p:ph idx="1"/>
          </p:nvPr>
        </p:nvSpPr>
        <p:spPr/>
        <p:txBody>
          <a:bodyPr>
            <a:normAutofit/>
          </a:bodyPr>
          <a:lstStyle/>
          <a:p>
            <a:r>
              <a:rPr lang="en-US" altLang="zh-CN" dirty="0"/>
              <a:t>Scavenge </a:t>
            </a:r>
            <a:r>
              <a:rPr lang="en-US" altLang="zh-CN" dirty="0" smtClean="0"/>
              <a:t>GC</a:t>
            </a:r>
            <a:endParaRPr lang="en-US" altLang="zh-CN" sz="1600" dirty="0"/>
          </a:p>
          <a:p>
            <a:pPr lvl="1"/>
            <a:r>
              <a:rPr lang="zh-CN" altLang="en-US" dirty="0"/>
              <a:t>对</a:t>
            </a:r>
            <a:r>
              <a:rPr lang="en-US" altLang="zh-CN" dirty="0"/>
              <a:t>Eden</a:t>
            </a:r>
            <a:r>
              <a:rPr lang="zh-CN" altLang="en-US" dirty="0"/>
              <a:t>区域进行</a:t>
            </a:r>
            <a:r>
              <a:rPr lang="en-US" altLang="zh-CN" dirty="0"/>
              <a:t>GC</a:t>
            </a:r>
            <a:r>
              <a:rPr lang="zh-CN" altLang="en-US" dirty="0"/>
              <a:t>，清除非存活</a:t>
            </a:r>
            <a:r>
              <a:rPr lang="zh-CN" altLang="en-US" dirty="0" smtClean="0"/>
              <a:t>对象</a:t>
            </a:r>
            <a:endParaRPr lang="en-US" altLang="zh-CN" dirty="0" smtClean="0"/>
          </a:p>
          <a:p>
            <a:pPr lvl="1"/>
            <a:r>
              <a:rPr lang="zh-CN" altLang="en-US" dirty="0" smtClean="0"/>
              <a:t>并且</a:t>
            </a:r>
            <a:r>
              <a:rPr lang="zh-CN" altLang="en-US" dirty="0"/>
              <a:t>把尚且存活的对象移动到</a:t>
            </a:r>
            <a:r>
              <a:rPr lang="en-US" altLang="zh-CN" dirty="0"/>
              <a:t>Survivor</a:t>
            </a:r>
            <a:r>
              <a:rPr lang="zh-CN" altLang="en-US" dirty="0" smtClean="0"/>
              <a:t>区</a:t>
            </a:r>
            <a:endParaRPr lang="en-US" altLang="zh-CN" dirty="0" smtClean="0"/>
          </a:p>
          <a:p>
            <a:pPr lvl="1"/>
            <a:r>
              <a:rPr lang="zh-CN" altLang="en-US" dirty="0" smtClean="0"/>
              <a:t>整理</a:t>
            </a:r>
            <a:r>
              <a:rPr lang="en-US" altLang="zh-CN" dirty="0"/>
              <a:t>Survivor</a:t>
            </a:r>
            <a:r>
              <a:rPr lang="zh-CN" altLang="en-US" dirty="0"/>
              <a:t>的两个</a:t>
            </a:r>
            <a:r>
              <a:rPr lang="zh-CN" altLang="en-US" dirty="0" smtClean="0"/>
              <a:t>区</a:t>
            </a:r>
            <a:endParaRPr lang="en-US" altLang="zh-CN" dirty="0" smtClean="0"/>
          </a:p>
          <a:p>
            <a:r>
              <a:rPr lang="en-US" altLang="zh-CN" dirty="0"/>
              <a:t>Full </a:t>
            </a:r>
            <a:r>
              <a:rPr lang="en-US" altLang="zh-CN" dirty="0" smtClean="0"/>
              <a:t>GC</a:t>
            </a:r>
            <a:endParaRPr lang="en-US" altLang="zh-CN" sz="1600" dirty="0"/>
          </a:p>
          <a:p>
            <a:pPr lvl="1"/>
            <a:r>
              <a:rPr lang="zh-CN" altLang="en-US" dirty="0"/>
              <a:t> 对整个堆进行整理，包括</a:t>
            </a:r>
            <a:r>
              <a:rPr lang="en-US" altLang="zh-CN" dirty="0"/>
              <a:t>Young</a:t>
            </a:r>
            <a:r>
              <a:rPr lang="zh-CN" altLang="en-US" dirty="0"/>
              <a:t>、</a:t>
            </a:r>
            <a:r>
              <a:rPr lang="en-US" altLang="zh-CN" dirty="0"/>
              <a:t>Tenured</a:t>
            </a:r>
            <a:r>
              <a:rPr lang="zh-CN" altLang="en-US" dirty="0"/>
              <a:t>和</a:t>
            </a:r>
            <a:r>
              <a:rPr lang="en-US" altLang="zh-CN" dirty="0" smtClean="0"/>
              <a:t>Perm</a:t>
            </a:r>
            <a:endParaRPr lang="en-US" altLang="zh-CN" dirty="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25</a:t>
            </a:fld>
            <a:endParaRPr lang="zh-CN" altLang="en-US"/>
          </a:p>
        </p:txBody>
      </p:sp>
      <p:pic>
        <p:nvPicPr>
          <p:cNvPr id="4" name="图片 3"/>
          <p:cNvPicPr>
            <a:picLocks noChangeAspect="1"/>
          </p:cNvPicPr>
          <p:nvPr/>
        </p:nvPicPr>
        <p:blipFill>
          <a:blip r:embed="rId3"/>
          <a:stretch>
            <a:fillRect/>
          </a:stretch>
        </p:blipFill>
        <p:spPr>
          <a:xfrm>
            <a:off x="1835696" y="4293096"/>
            <a:ext cx="5616624" cy="2215988"/>
          </a:xfrm>
          <a:prstGeom prst="rect">
            <a:avLst/>
          </a:prstGeom>
        </p:spPr>
      </p:pic>
    </p:spTree>
    <p:extLst>
      <p:ext uri="{BB962C8B-B14F-4D97-AF65-F5344CB8AC3E}">
        <p14:creationId xmlns:p14="http://schemas.microsoft.com/office/powerpoint/2010/main" val="26560506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1000"/>
                                        <p:tgtEl>
                                          <p:spTgt spid="3">
                                            <p:txEl>
                                              <p:pRg st="5" end="5"/>
                                            </p:txEl>
                                          </p:spTgt>
                                        </p:tgtEl>
                                      </p:cBhvr>
                                    </p:animEffect>
                                    <p:anim calcmode="lin" valueType="num">
                                      <p:cBhvr>
                                        <p:cTn id="3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par>
                          <p:cTn id="37" fill="hold">
                            <p:stCondLst>
                              <p:cond delay="1000"/>
                            </p:stCondLst>
                            <p:childTnLst>
                              <p:par>
                                <p:cTn id="38" presetID="42" presetClass="entr" presetSubtype="0" fill="hold" nodeType="after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fade">
                                      <p:cBhvr>
                                        <p:cTn id="40" dur="1000"/>
                                        <p:tgtEl>
                                          <p:spTgt spid="4"/>
                                        </p:tgtEl>
                                      </p:cBhvr>
                                    </p:animEffect>
                                    <p:anim calcmode="lin" valueType="num">
                                      <p:cBhvr>
                                        <p:cTn id="41" dur="1000" fill="hold"/>
                                        <p:tgtEl>
                                          <p:spTgt spid="4"/>
                                        </p:tgtEl>
                                        <p:attrNameLst>
                                          <p:attrName>ppt_x</p:attrName>
                                        </p:attrNameLst>
                                      </p:cBhvr>
                                      <p:tavLst>
                                        <p:tav tm="0">
                                          <p:val>
                                            <p:strVal val="#ppt_x"/>
                                          </p:val>
                                        </p:tav>
                                        <p:tav tm="100000">
                                          <p:val>
                                            <p:strVal val="#ppt_x"/>
                                          </p:val>
                                        </p:tav>
                                      </p:tavLst>
                                    </p:anim>
                                    <p:anim calcmode="lin" valueType="num">
                                      <p:cBhvr>
                                        <p:cTn id="42"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zh-CN" altLang="en-US" dirty="0" smtClean="0"/>
              <a:t>垃圾回收流程</a:t>
            </a:r>
            <a:endParaRPr lang="zh-CN" altLang="en-US" sz="1600" dirty="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26</a:t>
            </a:fld>
            <a:endParaRPr lang="zh-CN" altLang="en-US"/>
          </a:p>
        </p:txBody>
      </p:sp>
      <p:pic>
        <p:nvPicPr>
          <p:cNvPr id="8194" name="Picture 2" descr="http://pengjiaheng.iteye.com/upload/picture/pic/49853/e4920a9b-bcdb-36b4-84c7-159deb81811c.png?_=473725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7344" y="895627"/>
            <a:ext cx="3675628" cy="58457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7512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zh-CN" altLang="en-US" dirty="0" smtClean="0"/>
              <a:t>垃圾回收流程</a:t>
            </a:r>
            <a:endParaRPr lang="zh-CN" altLang="en-US" sz="1600" dirty="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27</a:t>
            </a:fld>
            <a:endParaRPr lang="zh-CN" altLang="en-US"/>
          </a:p>
        </p:txBody>
      </p:sp>
      <p:pic>
        <p:nvPicPr>
          <p:cNvPr id="9220" name="Picture 4" descr="http://dl.iteye.com/upload/picture/pic/49855/ab8a2bce-d47d-30a5-aec2-ce3ac9d03445.png?_=473725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3623" y="836712"/>
            <a:ext cx="3240770" cy="6017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30307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zh-CN" altLang="en-US" dirty="0" smtClean="0"/>
              <a:t>垃圾回收流程</a:t>
            </a:r>
            <a:endParaRPr lang="zh-CN" altLang="en-US" sz="1600" dirty="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28</a:t>
            </a:fld>
            <a:endParaRPr lang="zh-CN" altLang="en-US"/>
          </a:p>
        </p:txBody>
      </p:sp>
      <p:pic>
        <p:nvPicPr>
          <p:cNvPr id="10242" name="Picture 2" descr="http://dl.iteye.com/upload/picture/pic/49857/f5f73056-ac19-39bd-8a31-774d9ebe5417.png?_=4737257"/>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987824" y="838125"/>
            <a:ext cx="3219761" cy="5975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51633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zh-CN" altLang="en-US" dirty="0" smtClean="0"/>
              <a:t>垃圾回收流程</a:t>
            </a:r>
            <a:endParaRPr lang="zh-CN" altLang="en-US" sz="1600" dirty="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29</a:t>
            </a:fld>
            <a:endParaRPr lang="zh-CN" altLang="en-US"/>
          </a:p>
        </p:txBody>
      </p:sp>
      <p:pic>
        <p:nvPicPr>
          <p:cNvPr id="11266" name="Picture 2" descr="http://dl.iteye.com/upload/picture/pic/49859/0c33eb2d-7da7-354a-96ec-c11e16a342fc.png?_=4737257"/>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987216" y="818803"/>
            <a:ext cx="3240968" cy="59945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26028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zh-CN" altLang="en-US" dirty="0" smtClean="0"/>
              <a:t>垃圾收集器算法</a:t>
            </a:r>
            <a:r>
              <a:rPr lang="zh-CN" altLang="en-US" sz="1600" dirty="0" smtClean="0"/>
              <a:t> </a:t>
            </a:r>
            <a:endParaRPr lang="zh-CN" altLang="en-US" sz="1600" dirty="0"/>
          </a:p>
        </p:txBody>
      </p:sp>
      <p:sp>
        <p:nvSpPr>
          <p:cNvPr id="3" name="内容占位符 2"/>
          <p:cNvSpPr>
            <a:spLocks noGrp="1"/>
          </p:cNvSpPr>
          <p:nvPr>
            <p:ph idx="1"/>
          </p:nvPr>
        </p:nvSpPr>
        <p:spPr/>
        <p:txBody>
          <a:bodyPr>
            <a:normAutofit/>
          </a:bodyPr>
          <a:lstStyle/>
          <a:p>
            <a:r>
              <a:rPr lang="zh-CN" altLang="en-US" dirty="0" smtClean="0"/>
              <a:t>串行收集器</a:t>
            </a:r>
            <a:endParaRPr lang="en-US" altLang="zh-CN" sz="1600" dirty="0"/>
          </a:p>
          <a:p>
            <a:pPr lvl="1"/>
            <a:r>
              <a:rPr lang="en-US" altLang="zh-CN" dirty="0"/>
              <a:t>-XX:+</a:t>
            </a:r>
            <a:r>
              <a:rPr lang="en-US" altLang="zh-CN" dirty="0" err="1" smtClean="0"/>
              <a:t>UseSerialGC</a:t>
            </a:r>
            <a:endParaRPr lang="en-US" altLang="zh-CN" sz="1600" dirty="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30</a:t>
            </a:fld>
            <a:endParaRPr lang="zh-CN" altLang="en-US"/>
          </a:p>
        </p:txBody>
      </p:sp>
      <p:pic>
        <p:nvPicPr>
          <p:cNvPr id="12292" name="Picture 4" descr="http://dl.iteye.com/upload/picture/pic/49861/d76786b2-6806-3210-a617-ce51ed90c9fa.png?_=473725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8320" y="2411185"/>
            <a:ext cx="6871376" cy="375411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75633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zh-CN" altLang="en-US" dirty="0" smtClean="0"/>
              <a:t>垃圾收集器算法</a:t>
            </a:r>
            <a:r>
              <a:rPr lang="zh-CN" altLang="en-US" sz="1600" dirty="0" smtClean="0"/>
              <a:t> </a:t>
            </a:r>
            <a:endParaRPr lang="zh-CN" altLang="en-US" sz="1600" dirty="0"/>
          </a:p>
        </p:txBody>
      </p:sp>
      <p:sp>
        <p:nvSpPr>
          <p:cNvPr id="3" name="内容占位符 2"/>
          <p:cNvSpPr>
            <a:spLocks noGrp="1"/>
          </p:cNvSpPr>
          <p:nvPr>
            <p:ph idx="1"/>
          </p:nvPr>
        </p:nvSpPr>
        <p:spPr/>
        <p:txBody>
          <a:bodyPr>
            <a:normAutofit/>
          </a:bodyPr>
          <a:lstStyle/>
          <a:p>
            <a:r>
              <a:rPr lang="zh-CN" altLang="en-US" dirty="0" smtClean="0"/>
              <a:t>并行收集器</a:t>
            </a:r>
            <a:endParaRPr lang="en-US" altLang="zh-CN" sz="1600" dirty="0"/>
          </a:p>
          <a:p>
            <a:pPr lvl="1"/>
            <a:r>
              <a:rPr lang="en-US" altLang="zh-CN" dirty="0"/>
              <a:t>-XX:+</a:t>
            </a:r>
            <a:r>
              <a:rPr lang="en-US" altLang="zh-CN" dirty="0" err="1" smtClean="0"/>
              <a:t>UseParallelGC</a:t>
            </a:r>
            <a:r>
              <a:rPr lang="zh-CN" altLang="en-US" dirty="0" smtClean="0"/>
              <a:t>、</a:t>
            </a:r>
            <a:r>
              <a:rPr lang="en-US" altLang="zh-CN" dirty="0"/>
              <a:t>-XX:+</a:t>
            </a:r>
            <a:r>
              <a:rPr lang="en-US" altLang="zh-CN" dirty="0" err="1"/>
              <a:t>UseParallelOldGC</a:t>
            </a:r>
            <a:endParaRPr lang="en-US" altLang="zh-CN" sz="1600" dirty="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31</a:t>
            </a:fld>
            <a:endParaRPr lang="zh-CN" altLang="en-US"/>
          </a:p>
        </p:txBody>
      </p:sp>
      <p:pic>
        <p:nvPicPr>
          <p:cNvPr id="7" name="Picture 2" descr="http://dl.iteye.com/upload/picture/pic/49863/7a0d56f6-35fe-36aa-a4dd-22234677732e.png?_=473725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2420888"/>
            <a:ext cx="7332890" cy="367240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43083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zh-CN" altLang="en-US" dirty="0" smtClean="0"/>
              <a:t>垃圾收集器算法</a:t>
            </a:r>
            <a:r>
              <a:rPr lang="zh-CN" altLang="en-US" sz="1600" dirty="0" smtClean="0"/>
              <a:t> </a:t>
            </a:r>
            <a:endParaRPr lang="zh-CN" altLang="en-US" sz="1600" dirty="0"/>
          </a:p>
        </p:txBody>
      </p:sp>
      <p:sp>
        <p:nvSpPr>
          <p:cNvPr id="3" name="内容占位符 2"/>
          <p:cNvSpPr>
            <a:spLocks noGrp="1"/>
          </p:cNvSpPr>
          <p:nvPr>
            <p:ph idx="1"/>
          </p:nvPr>
        </p:nvSpPr>
        <p:spPr/>
        <p:txBody>
          <a:bodyPr>
            <a:normAutofit/>
          </a:bodyPr>
          <a:lstStyle/>
          <a:p>
            <a:r>
              <a:rPr lang="zh-CN" altLang="en-US" dirty="0"/>
              <a:t>并发</a:t>
            </a:r>
            <a:r>
              <a:rPr lang="zh-CN" altLang="en-US" dirty="0" smtClean="0"/>
              <a:t>收集器</a:t>
            </a:r>
            <a:endParaRPr lang="en-US" altLang="zh-CN" sz="1600" dirty="0"/>
          </a:p>
          <a:p>
            <a:pPr lvl="1"/>
            <a:r>
              <a:rPr lang="en-US" altLang="zh-CN" dirty="0" smtClean="0"/>
              <a:t>-</a:t>
            </a:r>
            <a:r>
              <a:rPr lang="en-US" altLang="zh-CN" dirty="0"/>
              <a:t>XX:+</a:t>
            </a:r>
            <a:r>
              <a:rPr lang="en-US" altLang="zh-CN" dirty="0" err="1"/>
              <a:t>UseConcMarkSweepGC</a:t>
            </a:r>
            <a:endParaRPr lang="en-US" altLang="zh-CN" sz="1600" dirty="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32</a:t>
            </a:fld>
            <a:endParaRPr lang="zh-CN" altLang="en-US"/>
          </a:p>
        </p:txBody>
      </p:sp>
      <p:pic>
        <p:nvPicPr>
          <p:cNvPr id="6" name="Picture 2" descr="http://dl.iteye.com/upload/picture/pic/49865/dbbf75cb-d84f-36c0-8052-de1aee17a0d9.png?_=473725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2420888"/>
            <a:ext cx="7344816" cy="363819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06119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zh-CN" altLang="en-US" dirty="0"/>
              <a:t>垃圾收集器</a:t>
            </a:r>
            <a:r>
              <a:rPr lang="zh-CN" altLang="en-US" dirty="0" smtClean="0"/>
              <a:t>算法</a:t>
            </a:r>
            <a:endParaRPr lang="zh-CN" altLang="en-US" sz="1600" dirty="0"/>
          </a:p>
        </p:txBody>
      </p:sp>
      <p:sp>
        <p:nvSpPr>
          <p:cNvPr id="3" name="内容占位符 2"/>
          <p:cNvSpPr>
            <a:spLocks noGrp="1"/>
          </p:cNvSpPr>
          <p:nvPr>
            <p:ph idx="1"/>
          </p:nvPr>
        </p:nvSpPr>
        <p:spPr>
          <a:xfrm>
            <a:off x="719572" y="980728"/>
            <a:ext cx="7930244" cy="5375622"/>
          </a:xfrm>
        </p:spPr>
        <p:txBody>
          <a:bodyPr>
            <a:normAutofit lnSpcReduction="10000"/>
          </a:bodyPr>
          <a:lstStyle/>
          <a:p>
            <a:r>
              <a:rPr lang="zh-CN" altLang="en-US" dirty="0" smtClean="0"/>
              <a:t>适用场景</a:t>
            </a:r>
            <a:endParaRPr lang="en-US" altLang="zh-CN" sz="1600" dirty="0"/>
          </a:p>
          <a:p>
            <a:pPr lvl="1"/>
            <a:r>
              <a:rPr lang="zh-CN" altLang="en-US" dirty="0" smtClean="0"/>
              <a:t>串行处理器</a:t>
            </a:r>
            <a:endParaRPr lang="en-US" altLang="zh-CN" dirty="0" smtClean="0"/>
          </a:p>
          <a:p>
            <a:pPr lvl="2"/>
            <a:r>
              <a:rPr lang="zh-CN" altLang="en-US" sz="2000" dirty="0"/>
              <a:t>数据量比较小（</a:t>
            </a:r>
            <a:r>
              <a:rPr lang="en-US" altLang="zh-CN" sz="2000" dirty="0"/>
              <a:t>100M</a:t>
            </a:r>
            <a:r>
              <a:rPr lang="zh-CN" altLang="en-US" sz="2000" dirty="0"/>
              <a:t>左右</a:t>
            </a:r>
            <a:r>
              <a:rPr lang="zh-CN" altLang="en-US" sz="2000" dirty="0" smtClean="0"/>
              <a:t>）</a:t>
            </a:r>
            <a:endParaRPr lang="en-US" altLang="zh-CN" sz="2000" dirty="0" smtClean="0"/>
          </a:p>
          <a:p>
            <a:pPr lvl="2"/>
            <a:r>
              <a:rPr lang="zh-CN" altLang="en-US" sz="2000" dirty="0" smtClean="0"/>
              <a:t>单处理器</a:t>
            </a:r>
            <a:r>
              <a:rPr lang="zh-CN" altLang="en-US" sz="2000" dirty="0"/>
              <a:t>下并且对响应时间无要求的</a:t>
            </a:r>
            <a:r>
              <a:rPr lang="zh-CN" altLang="en-US" sz="2000" dirty="0" smtClean="0"/>
              <a:t>应用</a:t>
            </a:r>
            <a:endParaRPr lang="en-US" altLang="zh-CN" sz="2000" dirty="0" smtClean="0"/>
          </a:p>
          <a:p>
            <a:pPr lvl="2"/>
            <a:r>
              <a:rPr lang="zh-CN" altLang="en-US" sz="2000" dirty="0"/>
              <a:t>缺点：只能用于小型</a:t>
            </a:r>
            <a:r>
              <a:rPr lang="zh-CN" altLang="en-US" sz="2000" dirty="0" smtClean="0"/>
              <a:t>应用</a:t>
            </a:r>
            <a:endParaRPr lang="zh-CN" altLang="en-US" sz="2000" dirty="0"/>
          </a:p>
          <a:p>
            <a:pPr lvl="1"/>
            <a:r>
              <a:rPr lang="zh-CN" altLang="en-US" dirty="0" smtClean="0"/>
              <a:t>并行处理器</a:t>
            </a:r>
            <a:endParaRPr lang="en-US" altLang="zh-CN" dirty="0"/>
          </a:p>
          <a:p>
            <a:pPr lvl="2"/>
            <a:r>
              <a:rPr lang="zh-CN" altLang="en-US" sz="2000" dirty="0"/>
              <a:t>对吞吐量有</a:t>
            </a:r>
            <a:r>
              <a:rPr lang="zh-CN" altLang="en-US" sz="2000" dirty="0" smtClean="0"/>
              <a:t>高要求</a:t>
            </a:r>
            <a:endParaRPr lang="en-US" altLang="zh-CN" sz="2000" dirty="0" smtClean="0"/>
          </a:p>
          <a:p>
            <a:pPr lvl="2"/>
            <a:r>
              <a:rPr lang="zh-CN" altLang="en-US" sz="2000" dirty="0"/>
              <a:t>对应用响应时间无要求的中、大型</a:t>
            </a:r>
            <a:r>
              <a:rPr lang="zh-CN" altLang="en-US" sz="2000" dirty="0" smtClean="0"/>
              <a:t>应用</a:t>
            </a:r>
            <a:r>
              <a:rPr lang="en-US" altLang="zh-CN" sz="2000" dirty="0" smtClean="0"/>
              <a:t>(</a:t>
            </a:r>
            <a:r>
              <a:rPr lang="zh-CN" altLang="en-US" sz="2000" dirty="0" smtClean="0"/>
              <a:t>科学计算</a:t>
            </a:r>
            <a:r>
              <a:rPr lang="en-US" altLang="zh-CN" sz="2000" dirty="0" smtClean="0"/>
              <a:t>)</a:t>
            </a:r>
          </a:p>
          <a:p>
            <a:pPr lvl="2"/>
            <a:r>
              <a:rPr lang="zh-CN" altLang="en-US" sz="2000" dirty="0"/>
              <a:t>缺点：垃圾收集过程中应用响应时间可能</a:t>
            </a:r>
            <a:r>
              <a:rPr lang="zh-CN" altLang="en-US" sz="2000" dirty="0" smtClean="0"/>
              <a:t>加长</a:t>
            </a:r>
            <a:endParaRPr lang="en-US" altLang="zh-CN" dirty="0" smtClean="0"/>
          </a:p>
          <a:p>
            <a:pPr lvl="1"/>
            <a:r>
              <a:rPr lang="zh-CN" altLang="en-US" dirty="0" smtClean="0"/>
              <a:t>并发处理器</a:t>
            </a:r>
            <a:endParaRPr lang="en-US" altLang="zh-CN" dirty="0"/>
          </a:p>
          <a:p>
            <a:pPr lvl="2"/>
            <a:r>
              <a:rPr lang="zh-CN" altLang="en-US" sz="2000" dirty="0"/>
              <a:t>对响应时间有</a:t>
            </a:r>
            <a:r>
              <a:rPr lang="zh-CN" altLang="en-US" sz="2000" dirty="0" smtClean="0"/>
              <a:t>高要求</a:t>
            </a:r>
            <a:endParaRPr lang="en-US" altLang="zh-CN" sz="2000" dirty="0" smtClean="0"/>
          </a:p>
          <a:p>
            <a:pPr lvl="2"/>
            <a:r>
              <a:rPr lang="zh-CN" altLang="en-US" sz="2000" dirty="0"/>
              <a:t>对应用响应时间有较高要求的中、大型</a:t>
            </a:r>
            <a:r>
              <a:rPr lang="zh-CN" altLang="en-US" sz="2000" dirty="0" smtClean="0"/>
              <a:t>应用</a:t>
            </a:r>
            <a:r>
              <a:rPr lang="en-US" altLang="zh-CN" sz="2000" dirty="0" smtClean="0"/>
              <a:t>(Web</a:t>
            </a:r>
            <a:r>
              <a:rPr lang="zh-CN" altLang="en-US" sz="2000" dirty="0" smtClean="0"/>
              <a:t>、应用</a:t>
            </a:r>
            <a:r>
              <a:rPr lang="en-US" altLang="zh-CN" sz="2000" dirty="0" smtClean="0"/>
              <a:t>)</a:t>
            </a:r>
            <a:endParaRPr lang="zh-CN" altLang="en-US" sz="2000" dirty="0"/>
          </a:p>
          <a:p>
            <a:pPr marL="0" indent="0">
              <a:buNone/>
            </a:pPr>
            <a:endParaRPr lang="en-US" altLang="zh-CN" sz="1600" dirty="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33</a:t>
            </a:fld>
            <a:endParaRPr lang="zh-CN" altLang="en-US"/>
          </a:p>
        </p:txBody>
      </p:sp>
    </p:spTree>
    <p:extLst>
      <p:ext uri="{BB962C8B-B14F-4D97-AF65-F5344CB8AC3E}">
        <p14:creationId xmlns:p14="http://schemas.microsoft.com/office/powerpoint/2010/main" val="28819140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zh-CN" altLang="en-US" dirty="0"/>
              <a:t>垃圾收集器</a:t>
            </a:r>
            <a:r>
              <a:rPr lang="zh-CN" altLang="en-US" dirty="0" smtClean="0"/>
              <a:t>算法</a:t>
            </a:r>
            <a:endParaRPr lang="zh-CN" altLang="en-US" sz="1600" dirty="0"/>
          </a:p>
        </p:txBody>
      </p:sp>
      <p:sp>
        <p:nvSpPr>
          <p:cNvPr id="3" name="内容占位符 2"/>
          <p:cNvSpPr>
            <a:spLocks noGrp="1"/>
          </p:cNvSpPr>
          <p:nvPr>
            <p:ph idx="1"/>
          </p:nvPr>
        </p:nvSpPr>
        <p:spPr/>
        <p:txBody>
          <a:bodyPr>
            <a:normAutofit/>
          </a:bodyPr>
          <a:lstStyle/>
          <a:p>
            <a:r>
              <a:rPr lang="zh-CN" altLang="en-US" dirty="0" smtClean="0"/>
              <a:t>小结</a:t>
            </a:r>
            <a:endParaRPr lang="en-US" altLang="zh-CN" sz="1600" dirty="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34</a:t>
            </a:fld>
            <a:endParaRPr lang="zh-CN" altLang="en-US"/>
          </a:p>
        </p:txBody>
      </p:sp>
      <p:graphicFrame>
        <p:nvGraphicFramePr>
          <p:cNvPr id="5" name="表格 4"/>
          <p:cNvGraphicFramePr>
            <a:graphicFrameLocks noGrp="1"/>
          </p:cNvGraphicFramePr>
          <p:nvPr>
            <p:extLst/>
          </p:nvPr>
        </p:nvGraphicFramePr>
        <p:xfrm>
          <a:off x="395536" y="1628801"/>
          <a:ext cx="8398296" cy="4778827"/>
        </p:xfrm>
        <a:graphic>
          <a:graphicData uri="http://schemas.openxmlformats.org/drawingml/2006/table">
            <a:tbl>
              <a:tblPr/>
              <a:tblGrid>
                <a:gridCol w="713736"/>
                <a:gridCol w="2561520"/>
                <a:gridCol w="2561520"/>
                <a:gridCol w="2561520"/>
              </a:tblGrid>
              <a:tr h="433770">
                <a:tc>
                  <a:txBody>
                    <a:bodyPr/>
                    <a:lstStyle/>
                    <a:p>
                      <a:pPr algn="ctr"/>
                      <a:r>
                        <a:rPr lang="zh-CN" altLang="en-US" sz="1400" b="1" dirty="0">
                          <a:effectLst/>
                          <a:latin typeface="微软雅黑" panose="020B0503020204020204" pitchFamily="34" charset="-122"/>
                          <a:ea typeface="微软雅黑" panose="020B0503020204020204" pitchFamily="34" charset="-122"/>
                        </a:rPr>
                        <a:t>类别</a:t>
                      </a:r>
                      <a:endParaRPr lang="zh-CN" altLang="en-US" sz="1400" dirty="0">
                        <a:effectLst/>
                        <a:latin typeface="微软雅黑" panose="020B0503020204020204" pitchFamily="34" charset="-122"/>
                        <a:ea typeface="微软雅黑" panose="020B0503020204020204" pitchFamily="34" charset="-122"/>
                      </a:endParaRPr>
                    </a:p>
                  </a:txBody>
                  <a:tcPr marL="16675" marR="16675" marT="16675" marB="16675">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pPr algn="ctr"/>
                      <a:r>
                        <a:rPr lang="en-US" sz="1400" b="1">
                          <a:effectLst/>
                          <a:latin typeface="微软雅黑" panose="020B0503020204020204" pitchFamily="34" charset="-122"/>
                          <a:ea typeface="微软雅黑" panose="020B0503020204020204" pitchFamily="34" charset="-122"/>
                        </a:rPr>
                        <a:t>serial collector</a:t>
                      </a:r>
                      <a:endParaRPr lang="en-US" sz="1400">
                        <a:effectLst/>
                        <a:latin typeface="微软雅黑" panose="020B0503020204020204" pitchFamily="34" charset="-122"/>
                        <a:ea typeface="微软雅黑" panose="020B0503020204020204" pitchFamily="34" charset="-122"/>
                      </a:endParaRPr>
                    </a:p>
                    <a:p>
                      <a:pPr algn="ctr"/>
                      <a:r>
                        <a:rPr lang="en-US" sz="1400" b="1">
                          <a:effectLst/>
                          <a:latin typeface="微软雅黑" panose="020B0503020204020204" pitchFamily="34" charset="-122"/>
                          <a:ea typeface="微软雅黑" panose="020B0503020204020204" pitchFamily="34" charset="-122"/>
                        </a:rPr>
                        <a:t>(</a:t>
                      </a:r>
                      <a:r>
                        <a:rPr lang="zh-CN" altLang="en-US" sz="1400">
                          <a:effectLst/>
                          <a:latin typeface="微软雅黑" panose="020B0503020204020204" pitchFamily="34" charset="-122"/>
                          <a:ea typeface="微软雅黑" panose="020B0503020204020204" pitchFamily="34" charset="-122"/>
                        </a:rPr>
                        <a:t>单线程收集器</a:t>
                      </a:r>
                      <a:r>
                        <a:rPr lang="en-US" altLang="zh-CN" sz="1400" b="1">
                          <a:effectLst/>
                          <a:latin typeface="微软雅黑" panose="020B0503020204020204" pitchFamily="34" charset="-122"/>
                          <a:ea typeface="微软雅黑" panose="020B0503020204020204" pitchFamily="34" charset="-122"/>
                        </a:rPr>
                        <a:t>)</a:t>
                      </a:r>
                      <a:endParaRPr lang="zh-CN" altLang="en-US" sz="1400">
                        <a:effectLst/>
                        <a:latin typeface="微软雅黑" panose="020B0503020204020204" pitchFamily="34" charset="-122"/>
                        <a:ea typeface="微软雅黑" panose="020B0503020204020204" pitchFamily="34" charset="-122"/>
                      </a:endParaRPr>
                    </a:p>
                  </a:txBody>
                  <a:tcPr marL="16675" marR="16675" marT="16675" marB="16675">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pPr algn="ctr"/>
                      <a:r>
                        <a:rPr lang="en-US" sz="1400" b="1">
                          <a:effectLst/>
                          <a:latin typeface="微软雅黑" panose="020B0503020204020204" pitchFamily="34" charset="-122"/>
                          <a:ea typeface="微软雅黑" panose="020B0503020204020204" pitchFamily="34" charset="-122"/>
                        </a:rPr>
                        <a:t>parallel collector</a:t>
                      </a:r>
                      <a:br>
                        <a:rPr lang="en-US" sz="1400" b="1">
                          <a:effectLst/>
                          <a:latin typeface="微软雅黑" panose="020B0503020204020204" pitchFamily="34" charset="-122"/>
                          <a:ea typeface="微软雅黑" panose="020B0503020204020204" pitchFamily="34" charset="-122"/>
                        </a:rPr>
                      </a:br>
                      <a:r>
                        <a:rPr lang="en-US" sz="1400" b="1">
                          <a:effectLst/>
                          <a:latin typeface="微软雅黑" panose="020B0503020204020204" pitchFamily="34" charset="-122"/>
                          <a:ea typeface="微软雅黑" panose="020B0503020204020204" pitchFamily="34" charset="-122"/>
                        </a:rPr>
                        <a:t>( </a:t>
                      </a:r>
                      <a:r>
                        <a:rPr lang="zh-CN" altLang="en-US" sz="1400">
                          <a:effectLst/>
                          <a:latin typeface="微软雅黑" panose="020B0503020204020204" pitchFamily="34" charset="-122"/>
                          <a:ea typeface="微软雅黑" panose="020B0503020204020204" pitchFamily="34" charset="-122"/>
                        </a:rPr>
                        <a:t>并行收集器</a:t>
                      </a:r>
                      <a:r>
                        <a:rPr lang="en-US" altLang="zh-CN" sz="1400" b="1">
                          <a:effectLst/>
                          <a:latin typeface="微软雅黑" panose="020B0503020204020204" pitchFamily="34" charset="-122"/>
                          <a:ea typeface="微软雅黑" panose="020B0503020204020204" pitchFamily="34" charset="-122"/>
                        </a:rPr>
                        <a:t>)</a:t>
                      </a:r>
                      <a:endParaRPr lang="zh-CN" altLang="en-US" sz="1400">
                        <a:effectLst/>
                        <a:latin typeface="微软雅黑" panose="020B0503020204020204" pitchFamily="34" charset="-122"/>
                        <a:ea typeface="微软雅黑" panose="020B0503020204020204" pitchFamily="34" charset="-122"/>
                      </a:endParaRPr>
                    </a:p>
                  </a:txBody>
                  <a:tcPr marL="16675" marR="16675" marT="16675" marB="16675">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pPr algn="ctr"/>
                      <a:r>
                        <a:rPr lang="en-US" sz="1400" b="1" dirty="0">
                          <a:effectLst/>
                          <a:latin typeface="微软雅黑" panose="020B0503020204020204" pitchFamily="34" charset="-122"/>
                          <a:ea typeface="微软雅黑" panose="020B0503020204020204" pitchFamily="34" charset="-122"/>
                        </a:rPr>
                        <a:t>concurrent collector</a:t>
                      </a:r>
                      <a:br>
                        <a:rPr lang="en-US" sz="1400" b="1" dirty="0">
                          <a:effectLst/>
                          <a:latin typeface="微软雅黑" panose="020B0503020204020204" pitchFamily="34" charset="-122"/>
                          <a:ea typeface="微软雅黑" panose="020B0503020204020204" pitchFamily="34" charset="-122"/>
                        </a:rPr>
                      </a:br>
                      <a:r>
                        <a:rPr lang="en-US" sz="1400" b="1" dirty="0">
                          <a:effectLst/>
                          <a:latin typeface="微软雅黑" panose="020B0503020204020204" pitchFamily="34" charset="-122"/>
                          <a:ea typeface="微软雅黑" panose="020B0503020204020204" pitchFamily="34" charset="-122"/>
                        </a:rPr>
                        <a:t>(</a:t>
                      </a:r>
                      <a:r>
                        <a:rPr lang="zh-CN" altLang="en-US" sz="1400" dirty="0">
                          <a:effectLst/>
                          <a:latin typeface="微软雅黑" panose="020B0503020204020204" pitchFamily="34" charset="-122"/>
                          <a:ea typeface="微软雅黑" panose="020B0503020204020204" pitchFamily="34" charset="-122"/>
                        </a:rPr>
                        <a:t>并发收集器</a:t>
                      </a:r>
                      <a:r>
                        <a:rPr lang="en-US" altLang="zh-CN" sz="1400" b="1" dirty="0">
                          <a:effectLst/>
                          <a:latin typeface="微软雅黑" panose="020B0503020204020204" pitchFamily="34" charset="-122"/>
                          <a:ea typeface="微软雅黑" panose="020B0503020204020204" pitchFamily="34" charset="-122"/>
                        </a:rPr>
                        <a:t>)</a:t>
                      </a:r>
                      <a:endParaRPr lang="zh-CN" altLang="en-US" sz="1400" dirty="0">
                        <a:effectLst/>
                        <a:latin typeface="微软雅黑" panose="020B0503020204020204" pitchFamily="34" charset="-122"/>
                        <a:ea typeface="微软雅黑" panose="020B0503020204020204" pitchFamily="34" charset="-122"/>
                      </a:endParaRPr>
                    </a:p>
                  </a:txBody>
                  <a:tcPr marL="16675" marR="16675" marT="16675" marB="16675">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r>
              <a:tr h="634933">
                <a:tc>
                  <a:txBody>
                    <a:bodyPr/>
                    <a:lstStyle/>
                    <a:p>
                      <a:pPr algn="ctr"/>
                      <a:r>
                        <a:rPr lang="zh-CN" altLang="en-US" sz="1200" b="1">
                          <a:effectLst/>
                          <a:latin typeface="微软雅黑" panose="020B0503020204020204" pitchFamily="34" charset="-122"/>
                          <a:ea typeface="微软雅黑" panose="020B0503020204020204" pitchFamily="34" charset="-122"/>
                        </a:rPr>
                        <a:t>介绍</a:t>
                      </a:r>
                      <a:endParaRPr lang="zh-CN" altLang="en-US" sz="1200">
                        <a:effectLst/>
                        <a:latin typeface="微软雅黑" panose="020B0503020204020204" pitchFamily="34" charset="-122"/>
                        <a:ea typeface="微软雅黑" panose="020B0503020204020204" pitchFamily="34" charset="-122"/>
                      </a:endParaRPr>
                    </a:p>
                  </a:txBody>
                  <a:tcPr marL="16675" marR="16675" marT="16675" marB="16675">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pPr algn="l"/>
                      <a:r>
                        <a:rPr lang="zh-CN" altLang="en-US" sz="1200" dirty="0">
                          <a:effectLst/>
                          <a:latin typeface="微软雅黑" panose="020B0503020204020204" pitchFamily="34" charset="-122"/>
                          <a:ea typeface="微软雅黑" panose="020B0503020204020204" pitchFamily="34" charset="-122"/>
                        </a:rPr>
                        <a:t>使用单线程去完成所有的</a:t>
                      </a:r>
                      <a:r>
                        <a:rPr lang="en-US" altLang="zh-CN" sz="1200" dirty="0" err="1">
                          <a:effectLst/>
                          <a:latin typeface="微软雅黑" panose="020B0503020204020204" pitchFamily="34" charset="-122"/>
                          <a:ea typeface="微软雅黑" panose="020B0503020204020204" pitchFamily="34" charset="-122"/>
                        </a:rPr>
                        <a:t>gc</a:t>
                      </a:r>
                      <a:r>
                        <a:rPr lang="zh-CN" altLang="en-US" sz="1200" dirty="0">
                          <a:effectLst/>
                          <a:latin typeface="微软雅黑" panose="020B0503020204020204" pitchFamily="34" charset="-122"/>
                          <a:ea typeface="微软雅黑" panose="020B0503020204020204" pitchFamily="34" charset="-122"/>
                        </a:rPr>
                        <a:t>工作，没有线程间的通信，这种方式会相对高效</a:t>
                      </a:r>
                    </a:p>
                  </a:txBody>
                  <a:tcPr marL="16675" marR="16675" marT="16675" marB="16675">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pPr algn="l"/>
                      <a:r>
                        <a:rPr lang="zh-CN" altLang="en-US" sz="1200">
                          <a:effectLst/>
                          <a:latin typeface="微软雅黑" panose="020B0503020204020204" pitchFamily="34" charset="-122"/>
                          <a:ea typeface="微软雅黑" panose="020B0503020204020204" pitchFamily="34" charset="-122"/>
                        </a:rPr>
                        <a:t>使用多线程的方式，利用多</a:t>
                      </a:r>
                      <a:r>
                        <a:rPr lang="en-US" altLang="zh-CN" sz="1200">
                          <a:effectLst/>
                          <a:latin typeface="微软雅黑" panose="020B0503020204020204" pitchFamily="34" charset="-122"/>
                          <a:ea typeface="微软雅黑" panose="020B0503020204020204" pitchFamily="34" charset="-122"/>
                        </a:rPr>
                        <a:t>CUP</a:t>
                      </a:r>
                      <a:r>
                        <a:rPr lang="zh-CN" altLang="en-US" sz="1200">
                          <a:effectLst/>
                          <a:latin typeface="微软雅黑" panose="020B0503020204020204" pitchFamily="34" charset="-122"/>
                          <a:ea typeface="微软雅黑" panose="020B0503020204020204" pitchFamily="34" charset="-122"/>
                        </a:rPr>
                        <a:t>来提高</a:t>
                      </a:r>
                      <a:r>
                        <a:rPr lang="en-US" altLang="zh-CN" sz="1200">
                          <a:effectLst/>
                          <a:latin typeface="微软雅黑" panose="020B0503020204020204" pitchFamily="34" charset="-122"/>
                          <a:ea typeface="微软雅黑" panose="020B0503020204020204" pitchFamily="34" charset="-122"/>
                        </a:rPr>
                        <a:t>GC</a:t>
                      </a:r>
                      <a:r>
                        <a:rPr lang="zh-CN" altLang="en-US" sz="1200">
                          <a:effectLst/>
                          <a:latin typeface="微软雅黑" panose="020B0503020204020204" pitchFamily="34" charset="-122"/>
                          <a:ea typeface="微软雅黑" panose="020B0503020204020204" pitchFamily="34" charset="-122"/>
                        </a:rPr>
                        <a:t>的效率，主要以到达一定的吞吐量为目标</a:t>
                      </a:r>
                    </a:p>
                  </a:txBody>
                  <a:tcPr marL="16675" marR="16675" marT="16675" marB="16675">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pPr algn="l"/>
                      <a:r>
                        <a:rPr lang="zh-CN" altLang="en-US" sz="1200">
                          <a:effectLst/>
                          <a:latin typeface="微软雅黑" panose="020B0503020204020204" pitchFamily="34" charset="-122"/>
                          <a:ea typeface="微软雅黑" panose="020B0503020204020204" pitchFamily="34" charset="-122"/>
                        </a:rPr>
                        <a:t>使用多线程的方式，利用多</a:t>
                      </a:r>
                      <a:r>
                        <a:rPr lang="en-US" altLang="zh-CN" sz="1200">
                          <a:effectLst/>
                          <a:latin typeface="微软雅黑" panose="020B0503020204020204" pitchFamily="34" charset="-122"/>
                          <a:ea typeface="微软雅黑" panose="020B0503020204020204" pitchFamily="34" charset="-122"/>
                        </a:rPr>
                        <a:t>CUP</a:t>
                      </a:r>
                      <a:r>
                        <a:rPr lang="zh-CN" altLang="en-US" sz="1200">
                          <a:effectLst/>
                          <a:latin typeface="微软雅黑" panose="020B0503020204020204" pitchFamily="34" charset="-122"/>
                          <a:ea typeface="微软雅黑" panose="020B0503020204020204" pitchFamily="34" charset="-122"/>
                        </a:rPr>
                        <a:t>来提高</a:t>
                      </a:r>
                      <a:r>
                        <a:rPr lang="en-US" altLang="zh-CN" sz="1200">
                          <a:effectLst/>
                          <a:latin typeface="微软雅黑" panose="020B0503020204020204" pitchFamily="34" charset="-122"/>
                          <a:ea typeface="微软雅黑" panose="020B0503020204020204" pitchFamily="34" charset="-122"/>
                        </a:rPr>
                        <a:t>GC</a:t>
                      </a:r>
                      <a:r>
                        <a:rPr lang="zh-CN" altLang="en-US" sz="1200">
                          <a:effectLst/>
                          <a:latin typeface="微软雅黑" panose="020B0503020204020204" pitchFamily="34" charset="-122"/>
                          <a:ea typeface="微软雅黑" panose="020B0503020204020204" pitchFamily="34" charset="-122"/>
                        </a:rPr>
                        <a:t>的效率，并发完成大部分工作，使得</a:t>
                      </a:r>
                      <a:r>
                        <a:rPr lang="en-US" altLang="zh-CN" sz="1200">
                          <a:effectLst/>
                          <a:latin typeface="微软雅黑" panose="020B0503020204020204" pitchFamily="34" charset="-122"/>
                          <a:ea typeface="微软雅黑" panose="020B0503020204020204" pitchFamily="34" charset="-122"/>
                        </a:rPr>
                        <a:t>gc pause</a:t>
                      </a:r>
                      <a:r>
                        <a:rPr lang="zh-CN" altLang="en-US" sz="1200">
                          <a:effectLst/>
                          <a:latin typeface="微软雅黑" panose="020B0503020204020204" pitchFamily="34" charset="-122"/>
                          <a:ea typeface="微软雅黑" panose="020B0503020204020204" pitchFamily="34" charset="-122"/>
                        </a:rPr>
                        <a:t>短</a:t>
                      </a:r>
                    </a:p>
                  </a:txBody>
                  <a:tcPr marL="16675" marR="16675" marT="16675" marB="16675">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r>
              <a:tr h="836096">
                <a:tc>
                  <a:txBody>
                    <a:bodyPr/>
                    <a:lstStyle/>
                    <a:p>
                      <a:pPr algn="ctr"/>
                      <a:r>
                        <a:rPr lang="zh-CN" altLang="en-US" sz="1200" b="1">
                          <a:effectLst/>
                          <a:latin typeface="微软雅黑" panose="020B0503020204020204" pitchFamily="34" charset="-122"/>
                          <a:ea typeface="微软雅黑" panose="020B0503020204020204" pitchFamily="34" charset="-122"/>
                        </a:rPr>
                        <a:t>适用场景</a:t>
                      </a:r>
                      <a:endParaRPr lang="zh-CN" altLang="en-US" sz="1200">
                        <a:effectLst/>
                        <a:latin typeface="微软雅黑" panose="020B0503020204020204" pitchFamily="34" charset="-122"/>
                        <a:ea typeface="微软雅黑" panose="020B0503020204020204" pitchFamily="34" charset="-122"/>
                      </a:endParaRPr>
                    </a:p>
                  </a:txBody>
                  <a:tcPr marL="16675" marR="16675" marT="16675" marB="16675">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pPr algn="l"/>
                      <a:r>
                        <a:rPr lang="zh-CN" altLang="en-US" sz="1200" dirty="0">
                          <a:effectLst/>
                          <a:latin typeface="微软雅黑" panose="020B0503020204020204" pitchFamily="34" charset="-122"/>
                          <a:ea typeface="微软雅黑" panose="020B0503020204020204" pitchFamily="34" charset="-122"/>
                        </a:rPr>
                        <a:t>单处理器机器且没有</a:t>
                      </a:r>
                      <a:r>
                        <a:rPr lang="en-US" sz="1200" dirty="0">
                          <a:effectLst/>
                          <a:latin typeface="微软雅黑" panose="020B0503020204020204" pitchFamily="34" charset="-122"/>
                          <a:ea typeface="微软雅黑" panose="020B0503020204020204" pitchFamily="34" charset="-122"/>
                        </a:rPr>
                        <a:t>pause time</a:t>
                      </a:r>
                      <a:r>
                        <a:rPr lang="zh-CN" altLang="en-US" sz="1200" dirty="0">
                          <a:effectLst/>
                          <a:latin typeface="微软雅黑" panose="020B0503020204020204" pitchFamily="34" charset="-122"/>
                          <a:ea typeface="微软雅黑" panose="020B0503020204020204" pitchFamily="34" charset="-122"/>
                        </a:rPr>
                        <a:t>的要求</a:t>
                      </a:r>
                    </a:p>
                  </a:txBody>
                  <a:tcPr marL="16675" marR="16675" marT="16675" marB="16675">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pPr algn="l"/>
                      <a:r>
                        <a:rPr lang="zh-CN" altLang="en-US" sz="1200" dirty="0">
                          <a:effectLst/>
                          <a:latin typeface="微软雅黑" panose="020B0503020204020204" pitchFamily="34" charset="-122"/>
                          <a:ea typeface="微软雅黑" panose="020B0503020204020204" pitchFamily="34" charset="-122"/>
                        </a:rPr>
                        <a:t>适用于科学技术和后台处理</a:t>
                      </a:r>
                      <a:br>
                        <a:rPr lang="zh-CN" altLang="en-US" sz="1200" dirty="0">
                          <a:effectLst/>
                          <a:latin typeface="微软雅黑" panose="020B0503020204020204" pitchFamily="34" charset="-122"/>
                          <a:ea typeface="微软雅黑" panose="020B0503020204020204" pitchFamily="34" charset="-122"/>
                        </a:rPr>
                      </a:br>
                      <a:r>
                        <a:rPr lang="zh-CN" altLang="en-US" sz="1200" dirty="0">
                          <a:effectLst/>
                          <a:latin typeface="微软雅黑" panose="020B0503020204020204" pitchFamily="34" charset="-122"/>
                          <a:ea typeface="微软雅黑" panose="020B0503020204020204" pitchFamily="34" charset="-122"/>
                        </a:rPr>
                        <a:t>有中规模</a:t>
                      </a:r>
                      <a:r>
                        <a:rPr lang="en-US" altLang="zh-CN" sz="1200" dirty="0">
                          <a:effectLst/>
                          <a:latin typeface="微软雅黑" panose="020B0503020204020204" pitchFamily="34" charset="-122"/>
                          <a:ea typeface="微软雅黑" panose="020B0503020204020204" pitchFamily="34" charset="-122"/>
                        </a:rPr>
                        <a:t>/</a:t>
                      </a:r>
                      <a:r>
                        <a:rPr lang="zh-CN" altLang="en-US" sz="1200" dirty="0">
                          <a:effectLst/>
                          <a:latin typeface="微软雅黑" panose="020B0503020204020204" pitchFamily="34" charset="-122"/>
                          <a:ea typeface="微软雅黑" panose="020B0503020204020204" pitchFamily="34" charset="-122"/>
                        </a:rPr>
                        <a:t>大规模数据集大小的应用且运行在多处理器上，关注吞吐量</a:t>
                      </a:r>
                      <a:r>
                        <a:rPr lang="en-US" altLang="zh-CN" sz="1200" dirty="0">
                          <a:effectLst/>
                          <a:latin typeface="微软雅黑" panose="020B0503020204020204" pitchFamily="34" charset="-122"/>
                          <a:ea typeface="微软雅黑" panose="020B0503020204020204" pitchFamily="34" charset="-122"/>
                        </a:rPr>
                        <a:t>(throughput)</a:t>
                      </a:r>
                    </a:p>
                  </a:txBody>
                  <a:tcPr marL="16675" marR="16675" marT="16675" marB="16675">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pPr algn="l"/>
                      <a:r>
                        <a:rPr lang="zh-CN" altLang="en-US" sz="1200">
                          <a:effectLst/>
                          <a:latin typeface="微软雅黑" panose="020B0503020204020204" pitchFamily="34" charset="-122"/>
                          <a:ea typeface="微软雅黑" panose="020B0503020204020204" pitchFamily="34" charset="-122"/>
                        </a:rPr>
                        <a:t>适合中大规模数据集的应用，应用服务器，电信领域，关注</a:t>
                      </a:r>
                      <a:r>
                        <a:rPr lang="en-US" sz="1200">
                          <a:effectLst/>
                          <a:latin typeface="微软雅黑" panose="020B0503020204020204" pitchFamily="34" charset="-122"/>
                          <a:ea typeface="微软雅黑" panose="020B0503020204020204" pitchFamily="34" charset="-122"/>
                        </a:rPr>
                        <a:t>response time，</a:t>
                      </a:r>
                      <a:r>
                        <a:rPr lang="zh-CN" altLang="en-US" sz="1200">
                          <a:effectLst/>
                          <a:latin typeface="微软雅黑" panose="020B0503020204020204" pitchFamily="34" charset="-122"/>
                          <a:ea typeface="微软雅黑" panose="020B0503020204020204" pitchFamily="34" charset="-122"/>
                        </a:rPr>
                        <a:t>而不是</a:t>
                      </a:r>
                      <a:r>
                        <a:rPr lang="en-US" sz="1200">
                          <a:effectLst/>
                          <a:latin typeface="微软雅黑" panose="020B0503020204020204" pitchFamily="34" charset="-122"/>
                          <a:ea typeface="微软雅黑" panose="020B0503020204020204" pitchFamily="34" charset="-122"/>
                        </a:rPr>
                        <a:t>throughput</a:t>
                      </a:r>
                    </a:p>
                  </a:txBody>
                  <a:tcPr marL="16675" marR="16675" marT="16675" marB="16675">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r>
              <a:tr h="2847728">
                <a:tc>
                  <a:txBody>
                    <a:bodyPr/>
                    <a:lstStyle/>
                    <a:p>
                      <a:pPr algn="ctr"/>
                      <a:r>
                        <a:rPr lang="zh-CN" altLang="en-US" sz="1200" b="1">
                          <a:effectLst/>
                          <a:latin typeface="微软雅黑" panose="020B0503020204020204" pitchFamily="34" charset="-122"/>
                          <a:ea typeface="微软雅黑" panose="020B0503020204020204" pitchFamily="34" charset="-122"/>
                        </a:rPr>
                        <a:t>使用参数</a:t>
                      </a:r>
                      <a:endParaRPr lang="zh-CN" altLang="en-US" sz="1200">
                        <a:effectLst/>
                        <a:latin typeface="微软雅黑" panose="020B0503020204020204" pitchFamily="34" charset="-122"/>
                        <a:ea typeface="微软雅黑" panose="020B0503020204020204" pitchFamily="34" charset="-122"/>
                      </a:endParaRPr>
                    </a:p>
                  </a:txBody>
                  <a:tcPr marL="16675" marR="16675" marT="16675" marB="16675">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pPr algn="l"/>
                      <a:r>
                        <a:rPr lang="en-US" altLang="zh-CN" sz="1200">
                          <a:effectLst/>
                          <a:latin typeface="微软雅黑" panose="020B0503020204020204" pitchFamily="34" charset="-122"/>
                          <a:ea typeface="微软雅黑" panose="020B0503020204020204" pitchFamily="34" charset="-122"/>
                        </a:rPr>
                        <a:t>Client</a:t>
                      </a:r>
                      <a:r>
                        <a:rPr lang="zh-CN" altLang="en-US" sz="1200">
                          <a:effectLst/>
                          <a:latin typeface="微软雅黑" panose="020B0503020204020204" pitchFamily="34" charset="-122"/>
                          <a:ea typeface="微软雅黑" panose="020B0503020204020204" pitchFamily="34" charset="-122"/>
                        </a:rPr>
                        <a:t>模式下默认：</a:t>
                      </a:r>
                    </a:p>
                    <a:p>
                      <a:pPr algn="l"/>
                      <a:r>
                        <a:rPr lang="zh-CN" altLang="en-US" sz="1200">
                          <a:effectLst/>
                          <a:latin typeface="微软雅黑" panose="020B0503020204020204" pitchFamily="34" charset="-122"/>
                          <a:ea typeface="微软雅黑" panose="020B0503020204020204" pitchFamily="34" charset="-122"/>
                        </a:rPr>
                        <a:t>可使用</a:t>
                      </a:r>
                    </a:p>
                    <a:p>
                      <a:pPr algn="l"/>
                      <a:r>
                        <a:rPr lang="zh-CN" altLang="en-US" sz="1200">
                          <a:effectLst/>
                          <a:latin typeface="微软雅黑" panose="020B0503020204020204" pitchFamily="34" charset="-122"/>
                          <a:ea typeface="微软雅黑" panose="020B0503020204020204" pitchFamily="34" charset="-122"/>
                        </a:rPr>
                        <a:t> </a:t>
                      </a:r>
                    </a:p>
                    <a:p>
                      <a:pPr algn="l"/>
                      <a:r>
                        <a:rPr lang="zh-CN" altLang="en-US" sz="1200">
                          <a:effectLst/>
                          <a:latin typeface="微软雅黑" panose="020B0503020204020204" pitchFamily="34" charset="-122"/>
                          <a:ea typeface="微软雅黑" panose="020B0503020204020204" pitchFamily="34" charset="-122"/>
                        </a:rPr>
                        <a:t>强制使用参数：</a:t>
                      </a:r>
                    </a:p>
                    <a:p>
                      <a:pPr algn="l"/>
                      <a:r>
                        <a:rPr lang="en-US" altLang="zh-CN" sz="1200">
                          <a:effectLst/>
                          <a:latin typeface="微软雅黑" panose="020B0503020204020204" pitchFamily="34" charset="-122"/>
                          <a:ea typeface="微软雅黑" panose="020B0503020204020204" pitchFamily="34" charset="-122"/>
                        </a:rPr>
                        <a:t>-XX:+UseSerialGC</a:t>
                      </a:r>
                    </a:p>
                    <a:p>
                      <a:pPr algn="l"/>
                      <a:r>
                        <a:rPr lang="en-US" altLang="zh-CN" sz="1200">
                          <a:effectLst/>
                          <a:latin typeface="微软雅黑" panose="020B0503020204020204" pitchFamily="34" charset="-122"/>
                          <a:ea typeface="微软雅黑" panose="020B0503020204020204" pitchFamily="34" charset="-122"/>
                        </a:rPr>
                        <a:t> </a:t>
                      </a:r>
                    </a:p>
                    <a:p>
                      <a:pPr algn="l"/>
                      <a:r>
                        <a:rPr lang="zh-CN" altLang="en-US" sz="1200" b="1">
                          <a:effectLst/>
                          <a:latin typeface="微软雅黑" panose="020B0503020204020204" pitchFamily="34" charset="-122"/>
                          <a:ea typeface="微软雅黑" panose="020B0503020204020204" pitchFamily="34" charset="-122"/>
                        </a:rPr>
                        <a:t>优点</a:t>
                      </a:r>
                      <a:r>
                        <a:rPr lang="zh-CN" altLang="en-US" sz="1200">
                          <a:effectLst/>
                          <a:latin typeface="微软雅黑" panose="020B0503020204020204" pitchFamily="34" charset="-122"/>
                          <a:ea typeface="微软雅黑" panose="020B0503020204020204" pitchFamily="34" charset="-122"/>
                        </a:rPr>
                        <a:t>：对</a:t>
                      </a:r>
                      <a:r>
                        <a:rPr lang="en-US" altLang="zh-CN" sz="1200">
                          <a:effectLst/>
                          <a:latin typeface="微软雅黑" panose="020B0503020204020204" pitchFamily="34" charset="-122"/>
                          <a:ea typeface="微软雅黑" panose="020B0503020204020204" pitchFamily="34" charset="-122"/>
                        </a:rPr>
                        <a:t>server</a:t>
                      </a:r>
                      <a:r>
                        <a:rPr lang="zh-CN" altLang="en-US" sz="1200">
                          <a:effectLst/>
                          <a:latin typeface="微软雅黑" panose="020B0503020204020204" pitchFamily="34" charset="-122"/>
                          <a:ea typeface="微软雅黑" panose="020B0503020204020204" pitchFamily="34" charset="-122"/>
                        </a:rPr>
                        <a:t>应用没什么优点</a:t>
                      </a:r>
                      <a:br>
                        <a:rPr lang="zh-CN" altLang="en-US" sz="1200">
                          <a:effectLst/>
                          <a:latin typeface="微软雅黑" panose="020B0503020204020204" pitchFamily="34" charset="-122"/>
                          <a:ea typeface="微软雅黑" panose="020B0503020204020204" pitchFamily="34" charset="-122"/>
                        </a:rPr>
                      </a:br>
                      <a:r>
                        <a:rPr lang="zh-CN" altLang="en-US" sz="1200" b="1">
                          <a:effectLst/>
                          <a:latin typeface="微软雅黑" panose="020B0503020204020204" pitchFamily="34" charset="-122"/>
                          <a:ea typeface="微软雅黑" panose="020B0503020204020204" pitchFamily="34" charset="-122"/>
                        </a:rPr>
                        <a:t>缺点</a:t>
                      </a:r>
                      <a:r>
                        <a:rPr lang="zh-CN" altLang="en-US" sz="1200">
                          <a:effectLst/>
                          <a:latin typeface="微软雅黑" panose="020B0503020204020204" pitchFamily="34" charset="-122"/>
                          <a:ea typeface="微软雅黑" panose="020B0503020204020204" pitchFamily="34" charset="-122"/>
                        </a:rPr>
                        <a:t>：慢</a:t>
                      </a:r>
                      <a:r>
                        <a:rPr lang="en-US" altLang="zh-CN" sz="1200">
                          <a:effectLst/>
                          <a:latin typeface="微软雅黑" panose="020B0503020204020204" pitchFamily="34" charset="-122"/>
                          <a:ea typeface="微软雅黑" panose="020B0503020204020204" pitchFamily="34" charset="-122"/>
                        </a:rPr>
                        <a:t>,</a:t>
                      </a:r>
                      <a:r>
                        <a:rPr lang="zh-CN" altLang="en-US" sz="1200">
                          <a:effectLst/>
                          <a:latin typeface="微软雅黑" panose="020B0503020204020204" pitchFamily="34" charset="-122"/>
                          <a:ea typeface="微软雅黑" panose="020B0503020204020204" pitchFamily="34" charset="-122"/>
                        </a:rPr>
                        <a:t>不能充分发挥硬件资源</a:t>
                      </a:r>
                    </a:p>
                  </a:txBody>
                  <a:tcPr marL="16675" marR="16675" marT="16675" marB="16675">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pPr algn="l"/>
                      <a:r>
                        <a:rPr lang="en-US" sz="1200" dirty="0">
                          <a:effectLst/>
                          <a:latin typeface="微软雅黑" panose="020B0503020204020204" pitchFamily="34" charset="-122"/>
                          <a:ea typeface="微软雅黑" panose="020B0503020204020204" pitchFamily="34" charset="-122"/>
                        </a:rPr>
                        <a:t>Server</a:t>
                      </a:r>
                      <a:r>
                        <a:rPr lang="zh-CN" altLang="en-US" sz="1200" dirty="0">
                          <a:effectLst/>
                          <a:latin typeface="微软雅黑" panose="020B0503020204020204" pitchFamily="34" charset="-122"/>
                          <a:ea typeface="微软雅黑" panose="020B0503020204020204" pitchFamily="34" charset="-122"/>
                        </a:rPr>
                        <a:t>模式下默认</a:t>
                      </a:r>
                    </a:p>
                    <a:p>
                      <a:pPr algn="l"/>
                      <a:r>
                        <a:rPr lang="en-US" altLang="zh-CN" sz="1200" dirty="0">
                          <a:effectLst/>
                          <a:latin typeface="微软雅黑" panose="020B0503020204020204" pitchFamily="34" charset="-122"/>
                          <a:ea typeface="微软雅黑" panose="020B0503020204020204" pitchFamily="34" charset="-122"/>
                        </a:rPr>
                        <a:t>--</a:t>
                      </a:r>
                      <a:r>
                        <a:rPr lang="en-US" sz="1200" dirty="0">
                          <a:effectLst/>
                          <a:latin typeface="微软雅黑" panose="020B0503020204020204" pitchFamily="34" charset="-122"/>
                          <a:ea typeface="微软雅黑" panose="020B0503020204020204" pitchFamily="34" charset="-122"/>
                        </a:rPr>
                        <a:t>YGC:PS </a:t>
                      </a:r>
                      <a:r>
                        <a:rPr lang="en-US" sz="1200" dirty="0" err="1">
                          <a:effectLst/>
                          <a:latin typeface="微软雅黑" panose="020B0503020204020204" pitchFamily="34" charset="-122"/>
                          <a:ea typeface="微软雅黑" panose="020B0503020204020204" pitchFamily="34" charset="-122"/>
                        </a:rPr>
                        <a:t>FGC:Parallel</a:t>
                      </a:r>
                      <a:r>
                        <a:rPr lang="en-US" sz="1200" dirty="0">
                          <a:effectLst/>
                          <a:latin typeface="微软雅黑" panose="020B0503020204020204" pitchFamily="34" charset="-122"/>
                          <a:ea typeface="微软雅黑" panose="020B0503020204020204" pitchFamily="34" charset="-122"/>
                        </a:rPr>
                        <a:t> MSC</a:t>
                      </a:r>
                    </a:p>
                    <a:p>
                      <a:pPr algn="l"/>
                      <a:r>
                        <a:rPr lang="en-US" sz="1200" dirty="0">
                          <a:effectLst/>
                          <a:latin typeface="微软雅黑" panose="020B0503020204020204" pitchFamily="34" charset="-122"/>
                          <a:ea typeface="微软雅黑" panose="020B0503020204020204" pitchFamily="34" charset="-122"/>
                        </a:rPr>
                        <a:t> </a:t>
                      </a:r>
                    </a:p>
                    <a:p>
                      <a:pPr algn="l"/>
                      <a:r>
                        <a:rPr lang="zh-CN" altLang="en-US" sz="1200" dirty="0">
                          <a:effectLst/>
                          <a:latin typeface="微软雅黑" panose="020B0503020204020204" pitchFamily="34" charset="-122"/>
                          <a:ea typeface="微软雅黑" panose="020B0503020204020204" pitchFamily="34" charset="-122"/>
                        </a:rPr>
                        <a:t>强制使用参数：</a:t>
                      </a:r>
                    </a:p>
                    <a:p>
                      <a:pPr algn="l"/>
                      <a:r>
                        <a:rPr lang="en-US" altLang="zh-CN" sz="1200" dirty="0">
                          <a:effectLst/>
                          <a:latin typeface="微软雅黑" panose="020B0503020204020204" pitchFamily="34" charset="-122"/>
                          <a:ea typeface="微软雅黑" panose="020B0503020204020204" pitchFamily="34" charset="-122"/>
                        </a:rPr>
                        <a:t>-</a:t>
                      </a:r>
                      <a:r>
                        <a:rPr lang="en-US" sz="1200" dirty="0">
                          <a:effectLst/>
                          <a:latin typeface="微软雅黑" panose="020B0503020204020204" pitchFamily="34" charset="-122"/>
                          <a:ea typeface="微软雅黑" panose="020B0503020204020204" pitchFamily="34" charset="-122"/>
                        </a:rPr>
                        <a:t>XX:+</a:t>
                      </a:r>
                      <a:r>
                        <a:rPr lang="en-US" sz="1200" dirty="0" err="1">
                          <a:effectLst/>
                          <a:latin typeface="微软雅黑" panose="020B0503020204020204" pitchFamily="34" charset="-122"/>
                          <a:ea typeface="微软雅黑" panose="020B0503020204020204" pitchFamily="34" charset="-122"/>
                        </a:rPr>
                        <a:t>UseParallelGC</a:t>
                      </a:r>
                      <a:r>
                        <a:rPr lang="zh-CN" altLang="en-US" sz="1200" dirty="0">
                          <a:effectLst/>
                          <a:latin typeface="微软雅黑" panose="020B0503020204020204" pitchFamily="34" charset="-122"/>
                          <a:ea typeface="微软雅黑" panose="020B0503020204020204" pitchFamily="34" charset="-122"/>
                        </a:rPr>
                        <a:t>或</a:t>
                      </a:r>
                      <a:r>
                        <a:rPr lang="en-US" altLang="zh-CN" sz="1200" dirty="0">
                          <a:effectLst/>
                          <a:latin typeface="微软雅黑" panose="020B0503020204020204" pitchFamily="34" charset="-122"/>
                          <a:ea typeface="微软雅黑" panose="020B0503020204020204" pitchFamily="34" charset="-122"/>
                        </a:rPr>
                        <a:t>-</a:t>
                      </a:r>
                      <a:r>
                        <a:rPr lang="en-US" sz="1200" dirty="0">
                          <a:effectLst/>
                          <a:latin typeface="微软雅黑" panose="020B0503020204020204" pitchFamily="34" charset="-122"/>
                          <a:ea typeface="微软雅黑" panose="020B0503020204020204" pitchFamily="34" charset="-122"/>
                        </a:rPr>
                        <a:t>XX:+</a:t>
                      </a:r>
                      <a:r>
                        <a:rPr lang="en-US" sz="1200" dirty="0" err="1">
                          <a:effectLst/>
                          <a:latin typeface="微软雅黑" panose="020B0503020204020204" pitchFamily="34" charset="-122"/>
                          <a:ea typeface="微软雅黑" panose="020B0503020204020204" pitchFamily="34" charset="-122"/>
                        </a:rPr>
                        <a:t>UseParallelOldGC</a:t>
                      </a:r>
                      <a:endParaRPr lang="en-US" sz="1200" dirty="0">
                        <a:effectLst/>
                        <a:latin typeface="微软雅黑" panose="020B0503020204020204" pitchFamily="34" charset="-122"/>
                        <a:ea typeface="微软雅黑" panose="020B0503020204020204" pitchFamily="34" charset="-122"/>
                      </a:endParaRPr>
                    </a:p>
                    <a:p>
                      <a:pPr algn="l"/>
                      <a:r>
                        <a:rPr lang="en-US" sz="1200" dirty="0">
                          <a:effectLst/>
                          <a:latin typeface="微软雅黑" panose="020B0503020204020204" pitchFamily="34" charset="-122"/>
                          <a:ea typeface="微软雅黑" panose="020B0503020204020204" pitchFamily="34" charset="-122"/>
                        </a:rPr>
                        <a:t>--</a:t>
                      </a:r>
                      <a:r>
                        <a:rPr lang="en-US" sz="1200" dirty="0" err="1">
                          <a:effectLst/>
                          <a:latin typeface="微软雅黑" panose="020B0503020204020204" pitchFamily="34" charset="-122"/>
                          <a:ea typeface="微软雅黑" panose="020B0503020204020204" pitchFamily="34" charset="-122"/>
                        </a:rPr>
                        <a:t>ParallelGC</a:t>
                      </a:r>
                      <a:r>
                        <a:rPr lang="zh-CN" altLang="en-US" sz="1200" dirty="0">
                          <a:effectLst/>
                          <a:latin typeface="微软雅黑" panose="020B0503020204020204" pitchFamily="34" charset="-122"/>
                          <a:ea typeface="微软雅黑" panose="020B0503020204020204" pitchFamily="34" charset="-122"/>
                        </a:rPr>
                        <a:t>代表</a:t>
                      </a:r>
                      <a:r>
                        <a:rPr lang="en-US" sz="1200" dirty="0">
                          <a:effectLst/>
                          <a:latin typeface="微软雅黑" panose="020B0503020204020204" pitchFamily="34" charset="-122"/>
                          <a:ea typeface="微软雅黑" panose="020B0503020204020204" pitchFamily="34" charset="-122"/>
                        </a:rPr>
                        <a:t>FGC</a:t>
                      </a:r>
                      <a:r>
                        <a:rPr lang="zh-CN" altLang="en-US" sz="1200" dirty="0">
                          <a:effectLst/>
                          <a:latin typeface="微软雅黑" panose="020B0503020204020204" pitchFamily="34" charset="-122"/>
                          <a:ea typeface="微软雅黑" panose="020B0503020204020204" pitchFamily="34" charset="-122"/>
                        </a:rPr>
                        <a:t>为</a:t>
                      </a:r>
                      <a:r>
                        <a:rPr lang="en-US" sz="1200" dirty="0">
                          <a:effectLst/>
                          <a:latin typeface="微软雅黑" panose="020B0503020204020204" pitchFamily="34" charset="-122"/>
                          <a:ea typeface="微软雅黑" panose="020B0503020204020204" pitchFamily="34" charset="-122"/>
                        </a:rPr>
                        <a:t>Parallel MSC</a:t>
                      </a:r>
                    </a:p>
                    <a:p>
                      <a:pPr algn="l"/>
                      <a:r>
                        <a:rPr lang="en-US" sz="1200" dirty="0">
                          <a:effectLst/>
                          <a:latin typeface="微软雅黑" panose="020B0503020204020204" pitchFamily="34" charset="-122"/>
                          <a:ea typeface="微软雅黑" panose="020B0503020204020204" pitchFamily="34" charset="-122"/>
                        </a:rPr>
                        <a:t>--</a:t>
                      </a:r>
                      <a:r>
                        <a:rPr lang="en-US" sz="1200" dirty="0" err="1">
                          <a:effectLst/>
                          <a:latin typeface="微软雅黑" panose="020B0503020204020204" pitchFamily="34" charset="-122"/>
                          <a:ea typeface="微软雅黑" panose="020B0503020204020204" pitchFamily="34" charset="-122"/>
                        </a:rPr>
                        <a:t>ParallelOldGC</a:t>
                      </a:r>
                      <a:r>
                        <a:rPr lang="zh-CN" altLang="en-US" sz="1200" dirty="0">
                          <a:effectLst/>
                          <a:latin typeface="微软雅黑" panose="020B0503020204020204" pitchFamily="34" charset="-122"/>
                          <a:ea typeface="微软雅黑" panose="020B0503020204020204" pitchFamily="34" charset="-122"/>
                        </a:rPr>
                        <a:t>代表</a:t>
                      </a:r>
                      <a:r>
                        <a:rPr lang="en-US" sz="1200" dirty="0">
                          <a:effectLst/>
                          <a:latin typeface="微软雅黑" panose="020B0503020204020204" pitchFamily="34" charset="-122"/>
                          <a:ea typeface="微软雅黑" panose="020B0503020204020204" pitchFamily="34" charset="-122"/>
                        </a:rPr>
                        <a:t>FGC</a:t>
                      </a:r>
                      <a:r>
                        <a:rPr lang="zh-CN" altLang="en-US" sz="1200" dirty="0">
                          <a:effectLst/>
                          <a:latin typeface="微软雅黑" panose="020B0503020204020204" pitchFamily="34" charset="-122"/>
                          <a:ea typeface="微软雅黑" panose="020B0503020204020204" pitchFamily="34" charset="-122"/>
                        </a:rPr>
                        <a:t>为</a:t>
                      </a:r>
                      <a:r>
                        <a:rPr lang="en-US" sz="1200" dirty="0">
                          <a:effectLst/>
                          <a:latin typeface="微软雅黑" panose="020B0503020204020204" pitchFamily="34" charset="-122"/>
                          <a:ea typeface="微软雅黑" panose="020B0503020204020204" pitchFamily="34" charset="-122"/>
                        </a:rPr>
                        <a:t>Parallel Compacting</a:t>
                      </a:r>
                    </a:p>
                    <a:p>
                      <a:pPr algn="l"/>
                      <a:r>
                        <a:rPr lang="en-US" sz="1200" dirty="0">
                          <a:effectLst/>
                          <a:latin typeface="微软雅黑" panose="020B0503020204020204" pitchFamily="34" charset="-122"/>
                          <a:ea typeface="微软雅黑" panose="020B0503020204020204" pitchFamily="34" charset="-122"/>
                        </a:rPr>
                        <a:t> </a:t>
                      </a:r>
                    </a:p>
                    <a:p>
                      <a:pPr algn="l"/>
                      <a:r>
                        <a:rPr lang="zh-CN" altLang="en-US" sz="1200" b="1" dirty="0">
                          <a:effectLst/>
                          <a:latin typeface="微软雅黑" panose="020B0503020204020204" pitchFamily="34" charset="-122"/>
                          <a:ea typeface="微软雅黑" panose="020B0503020204020204" pitchFamily="34" charset="-122"/>
                        </a:rPr>
                        <a:t>优点</a:t>
                      </a:r>
                      <a:r>
                        <a:rPr lang="zh-CN" altLang="en-US" sz="1200" dirty="0">
                          <a:effectLst/>
                          <a:latin typeface="微软雅黑" panose="020B0503020204020204" pitchFamily="34" charset="-122"/>
                          <a:ea typeface="微软雅黑" panose="020B0503020204020204" pitchFamily="34" charset="-122"/>
                        </a:rPr>
                        <a:t>：高效</a:t>
                      </a:r>
                    </a:p>
                    <a:p>
                      <a:pPr algn="l"/>
                      <a:r>
                        <a:rPr lang="zh-CN" altLang="en-US" sz="1200" b="1" dirty="0">
                          <a:effectLst/>
                          <a:latin typeface="微软雅黑" panose="020B0503020204020204" pitchFamily="34" charset="-122"/>
                          <a:ea typeface="微软雅黑" panose="020B0503020204020204" pitchFamily="34" charset="-122"/>
                        </a:rPr>
                        <a:t>缺点</a:t>
                      </a:r>
                      <a:r>
                        <a:rPr lang="zh-CN" altLang="en-US" sz="1200" dirty="0">
                          <a:effectLst/>
                          <a:latin typeface="微软雅黑" panose="020B0503020204020204" pitchFamily="34" charset="-122"/>
                          <a:ea typeface="微软雅黑" panose="020B0503020204020204" pitchFamily="34" charset="-122"/>
                        </a:rPr>
                        <a:t>：</a:t>
                      </a:r>
                      <a:r>
                        <a:rPr lang="en-US" sz="1200" dirty="0">
                          <a:effectLst/>
                          <a:latin typeface="微软雅黑" panose="020B0503020204020204" pitchFamily="34" charset="-122"/>
                          <a:ea typeface="微软雅黑" panose="020B0503020204020204" pitchFamily="34" charset="-122"/>
                        </a:rPr>
                        <a:t>heap</a:t>
                      </a:r>
                      <a:r>
                        <a:rPr lang="zh-CN" altLang="en-US" sz="1200" dirty="0">
                          <a:effectLst/>
                          <a:latin typeface="微软雅黑" panose="020B0503020204020204" pitchFamily="34" charset="-122"/>
                          <a:ea typeface="微软雅黑" panose="020B0503020204020204" pitchFamily="34" charset="-122"/>
                        </a:rPr>
                        <a:t>变大后造成暂停时间会变长</a:t>
                      </a:r>
                    </a:p>
                  </a:txBody>
                  <a:tcPr marL="16675" marR="16675" marT="16675" marB="16675">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pPr algn="l"/>
                      <a:r>
                        <a:rPr lang="zh-CN" altLang="en-US" sz="1200" dirty="0">
                          <a:effectLst/>
                          <a:latin typeface="微软雅黑" panose="020B0503020204020204" pitchFamily="34" charset="-122"/>
                          <a:ea typeface="微软雅黑" panose="020B0503020204020204" pitchFamily="34" charset="-122"/>
                        </a:rPr>
                        <a:t>可用</a:t>
                      </a:r>
                      <a:r>
                        <a:rPr lang="en-US" altLang="zh-CN" sz="1200" dirty="0">
                          <a:effectLst/>
                          <a:latin typeface="微软雅黑" panose="020B0503020204020204" pitchFamily="34" charset="-122"/>
                          <a:ea typeface="微软雅黑" panose="020B0503020204020204" pitchFamily="34" charset="-122"/>
                        </a:rPr>
                        <a:t>-XX:+</a:t>
                      </a:r>
                      <a:r>
                        <a:rPr lang="en-US" altLang="zh-CN" sz="1200" dirty="0" err="1">
                          <a:effectLst/>
                          <a:latin typeface="微软雅黑" panose="020B0503020204020204" pitchFamily="34" charset="-122"/>
                          <a:ea typeface="微软雅黑" panose="020B0503020204020204" pitchFamily="34" charset="-122"/>
                        </a:rPr>
                        <a:t>UseConcMarkSweepGC</a:t>
                      </a:r>
                      <a:r>
                        <a:rPr lang="zh-CN" altLang="en-US" sz="1200" dirty="0">
                          <a:effectLst/>
                          <a:latin typeface="微软雅黑" panose="020B0503020204020204" pitchFamily="34" charset="-122"/>
                          <a:ea typeface="微软雅黑" panose="020B0503020204020204" pitchFamily="34" charset="-122"/>
                        </a:rPr>
                        <a:t>强制指定</a:t>
                      </a:r>
                      <a:br>
                        <a:rPr lang="zh-CN" altLang="en-US" sz="1200" dirty="0">
                          <a:effectLst/>
                          <a:latin typeface="微软雅黑" panose="020B0503020204020204" pitchFamily="34" charset="-122"/>
                          <a:ea typeface="微软雅黑" panose="020B0503020204020204" pitchFamily="34" charset="-122"/>
                        </a:rPr>
                      </a:br>
                      <a:r>
                        <a:rPr lang="zh-CN" altLang="en-US" sz="1200" dirty="0">
                          <a:effectLst/>
                          <a:latin typeface="微软雅黑" panose="020B0503020204020204" pitchFamily="34" charset="-122"/>
                          <a:ea typeface="微软雅黑" panose="020B0503020204020204" pitchFamily="34" charset="-122"/>
                        </a:rPr>
                        <a:t/>
                      </a:r>
                      <a:br>
                        <a:rPr lang="zh-CN" altLang="en-US" sz="1200" dirty="0">
                          <a:effectLst/>
                          <a:latin typeface="微软雅黑" panose="020B0503020204020204" pitchFamily="34" charset="-122"/>
                          <a:ea typeface="微软雅黑" panose="020B0503020204020204" pitchFamily="34" charset="-122"/>
                        </a:rPr>
                      </a:br>
                      <a:endParaRPr lang="zh-CN" altLang="en-US" sz="1200" dirty="0">
                        <a:effectLst/>
                        <a:latin typeface="微软雅黑" panose="020B0503020204020204" pitchFamily="34" charset="-122"/>
                        <a:ea typeface="微软雅黑" panose="020B0503020204020204" pitchFamily="34" charset="-122"/>
                      </a:endParaRPr>
                    </a:p>
                    <a:p>
                      <a:pPr algn="l"/>
                      <a:r>
                        <a:rPr lang="zh-CN" altLang="en-US" sz="1200" b="1" dirty="0">
                          <a:effectLst/>
                          <a:latin typeface="微软雅黑" panose="020B0503020204020204" pitchFamily="34" charset="-122"/>
                          <a:ea typeface="微软雅黑" panose="020B0503020204020204" pitchFamily="34" charset="-122"/>
                        </a:rPr>
                        <a:t>优点</a:t>
                      </a:r>
                      <a:r>
                        <a:rPr lang="en-US" altLang="zh-CN" sz="1200" dirty="0">
                          <a:effectLst/>
                          <a:latin typeface="微软雅黑" panose="020B0503020204020204" pitchFamily="34" charset="-122"/>
                          <a:ea typeface="微软雅黑" panose="020B0503020204020204" pitchFamily="34" charset="-122"/>
                        </a:rPr>
                        <a:t>:</a:t>
                      </a:r>
                      <a:br>
                        <a:rPr lang="en-US" altLang="zh-CN" sz="1200" dirty="0">
                          <a:effectLst/>
                          <a:latin typeface="微软雅黑" panose="020B0503020204020204" pitchFamily="34" charset="-122"/>
                          <a:ea typeface="微软雅黑" panose="020B0503020204020204" pitchFamily="34" charset="-122"/>
                        </a:rPr>
                      </a:br>
                      <a:r>
                        <a:rPr lang="zh-CN" altLang="en-US" sz="1200" dirty="0">
                          <a:effectLst/>
                          <a:latin typeface="微软雅黑" panose="020B0503020204020204" pitchFamily="34" charset="-122"/>
                          <a:ea typeface="微软雅黑" panose="020B0503020204020204" pitchFamily="34" charset="-122"/>
                        </a:rPr>
                        <a:t>对</a:t>
                      </a:r>
                      <a:r>
                        <a:rPr lang="en-US" altLang="zh-CN" sz="1200" dirty="0">
                          <a:effectLst/>
                          <a:latin typeface="微软雅黑" panose="020B0503020204020204" pitchFamily="34" charset="-122"/>
                          <a:ea typeface="微软雅黑" panose="020B0503020204020204" pitchFamily="34" charset="-122"/>
                        </a:rPr>
                        <a:t>old</a:t>
                      </a:r>
                      <a:r>
                        <a:rPr lang="zh-CN" altLang="en-US" sz="1200" dirty="0">
                          <a:effectLst/>
                          <a:latin typeface="微软雅黑" panose="020B0503020204020204" pitchFamily="34" charset="-122"/>
                          <a:ea typeface="微软雅黑" panose="020B0503020204020204" pitchFamily="34" charset="-122"/>
                        </a:rPr>
                        <a:t>进行回收时</a:t>
                      </a:r>
                      <a:r>
                        <a:rPr lang="en-US" altLang="zh-CN" sz="1200" dirty="0">
                          <a:effectLst/>
                          <a:latin typeface="微软雅黑" panose="020B0503020204020204" pitchFamily="34" charset="-122"/>
                          <a:ea typeface="微软雅黑" panose="020B0503020204020204" pitchFamily="34" charset="-122"/>
                        </a:rPr>
                        <a:t>,</a:t>
                      </a:r>
                      <a:r>
                        <a:rPr lang="zh-CN" altLang="en-US" sz="1200" dirty="0">
                          <a:effectLst/>
                          <a:latin typeface="微软雅黑" panose="020B0503020204020204" pitchFamily="34" charset="-122"/>
                          <a:ea typeface="微软雅黑" panose="020B0503020204020204" pitchFamily="34" charset="-122"/>
                        </a:rPr>
                        <a:t>对应用造成的暂停时间非常短</a:t>
                      </a:r>
                      <a:r>
                        <a:rPr lang="en-US" altLang="zh-CN" sz="1200" dirty="0">
                          <a:effectLst/>
                          <a:latin typeface="微软雅黑" panose="020B0503020204020204" pitchFamily="34" charset="-122"/>
                          <a:ea typeface="微软雅黑" panose="020B0503020204020204" pitchFamily="34" charset="-122"/>
                        </a:rPr>
                        <a:t>,</a:t>
                      </a:r>
                      <a:r>
                        <a:rPr lang="zh-CN" altLang="en-US" sz="1200" dirty="0">
                          <a:effectLst/>
                          <a:latin typeface="微软雅黑" panose="020B0503020204020204" pitchFamily="34" charset="-122"/>
                          <a:ea typeface="微软雅黑" panose="020B0503020204020204" pitchFamily="34" charset="-122"/>
                        </a:rPr>
                        <a:t>适合对</a:t>
                      </a:r>
                      <a:r>
                        <a:rPr lang="en-US" altLang="zh-CN" sz="1200" dirty="0">
                          <a:effectLst/>
                          <a:latin typeface="微软雅黑" panose="020B0503020204020204" pitchFamily="34" charset="-122"/>
                          <a:ea typeface="微软雅黑" panose="020B0503020204020204" pitchFamily="34" charset="-122"/>
                        </a:rPr>
                        <a:t>latency</a:t>
                      </a:r>
                      <a:r>
                        <a:rPr lang="zh-CN" altLang="en-US" sz="1200" dirty="0">
                          <a:effectLst/>
                          <a:latin typeface="微软雅黑" panose="020B0503020204020204" pitchFamily="34" charset="-122"/>
                          <a:ea typeface="微软雅黑" panose="020B0503020204020204" pitchFamily="34" charset="-122"/>
                        </a:rPr>
                        <a:t>要求比较高的应用</a:t>
                      </a:r>
                      <a:br>
                        <a:rPr lang="zh-CN" altLang="en-US" sz="1200" dirty="0">
                          <a:effectLst/>
                          <a:latin typeface="微软雅黑" panose="020B0503020204020204" pitchFamily="34" charset="-122"/>
                          <a:ea typeface="微软雅黑" panose="020B0503020204020204" pitchFamily="34" charset="-122"/>
                        </a:rPr>
                      </a:br>
                      <a:r>
                        <a:rPr lang="zh-CN" altLang="en-US" sz="1200" b="1" dirty="0">
                          <a:effectLst/>
                          <a:latin typeface="微软雅黑" panose="020B0503020204020204" pitchFamily="34" charset="-122"/>
                          <a:ea typeface="微软雅黑" panose="020B0503020204020204" pitchFamily="34" charset="-122"/>
                        </a:rPr>
                        <a:t>缺点</a:t>
                      </a:r>
                      <a:r>
                        <a:rPr lang="en-US" altLang="zh-CN" sz="1200" dirty="0">
                          <a:effectLst/>
                          <a:latin typeface="微软雅黑" panose="020B0503020204020204" pitchFamily="34" charset="-122"/>
                          <a:ea typeface="微软雅黑" panose="020B0503020204020204" pitchFamily="34" charset="-122"/>
                        </a:rPr>
                        <a:t>:</a:t>
                      </a:r>
                      <a:br>
                        <a:rPr lang="en-US" altLang="zh-CN" sz="1200" dirty="0">
                          <a:effectLst/>
                          <a:latin typeface="微软雅黑" panose="020B0503020204020204" pitchFamily="34" charset="-122"/>
                          <a:ea typeface="微软雅黑" panose="020B0503020204020204" pitchFamily="34" charset="-122"/>
                        </a:rPr>
                      </a:br>
                      <a:r>
                        <a:rPr lang="en-US" altLang="zh-CN" sz="1200" dirty="0">
                          <a:effectLst/>
                          <a:latin typeface="微软雅黑" panose="020B0503020204020204" pitchFamily="34" charset="-122"/>
                          <a:ea typeface="微软雅黑" panose="020B0503020204020204" pitchFamily="34" charset="-122"/>
                        </a:rPr>
                        <a:t>1.</a:t>
                      </a:r>
                      <a:r>
                        <a:rPr lang="zh-CN" altLang="en-US" sz="1200" dirty="0">
                          <a:effectLst/>
                          <a:latin typeface="微软雅黑" panose="020B0503020204020204" pitchFamily="34" charset="-122"/>
                          <a:ea typeface="微软雅黑" panose="020B0503020204020204" pitchFamily="34" charset="-122"/>
                        </a:rPr>
                        <a:t>内存碎片和浮动垃圾</a:t>
                      </a:r>
                      <a:br>
                        <a:rPr lang="zh-CN" altLang="en-US" sz="1200" dirty="0">
                          <a:effectLst/>
                          <a:latin typeface="微软雅黑" panose="020B0503020204020204" pitchFamily="34" charset="-122"/>
                          <a:ea typeface="微软雅黑" panose="020B0503020204020204" pitchFamily="34" charset="-122"/>
                        </a:rPr>
                      </a:br>
                      <a:r>
                        <a:rPr lang="en-US" altLang="zh-CN" sz="1200" dirty="0">
                          <a:effectLst/>
                          <a:latin typeface="微软雅黑" panose="020B0503020204020204" pitchFamily="34" charset="-122"/>
                          <a:ea typeface="微软雅黑" panose="020B0503020204020204" pitchFamily="34" charset="-122"/>
                        </a:rPr>
                        <a:t>2.old</a:t>
                      </a:r>
                      <a:r>
                        <a:rPr lang="zh-CN" altLang="en-US" sz="1200" dirty="0">
                          <a:effectLst/>
                          <a:latin typeface="微软雅黑" panose="020B0503020204020204" pitchFamily="34" charset="-122"/>
                          <a:ea typeface="微软雅黑" panose="020B0503020204020204" pitchFamily="34" charset="-122"/>
                        </a:rPr>
                        <a:t>去的内存分配效率低</a:t>
                      </a:r>
                      <a:br>
                        <a:rPr lang="zh-CN" altLang="en-US" sz="1200" dirty="0">
                          <a:effectLst/>
                          <a:latin typeface="微软雅黑" panose="020B0503020204020204" pitchFamily="34" charset="-122"/>
                          <a:ea typeface="微软雅黑" panose="020B0503020204020204" pitchFamily="34" charset="-122"/>
                        </a:rPr>
                      </a:br>
                      <a:r>
                        <a:rPr lang="en-US" altLang="zh-CN" sz="1200" dirty="0">
                          <a:effectLst/>
                          <a:latin typeface="微软雅黑" panose="020B0503020204020204" pitchFamily="34" charset="-122"/>
                          <a:ea typeface="微软雅黑" panose="020B0503020204020204" pitchFamily="34" charset="-122"/>
                        </a:rPr>
                        <a:t>3.</a:t>
                      </a:r>
                      <a:r>
                        <a:rPr lang="zh-CN" altLang="en-US" sz="1200" dirty="0">
                          <a:effectLst/>
                          <a:latin typeface="微软雅黑" panose="020B0503020204020204" pitchFamily="34" charset="-122"/>
                          <a:ea typeface="微软雅黑" panose="020B0503020204020204" pitchFamily="34" charset="-122"/>
                        </a:rPr>
                        <a:t>回收的整个耗时比较长</a:t>
                      </a:r>
                      <a:br>
                        <a:rPr lang="zh-CN" altLang="en-US" sz="1200" dirty="0">
                          <a:effectLst/>
                          <a:latin typeface="微软雅黑" panose="020B0503020204020204" pitchFamily="34" charset="-122"/>
                          <a:ea typeface="微软雅黑" panose="020B0503020204020204" pitchFamily="34" charset="-122"/>
                        </a:rPr>
                      </a:br>
                      <a:r>
                        <a:rPr lang="en-US" altLang="zh-CN" sz="1200" dirty="0">
                          <a:effectLst/>
                          <a:latin typeface="微软雅黑" panose="020B0503020204020204" pitchFamily="34" charset="-122"/>
                          <a:ea typeface="微软雅黑" panose="020B0503020204020204" pitchFamily="34" charset="-122"/>
                        </a:rPr>
                        <a:t>4.</a:t>
                      </a:r>
                      <a:r>
                        <a:rPr lang="zh-CN" altLang="en-US" sz="1200" dirty="0">
                          <a:effectLst/>
                          <a:latin typeface="微软雅黑" panose="020B0503020204020204" pitchFamily="34" charset="-122"/>
                          <a:ea typeface="微软雅黑" panose="020B0503020204020204" pitchFamily="34" charset="-122"/>
                        </a:rPr>
                        <a:t>和应用争抢</a:t>
                      </a:r>
                      <a:r>
                        <a:rPr lang="en-US" altLang="zh-CN" sz="1200" dirty="0">
                          <a:effectLst/>
                          <a:latin typeface="微软雅黑" panose="020B0503020204020204" pitchFamily="34" charset="-122"/>
                          <a:ea typeface="微软雅黑" panose="020B0503020204020204" pitchFamily="34" charset="-122"/>
                        </a:rPr>
                        <a:t>CPU</a:t>
                      </a:r>
                    </a:p>
                  </a:txBody>
                  <a:tcPr marL="16675" marR="16675" marT="16675" marB="16675">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27487369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zh-CN" altLang="en-US" dirty="0"/>
              <a:t>垃圾收集器</a:t>
            </a:r>
            <a:r>
              <a:rPr lang="zh-CN" altLang="en-US" dirty="0" smtClean="0"/>
              <a:t>算法</a:t>
            </a:r>
            <a:endParaRPr lang="zh-CN" altLang="en-US" sz="1600" dirty="0"/>
          </a:p>
        </p:txBody>
      </p:sp>
      <p:sp>
        <p:nvSpPr>
          <p:cNvPr id="3" name="内容占位符 2"/>
          <p:cNvSpPr>
            <a:spLocks noGrp="1"/>
          </p:cNvSpPr>
          <p:nvPr>
            <p:ph idx="1"/>
          </p:nvPr>
        </p:nvSpPr>
        <p:spPr/>
        <p:txBody>
          <a:bodyPr>
            <a:normAutofit/>
          </a:bodyPr>
          <a:lstStyle/>
          <a:p>
            <a:r>
              <a:rPr lang="zh-CN" altLang="en-US" dirty="0" smtClean="0"/>
              <a:t>小结</a:t>
            </a:r>
            <a:endParaRPr lang="en-US" altLang="zh-CN" sz="1600" dirty="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35</a:t>
            </a:fld>
            <a:endParaRPr lang="zh-CN" altLang="en-US"/>
          </a:p>
        </p:txBody>
      </p:sp>
      <p:graphicFrame>
        <p:nvGraphicFramePr>
          <p:cNvPr id="5" name="表格 4"/>
          <p:cNvGraphicFramePr>
            <a:graphicFrameLocks noGrp="1"/>
          </p:cNvGraphicFramePr>
          <p:nvPr>
            <p:extLst/>
          </p:nvPr>
        </p:nvGraphicFramePr>
        <p:xfrm>
          <a:off x="395536" y="1628801"/>
          <a:ext cx="8398296" cy="3930980"/>
        </p:xfrm>
        <a:graphic>
          <a:graphicData uri="http://schemas.openxmlformats.org/drawingml/2006/table">
            <a:tbl>
              <a:tblPr/>
              <a:tblGrid>
                <a:gridCol w="713736"/>
                <a:gridCol w="2561520"/>
                <a:gridCol w="2561520"/>
                <a:gridCol w="2561520"/>
              </a:tblGrid>
              <a:tr h="433770">
                <a:tc>
                  <a:txBody>
                    <a:bodyPr/>
                    <a:lstStyle/>
                    <a:p>
                      <a:pPr algn="ctr"/>
                      <a:r>
                        <a:rPr lang="zh-CN" altLang="en-US" sz="1400" b="1" dirty="0">
                          <a:effectLst/>
                          <a:latin typeface="微软雅黑" panose="020B0503020204020204" pitchFamily="34" charset="-122"/>
                          <a:ea typeface="微软雅黑" panose="020B0503020204020204" pitchFamily="34" charset="-122"/>
                        </a:rPr>
                        <a:t>类别</a:t>
                      </a:r>
                      <a:endParaRPr lang="zh-CN" altLang="en-US" sz="1400" dirty="0">
                        <a:effectLst/>
                        <a:latin typeface="微软雅黑" panose="020B0503020204020204" pitchFamily="34" charset="-122"/>
                        <a:ea typeface="微软雅黑" panose="020B0503020204020204" pitchFamily="34" charset="-122"/>
                      </a:endParaRPr>
                    </a:p>
                  </a:txBody>
                  <a:tcPr marL="16675" marR="16675" marT="16675" marB="16675">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pPr algn="ctr"/>
                      <a:r>
                        <a:rPr lang="en-US" sz="1400" b="1">
                          <a:effectLst/>
                          <a:latin typeface="微软雅黑" panose="020B0503020204020204" pitchFamily="34" charset="-122"/>
                          <a:ea typeface="微软雅黑" panose="020B0503020204020204" pitchFamily="34" charset="-122"/>
                        </a:rPr>
                        <a:t>serial collector</a:t>
                      </a:r>
                      <a:endParaRPr lang="en-US" sz="1400">
                        <a:effectLst/>
                        <a:latin typeface="微软雅黑" panose="020B0503020204020204" pitchFamily="34" charset="-122"/>
                        <a:ea typeface="微软雅黑" panose="020B0503020204020204" pitchFamily="34" charset="-122"/>
                      </a:endParaRPr>
                    </a:p>
                    <a:p>
                      <a:pPr algn="ctr"/>
                      <a:r>
                        <a:rPr lang="en-US" sz="1400" b="1">
                          <a:effectLst/>
                          <a:latin typeface="微软雅黑" panose="020B0503020204020204" pitchFamily="34" charset="-122"/>
                          <a:ea typeface="微软雅黑" panose="020B0503020204020204" pitchFamily="34" charset="-122"/>
                        </a:rPr>
                        <a:t>(</a:t>
                      </a:r>
                      <a:r>
                        <a:rPr lang="zh-CN" altLang="en-US" sz="1400">
                          <a:effectLst/>
                          <a:latin typeface="微软雅黑" panose="020B0503020204020204" pitchFamily="34" charset="-122"/>
                          <a:ea typeface="微软雅黑" panose="020B0503020204020204" pitchFamily="34" charset="-122"/>
                        </a:rPr>
                        <a:t>单线程收集器</a:t>
                      </a:r>
                      <a:r>
                        <a:rPr lang="en-US" altLang="zh-CN" sz="1400" b="1">
                          <a:effectLst/>
                          <a:latin typeface="微软雅黑" panose="020B0503020204020204" pitchFamily="34" charset="-122"/>
                          <a:ea typeface="微软雅黑" panose="020B0503020204020204" pitchFamily="34" charset="-122"/>
                        </a:rPr>
                        <a:t>)</a:t>
                      </a:r>
                      <a:endParaRPr lang="zh-CN" altLang="en-US" sz="1400">
                        <a:effectLst/>
                        <a:latin typeface="微软雅黑" panose="020B0503020204020204" pitchFamily="34" charset="-122"/>
                        <a:ea typeface="微软雅黑" panose="020B0503020204020204" pitchFamily="34" charset="-122"/>
                      </a:endParaRPr>
                    </a:p>
                  </a:txBody>
                  <a:tcPr marL="16675" marR="16675" marT="16675" marB="16675">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pPr algn="ctr"/>
                      <a:r>
                        <a:rPr lang="en-US" sz="1400" b="1">
                          <a:effectLst/>
                          <a:latin typeface="微软雅黑" panose="020B0503020204020204" pitchFamily="34" charset="-122"/>
                          <a:ea typeface="微软雅黑" panose="020B0503020204020204" pitchFamily="34" charset="-122"/>
                        </a:rPr>
                        <a:t>parallel collector</a:t>
                      </a:r>
                      <a:br>
                        <a:rPr lang="en-US" sz="1400" b="1">
                          <a:effectLst/>
                          <a:latin typeface="微软雅黑" panose="020B0503020204020204" pitchFamily="34" charset="-122"/>
                          <a:ea typeface="微软雅黑" panose="020B0503020204020204" pitchFamily="34" charset="-122"/>
                        </a:rPr>
                      </a:br>
                      <a:r>
                        <a:rPr lang="en-US" sz="1400" b="1">
                          <a:effectLst/>
                          <a:latin typeface="微软雅黑" panose="020B0503020204020204" pitchFamily="34" charset="-122"/>
                          <a:ea typeface="微软雅黑" panose="020B0503020204020204" pitchFamily="34" charset="-122"/>
                        </a:rPr>
                        <a:t>( </a:t>
                      </a:r>
                      <a:r>
                        <a:rPr lang="zh-CN" altLang="en-US" sz="1400">
                          <a:effectLst/>
                          <a:latin typeface="微软雅黑" panose="020B0503020204020204" pitchFamily="34" charset="-122"/>
                          <a:ea typeface="微软雅黑" panose="020B0503020204020204" pitchFamily="34" charset="-122"/>
                        </a:rPr>
                        <a:t>并行收集器</a:t>
                      </a:r>
                      <a:r>
                        <a:rPr lang="en-US" altLang="zh-CN" sz="1400" b="1">
                          <a:effectLst/>
                          <a:latin typeface="微软雅黑" panose="020B0503020204020204" pitchFamily="34" charset="-122"/>
                          <a:ea typeface="微软雅黑" panose="020B0503020204020204" pitchFamily="34" charset="-122"/>
                        </a:rPr>
                        <a:t>)</a:t>
                      </a:r>
                      <a:endParaRPr lang="zh-CN" altLang="en-US" sz="1400">
                        <a:effectLst/>
                        <a:latin typeface="微软雅黑" panose="020B0503020204020204" pitchFamily="34" charset="-122"/>
                        <a:ea typeface="微软雅黑" panose="020B0503020204020204" pitchFamily="34" charset="-122"/>
                      </a:endParaRPr>
                    </a:p>
                  </a:txBody>
                  <a:tcPr marL="16675" marR="16675" marT="16675" marB="16675">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pPr algn="ctr"/>
                      <a:r>
                        <a:rPr lang="en-US" sz="1400" b="1">
                          <a:effectLst/>
                          <a:latin typeface="微软雅黑" panose="020B0503020204020204" pitchFamily="34" charset="-122"/>
                          <a:ea typeface="微软雅黑" panose="020B0503020204020204" pitchFamily="34" charset="-122"/>
                        </a:rPr>
                        <a:t>concurrent collector</a:t>
                      </a:r>
                      <a:br>
                        <a:rPr lang="en-US" sz="1400" b="1">
                          <a:effectLst/>
                          <a:latin typeface="微软雅黑" panose="020B0503020204020204" pitchFamily="34" charset="-122"/>
                          <a:ea typeface="微软雅黑" panose="020B0503020204020204" pitchFamily="34" charset="-122"/>
                        </a:rPr>
                      </a:br>
                      <a:r>
                        <a:rPr lang="en-US" sz="1400" b="1">
                          <a:effectLst/>
                          <a:latin typeface="微软雅黑" panose="020B0503020204020204" pitchFamily="34" charset="-122"/>
                          <a:ea typeface="微软雅黑" panose="020B0503020204020204" pitchFamily="34" charset="-122"/>
                        </a:rPr>
                        <a:t>(</a:t>
                      </a:r>
                      <a:r>
                        <a:rPr lang="zh-CN" altLang="en-US" sz="1400">
                          <a:effectLst/>
                          <a:latin typeface="微软雅黑" panose="020B0503020204020204" pitchFamily="34" charset="-122"/>
                          <a:ea typeface="微软雅黑" panose="020B0503020204020204" pitchFamily="34" charset="-122"/>
                        </a:rPr>
                        <a:t>并发收集器</a:t>
                      </a:r>
                      <a:r>
                        <a:rPr lang="en-US" altLang="zh-CN" sz="1400" b="1">
                          <a:effectLst/>
                          <a:latin typeface="微软雅黑" panose="020B0503020204020204" pitchFamily="34" charset="-122"/>
                          <a:ea typeface="微软雅黑" panose="020B0503020204020204" pitchFamily="34" charset="-122"/>
                        </a:rPr>
                        <a:t>)</a:t>
                      </a:r>
                      <a:endParaRPr lang="zh-CN" altLang="en-US" sz="1400">
                        <a:effectLst/>
                        <a:latin typeface="微软雅黑" panose="020B0503020204020204" pitchFamily="34" charset="-122"/>
                        <a:ea typeface="微软雅黑" panose="020B0503020204020204" pitchFamily="34" charset="-122"/>
                      </a:endParaRPr>
                    </a:p>
                  </a:txBody>
                  <a:tcPr marL="16675" marR="16675" marT="16675" marB="16675">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r>
              <a:tr h="634933">
                <a:tc>
                  <a:txBody>
                    <a:bodyPr/>
                    <a:lstStyle/>
                    <a:p>
                      <a:pPr algn="ctr"/>
                      <a:r>
                        <a:rPr lang="zh-CN" altLang="en-US" sz="1400" b="1" dirty="0">
                          <a:effectLst/>
                          <a:latin typeface="微软雅黑" panose="020B0503020204020204" pitchFamily="34" charset="-122"/>
                          <a:ea typeface="微软雅黑" panose="020B0503020204020204" pitchFamily="34" charset="-122"/>
                        </a:rPr>
                        <a:t>内存回收触发条件</a:t>
                      </a:r>
                      <a:endParaRPr lang="zh-CN" altLang="en-US" sz="1400" dirty="0">
                        <a:effectLst/>
                        <a:latin typeface="微软雅黑" panose="020B0503020204020204" pitchFamily="34" charset="-122"/>
                        <a:ea typeface="微软雅黑" panose="020B0503020204020204" pitchFamily="34" charset="-122"/>
                      </a:endParaRPr>
                    </a:p>
                  </a:txBody>
                  <a:tcPr marL="28575" marR="28575" marT="28575" marB="28575">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pPr algn="l"/>
                      <a:r>
                        <a:rPr lang="en-US" altLang="zh-CN" sz="1400" b="1" dirty="0">
                          <a:effectLst/>
                          <a:latin typeface="微软雅黑" panose="020B0503020204020204" pitchFamily="34" charset="-122"/>
                          <a:ea typeface="微软雅黑" panose="020B0503020204020204" pitchFamily="34" charset="-122"/>
                        </a:rPr>
                        <a:t>YGC</a:t>
                      </a:r>
                      <a:br>
                        <a:rPr lang="en-US" altLang="zh-CN" sz="1400" b="1" dirty="0">
                          <a:effectLst/>
                          <a:latin typeface="微软雅黑" panose="020B0503020204020204" pitchFamily="34" charset="-122"/>
                          <a:ea typeface="微软雅黑" panose="020B0503020204020204" pitchFamily="34" charset="-122"/>
                        </a:rPr>
                      </a:br>
                      <a:r>
                        <a:rPr lang="en-US" altLang="zh-CN" sz="1400" dirty="0" err="1">
                          <a:effectLst/>
                          <a:latin typeface="微软雅黑" panose="020B0503020204020204" pitchFamily="34" charset="-122"/>
                          <a:ea typeface="微软雅黑" panose="020B0503020204020204" pitchFamily="34" charset="-122"/>
                        </a:rPr>
                        <a:t>eden</a:t>
                      </a:r>
                      <a:r>
                        <a:rPr lang="zh-CN" altLang="en-US" sz="1400" dirty="0">
                          <a:effectLst/>
                          <a:latin typeface="微软雅黑" panose="020B0503020204020204" pitchFamily="34" charset="-122"/>
                          <a:ea typeface="微软雅黑" panose="020B0503020204020204" pitchFamily="34" charset="-122"/>
                        </a:rPr>
                        <a:t>空间不足</a:t>
                      </a:r>
                    </a:p>
                    <a:p>
                      <a:pPr algn="l"/>
                      <a:r>
                        <a:rPr lang="zh-CN" altLang="en-US" sz="1400" dirty="0">
                          <a:effectLst/>
                          <a:latin typeface="微软雅黑" panose="020B0503020204020204" pitchFamily="34" charset="-122"/>
                          <a:ea typeface="微软雅黑" panose="020B0503020204020204" pitchFamily="34" charset="-122"/>
                        </a:rPr>
                        <a:t/>
                      </a:r>
                      <a:br>
                        <a:rPr lang="zh-CN" altLang="en-US" sz="1400" dirty="0">
                          <a:effectLst/>
                          <a:latin typeface="微软雅黑" panose="020B0503020204020204" pitchFamily="34" charset="-122"/>
                          <a:ea typeface="微软雅黑" panose="020B0503020204020204" pitchFamily="34" charset="-122"/>
                        </a:rPr>
                      </a:br>
                      <a:r>
                        <a:rPr lang="en-US" altLang="zh-CN" sz="1400" b="1" dirty="0">
                          <a:effectLst/>
                          <a:latin typeface="微软雅黑" panose="020B0503020204020204" pitchFamily="34" charset="-122"/>
                          <a:ea typeface="微软雅黑" panose="020B0503020204020204" pitchFamily="34" charset="-122"/>
                        </a:rPr>
                        <a:t>FGC</a:t>
                      </a:r>
                      <a:br>
                        <a:rPr lang="en-US" altLang="zh-CN" sz="1400" b="1" dirty="0">
                          <a:effectLst/>
                          <a:latin typeface="微软雅黑" panose="020B0503020204020204" pitchFamily="34" charset="-122"/>
                          <a:ea typeface="微软雅黑" panose="020B0503020204020204" pitchFamily="34" charset="-122"/>
                        </a:rPr>
                      </a:br>
                      <a:r>
                        <a:rPr lang="en-US" altLang="zh-CN" sz="1400" dirty="0">
                          <a:effectLst/>
                          <a:latin typeface="微软雅黑" panose="020B0503020204020204" pitchFamily="34" charset="-122"/>
                          <a:ea typeface="微软雅黑" panose="020B0503020204020204" pitchFamily="34" charset="-122"/>
                        </a:rPr>
                        <a:t>old</a:t>
                      </a:r>
                      <a:r>
                        <a:rPr lang="zh-CN" altLang="en-US" sz="1400" dirty="0">
                          <a:effectLst/>
                          <a:latin typeface="微软雅黑" panose="020B0503020204020204" pitchFamily="34" charset="-122"/>
                          <a:ea typeface="微软雅黑" panose="020B0503020204020204" pitchFamily="34" charset="-122"/>
                        </a:rPr>
                        <a:t>空间不足</a:t>
                      </a:r>
                      <a:br>
                        <a:rPr lang="zh-CN" altLang="en-US" sz="1400" dirty="0">
                          <a:effectLst/>
                          <a:latin typeface="微软雅黑" panose="020B0503020204020204" pitchFamily="34" charset="-122"/>
                          <a:ea typeface="微软雅黑" panose="020B0503020204020204" pitchFamily="34" charset="-122"/>
                        </a:rPr>
                      </a:br>
                      <a:r>
                        <a:rPr lang="en-US" altLang="zh-CN" sz="1400" dirty="0">
                          <a:effectLst/>
                          <a:latin typeface="微软雅黑" panose="020B0503020204020204" pitchFamily="34" charset="-122"/>
                          <a:ea typeface="微软雅黑" panose="020B0503020204020204" pitchFamily="34" charset="-122"/>
                        </a:rPr>
                        <a:t>perm</a:t>
                      </a:r>
                      <a:r>
                        <a:rPr lang="zh-CN" altLang="en-US" sz="1400" dirty="0">
                          <a:effectLst/>
                          <a:latin typeface="微软雅黑" panose="020B0503020204020204" pitchFamily="34" charset="-122"/>
                          <a:ea typeface="微软雅黑" panose="020B0503020204020204" pitchFamily="34" charset="-122"/>
                        </a:rPr>
                        <a:t>空间不足</a:t>
                      </a:r>
                      <a:br>
                        <a:rPr lang="zh-CN" altLang="en-US" sz="1400" dirty="0">
                          <a:effectLst/>
                          <a:latin typeface="微软雅黑" panose="020B0503020204020204" pitchFamily="34" charset="-122"/>
                          <a:ea typeface="微软雅黑" panose="020B0503020204020204" pitchFamily="34" charset="-122"/>
                        </a:rPr>
                      </a:br>
                      <a:r>
                        <a:rPr lang="zh-CN" altLang="en-US" sz="1400" dirty="0">
                          <a:effectLst/>
                          <a:latin typeface="微软雅黑" panose="020B0503020204020204" pitchFamily="34" charset="-122"/>
                          <a:ea typeface="微软雅黑" panose="020B0503020204020204" pitchFamily="34" charset="-122"/>
                        </a:rPr>
                        <a:t>显示调用</a:t>
                      </a:r>
                      <a:r>
                        <a:rPr lang="en-US" altLang="zh-CN" sz="1400" dirty="0" err="1">
                          <a:effectLst/>
                          <a:latin typeface="微软雅黑" panose="020B0503020204020204" pitchFamily="34" charset="-122"/>
                          <a:ea typeface="微软雅黑" panose="020B0503020204020204" pitchFamily="34" charset="-122"/>
                        </a:rPr>
                        <a:t>System.gc</a:t>
                      </a:r>
                      <a:r>
                        <a:rPr lang="en-US" altLang="zh-CN" sz="1400" dirty="0">
                          <a:effectLst/>
                          <a:latin typeface="微软雅黑" panose="020B0503020204020204" pitchFamily="34" charset="-122"/>
                          <a:ea typeface="微软雅黑" panose="020B0503020204020204" pitchFamily="34" charset="-122"/>
                        </a:rPr>
                        <a:t>()</a:t>
                      </a:r>
                      <a:r>
                        <a:rPr lang="zh-CN" altLang="en-US" sz="1400" dirty="0">
                          <a:effectLst/>
                          <a:latin typeface="微软雅黑" panose="020B0503020204020204" pitchFamily="34" charset="-122"/>
                          <a:ea typeface="微软雅黑" panose="020B0503020204020204" pitchFamily="34" charset="-122"/>
                        </a:rPr>
                        <a:t>，包括</a:t>
                      </a:r>
                      <a:r>
                        <a:rPr lang="en-US" altLang="zh-CN" sz="1400" dirty="0">
                          <a:effectLst/>
                          <a:latin typeface="微软雅黑" panose="020B0503020204020204" pitchFamily="34" charset="-122"/>
                          <a:ea typeface="微软雅黑" panose="020B0503020204020204" pitchFamily="34" charset="-122"/>
                        </a:rPr>
                        <a:t>RMI</a:t>
                      </a:r>
                      <a:r>
                        <a:rPr lang="zh-CN" altLang="en-US" sz="1400" dirty="0">
                          <a:effectLst/>
                          <a:latin typeface="微软雅黑" panose="020B0503020204020204" pitchFamily="34" charset="-122"/>
                          <a:ea typeface="微软雅黑" panose="020B0503020204020204" pitchFamily="34" charset="-122"/>
                        </a:rPr>
                        <a:t>等的定时触发</a:t>
                      </a:r>
                    </a:p>
                  </a:txBody>
                  <a:tcPr marL="28575" marR="28575" marT="28575" marB="28575">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pPr algn="l"/>
                      <a:r>
                        <a:rPr lang="en-US" altLang="zh-CN" sz="1400" b="1">
                          <a:effectLst/>
                          <a:latin typeface="微软雅黑" panose="020B0503020204020204" pitchFamily="34" charset="-122"/>
                          <a:ea typeface="微软雅黑" panose="020B0503020204020204" pitchFamily="34" charset="-122"/>
                        </a:rPr>
                        <a:t>YGC</a:t>
                      </a:r>
                      <a:br>
                        <a:rPr lang="en-US" altLang="zh-CN" sz="1400" b="1">
                          <a:effectLst/>
                          <a:latin typeface="微软雅黑" panose="020B0503020204020204" pitchFamily="34" charset="-122"/>
                          <a:ea typeface="微软雅黑" panose="020B0503020204020204" pitchFamily="34" charset="-122"/>
                        </a:rPr>
                      </a:br>
                      <a:r>
                        <a:rPr lang="en-US" altLang="zh-CN" sz="1400">
                          <a:effectLst/>
                          <a:latin typeface="微软雅黑" panose="020B0503020204020204" pitchFamily="34" charset="-122"/>
                          <a:ea typeface="微软雅黑" panose="020B0503020204020204" pitchFamily="34" charset="-122"/>
                        </a:rPr>
                        <a:t>eden</a:t>
                      </a:r>
                      <a:r>
                        <a:rPr lang="zh-CN" altLang="en-US" sz="1400">
                          <a:effectLst/>
                          <a:latin typeface="微软雅黑" panose="020B0503020204020204" pitchFamily="34" charset="-122"/>
                          <a:ea typeface="微软雅黑" panose="020B0503020204020204" pitchFamily="34" charset="-122"/>
                        </a:rPr>
                        <a:t>空间不足</a:t>
                      </a:r>
                    </a:p>
                    <a:p>
                      <a:pPr algn="l"/>
                      <a:r>
                        <a:rPr lang="zh-CN" altLang="en-US" sz="1400">
                          <a:effectLst/>
                          <a:latin typeface="微软雅黑" panose="020B0503020204020204" pitchFamily="34" charset="-122"/>
                          <a:ea typeface="微软雅黑" panose="020B0503020204020204" pitchFamily="34" charset="-122"/>
                        </a:rPr>
                        <a:t/>
                      </a:r>
                      <a:br>
                        <a:rPr lang="zh-CN" altLang="en-US" sz="1400">
                          <a:effectLst/>
                          <a:latin typeface="微软雅黑" panose="020B0503020204020204" pitchFamily="34" charset="-122"/>
                          <a:ea typeface="微软雅黑" panose="020B0503020204020204" pitchFamily="34" charset="-122"/>
                        </a:rPr>
                      </a:br>
                      <a:r>
                        <a:rPr lang="en-US" altLang="zh-CN" sz="1400" b="1">
                          <a:effectLst/>
                          <a:latin typeface="微软雅黑" panose="020B0503020204020204" pitchFamily="34" charset="-122"/>
                          <a:ea typeface="微软雅黑" panose="020B0503020204020204" pitchFamily="34" charset="-122"/>
                        </a:rPr>
                        <a:t>FGC</a:t>
                      </a:r>
                      <a:br>
                        <a:rPr lang="en-US" altLang="zh-CN" sz="1400" b="1">
                          <a:effectLst/>
                          <a:latin typeface="微软雅黑" panose="020B0503020204020204" pitchFamily="34" charset="-122"/>
                          <a:ea typeface="微软雅黑" panose="020B0503020204020204" pitchFamily="34" charset="-122"/>
                        </a:rPr>
                      </a:br>
                      <a:r>
                        <a:rPr lang="en-US" altLang="zh-CN" sz="1400">
                          <a:effectLst/>
                          <a:latin typeface="微软雅黑" panose="020B0503020204020204" pitchFamily="34" charset="-122"/>
                          <a:ea typeface="微软雅黑" panose="020B0503020204020204" pitchFamily="34" charset="-122"/>
                        </a:rPr>
                        <a:t>old</a:t>
                      </a:r>
                      <a:r>
                        <a:rPr lang="zh-CN" altLang="en-US" sz="1400">
                          <a:effectLst/>
                          <a:latin typeface="微软雅黑" panose="020B0503020204020204" pitchFamily="34" charset="-122"/>
                          <a:ea typeface="微软雅黑" panose="020B0503020204020204" pitchFamily="34" charset="-122"/>
                        </a:rPr>
                        <a:t>空间不足</a:t>
                      </a:r>
                      <a:br>
                        <a:rPr lang="zh-CN" altLang="en-US" sz="1400">
                          <a:effectLst/>
                          <a:latin typeface="微软雅黑" panose="020B0503020204020204" pitchFamily="34" charset="-122"/>
                          <a:ea typeface="微软雅黑" panose="020B0503020204020204" pitchFamily="34" charset="-122"/>
                        </a:rPr>
                      </a:br>
                      <a:r>
                        <a:rPr lang="en-US" altLang="zh-CN" sz="1400">
                          <a:effectLst/>
                          <a:latin typeface="微软雅黑" panose="020B0503020204020204" pitchFamily="34" charset="-122"/>
                          <a:ea typeface="微软雅黑" panose="020B0503020204020204" pitchFamily="34" charset="-122"/>
                        </a:rPr>
                        <a:t>perm</a:t>
                      </a:r>
                      <a:r>
                        <a:rPr lang="zh-CN" altLang="en-US" sz="1400">
                          <a:effectLst/>
                          <a:latin typeface="微软雅黑" panose="020B0503020204020204" pitchFamily="34" charset="-122"/>
                          <a:ea typeface="微软雅黑" panose="020B0503020204020204" pitchFamily="34" charset="-122"/>
                        </a:rPr>
                        <a:t>空间不足</a:t>
                      </a:r>
                      <a:br>
                        <a:rPr lang="zh-CN" altLang="en-US" sz="1400">
                          <a:effectLst/>
                          <a:latin typeface="微软雅黑" panose="020B0503020204020204" pitchFamily="34" charset="-122"/>
                          <a:ea typeface="微软雅黑" panose="020B0503020204020204" pitchFamily="34" charset="-122"/>
                        </a:rPr>
                      </a:br>
                      <a:r>
                        <a:rPr lang="zh-CN" altLang="en-US" sz="1400">
                          <a:effectLst/>
                          <a:latin typeface="微软雅黑" panose="020B0503020204020204" pitchFamily="34" charset="-122"/>
                          <a:ea typeface="微软雅黑" panose="020B0503020204020204" pitchFamily="34" charset="-122"/>
                        </a:rPr>
                        <a:t>显示调用</a:t>
                      </a:r>
                      <a:r>
                        <a:rPr lang="en-US" altLang="zh-CN" sz="1400">
                          <a:effectLst/>
                          <a:latin typeface="微软雅黑" panose="020B0503020204020204" pitchFamily="34" charset="-122"/>
                          <a:ea typeface="微软雅黑" panose="020B0503020204020204" pitchFamily="34" charset="-122"/>
                        </a:rPr>
                        <a:t>System.gc()</a:t>
                      </a:r>
                      <a:r>
                        <a:rPr lang="zh-CN" altLang="en-US" sz="1400">
                          <a:effectLst/>
                          <a:latin typeface="微软雅黑" panose="020B0503020204020204" pitchFamily="34" charset="-122"/>
                          <a:ea typeface="微软雅黑" panose="020B0503020204020204" pitchFamily="34" charset="-122"/>
                        </a:rPr>
                        <a:t>，包括</a:t>
                      </a:r>
                      <a:r>
                        <a:rPr lang="en-US" altLang="zh-CN" sz="1400">
                          <a:effectLst/>
                          <a:latin typeface="微软雅黑" panose="020B0503020204020204" pitchFamily="34" charset="-122"/>
                          <a:ea typeface="微软雅黑" panose="020B0503020204020204" pitchFamily="34" charset="-122"/>
                        </a:rPr>
                        <a:t>RMI</a:t>
                      </a:r>
                      <a:r>
                        <a:rPr lang="zh-CN" altLang="en-US" sz="1400">
                          <a:effectLst/>
                          <a:latin typeface="微软雅黑" panose="020B0503020204020204" pitchFamily="34" charset="-122"/>
                          <a:ea typeface="微软雅黑" panose="020B0503020204020204" pitchFamily="34" charset="-122"/>
                        </a:rPr>
                        <a:t>等的定时触发</a:t>
                      </a:r>
                    </a:p>
                  </a:txBody>
                  <a:tcPr marL="28575" marR="28575" marT="28575" marB="28575">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pPr algn="l"/>
                      <a:r>
                        <a:rPr lang="en-US" sz="1400" b="1" dirty="0">
                          <a:effectLst/>
                          <a:latin typeface="微软雅黑" panose="020B0503020204020204" pitchFamily="34" charset="-122"/>
                          <a:ea typeface="微软雅黑" panose="020B0503020204020204" pitchFamily="34" charset="-122"/>
                        </a:rPr>
                        <a:t>YGC</a:t>
                      </a:r>
                      <a:br>
                        <a:rPr lang="en-US" sz="1400" b="1" dirty="0">
                          <a:effectLst/>
                          <a:latin typeface="微软雅黑" panose="020B0503020204020204" pitchFamily="34" charset="-122"/>
                          <a:ea typeface="微软雅黑" panose="020B0503020204020204" pitchFamily="34" charset="-122"/>
                        </a:rPr>
                      </a:br>
                      <a:r>
                        <a:rPr lang="en-US" sz="1400" dirty="0" err="1">
                          <a:effectLst/>
                          <a:latin typeface="微软雅黑" panose="020B0503020204020204" pitchFamily="34" charset="-122"/>
                          <a:ea typeface="微软雅黑" panose="020B0503020204020204" pitchFamily="34" charset="-122"/>
                        </a:rPr>
                        <a:t>eden</a:t>
                      </a:r>
                      <a:r>
                        <a:rPr lang="zh-CN" altLang="en-US" sz="1400" dirty="0">
                          <a:effectLst/>
                          <a:latin typeface="微软雅黑" panose="020B0503020204020204" pitchFamily="34" charset="-122"/>
                          <a:ea typeface="微软雅黑" panose="020B0503020204020204" pitchFamily="34" charset="-122"/>
                        </a:rPr>
                        <a:t>空间不足</a:t>
                      </a:r>
                    </a:p>
                    <a:p>
                      <a:pPr algn="l"/>
                      <a:r>
                        <a:rPr lang="zh-CN" altLang="en-US" sz="1400" dirty="0">
                          <a:effectLst/>
                          <a:latin typeface="微软雅黑" panose="020B0503020204020204" pitchFamily="34" charset="-122"/>
                          <a:ea typeface="微软雅黑" panose="020B0503020204020204" pitchFamily="34" charset="-122"/>
                        </a:rPr>
                        <a:t/>
                      </a:r>
                      <a:br>
                        <a:rPr lang="zh-CN" altLang="en-US" sz="1400" dirty="0">
                          <a:effectLst/>
                          <a:latin typeface="微软雅黑" panose="020B0503020204020204" pitchFamily="34" charset="-122"/>
                          <a:ea typeface="微软雅黑" panose="020B0503020204020204" pitchFamily="34" charset="-122"/>
                        </a:rPr>
                      </a:br>
                      <a:r>
                        <a:rPr lang="en-US" sz="1400" b="1" dirty="0">
                          <a:effectLst/>
                          <a:latin typeface="微软雅黑" panose="020B0503020204020204" pitchFamily="34" charset="-122"/>
                          <a:ea typeface="微软雅黑" panose="020B0503020204020204" pitchFamily="34" charset="-122"/>
                        </a:rPr>
                        <a:t>CMS GC</a:t>
                      </a:r>
                      <a:br>
                        <a:rPr lang="en-US" sz="1400" b="1" dirty="0">
                          <a:effectLst/>
                          <a:latin typeface="微软雅黑" panose="020B0503020204020204" pitchFamily="34" charset="-122"/>
                          <a:ea typeface="微软雅黑" panose="020B0503020204020204" pitchFamily="34" charset="-122"/>
                        </a:rPr>
                      </a:br>
                      <a:r>
                        <a:rPr lang="en-US" sz="1400" dirty="0">
                          <a:effectLst/>
                          <a:latin typeface="微软雅黑" panose="020B0503020204020204" pitchFamily="34" charset="-122"/>
                          <a:ea typeface="微软雅黑" panose="020B0503020204020204" pitchFamily="34" charset="-122"/>
                        </a:rPr>
                        <a:t>1.old Gen</a:t>
                      </a:r>
                      <a:r>
                        <a:rPr lang="zh-CN" altLang="en-US" sz="1400" dirty="0">
                          <a:effectLst/>
                          <a:latin typeface="微软雅黑" panose="020B0503020204020204" pitchFamily="34" charset="-122"/>
                          <a:ea typeface="微软雅黑" panose="020B0503020204020204" pitchFamily="34" charset="-122"/>
                        </a:rPr>
                        <a:t>使用率大的比率，默认为</a:t>
                      </a:r>
                      <a:r>
                        <a:rPr lang="en-US" altLang="zh-CN" sz="1400" dirty="0">
                          <a:effectLst/>
                          <a:latin typeface="微软雅黑" panose="020B0503020204020204" pitchFamily="34" charset="-122"/>
                          <a:ea typeface="微软雅黑" panose="020B0503020204020204" pitchFamily="34" charset="-122"/>
                        </a:rPr>
                        <a:t>92%</a:t>
                      </a:r>
                      <a:br>
                        <a:rPr lang="en-US" altLang="zh-CN" sz="1400" dirty="0">
                          <a:effectLst/>
                          <a:latin typeface="微软雅黑" panose="020B0503020204020204" pitchFamily="34" charset="-122"/>
                          <a:ea typeface="微软雅黑" panose="020B0503020204020204" pitchFamily="34" charset="-122"/>
                        </a:rPr>
                      </a:br>
                      <a:r>
                        <a:rPr lang="en-US" altLang="zh-CN" sz="1400" dirty="0">
                          <a:effectLst/>
                          <a:latin typeface="微软雅黑" panose="020B0503020204020204" pitchFamily="34" charset="-122"/>
                          <a:ea typeface="微软雅黑" panose="020B0503020204020204" pitchFamily="34" charset="-122"/>
                        </a:rPr>
                        <a:t>2.</a:t>
                      </a:r>
                      <a:r>
                        <a:rPr lang="zh-CN" altLang="en-US" sz="1400" dirty="0">
                          <a:effectLst/>
                          <a:latin typeface="微软雅黑" panose="020B0503020204020204" pitchFamily="34" charset="-122"/>
                          <a:ea typeface="微软雅黑" panose="020B0503020204020204" pitchFamily="34" charset="-122"/>
                        </a:rPr>
                        <a:t>配置了</a:t>
                      </a:r>
                      <a:r>
                        <a:rPr lang="en-US" sz="1400" dirty="0" err="1">
                          <a:effectLst/>
                          <a:latin typeface="微软雅黑" panose="020B0503020204020204" pitchFamily="34" charset="-122"/>
                          <a:ea typeface="微软雅黑" panose="020B0503020204020204" pitchFamily="34" charset="-122"/>
                        </a:rPr>
                        <a:t>CMSClassUnloadingEnabled</a:t>
                      </a:r>
                      <a:r>
                        <a:rPr lang="en-US" sz="1400" dirty="0">
                          <a:effectLst/>
                          <a:latin typeface="微软雅黑" panose="020B0503020204020204" pitchFamily="34" charset="-122"/>
                          <a:ea typeface="微软雅黑" panose="020B0503020204020204" pitchFamily="34" charset="-122"/>
                        </a:rPr>
                        <a:t>,</a:t>
                      </a:r>
                      <a:r>
                        <a:rPr lang="zh-CN" altLang="en-US" sz="1400" dirty="0">
                          <a:effectLst/>
                          <a:latin typeface="微软雅黑" panose="020B0503020204020204" pitchFamily="34" charset="-122"/>
                          <a:ea typeface="微软雅黑" panose="020B0503020204020204" pitchFamily="34" charset="-122"/>
                        </a:rPr>
                        <a:t>且</a:t>
                      </a:r>
                      <a:r>
                        <a:rPr lang="en-US" sz="1400" dirty="0">
                          <a:effectLst/>
                          <a:latin typeface="微软雅黑" panose="020B0503020204020204" pitchFamily="34" charset="-122"/>
                          <a:ea typeface="微软雅黑" panose="020B0503020204020204" pitchFamily="34" charset="-122"/>
                        </a:rPr>
                        <a:t>Perm Gen</a:t>
                      </a:r>
                      <a:r>
                        <a:rPr lang="zh-CN" altLang="en-US" sz="1400" dirty="0">
                          <a:effectLst/>
                          <a:latin typeface="微软雅黑" panose="020B0503020204020204" pitchFamily="34" charset="-122"/>
                          <a:ea typeface="微软雅黑" panose="020B0503020204020204" pitchFamily="34" charset="-122"/>
                        </a:rPr>
                        <a:t>的使用达到一定的比率默认为</a:t>
                      </a:r>
                      <a:r>
                        <a:rPr lang="en-US" altLang="zh-CN" sz="1400" dirty="0">
                          <a:effectLst/>
                          <a:latin typeface="微软雅黑" panose="020B0503020204020204" pitchFamily="34" charset="-122"/>
                          <a:ea typeface="微软雅黑" panose="020B0503020204020204" pitchFamily="34" charset="-122"/>
                        </a:rPr>
                        <a:t>92%</a:t>
                      </a:r>
                      <a:br>
                        <a:rPr lang="en-US" altLang="zh-CN" sz="1400" dirty="0">
                          <a:effectLst/>
                          <a:latin typeface="微软雅黑" panose="020B0503020204020204" pitchFamily="34" charset="-122"/>
                          <a:ea typeface="微软雅黑" panose="020B0503020204020204" pitchFamily="34" charset="-122"/>
                        </a:rPr>
                      </a:br>
                      <a:r>
                        <a:rPr lang="en-US" altLang="zh-CN" sz="1400" dirty="0">
                          <a:effectLst/>
                          <a:latin typeface="微软雅黑" panose="020B0503020204020204" pitchFamily="34" charset="-122"/>
                          <a:ea typeface="微软雅黑" panose="020B0503020204020204" pitchFamily="34" charset="-122"/>
                        </a:rPr>
                        <a:t>3.</a:t>
                      </a:r>
                      <a:r>
                        <a:rPr lang="en-US" sz="1400" dirty="0">
                          <a:effectLst/>
                          <a:latin typeface="微软雅黑" panose="020B0503020204020204" pitchFamily="34" charset="-122"/>
                          <a:ea typeface="微软雅黑" panose="020B0503020204020204" pitchFamily="34" charset="-122"/>
                        </a:rPr>
                        <a:t>Hotspot</a:t>
                      </a:r>
                      <a:r>
                        <a:rPr lang="zh-CN" altLang="en-US" sz="1400" dirty="0">
                          <a:effectLst/>
                          <a:latin typeface="微软雅黑" panose="020B0503020204020204" pitchFamily="34" charset="-122"/>
                          <a:ea typeface="微软雅黑" panose="020B0503020204020204" pitchFamily="34" charset="-122"/>
                        </a:rPr>
                        <a:t>自己根据估计决定是否要触法</a:t>
                      </a:r>
                      <a:br>
                        <a:rPr lang="zh-CN" altLang="en-US" sz="1400" dirty="0">
                          <a:effectLst/>
                          <a:latin typeface="微软雅黑" panose="020B0503020204020204" pitchFamily="34" charset="-122"/>
                          <a:ea typeface="微软雅黑" panose="020B0503020204020204" pitchFamily="34" charset="-122"/>
                        </a:rPr>
                      </a:br>
                      <a:r>
                        <a:rPr lang="en-US" altLang="zh-CN" sz="1400" dirty="0">
                          <a:effectLst/>
                          <a:latin typeface="微软雅黑" panose="020B0503020204020204" pitchFamily="34" charset="-122"/>
                          <a:ea typeface="微软雅黑" panose="020B0503020204020204" pitchFamily="34" charset="-122"/>
                        </a:rPr>
                        <a:t>4.</a:t>
                      </a:r>
                      <a:r>
                        <a:rPr lang="zh-CN" altLang="en-US" sz="1400" dirty="0">
                          <a:effectLst/>
                          <a:latin typeface="微软雅黑" panose="020B0503020204020204" pitchFamily="34" charset="-122"/>
                          <a:ea typeface="微软雅黑" panose="020B0503020204020204" pitchFamily="34" charset="-122"/>
                        </a:rPr>
                        <a:t>在配置了</a:t>
                      </a:r>
                      <a:r>
                        <a:rPr lang="en-US" sz="1400" dirty="0" err="1">
                          <a:effectLst/>
                          <a:latin typeface="微软雅黑" panose="020B0503020204020204" pitchFamily="34" charset="-122"/>
                          <a:ea typeface="微软雅黑" panose="020B0503020204020204" pitchFamily="34" charset="-122"/>
                        </a:rPr>
                        <a:t>ExplictGCInvokesConcurrent</a:t>
                      </a:r>
                      <a:r>
                        <a:rPr lang="zh-CN" altLang="en-US" sz="1400" dirty="0">
                          <a:effectLst/>
                          <a:latin typeface="微软雅黑" panose="020B0503020204020204" pitchFamily="34" charset="-122"/>
                          <a:ea typeface="微软雅黑" panose="020B0503020204020204" pitchFamily="34" charset="-122"/>
                        </a:rPr>
                        <a:t>的情况下显示调用了</a:t>
                      </a:r>
                      <a:r>
                        <a:rPr lang="en-US" sz="1400" dirty="0" err="1">
                          <a:effectLst/>
                          <a:latin typeface="微软雅黑" panose="020B0503020204020204" pitchFamily="34" charset="-122"/>
                          <a:ea typeface="微软雅黑" panose="020B0503020204020204" pitchFamily="34" charset="-122"/>
                        </a:rPr>
                        <a:t>System.gc</a:t>
                      </a:r>
                      <a:r>
                        <a:rPr lang="en-US" sz="1400" dirty="0">
                          <a:effectLst/>
                          <a:latin typeface="微软雅黑" panose="020B0503020204020204" pitchFamily="34" charset="-122"/>
                          <a:ea typeface="微软雅黑" panose="020B0503020204020204" pitchFamily="34" charset="-122"/>
                        </a:rPr>
                        <a:t>()</a:t>
                      </a:r>
                    </a:p>
                  </a:txBody>
                  <a:tcPr marL="28575" marR="28575" marT="28575" marB="28575">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34965058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zh-CN" altLang="en-US" dirty="0"/>
              <a:t>垃圾收集器</a:t>
            </a:r>
            <a:r>
              <a:rPr lang="zh-CN" altLang="en-US" dirty="0" smtClean="0"/>
              <a:t>算法</a:t>
            </a:r>
            <a:endParaRPr lang="zh-CN" altLang="en-US" sz="1600" dirty="0"/>
          </a:p>
        </p:txBody>
      </p:sp>
      <p:sp>
        <p:nvSpPr>
          <p:cNvPr id="3" name="内容占位符 2"/>
          <p:cNvSpPr>
            <a:spLocks noGrp="1"/>
          </p:cNvSpPr>
          <p:nvPr>
            <p:ph idx="1"/>
          </p:nvPr>
        </p:nvSpPr>
        <p:spPr/>
        <p:txBody>
          <a:bodyPr>
            <a:normAutofit/>
          </a:bodyPr>
          <a:lstStyle/>
          <a:p>
            <a:r>
              <a:rPr lang="zh-CN" altLang="en-US" dirty="0" smtClean="0"/>
              <a:t>小结</a:t>
            </a:r>
            <a:endParaRPr lang="en-US" altLang="zh-CN" sz="1600" dirty="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36</a:t>
            </a:fld>
            <a:endParaRPr lang="zh-CN" altLang="en-US"/>
          </a:p>
        </p:txBody>
      </p:sp>
      <p:graphicFrame>
        <p:nvGraphicFramePr>
          <p:cNvPr id="5" name="表格 4"/>
          <p:cNvGraphicFramePr>
            <a:graphicFrameLocks noGrp="1"/>
          </p:cNvGraphicFramePr>
          <p:nvPr>
            <p:extLst/>
          </p:nvPr>
        </p:nvGraphicFramePr>
        <p:xfrm>
          <a:off x="395536" y="1628801"/>
          <a:ext cx="8398296" cy="4174820"/>
        </p:xfrm>
        <a:graphic>
          <a:graphicData uri="http://schemas.openxmlformats.org/drawingml/2006/table">
            <a:tbl>
              <a:tblPr/>
              <a:tblGrid>
                <a:gridCol w="713736"/>
                <a:gridCol w="2561520"/>
                <a:gridCol w="2561520"/>
                <a:gridCol w="2561520"/>
              </a:tblGrid>
              <a:tr h="433770">
                <a:tc>
                  <a:txBody>
                    <a:bodyPr/>
                    <a:lstStyle/>
                    <a:p>
                      <a:pPr algn="ctr"/>
                      <a:r>
                        <a:rPr lang="zh-CN" altLang="en-US" sz="1400" b="1" dirty="0">
                          <a:effectLst/>
                          <a:latin typeface="微软雅黑" panose="020B0503020204020204" pitchFamily="34" charset="-122"/>
                          <a:ea typeface="微软雅黑" panose="020B0503020204020204" pitchFamily="34" charset="-122"/>
                        </a:rPr>
                        <a:t>类别</a:t>
                      </a:r>
                      <a:endParaRPr lang="zh-CN" altLang="en-US" sz="1400" dirty="0">
                        <a:effectLst/>
                        <a:latin typeface="微软雅黑" panose="020B0503020204020204" pitchFamily="34" charset="-122"/>
                        <a:ea typeface="微软雅黑" panose="020B0503020204020204" pitchFamily="34" charset="-122"/>
                      </a:endParaRPr>
                    </a:p>
                  </a:txBody>
                  <a:tcPr marL="16675" marR="16675" marT="16675" marB="16675">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pPr algn="ctr"/>
                      <a:r>
                        <a:rPr lang="en-US" sz="1400" b="1">
                          <a:effectLst/>
                          <a:latin typeface="微软雅黑" panose="020B0503020204020204" pitchFamily="34" charset="-122"/>
                          <a:ea typeface="微软雅黑" panose="020B0503020204020204" pitchFamily="34" charset="-122"/>
                        </a:rPr>
                        <a:t>serial collector</a:t>
                      </a:r>
                      <a:endParaRPr lang="en-US" sz="1400">
                        <a:effectLst/>
                        <a:latin typeface="微软雅黑" panose="020B0503020204020204" pitchFamily="34" charset="-122"/>
                        <a:ea typeface="微软雅黑" panose="020B0503020204020204" pitchFamily="34" charset="-122"/>
                      </a:endParaRPr>
                    </a:p>
                    <a:p>
                      <a:pPr algn="ctr"/>
                      <a:r>
                        <a:rPr lang="en-US" sz="1400" b="1">
                          <a:effectLst/>
                          <a:latin typeface="微软雅黑" panose="020B0503020204020204" pitchFamily="34" charset="-122"/>
                          <a:ea typeface="微软雅黑" panose="020B0503020204020204" pitchFamily="34" charset="-122"/>
                        </a:rPr>
                        <a:t>(</a:t>
                      </a:r>
                      <a:r>
                        <a:rPr lang="zh-CN" altLang="en-US" sz="1400">
                          <a:effectLst/>
                          <a:latin typeface="微软雅黑" panose="020B0503020204020204" pitchFamily="34" charset="-122"/>
                          <a:ea typeface="微软雅黑" panose="020B0503020204020204" pitchFamily="34" charset="-122"/>
                        </a:rPr>
                        <a:t>单线程收集器</a:t>
                      </a:r>
                      <a:r>
                        <a:rPr lang="en-US" altLang="zh-CN" sz="1400" b="1">
                          <a:effectLst/>
                          <a:latin typeface="微软雅黑" panose="020B0503020204020204" pitchFamily="34" charset="-122"/>
                          <a:ea typeface="微软雅黑" panose="020B0503020204020204" pitchFamily="34" charset="-122"/>
                        </a:rPr>
                        <a:t>)</a:t>
                      </a:r>
                      <a:endParaRPr lang="zh-CN" altLang="en-US" sz="1400">
                        <a:effectLst/>
                        <a:latin typeface="微软雅黑" panose="020B0503020204020204" pitchFamily="34" charset="-122"/>
                        <a:ea typeface="微软雅黑" panose="020B0503020204020204" pitchFamily="34" charset="-122"/>
                      </a:endParaRPr>
                    </a:p>
                  </a:txBody>
                  <a:tcPr marL="16675" marR="16675" marT="16675" marB="16675">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pPr algn="ctr"/>
                      <a:r>
                        <a:rPr lang="en-US" sz="1400" b="1">
                          <a:effectLst/>
                          <a:latin typeface="微软雅黑" panose="020B0503020204020204" pitchFamily="34" charset="-122"/>
                          <a:ea typeface="微软雅黑" panose="020B0503020204020204" pitchFamily="34" charset="-122"/>
                        </a:rPr>
                        <a:t>parallel collector</a:t>
                      </a:r>
                      <a:br>
                        <a:rPr lang="en-US" sz="1400" b="1">
                          <a:effectLst/>
                          <a:latin typeface="微软雅黑" panose="020B0503020204020204" pitchFamily="34" charset="-122"/>
                          <a:ea typeface="微软雅黑" panose="020B0503020204020204" pitchFamily="34" charset="-122"/>
                        </a:rPr>
                      </a:br>
                      <a:r>
                        <a:rPr lang="en-US" sz="1400" b="1">
                          <a:effectLst/>
                          <a:latin typeface="微软雅黑" panose="020B0503020204020204" pitchFamily="34" charset="-122"/>
                          <a:ea typeface="微软雅黑" panose="020B0503020204020204" pitchFamily="34" charset="-122"/>
                        </a:rPr>
                        <a:t>( </a:t>
                      </a:r>
                      <a:r>
                        <a:rPr lang="zh-CN" altLang="en-US" sz="1400">
                          <a:effectLst/>
                          <a:latin typeface="微软雅黑" panose="020B0503020204020204" pitchFamily="34" charset="-122"/>
                          <a:ea typeface="微软雅黑" panose="020B0503020204020204" pitchFamily="34" charset="-122"/>
                        </a:rPr>
                        <a:t>并行收集器</a:t>
                      </a:r>
                      <a:r>
                        <a:rPr lang="en-US" altLang="zh-CN" sz="1400" b="1">
                          <a:effectLst/>
                          <a:latin typeface="微软雅黑" panose="020B0503020204020204" pitchFamily="34" charset="-122"/>
                          <a:ea typeface="微软雅黑" panose="020B0503020204020204" pitchFamily="34" charset="-122"/>
                        </a:rPr>
                        <a:t>)</a:t>
                      </a:r>
                      <a:endParaRPr lang="zh-CN" altLang="en-US" sz="1400">
                        <a:effectLst/>
                        <a:latin typeface="微软雅黑" panose="020B0503020204020204" pitchFamily="34" charset="-122"/>
                        <a:ea typeface="微软雅黑" panose="020B0503020204020204" pitchFamily="34" charset="-122"/>
                      </a:endParaRPr>
                    </a:p>
                  </a:txBody>
                  <a:tcPr marL="16675" marR="16675" marT="16675" marB="16675">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pPr algn="ctr"/>
                      <a:r>
                        <a:rPr lang="en-US" sz="1400" b="1" dirty="0">
                          <a:effectLst/>
                          <a:latin typeface="微软雅黑" panose="020B0503020204020204" pitchFamily="34" charset="-122"/>
                          <a:ea typeface="微软雅黑" panose="020B0503020204020204" pitchFamily="34" charset="-122"/>
                        </a:rPr>
                        <a:t>concurrent collector</a:t>
                      </a:r>
                      <a:br>
                        <a:rPr lang="en-US" sz="1400" b="1" dirty="0">
                          <a:effectLst/>
                          <a:latin typeface="微软雅黑" panose="020B0503020204020204" pitchFamily="34" charset="-122"/>
                          <a:ea typeface="微软雅黑" panose="020B0503020204020204" pitchFamily="34" charset="-122"/>
                        </a:rPr>
                      </a:br>
                      <a:r>
                        <a:rPr lang="en-US" sz="1400" b="1" dirty="0">
                          <a:effectLst/>
                          <a:latin typeface="微软雅黑" panose="020B0503020204020204" pitchFamily="34" charset="-122"/>
                          <a:ea typeface="微软雅黑" panose="020B0503020204020204" pitchFamily="34" charset="-122"/>
                        </a:rPr>
                        <a:t>(</a:t>
                      </a:r>
                      <a:r>
                        <a:rPr lang="zh-CN" altLang="en-US" sz="1400" dirty="0">
                          <a:effectLst/>
                          <a:latin typeface="微软雅黑" panose="020B0503020204020204" pitchFamily="34" charset="-122"/>
                          <a:ea typeface="微软雅黑" panose="020B0503020204020204" pitchFamily="34" charset="-122"/>
                        </a:rPr>
                        <a:t>并发收集器</a:t>
                      </a:r>
                      <a:r>
                        <a:rPr lang="en-US" altLang="zh-CN" sz="1400" b="1" dirty="0">
                          <a:effectLst/>
                          <a:latin typeface="微软雅黑" panose="020B0503020204020204" pitchFamily="34" charset="-122"/>
                          <a:ea typeface="微软雅黑" panose="020B0503020204020204" pitchFamily="34" charset="-122"/>
                        </a:rPr>
                        <a:t>)</a:t>
                      </a:r>
                      <a:endParaRPr lang="zh-CN" altLang="en-US" sz="1400" dirty="0">
                        <a:effectLst/>
                        <a:latin typeface="微软雅黑" panose="020B0503020204020204" pitchFamily="34" charset="-122"/>
                        <a:ea typeface="微软雅黑" panose="020B0503020204020204" pitchFamily="34" charset="-122"/>
                      </a:endParaRPr>
                    </a:p>
                  </a:txBody>
                  <a:tcPr marL="16675" marR="16675" marT="16675" marB="16675">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r>
              <a:tr h="836096">
                <a:tc>
                  <a:txBody>
                    <a:bodyPr/>
                    <a:lstStyle/>
                    <a:p>
                      <a:pPr algn="ctr"/>
                      <a:r>
                        <a:rPr lang="zh-CN" altLang="en-US" sz="1200" b="1" dirty="0">
                          <a:effectLst/>
                          <a:latin typeface="微软雅黑" panose="020B0503020204020204" pitchFamily="34" charset="-122"/>
                          <a:ea typeface="微软雅黑" panose="020B0503020204020204" pitchFamily="34" charset="-122"/>
                        </a:rPr>
                        <a:t>内存回收触发工作</a:t>
                      </a:r>
                      <a:endParaRPr lang="zh-CN" altLang="en-US" sz="1200" dirty="0">
                        <a:effectLst/>
                        <a:latin typeface="微软雅黑" panose="020B0503020204020204" pitchFamily="34" charset="-122"/>
                        <a:ea typeface="微软雅黑" panose="020B0503020204020204" pitchFamily="34" charset="-122"/>
                      </a:endParaRPr>
                    </a:p>
                  </a:txBody>
                  <a:tcPr marL="28575" marR="28575" marT="28575" marB="28575">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pPr algn="l"/>
                      <a:r>
                        <a:rPr lang="en-US" sz="1200" b="1">
                          <a:effectLst/>
                          <a:latin typeface="微软雅黑" panose="020B0503020204020204" pitchFamily="34" charset="-122"/>
                          <a:ea typeface="微软雅黑" panose="020B0503020204020204" pitchFamily="34" charset="-122"/>
                        </a:rPr>
                        <a:t>YGC</a:t>
                      </a:r>
                      <a:br>
                        <a:rPr lang="en-US" sz="1200" b="1">
                          <a:effectLst/>
                          <a:latin typeface="微软雅黑" panose="020B0503020204020204" pitchFamily="34" charset="-122"/>
                          <a:ea typeface="微软雅黑" panose="020B0503020204020204" pitchFamily="34" charset="-122"/>
                        </a:rPr>
                      </a:br>
                      <a:r>
                        <a:rPr lang="zh-CN" altLang="en-US" sz="1200">
                          <a:effectLst/>
                          <a:latin typeface="微软雅黑" panose="020B0503020204020204" pitchFamily="34" charset="-122"/>
                          <a:ea typeface="微软雅黑" panose="020B0503020204020204" pitchFamily="34" charset="-122"/>
                        </a:rPr>
                        <a:t>清空</a:t>
                      </a:r>
                      <a:r>
                        <a:rPr lang="en-US" sz="1200">
                          <a:effectLst/>
                          <a:latin typeface="微软雅黑" panose="020B0503020204020204" pitchFamily="34" charset="-122"/>
                          <a:ea typeface="微软雅黑" panose="020B0503020204020204" pitchFamily="34" charset="-122"/>
                        </a:rPr>
                        <a:t>eden+from</a:t>
                      </a:r>
                      <a:r>
                        <a:rPr lang="zh-CN" altLang="en-US" sz="1200">
                          <a:effectLst/>
                          <a:latin typeface="微软雅黑" panose="020B0503020204020204" pitchFamily="34" charset="-122"/>
                          <a:ea typeface="微软雅黑" panose="020B0503020204020204" pitchFamily="34" charset="-122"/>
                        </a:rPr>
                        <a:t>中所有</a:t>
                      </a:r>
                      <a:r>
                        <a:rPr lang="en-US" sz="1200">
                          <a:effectLst/>
                          <a:latin typeface="微软雅黑" panose="020B0503020204020204" pitchFamily="34" charset="-122"/>
                          <a:ea typeface="微软雅黑" panose="020B0503020204020204" pitchFamily="34" charset="-122"/>
                        </a:rPr>
                        <a:t>no ref</a:t>
                      </a:r>
                      <a:r>
                        <a:rPr lang="zh-CN" altLang="en-US" sz="1200">
                          <a:effectLst/>
                          <a:latin typeface="微软雅黑" panose="020B0503020204020204" pitchFamily="34" charset="-122"/>
                          <a:ea typeface="微软雅黑" panose="020B0503020204020204" pitchFamily="34" charset="-122"/>
                        </a:rPr>
                        <a:t>的对象占用的内存</a:t>
                      </a:r>
                      <a:br>
                        <a:rPr lang="zh-CN" altLang="en-US" sz="1200">
                          <a:effectLst/>
                          <a:latin typeface="微软雅黑" panose="020B0503020204020204" pitchFamily="34" charset="-122"/>
                          <a:ea typeface="微软雅黑" panose="020B0503020204020204" pitchFamily="34" charset="-122"/>
                        </a:rPr>
                      </a:br>
                      <a:r>
                        <a:rPr lang="zh-CN" altLang="en-US" sz="1200">
                          <a:effectLst/>
                          <a:latin typeface="微软雅黑" panose="020B0503020204020204" pitchFamily="34" charset="-122"/>
                          <a:ea typeface="微软雅黑" panose="020B0503020204020204" pitchFamily="34" charset="-122"/>
                        </a:rPr>
                        <a:t>将</a:t>
                      </a:r>
                      <a:r>
                        <a:rPr lang="en-US" sz="1200">
                          <a:effectLst/>
                          <a:latin typeface="微软雅黑" panose="020B0503020204020204" pitchFamily="34" charset="-122"/>
                          <a:ea typeface="微软雅黑" panose="020B0503020204020204" pitchFamily="34" charset="-122"/>
                        </a:rPr>
                        <a:t>eden+from</a:t>
                      </a:r>
                      <a:r>
                        <a:rPr lang="zh-CN" altLang="en-US" sz="1200">
                          <a:effectLst/>
                          <a:latin typeface="微软雅黑" panose="020B0503020204020204" pitchFamily="34" charset="-122"/>
                          <a:ea typeface="微软雅黑" panose="020B0503020204020204" pitchFamily="34" charset="-122"/>
                        </a:rPr>
                        <a:t>中的所有存活的对象</a:t>
                      </a:r>
                      <a:r>
                        <a:rPr lang="en-US" sz="1200">
                          <a:effectLst/>
                          <a:latin typeface="微软雅黑" panose="020B0503020204020204" pitchFamily="34" charset="-122"/>
                          <a:ea typeface="微软雅黑" panose="020B0503020204020204" pitchFamily="34" charset="-122"/>
                        </a:rPr>
                        <a:t>copy</a:t>
                      </a:r>
                      <a:r>
                        <a:rPr lang="zh-CN" altLang="en-US" sz="1200">
                          <a:effectLst/>
                          <a:latin typeface="微软雅黑" panose="020B0503020204020204" pitchFamily="34" charset="-122"/>
                          <a:ea typeface="微软雅黑" panose="020B0503020204020204" pitchFamily="34" charset="-122"/>
                        </a:rPr>
                        <a:t>到</a:t>
                      </a:r>
                      <a:r>
                        <a:rPr lang="en-US" sz="1200">
                          <a:effectLst/>
                          <a:latin typeface="微软雅黑" panose="020B0503020204020204" pitchFamily="34" charset="-122"/>
                          <a:ea typeface="微软雅黑" panose="020B0503020204020204" pitchFamily="34" charset="-122"/>
                        </a:rPr>
                        <a:t>to</a:t>
                      </a:r>
                      <a:r>
                        <a:rPr lang="zh-CN" altLang="en-US" sz="1200">
                          <a:effectLst/>
                          <a:latin typeface="微软雅黑" panose="020B0503020204020204" pitchFamily="34" charset="-122"/>
                          <a:ea typeface="微软雅黑" panose="020B0503020204020204" pitchFamily="34" charset="-122"/>
                        </a:rPr>
                        <a:t>中</a:t>
                      </a:r>
                      <a:br>
                        <a:rPr lang="zh-CN" altLang="en-US" sz="1200">
                          <a:effectLst/>
                          <a:latin typeface="微软雅黑" panose="020B0503020204020204" pitchFamily="34" charset="-122"/>
                          <a:ea typeface="微软雅黑" panose="020B0503020204020204" pitchFamily="34" charset="-122"/>
                        </a:rPr>
                      </a:br>
                      <a:r>
                        <a:rPr lang="zh-CN" altLang="en-US" sz="1200">
                          <a:effectLst/>
                          <a:latin typeface="微软雅黑" panose="020B0503020204020204" pitchFamily="34" charset="-122"/>
                          <a:ea typeface="微软雅黑" panose="020B0503020204020204" pitchFamily="34" charset="-122"/>
                        </a:rPr>
                        <a:t>在这个过程中一些对象将晋升到</a:t>
                      </a:r>
                      <a:r>
                        <a:rPr lang="en-US" sz="1200">
                          <a:effectLst/>
                          <a:latin typeface="微软雅黑" panose="020B0503020204020204" pitchFamily="34" charset="-122"/>
                          <a:ea typeface="微软雅黑" panose="020B0503020204020204" pitchFamily="34" charset="-122"/>
                        </a:rPr>
                        <a:t>old</a:t>
                      </a:r>
                      <a:r>
                        <a:rPr lang="zh-CN" altLang="en-US" sz="1200">
                          <a:effectLst/>
                          <a:latin typeface="微软雅黑" panose="020B0503020204020204" pitchFamily="34" charset="-122"/>
                          <a:ea typeface="微软雅黑" panose="020B0503020204020204" pitchFamily="34" charset="-122"/>
                        </a:rPr>
                        <a:t>中</a:t>
                      </a:r>
                      <a:r>
                        <a:rPr lang="en-US" altLang="zh-CN" sz="1200">
                          <a:effectLst/>
                          <a:latin typeface="微软雅黑" panose="020B0503020204020204" pitchFamily="34" charset="-122"/>
                          <a:ea typeface="微软雅黑" panose="020B0503020204020204" pitchFamily="34" charset="-122"/>
                        </a:rPr>
                        <a:t>:</a:t>
                      </a:r>
                      <a:br>
                        <a:rPr lang="en-US" altLang="zh-CN" sz="1200">
                          <a:effectLst/>
                          <a:latin typeface="微软雅黑" panose="020B0503020204020204" pitchFamily="34" charset="-122"/>
                          <a:ea typeface="微软雅黑" panose="020B0503020204020204" pitchFamily="34" charset="-122"/>
                        </a:rPr>
                      </a:br>
                      <a:r>
                        <a:rPr lang="en-US" altLang="zh-CN" sz="1200">
                          <a:effectLst/>
                          <a:latin typeface="微软雅黑" panose="020B0503020204020204" pitchFamily="34" charset="-122"/>
                          <a:ea typeface="微软雅黑" panose="020B0503020204020204" pitchFamily="34" charset="-122"/>
                        </a:rPr>
                        <a:t>--</a:t>
                      </a:r>
                      <a:r>
                        <a:rPr lang="en-US" sz="1200">
                          <a:effectLst/>
                          <a:latin typeface="微软雅黑" panose="020B0503020204020204" pitchFamily="34" charset="-122"/>
                          <a:ea typeface="微软雅黑" panose="020B0503020204020204" pitchFamily="34" charset="-122"/>
                        </a:rPr>
                        <a:t>to</a:t>
                      </a:r>
                      <a:r>
                        <a:rPr lang="zh-CN" altLang="en-US" sz="1200">
                          <a:effectLst/>
                          <a:latin typeface="微软雅黑" panose="020B0503020204020204" pitchFamily="34" charset="-122"/>
                          <a:ea typeface="微软雅黑" panose="020B0503020204020204" pitchFamily="34" charset="-122"/>
                        </a:rPr>
                        <a:t>放不下的</a:t>
                      </a:r>
                      <a:br>
                        <a:rPr lang="zh-CN" altLang="en-US" sz="1200">
                          <a:effectLst/>
                          <a:latin typeface="微软雅黑" panose="020B0503020204020204" pitchFamily="34" charset="-122"/>
                          <a:ea typeface="微软雅黑" panose="020B0503020204020204" pitchFamily="34" charset="-122"/>
                        </a:rPr>
                      </a:br>
                      <a:r>
                        <a:rPr lang="en-US" altLang="zh-CN" sz="1200">
                          <a:effectLst/>
                          <a:latin typeface="微软雅黑" panose="020B0503020204020204" pitchFamily="34" charset="-122"/>
                          <a:ea typeface="微软雅黑" panose="020B0503020204020204" pitchFamily="34" charset="-122"/>
                        </a:rPr>
                        <a:t>--</a:t>
                      </a:r>
                      <a:r>
                        <a:rPr lang="zh-CN" altLang="en-US" sz="1200">
                          <a:effectLst/>
                          <a:latin typeface="微软雅黑" panose="020B0503020204020204" pitchFamily="34" charset="-122"/>
                          <a:ea typeface="微软雅黑" panose="020B0503020204020204" pitchFamily="34" charset="-122"/>
                        </a:rPr>
                        <a:t>存活次数超过</a:t>
                      </a:r>
                      <a:r>
                        <a:rPr lang="en-US" sz="1200">
                          <a:effectLst/>
                          <a:latin typeface="微软雅黑" panose="020B0503020204020204" pitchFamily="34" charset="-122"/>
                          <a:ea typeface="微软雅黑" panose="020B0503020204020204" pitchFamily="34" charset="-122"/>
                        </a:rPr>
                        <a:t>tenuring threshold</a:t>
                      </a:r>
                      <a:r>
                        <a:rPr lang="zh-CN" altLang="en-US" sz="1200">
                          <a:effectLst/>
                          <a:latin typeface="微软雅黑" panose="020B0503020204020204" pitchFamily="34" charset="-122"/>
                          <a:ea typeface="微软雅黑" panose="020B0503020204020204" pitchFamily="34" charset="-122"/>
                        </a:rPr>
                        <a:t>的</a:t>
                      </a:r>
                      <a:br>
                        <a:rPr lang="zh-CN" altLang="en-US" sz="1200">
                          <a:effectLst/>
                          <a:latin typeface="微软雅黑" panose="020B0503020204020204" pitchFamily="34" charset="-122"/>
                          <a:ea typeface="微软雅黑" panose="020B0503020204020204" pitchFamily="34" charset="-122"/>
                        </a:rPr>
                      </a:br>
                      <a:r>
                        <a:rPr lang="zh-CN" altLang="en-US" sz="1200">
                          <a:effectLst/>
                          <a:latin typeface="微软雅黑" panose="020B0503020204020204" pitchFamily="34" charset="-122"/>
                          <a:ea typeface="微软雅黑" panose="020B0503020204020204" pitchFamily="34" charset="-122"/>
                        </a:rPr>
                        <a:t>重新计算</a:t>
                      </a:r>
                      <a:r>
                        <a:rPr lang="en-US" sz="1200">
                          <a:effectLst/>
                          <a:latin typeface="微软雅黑" panose="020B0503020204020204" pitchFamily="34" charset="-122"/>
                          <a:ea typeface="微软雅黑" panose="020B0503020204020204" pitchFamily="34" charset="-122"/>
                        </a:rPr>
                        <a:t>Tenuring Threshold;</a:t>
                      </a:r>
                      <a:br>
                        <a:rPr lang="en-US" sz="1200">
                          <a:effectLst/>
                          <a:latin typeface="微软雅黑" panose="020B0503020204020204" pitchFamily="34" charset="-122"/>
                          <a:ea typeface="微软雅黑" panose="020B0503020204020204" pitchFamily="34" charset="-122"/>
                        </a:rPr>
                      </a:br>
                      <a:r>
                        <a:rPr lang="zh-CN" altLang="en-US" sz="1200">
                          <a:effectLst/>
                          <a:latin typeface="微软雅黑" panose="020B0503020204020204" pitchFamily="34" charset="-122"/>
                          <a:ea typeface="微软雅黑" panose="020B0503020204020204" pitchFamily="34" charset="-122"/>
                        </a:rPr>
                        <a:t>单线程做以上动作，</a:t>
                      </a:r>
                      <a:r>
                        <a:rPr lang="en-US" sz="1200">
                          <a:effectLst/>
                          <a:latin typeface="微软雅黑" panose="020B0503020204020204" pitchFamily="34" charset="-122"/>
                          <a:ea typeface="微软雅黑" panose="020B0503020204020204" pitchFamily="34" charset="-122"/>
                        </a:rPr>
                        <a:t>GC</a:t>
                      </a:r>
                      <a:r>
                        <a:rPr lang="zh-CN" altLang="en-US" sz="1200">
                          <a:effectLst/>
                          <a:latin typeface="微软雅黑" panose="020B0503020204020204" pitchFamily="34" charset="-122"/>
                          <a:ea typeface="微软雅黑" panose="020B0503020204020204" pitchFamily="34" charset="-122"/>
                        </a:rPr>
                        <a:t>全程暂停应用</a:t>
                      </a:r>
                      <a:br>
                        <a:rPr lang="zh-CN" altLang="en-US" sz="1200">
                          <a:effectLst/>
                          <a:latin typeface="微软雅黑" panose="020B0503020204020204" pitchFamily="34" charset="-122"/>
                          <a:ea typeface="微软雅黑" panose="020B0503020204020204" pitchFamily="34" charset="-122"/>
                        </a:rPr>
                      </a:br>
                      <a:r>
                        <a:rPr lang="en-US" sz="1200" b="1">
                          <a:effectLst/>
                          <a:latin typeface="微软雅黑" panose="020B0503020204020204" pitchFamily="34" charset="-122"/>
                          <a:ea typeface="微软雅黑" panose="020B0503020204020204" pitchFamily="34" charset="-122"/>
                        </a:rPr>
                        <a:t>FGC</a:t>
                      </a:r>
                      <a:br>
                        <a:rPr lang="en-US" sz="1200" b="1">
                          <a:effectLst/>
                          <a:latin typeface="微软雅黑" panose="020B0503020204020204" pitchFamily="34" charset="-122"/>
                          <a:ea typeface="微软雅黑" panose="020B0503020204020204" pitchFamily="34" charset="-122"/>
                        </a:rPr>
                      </a:br>
                      <a:r>
                        <a:rPr lang="zh-CN" altLang="en-US" sz="1200">
                          <a:effectLst/>
                          <a:latin typeface="微软雅黑" panose="020B0503020204020204" pitchFamily="34" charset="-122"/>
                          <a:ea typeface="微软雅黑" panose="020B0503020204020204" pitchFamily="34" charset="-122"/>
                        </a:rPr>
                        <a:t>如果配置了</a:t>
                      </a:r>
                      <a:r>
                        <a:rPr lang="en-US" sz="1200">
                          <a:effectLst/>
                          <a:latin typeface="微软雅黑" panose="020B0503020204020204" pitchFamily="34" charset="-122"/>
                          <a:ea typeface="微软雅黑" panose="020B0503020204020204" pitchFamily="34" charset="-122"/>
                        </a:rPr>
                        <a:t>CollectGen0First,</a:t>
                      </a:r>
                      <a:r>
                        <a:rPr lang="zh-CN" altLang="en-US" sz="1200">
                          <a:effectLst/>
                          <a:latin typeface="微软雅黑" panose="020B0503020204020204" pitchFamily="34" charset="-122"/>
                          <a:ea typeface="微软雅黑" panose="020B0503020204020204" pitchFamily="34" charset="-122"/>
                        </a:rPr>
                        <a:t>则先触发</a:t>
                      </a:r>
                      <a:r>
                        <a:rPr lang="en-US" sz="1200">
                          <a:effectLst/>
                          <a:latin typeface="微软雅黑" panose="020B0503020204020204" pitchFamily="34" charset="-122"/>
                          <a:ea typeface="微软雅黑" panose="020B0503020204020204" pitchFamily="34" charset="-122"/>
                        </a:rPr>
                        <a:t>YGC</a:t>
                      </a:r>
                      <a:br>
                        <a:rPr lang="en-US" sz="1200">
                          <a:effectLst/>
                          <a:latin typeface="微软雅黑" panose="020B0503020204020204" pitchFamily="34" charset="-122"/>
                          <a:ea typeface="微软雅黑" panose="020B0503020204020204" pitchFamily="34" charset="-122"/>
                        </a:rPr>
                      </a:br>
                      <a:r>
                        <a:rPr lang="zh-CN" altLang="en-US" sz="1200">
                          <a:effectLst/>
                          <a:latin typeface="微软雅黑" panose="020B0503020204020204" pitchFamily="34" charset="-122"/>
                          <a:ea typeface="微软雅黑" panose="020B0503020204020204" pitchFamily="34" charset="-122"/>
                        </a:rPr>
                        <a:t>清空</a:t>
                      </a:r>
                      <a:r>
                        <a:rPr lang="en-US" sz="1200">
                          <a:effectLst/>
                          <a:latin typeface="微软雅黑" panose="020B0503020204020204" pitchFamily="34" charset="-122"/>
                          <a:ea typeface="微软雅黑" panose="020B0503020204020204" pitchFamily="34" charset="-122"/>
                        </a:rPr>
                        <a:t>heap</a:t>
                      </a:r>
                      <a:r>
                        <a:rPr lang="zh-CN" altLang="en-US" sz="1200">
                          <a:effectLst/>
                          <a:latin typeface="微软雅黑" panose="020B0503020204020204" pitchFamily="34" charset="-122"/>
                          <a:ea typeface="微软雅黑" panose="020B0503020204020204" pitchFamily="34" charset="-122"/>
                        </a:rPr>
                        <a:t>中</a:t>
                      </a:r>
                      <a:r>
                        <a:rPr lang="en-US" sz="1200">
                          <a:effectLst/>
                          <a:latin typeface="微软雅黑" panose="020B0503020204020204" pitchFamily="34" charset="-122"/>
                          <a:ea typeface="微软雅黑" panose="020B0503020204020204" pitchFamily="34" charset="-122"/>
                        </a:rPr>
                        <a:t>no ref</a:t>
                      </a:r>
                      <a:r>
                        <a:rPr lang="zh-CN" altLang="en-US" sz="1200">
                          <a:effectLst/>
                          <a:latin typeface="微软雅黑" panose="020B0503020204020204" pitchFamily="34" charset="-122"/>
                          <a:ea typeface="微软雅黑" panose="020B0503020204020204" pitchFamily="34" charset="-122"/>
                        </a:rPr>
                        <a:t>的对象</a:t>
                      </a:r>
                      <a:r>
                        <a:rPr lang="en-US" altLang="zh-CN" sz="1200">
                          <a:effectLst/>
                          <a:latin typeface="微软雅黑" panose="020B0503020204020204" pitchFamily="34" charset="-122"/>
                          <a:ea typeface="微软雅黑" panose="020B0503020204020204" pitchFamily="34" charset="-122"/>
                        </a:rPr>
                        <a:t>,</a:t>
                      </a:r>
                      <a:r>
                        <a:rPr lang="en-US" sz="1200">
                          <a:effectLst/>
                          <a:latin typeface="微软雅黑" panose="020B0503020204020204" pitchFamily="34" charset="-122"/>
                          <a:ea typeface="微软雅黑" panose="020B0503020204020204" pitchFamily="34" charset="-122"/>
                        </a:rPr>
                        <a:t>permgen</a:t>
                      </a:r>
                      <a:r>
                        <a:rPr lang="zh-CN" altLang="en-US" sz="1200">
                          <a:effectLst/>
                          <a:latin typeface="微软雅黑" panose="020B0503020204020204" pitchFamily="34" charset="-122"/>
                          <a:ea typeface="微软雅黑" panose="020B0503020204020204" pitchFamily="34" charset="-122"/>
                        </a:rPr>
                        <a:t>中已经被卸载的</a:t>
                      </a:r>
                      <a:r>
                        <a:rPr lang="en-US" sz="1200">
                          <a:effectLst/>
                          <a:latin typeface="微软雅黑" panose="020B0503020204020204" pitchFamily="34" charset="-122"/>
                          <a:ea typeface="微软雅黑" panose="020B0503020204020204" pitchFamily="34" charset="-122"/>
                        </a:rPr>
                        <a:t>classloader</a:t>
                      </a:r>
                      <a:r>
                        <a:rPr lang="zh-CN" altLang="en-US" sz="1200">
                          <a:effectLst/>
                          <a:latin typeface="微软雅黑" panose="020B0503020204020204" pitchFamily="34" charset="-122"/>
                          <a:ea typeface="微软雅黑" panose="020B0503020204020204" pitchFamily="34" charset="-122"/>
                        </a:rPr>
                        <a:t>中加载的</a:t>
                      </a:r>
                      <a:r>
                        <a:rPr lang="en-US" sz="1200">
                          <a:effectLst/>
                          <a:latin typeface="微软雅黑" panose="020B0503020204020204" pitchFamily="34" charset="-122"/>
                          <a:ea typeface="微软雅黑" panose="020B0503020204020204" pitchFamily="34" charset="-122"/>
                        </a:rPr>
                        <a:t>class</a:t>
                      </a:r>
                      <a:r>
                        <a:rPr lang="zh-CN" altLang="en-US" sz="1200">
                          <a:effectLst/>
                          <a:latin typeface="微软雅黑" panose="020B0503020204020204" pitchFamily="34" charset="-122"/>
                          <a:ea typeface="微软雅黑" panose="020B0503020204020204" pitchFamily="34" charset="-122"/>
                        </a:rPr>
                        <a:t>的信息</a:t>
                      </a:r>
                      <a:br>
                        <a:rPr lang="zh-CN" altLang="en-US" sz="1200">
                          <a:effectLst/>
                          <a:latin typeface="微软雅黑" panose="020B0503020204020204" pitchFamily="34" charset="-122"/>
                          <a:ea typeface="微软雅黑" panose="020B0503020204020204" pitchFamily="34" charset="-122"/>
                        </a:rPr>
                      </a:br>
                      <a:r>
                        <a:rPr lang="zh-CN" altLang="en-US" sz="1200">
                          <a:effectLst/>
                          <a:latin typeface="微软雅黑" panose="020B0503020204020204" pitchFamily="34" charset="-122"/>
                          <a:ea typeface="微软雅黑" panose="020B0503020204020204" pitchFamily="34" charset="-122"/>
                        </a:rPr>
                        <a:t>单线程做以上动作</a:t>
                      </a:r>
                      <a:br>
                        <a:rPr lang="zh-CN" altLang="en-US" sz="1200">
                          <a:effectLst/>
                          <a:latin typeface="微软雅黑" panose="020B0503020204020204" pitchFamily="34" charset="-122"/>
                          <a:ea typeface="微软雅黑" panose="020B0503020204020204" pitchFamily="34" charset="-122"/>
                        </a:rPr>
                      </a:br>
                      <a:r>
                        <a:rPr lang="zh-CN" altLang="en-US" sz="1200">
                          <a:effectLst/>
                          <a:latin typeface="微软雅黑" panose="020B0503020204020204" pitchFamily="34" charset="-122"/>
                          <a:ea typeface="微软雅黑" panose="020B0503020204020204" pitchFamily="34" charset="-122"/>
                        </a:rPr>
                        <a:t>全程暂停应用</a:t>
                      </a:r>
                    </a:p>
                  </a:txBody>
                  <a:tcPr marL="28575" marR="28575" marT="28575" marB="28575">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pPr algn="l"/>
                      <a:r>
                        <a:rPr lang="en-US" sz="1200" b="1" dirty="0">
                          <a:effectLst/>
                          <a:latin typeface="微软雅黑" panose="020B0503020204020204" pitchFamily="34" charset="-122"/>
                          <a:ea typeface="微软雅黑" panose="020B0503020204020204" pitchFamily="34" charset="-122"/>
                        </a:rPr>
                        <a:t>YGC</a:t>
                      </a:r>
                      <a:br>
                        <a:rPr lang="en-US" sz="1200" b="1" dirty="0">
                          <a:effectLst/>
                          <a:latin typeface="微软雅黑" panose="020B0503020204020204" pitchFamily="34" charset="-122"/>
                          <a:ea typeface="微软雅黑" panose="020B0503020204020204" pitchFamily="34" charset="-122"/>
                        </a:rPr>
                      </a:br>
                      <a:r>
                        <a:rPr lang="zh-CN" altLang="en-US" sz="1200" dirty="0">
                          <a:effectLst/>
                          <a:latin typeface="微软雅黑" panose="020B0503020204020204" pitchFamily="34" charset="-122"/>
                          <a:ea typeface="微软雅黑" panose="020B0503020204020204" pitchFamily="34" charset="-122"/>
                        </a:rPr>
                        <a:t>同</a:t>
                      </a:r>
                      <a:r>
                        <a:rPr lang="en-US" sz="1200" dirty="0">
                          <a:effectLst/>
                          <a:latin typeface="微软雅黑" panose="020B0503020204020204" pitchFamily="34" charset="-122"/>
                          <a:ea typeface="微软雅黑" panose="020B0503020204020204" pitchFamily="34" charset="-122"/>
                        </a:rPr>
                        <a:t>serial</a:t>
                      </a:r>
                      <a:r>
                        <a:rPr lang="zh-CN" altLang="en-US" sz="1200" dirty="0">
                          <a:effectLst/>
                          <a:latin typeface="微软雅黑" panose="020B0503020204020204" pitchFamily="34" charset="-122"/>
                          <a:ea typeface="微软雅黑" panose="020B0503020204020204" pitchFamily="34" charset="-122"/>
                        </a:rPr>
                        <a:t>动作基本相同</a:t>
                      </a:r>
                      <a:r>
                        <a:rPr lang="en-US" altLang="zh-CN" sz="1200" dirty="0">
                          <a:effectLst/>
                          <a:latin typeface="微软雅黑" panose="020B0503020204020204" pitchFamily="34" charset="-122"/>
                          <a:ea typeface="微软雅黑" panose="020B0503020204020204" pitchFamily="34" charset="-122"/>
                        </a:rPr>
                        <a:t>,</a:t>
                      </a:r>
                      <a:r>
                        <a:rPr lang="zh-CN" altLang="en-US" sz="1200" dirty="0">
                          <a:effectLst/>
                          <a:latin typeface="微软雅黑" panose="020B0503020204020204" pitchFamily="34" charset="-122"/>
                          <a:ea typeface="微软雅黑" panose="020B0503020204020204" pitchFamily="34" charset="-122"/>
                        </a:rPr>
                        <a:t>不同点</a:t>
                      </a:r>
                      <a:r>
                        <a:rPr lang="en-US" altLang="zh-CN" sz="1200" dirty="0">
                          <a:effectLst/>
                          <a:latin typeface="微软雅黑" panose="020B0503020204020204" pitchFamily="34" charset="-122"/>
                          <a:ea typeface="微软雅黑" panose="020B0503020204020204" pitchFamily="34" charset="-122"/>
                        </a:rPr>
                        <a:t>:</a:t>
                      </a:r>
                      <a:br>
                        <a:rPr lang="en-US" altLang="zh-CN" sz="1200" dirty="0">
                          <a:effectLst/>
                          <a:latin typeface="微软雅黑" panose="020B0503020204020204" pitchFamily="34" charset="-122"/>
                          <a:ea typeface="微软雅黑" panose="020B0503020204020204" pitchFamily="34" charset="-122"/>
                        </a:rPr>
                      </a:br>
                      <a:r>
                        <a:rPr lang="en-US" altLang="zh-CN" sz="1200" dirty="0">
                          <a:effectLst/>
                          <a:latin typeface="微软雅黑" panose="020B0503020204020204" pitchFamily="34" charset="-122"/>
                          <a:ea typeface="微软雅黑" panose="020B0503020204020204" pitchFamily="34" charset="-122"/>
                        </a:rPr>
                        <a:t>1.</a:t>
                      </a:r>
                      <a:r>
                        <a:rPr lang="zh-CN" altLang="en-US" sz="1200" dirty="0">
                          <a:effectLst/>
                          <a:latin typeface="微软雅黑" panose="020B0503020204020204" pitchFamily="34" charset="-122"/>
                          <a:ea typeface="微软雅黑" panose="020B0503020204020204" pitchFamily="34" charset="-122"/>
                        </a:rPr>
                        <a:t>多线程处理</a:t>
                      </a:r>
                      <a:br>
                        <a:rPr lang="zh-CN" altLang="en-US" sz="1200" dirty="0">
                          <a:effectLst/>
                          <a:latin typeface="微软雅黑" panose="020B0503020204020204" pitchFamily="34" charset="-122"/>
                          <a:ea typeface="微软雅黑" panose="020B0503020204020204" pitchFamily="34" charset="-122"/>
                        </a:rPr>
                      </a:br>
                      <a:r>
                        <a:rPr lang="en-US" altLang="zh-CN" sz="1200" dirty="0">
                          <a:effectLst/>
                          <a:latin typeface="微软雅黑" panose="020B0503020204020204" pitchFamily="34" charset="-122"/>
                          <a:ea typeface="微软雅黑" panose="020B0503020204020204" pitchFamily="34" charset="-122"/>
                        </a:rPr>
                        <a:t>2.</a:t>
                      </a:r>
                      <a:r>
                        <a:rPr lang="en-US" sz="1200" dirty="0">
                          <a:effectLst/>
                          <a:latin typeface="微软雅黑" panose="020B0503020204020204" pitchFamily="34" charset="-122"/>
                          <a:ea typeface="微软雅黑" panose="020B0503020204020204" pitchFamily="34" charset="-122"/>
                        </a:rPr>
                        <a:t>YGC</a:t>
                      </a:r>
                      <a:r>
                        <a:rPr lang="zh-CN" altLang="en-US" sz="1200" dirty="0">
                          <a:effectLst/>
                          <a:latin typeface="微软雅黑" panose="020B0503020204020204" pitchFamily="34" charset="-122"/>
                          <a:ea typeface="微软雅黑" panose="020B0503020204020204" pitchFamily="34" charset="-122"/>
                        </a:rPr>
                        <a:t>的最后不仅重新计算</a:t>
                      </a:r>
                      <a:r>
                        <a:rPr lang="en-US" sz="1200" dirty="0" err="1">
                          <a:effectLst/>
                          <a:latin typeface="微软雅黑" panose="020B0503020204020204" pitchFamily="34" charset="-122"/>
                          <a:ea typeface="微软雅黑" panose="020B0503020204020204" pitchFamily="34" charset="-122"/>
                        </a:rPr>
                        <a:t>Tenuring</a:t>
                      </a:r>
                      <a:r>
                        <a:rPr lang="en-US" sz="1200" dirty="0">
                          <a:effectLst/>
                          <a:latin typeface="微软雅黑" panose="020B0503020204020204" pitchFamily="34" charset="-122"/>
                          <a:ea typeface="微软雅黑" panose="020B0503020204020204" pitchFamily="34" charset="-122"/>
                        </a:rPr>
                        <a:t> Threshold,</a:t>
                      </a:r>
                      <a:r>
                        <a:rPr lang="zh-CN" altLang="en-US" sz="1200" dirty="0">
                          <a:effectLst/>
                          <a:latin typeface="微软雅黑" panose="020B0503020204020204" pitchFamily="34" charset="-122"/>
                          <a:ea typeface="微软雅黑" panose="020B0503020204020204" pitchFamily="34" charset="-122"/>
                        </a:rPr>
                        <a:t>还会重新调整</a:t>
                      </a:r>
                      <a:r>
                        <a:rPr lang="en-US" sz="1200" dirty="0">
                          <a:effectLst/>
                          <a:latin typeface="微软雅黑" panose="020B0503020204020204" pitchFamily="34" charset="-122"/>
                          <a:ea typeface="微软雅黑" panose="020B0503020204020204" pitchFamily="34" charset="-122"/>
                        </a:rPr>
                        <a:t>Eden</a:t>
                      </a:r>
                      <a:r>
                        <a:rPr lang="zh-CN" altLang="en-US" sz="1200" dirty="0">
                          <a:effectLst/>
                          <a:latin typeface="微软雅黑" panose="020B0503020204020204" pitchFamily="34" charset="-122"/>
                          <a:ea typeface="微软雅黑" panose="020B0503020204020204" pitchFamily="34" charset="-122"/>
                        </a:rPr>
                        <a:t>和</a:t>
                      </a:r>
                      <a:r>
                        <a:rPr lang="en-US" sz="1200" dirty="0">
                          <a:effectLst/>
                          <a:latin typeface="微软雅黑" panose="020B0503020204020204" pitchFamily="34" charset="-122"/>
                          <a:ea typeface="微软雅黑" panose="020B0503020204020204" pitchFamily="34" charset="-122"/>
                        </a:rPr>
                        <a:t>From</a:t>
                      </a:r>
                      <a:r>
                        <a:rPr lang="zh-CN" altLang="en-US" sz="1200" dirty="0">
                          <a:effectLst/>
                          <a:latin typeface="微软雅黑" panose="020B0503020204020204" pitchFamily="34" charset="-122"/>
                          <a:ea typeface="微软雅黑" panose="020B0503020204020204" pitchFamily="34" charset="-122"/>
                        </a:rPr>
                        <a:t>的大小</a:t>
                      </a:r>
                      <a:br>
                        <a:rPr lang="zh-CN" altLang="en-US" sz="1200" dirty="0">
                          <a:effectLst/>
                          <a:latin typeface="微软雅黑" panose="020B0503020204020204" pitchFamily="34" charset="-122"/>
                          <a:ea typeface="微软雅黑" panose="020B0503020204020204" pitchFamily="34" charset="-122"/>
                        </a:rPr>
                      </a:br>
                      <a:r>
                        <a:rPr lang="en-US" sz="1200" b="1" dirty="0">
                          <a:effectLst/>
                          <a:latin typeface="微软雅黑" panose="020B0503020204020204" pitchFamily="34" charset="-122"/>
                          <a:ea typeface="微软雅黑" panose="020B0503020204020204" pitchFamily="34" charset="-122"/>
                        </a:rPr>
                        <a:t>FGC</a:t>
                      </a:r>
                      <a:r>
                        <a:rPr lang="en-US" sz="1200" dirty="0">
                          <a:effectLst/>
                          <a:latin typeface="微软雅黑" panose="020B0503020204020204" pitchFamily="34" charset="-122"/>
                          <a:ea typeface="微软雅黑" panose="020B0503020204020204" pitchFamily="34" charset="-122"/>
                        </a:rPr>
                        <a:t/>
                      </a:r>
                      <a:br>
                        <a:rPr lang="en-US" sz="1200" dirty="0">
                          <a:effectLst/>
                          <a:latin typeface="微软雅黑" panose="020B0503020204020204" pitchFamily="34" charset="-122"/>
                          <a:ea typeface="微软雅黑" panose="020B0503020204020204" pitchFamily="34" charset="-122"/>
                        </a:rPr>
                      </a:br>
                      <a:r>
                        <a:rPr lang="en-US" sz="1200" dirty="0">
                          <a:effectLst/>
                          <a:latin typeface="微软雅黑" panose="020B0503020204020204" pitchFamily="34" charset="-122"/>
                          <a:ea typeface="微软雅黑" panose="020B0503020204020204" pitchFamily="34" charset="-122"/>
                        </a:rPr>
                        <a:t>1.</a:t>
                      </a:r>
                      <a:r>
                        <a:rPr lang="zh-CN" altLang="en-US" sz="1200" dirty="0">
                          <a:effectLst/>
                          <a:latin typeface="微软雅黑" panose="020B0503020204020204" pitchFamily="34" charset="-122"/>
                          <a:ea typeface="微软雅黑" panose="020B0503020204020204" pitchFamily="34" charset="-122"/>
                        </a:rPr>
                        <a:t>如配置了</a:t>
                      </a:r>
                      <a:r>
                        <a:rPr lang="en-US" sz="1200" dirty="0" err="1">
                          <a:effectLst/>
                          <a:latin typeface="微软雅黑" panose="020B0503020204020204" pitchFamily="34" charset="-122"/>
                          <a:ea typeface="微软雅黑" panose="020B0503020204020204" pitchFamily="34" charset="-122"/>
                        </a:rPr>
                        <a:t>ScavengeBeforeFullGC</a:t>
                      </a:r>
                      <a:r>
                        <a:rPr lang="en-US" sz="1200" dirty="0">
                          <a:effectLst/>
                          <a:latin typeface="微软雅黑" panose="020B0503020204020204" pitchFamily="34" charset="-122"/>
                          <a:ea typeface="微软雅黑" panose="020B0503020204020204" pitchFamily="34" charset="-122"/>
                        </a:rPr>
                        <a:t>(</a:t>
                      </a:r>
                      <a:r>
                        <a:rPr lang="zh-CN" altLang="en-US" sz="1200" dirty="0">
                          <a:effectLst/>
                          <a:latin typeface="微软雅黑" panose="020B0503020204020204" pitchFamily="34" charset="-122"/>
                          <a:ea typeface="微软雅黑" panose="020B0503020204020204" pitchFamily="34" charset="-122"/>
                        </a:rPr>
                        <a:t>默认</a:t>
                      </a:r>
                      <a:r>
                        <a:rPr lang="en-US" altLang="zh-CN" sz="1200" dirty="0">
                          <a:effectLst/>
                          <a:latin typeface="微软雅黑" panose="020B0503020204020204" pitchFamily="34" charset="-122"/>
                          <a:ea typeface="微软雅黑" panose="020B0503020204020204" pitchFamily="34" charset="-122"/>
                        </a:rPr>
                        <a:t>),</a:t>
                      </a:r>
                      <a:r>
                        <a:rPr lang="zh-CN" altLang="en-US" sz="1200" dirty="0">
                          <a:effectLst/>
                          <a:latin typeface="微软雅黑" panose="020B0503020204020204" pitchFamily="34" charset="-122"/>
                          <a:ea typeface="微软雅黑" panose="020B0503020204020204" pitchFamily="34" charset="-122"/>
                        </a:rPr>
                        <a:t>则先触发</a:t>
                      </a:r>
                      <a:r>
                        <a:rPr lang="en-US" sz="1200" dirty="0">
                          <a:effectLst/>
                          <a:latin typeface="微软雅黑" panose="020B0503020204020204" pitchFamily="34" charset="-122"/>
                          <a:ea typeface="微软雅黑" panose="020B0503020204020204" pitchFamily="34" charset="-122"/>
                        </a:rPr>
                        <a:t>YGC(??)</a:t>
                      </a:r>
                      <a:br>
                        <a:rPr lang="en-US" sz="1200" dirty="0">
                          <a:effectLst/>
                          <a:latin typeface="微软雅黑" panose="020B0503020204020204" pitchFamily="34" charset="-122"/>
                          <a:ea typeface="微软雅黑" panose="020B0503020204020204" pitchFamily="34" charset="-122"/>
                        </a:rPr>
                      </a:br>
                      <a:r>
                        <a:rPr lang="en-US" sz="1200" dirty="0">
                          <a:effectLst/>
                          <a:latin typeface="微软雅黑" panose="020B0503020204020204" pitchFamily="34" charset="-122"/>
                          <a:ea typeface="微软雅黑" panose="020B0503020204020204" pitchFamily="34" charset="-122"/>
                        </a:rPr>
                        <a:t>2.MSC:</a:t>
                      </a:r>
                      <a:r>
                        <a:rPr lang="zh-CN" altLang="en-US" sz="1200" dirty="0">
                          <a:effectLst/>
                          <a:latin typeface="微软雅黑" panose="020B0503020204020204" pitchFamily="34" charset="-122"/>
                          <a:ea typeface="微软雅黑" panose="020B0503020204020204" pitchFamily="34" charset="-122"/>
                        </a:rPr>
                        <a:t>清空</a:t>
                      </a:r>
                      <a:r>
                        <a:rPr lang="en-US" sz="1200" dirty="0">
                          <a:effectLst/>
                          <a:latin typeface="微软雅黑" panose="020B0503020204020204" pitchFamily="34" charset="-122"/>
                          <a:ea typeface="微软雅黑" panose="020B0503020204020204" pitchFamily="34" charset="-122"/>
                        </a:rPr>
                        <a:t>heap</a:t>
                      </a:r>
                      <a:r>
                        <a:rPr lang="zh-CN" altLang="en-US" sz="1200" dirty="0">
                          <a:effectLst/>
                          <a:latin typeface="微软雅黑" panose="020B0503020204020204" pitchFamily="34" charset="-122"/>
                          <a:ea typeface="微软雅黑" panose="020B0503020204020204" pitchFamily="34" charset="-122"/>
                        </a:rPr>
                        <a:t>中的</a:t>
                      </a:r>
                      <a:r>
                        <a:rPr lang="en-US" sz="1200" dirty="0">
                          <a:effectLst/>
                          <a:latin typeface="微软雅黑" panose="020B0503020204020204" pitchFamily="34" charset="-122"/>
                          <a:ea typeface="微软雅黑" panose="020B0503020204020204" pitchFamily="34" charset="-122"/>
                        </a:rPr>
                        <a:t>no ref</a:t>
                      </a:r>
                      <a:r>
                        <a:rPr lang="zh-CN" altLang="en-US" sz="1200" dirty="0">
                          <a:effectLst/>
                          <a:latin typeface="微软雅黑" panose="020B0503020204020204" pitchFamily="34" charset="-122"/>
                          <a:ea typeface="微软雅黑" panose="020B0503020204020204" pitchFamily="34" charset="-122"/>
                        </a:rPr>
                        <a:t>对象</a:t>
                      </a:r>
                      <a:r>
                        <a:rPr lang="en-US" altLang="zh-CN" sz="1200" dirty="0">
                          <a:effectLst/>
                          <a:latin typeface="微软雅黑" panose="020B0503020204020204" pitchFamily="34" charset="-122"/>
                          <a:ea typeface="微软雅黑" panose="020B0503020204020204" pitchFamily="34" charset="-122"/>
                        </a:rPr>
                        <a:t>,</a:t>
                      </a:r>
                      <a:r>
                        <a:rPr lang="en-US" sz="1200" dirty="0" err="1">
                          <a:effectLst/>
                          <a:latin typeface="微软雅黑" panose="020B0503020204020204" pitchFamily="34" charset="-122"/>
                          <a:ea typeface="微软雅黑" panose="020B0503020204020204" pitchFamily="34" charset="-122"/>
                        </a:rPr>
                        <a:t>permgen</a:t>
                      </a:r>
                      <a:r>
                        <a:rPr lang="zh-CN" altLang="en-US" sz="1200" dirty="0">
                          <a:effectLst/>
                          <a:latin typeface="微软雅黑" panose="020B0503020204020204" pitchFamily="34" charset="-122"/>
                          <a:ea typeface="微软雅黑" panose="020B0503020204020204" pitchFamily="34" charset="-122"/>
                        </a:rPr>
                        <a:t>中已经被卸载的</a:t>
                      </a:r>
                      <a:r>
                        <a:rPr lang="en-US" sz="1200" dirty="0" err="1">
                          <a:effectLst/>
                          <a:latin typeface="微软雅黑" panose="020B0503020204020204" pitchFamily="34" charset="-122"/>
                          <a:ea typeface="微软雅黑" panose="020B0503020204020204" pitchFamily="34" charset="-122"/>
                        </a:rPr>
                        <a:t>classloader</a:t>
                      </a:r>
                      <a:r>
                        <a:rPr lang="zh-CN" altLang="en-US" sz="1200" dirty="0">
                          <a:effectLst/>
                          <a:latin typeface="微软雅黑" panose="020B0503020204020204" pitchFamily="34" charset="-122"/>
                          <a:ea typeface="微软雅黑" panose="020B0503020204020204" pitchFamily="34" charset="-122"/>
                        </a:rPr>
                        <a:t>中加载的</a:t>
                      </a:r>
                      <a:r>
                        <a:rPr lang="en-US" sz="1200" dirty="0">
                          <a:effectLst/>
                          <a:latin typeface="微软雅黑" panose="020B0503020204020204" pitchFamily="34" charset="-122"/>
                          <a:ea typeface="微软雅黑" panose="020B0503020204020204" pitchFamily="34" charset="-122"/>
                        </a:rPr>
                        <a:t>class</a:t>
                      </a:r>
                      <a:r>
                        <a:rPr lang="zh-CN" altLang="en-US" sz="1200" dirty="0">
                          <a:effectLst/>
                          <a:latin typeface="微软雅黑" panose="020B0503020204020204" pitchFamily="34" charset="-122"/>
                          <a:ea typeface="微软雅黑" panose="020B0503020204020204" pitchFamily="34" charset="-122"/>
                        </a:rPr>
                        <a:t>信息</a:t>
                      </a:r>
                      <a:r>
                        <a:rPr lang="en-US" altLang="zh-CN" sz="1200" dirty="0">
                          <a:effectLst/>
                          <a:latin typeface="微软雅黑" panose="020B0503020204020204" pitchFamily="34" charset="-122"/>
                          <a:ea typeface="微软雅黑" panose="020B0503020204020204" pitchFamily="34" charset="-122"/>
                        </a:rPr>
                        <a:t>,</a:t>
                      </a:r>
                      <a:r>
                        <a:rPr lang="zh-CN" altLang="en-US" sz="1200" dirty="0">
                          <a:effectLst/>
                          <a:latin typeface="微软雅黑" panose="020B0503020204020204" pitchFamily="34" charset="-122"/>
                          <a:ea typeface="微软雅黑" panose="020B0503020204020204" pitchFamily="34" charset="-122"/>
                        </a:rPr>
                        <a:t>并进行压缩</a:t>
                      </a:r>
                      <a:br>
                        <a:rPr lang="zh-CN" altLang="en-US" sz="1200" dirty="0">
                          <a:effectLst/>
                          <a:latin typeface="微软雅黑" panose="020B0503020204020204" pitchFamily="34" charset="-122"/>
                          <a:ea typeface="微软雅黑" panose="020B0503020204020204" pitchFamily="34" charset="-122"/>
                        </a:rPr>
                      </a:br>
                      <a:r>
                        <a:rPr lang="en-US" altLang="zh-CN" sz="1200" dirty="0">
                          <a:effectLst/>
                          <a:latin typeface="微软雅黑" panose="020B0503020204020204" pitchFamily="34" charset="-122"/>
                          <a:ea typeface="微软雅黑" panose="020B0503020204020204" pitchFamily="34" charset="-122"/>
                        </a:rPr>
                        <a:t>3.</a:t>
                      </a:r>
                      <a:r>
                        <a:rPr lang="en-US" sz="1200" dirty="0">
                          <a:effectLst/>
                          <a:latin typeface="微软雅黑" panose="020B0503020204020204" pitchFamily="34" charset="-122"/>
                          <a:ea typeface="微软雅黑" panose="020B0503020204020204" pitchFamily="34" charset="-122"/>
                        </a:rPr>
                        <a:t>Compacting:</a:t>
                      </a:r>
                      <a:r>
                        <a:rPr lang="zh-CN" altLang="en-US" sz="1200" dirty="0">
                          <a:effectLst/>
                          <a:latin typeface="微软雅黑" panose="020B0503020204020204" pitchFamily="34" charset="-122"/>
                          <a:ea typeface="微软雅黑" panose="020B0503020204020204" pitchFamily="34" charset="-122"/>
                        </a:rPr>
                        <a:t>清空</a:t>
                      </a:r>
                      <a:r>
                        <a:rPr lang="en-US" sz="1200" dirty="0">
                          <a:effectLst/>
                          <a:latin typeface="微软雅黑" panose="020B0503020204020204" pitchFamily="34" charset="-122"/>
                          <a:ea typeface="微软雅黑" panose="020B0503020204020204" pitchFamily="34" charset="-122"/>
                        </a:rPr>
                        <a:t>heap</a:t>
                      </a:r>
                      <a:r>
                        <a:rPr lang="zh-CN" altLang="en-US" sz="1200" dirty="0">
                          <a:effectLst/>
                          <a:latin typeface="微软雅黑" panose="020B0503020204020204" pitchFamily="34" charset="-122"/>
                          <a:ea typeface="微软雅黑" panose="020B0503020204020204" pitchFamily="34" charset="-122"/>
                        </a:rPr>
                        <a:t>中部分</a:t>
                      </a:r>
                      <a:r>
                        <a:rPr lang="en-US" sz="1200" dirty="0">
                          <a:effectLst/>
                          <a:latin typeface="微软雅黑" panose="020B0503020204020204" pitchFamily="34" charset="-122"/>
                          <a:ea typeface="微软雅黑" panose="020B0503020204020204" pitchFamily="34" charset="-122"/>
                        </a:rPr>
                        <a:t>no ref</a:t>
                      </a:r>
                      <a:r>
                        <a:rPr lang="zh-CN" altLang="en-US" sz="1200" dirty="0">
                          <a:effectLst/>
                          <a:latin typeface="微软雅黑" panose="020B0503020204020204" pitchFamily="34" charset="-122"/>
                          <a:ea typeface="微软雅黑" panose="020B0503020204020204" pitchFamily="34" charset="-122"/>
                        </a:rPr>
                        <a:t>的对象</a:t>
                      </a:r>
                      <a:r>
                        <a:rPr lang="en-US" altLang="zh-CN" sz="1200" dirty="0">
                          <a:effectLst/>
                          <a:latin typeface="微软雅黑" panose="020B0503020204020204" pitchFamily="34" charset="-122"/>
                          <a:ea typeface="微软雅黑" panose="020B0503020204020204" pitchFamily="34" charset="-122"/>
                        </a:rPr>
                        <a:t>,</a:t>
                      </a:r>
                      <a:r>
                        <a:rPr lang="en-US" sz="1200" dirty="0" err="1">
                          <a:effectLst/>
                          <a:latin typeface="微软雅黑" panose="020B0503020204020204" pitchFamily="34" charset="-122"/>
                          <a:ea typeface="微软雅黑" panose="020B0503020204020204" pitchFamily="34" charset="-122"/>
                        </a:rPr>
                        <a:t>permgen</a:t>
                      </a:r>
                      <a:r>
                        <a:rPr lang="zh-CN" altLang="en-US" sz="1200" dirty="0">
                          <a:effectLst/>
                          <a:latin typeface="微软雅黑" panose="020B0503020204020204" pitchFamily="34" charset="-122"/>
                          <a:ea typeface="微软雅黑" panose="020B0503020204020204" pitchFamily="34" charset="-122"/>
                        </a:rPr>
                        <a:t>中已经被卸载的</a:t>
                      </a:r>
                      <a:r>
                        <a:rPr lang="en-US" sz="1200" dirty="0" err="1">
                          <a:effectLst/>
                          <a:latin typeface="微软雅黑" panose="020B0503020204020204" pitchFamily="34" charset="-122"/>
                          <a:ea typeface="微软雅黑" panose="020B0503020204020204" pitchFamily="34" charset="-122"/>
                        </a:rPr>
                        <a:t>classloader</a:t>
                      </a:r>
                      <a:r>
                        <a:rPr lang="zh-CN" altLang="en-US" sz="1200" dirty="0">
                          <a:effectLst/>
                          <a:latin typeface="微软雅黑" panose="020B0503020204020204" pitchFamily="34" charset="-122"/>
                          <a:ea typeface="微软雅黑" panose="020B0503020204020204" pitchFamily="34" charset="-122"/>
                        </a:rPr>
                        <a:t>中加载的</a:t>
                      </a:r>
                      <a:r>
                        <a:rPr lang="en-US" sz="1200" dirty="0">
                          <a:effectLst/>
                          <a:latin typeface="微软雅黑" panose="020B0503020204020204" pitchFamily="34" charset="-122"/>
                          <a:ea typeface="微软雅黑" panose="020B0503020204020204" pitchFamily="34" charset="-122"/>
                        </a:rPr>
                        <a:t>class</a:t>
                      </a:r>
                      <a:r>
                        <a:rPr lang="zh-CN" altLang="en-US" sz="1200" dirty="0">
                          <a:effectLst/>
                          <a:latin typeface="微软雅黑" panose="020B0503020204020204" pitchFamily="34" charset="-122"/>
                          <a:ea typeface="微软雅黑" panose="020B0503020204020204" pitchFamily="34" charset="-122"/>
                        </a:rPr>
                        <a:t>信息</a:t>
                      </a:r>
                      <a:r>
                        <a:rPr lang="en-US" altLang="zh-CN" sz="1200" dirty="0">
                          <a:effectLst/>
                          <a:latin typeface="微软雅黑" panose="020B0503020204020204" pitchFamily="34" charset="-122"/>
                          <a:ea typeface="微软雅黑" panose="020B0503020204020204" pitchFamily="34" charset="-122"/>
                        </a:rPr>
                        <a:t>,</a:t>
                      </a:r>
                      <a:r>
                        <a:rPr lang="zh-CN" altLang="en-US" sz="1200" dirty="0">
                          <a:effectLst/>
                          <a:latin typeface="微软雅黑" panose="020B0503020204020204" pitchFamily="34" charset="-122"/>
                          <a:ea typeface="微软雅黑" panose="020B0503020204020204" pitchFamily="34" charset="-122"/>
                        </a:rPr>
                        <a:t>并进行部分压缩</a:t>
                      </a:r>
                      <a:br>
                        <a:rPr lang="zh-CN" altLang="en-US" sz="1200" dirty="0">
                          <a:effectLst/>
                          <a:latin typeface="微软雅黑" panose="020B0503020204020204" pitchFamily="34" charset="-122"/>
                          <a:ea typeface="微软雅黑" panose="020B0503020204020204" pitchFamily="34" charset="-122"/>
                        </a:rPr>
                      </a:br>
                      <a:r>
                        <a:rPr lang="zh-CN" altLang="en-US" sz="1200" dirty="0">
                          <a:effectLst/>
                          <a:latin typeface="微软雅黑" panose="020B0503020204020204" pitchFamily="34" charset="-122"/>
                          <a:ea typeface="微软雅黑" panose="020B0503020204020204" pitchFamily="34" charset="-122"/>
                        </a:rPr>
                        <a:t>多线程做以上动作</a:t>
                      </a:r>
                      <a:r>
                        <a:rPr lang="en-US" altLang="zh-CN" sz="1200" dirty="0">
                          <a:effectLst/>
                          <a:latin typeface="微软雅黑" panose="020B0503020204020204" pitchFamily="34" charset="-122"/>
                          <a:ea typeface="微软雅黑" panose="020B0503020204020204" pitchFamily="34" charset="-122"/>
                        </a:rPr>
                        <a:t>.</a:t>
                      </a:r>
                    </a:p>
                  </a:txBody>
                  <a:tcPr marL="28575" marR="28575" marT="28575" marB="28575">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pPr algn="l"/>
                      <a:r>
                        <a:rPr lang="en-US" sz="1200" b="1" dirty="0">
                          <a:effectLst/>
                          <a:latin typeface="微软雅黑" panose="020B0503020204020204" pitchFamily="34" charset="-122"/>
                          <a:ea typeface="微软雅黑" panose="020B0503020204020204" pitchFamily="34" charset="-122"/>
                        </a:rPr>
                        <a:t>YGC</a:t>
                      </a:r>
                      <a:r>
                        <a:rPr lang="en-US" sz="1200" dirty="0">
                          <a:effectLst/>
                          <a:latin typeface="微软雅黑" panose="020B0503020204020204" pitchFamily="34" charset="-122"/>
                          <a:ea typeface="微软雅黑" panose="020B0503020204020204" pitchFamily="34" charset="-122"/>
                        </a:rPr>
                        <a:t/>
                      </a:r>
                      <a:br>
                        <a:rPr lang="en-US" sz="1200" dirty="0">
                          <a:effectLst/>
                          <a:latin typeface="微软雅黑" panose="020B0503020204020204" pitchFamily="34" charset="-122"/>
                          <a:ea typeface="微软雅黑" panose="020B0503020204020204" pitchFamily="34" charset="-122"/>
                        </a:rPr>
                      </a:br>
                      <a:r>
                        <a:rPr lang="zh-CN" altLang="en-US" sz="1200" dirty="0">
                          <a:effectLst/>
                          <a:latin typeface="微软雅黑" panose="020B0503020204020204" pitchFamily="34" charset="-122"/>
                          <a:ea typeface="微软雅黑" panose="020B0503020204020204" pitchFamily="34" charset="-122"/>
                        </a:rPr>
                        <a:t>同</a:t>
                      </a:r>
                      <a:r>
                        <a:rPr lang="en-US" sz="1200" dirty="0">
                          <a:effectLst/>
                          <a:latin typeface="微软雅黑" panose="020B0503020204020204" pitchFamily="34" charset="-122"/>
                          <a:ea typeface="微软雅黑" panose="020B0503020204020204" pitchFamily="34" charset="-122"/>
                        </a:rPr>
                        <a:t>serial</a:t>
                      </a:r>
                      <a:r>
                        <a:rPr lang="zh-CN" altLang="en-US" sz="1200" dirty="0">
                          <a:effectLst/>
                          <a:latin typeface="微软雅黑" panose="020B0503020204020204" pitchFamily="34" charset="-122"/>
                          <a:ea typeface="微软雅黑" panose="020B0503020204020204" pitchFamily="34" charset="-122"/>
                        </a:rPr>
                        <a:t>动作基本相同</a:t>
                      </a:r>
                      <a:r>
                        <a:rPr lang="en-US" altLang="zh-CN" sz="1200" dirty="0">
                          <a:effectLst/>
                          <a:latin typeface="微软雅黑" panose="020B0503020204020204" pitchFamily="34" charset="-122"/>
                          <a:ea typeface="微软雅黑" panose="020B0503020204020204" pitchFamily="34" charset="-122"/>
                        </a:rPr>
                        <a:t>,</a:t>
                      </a:r>
                      <a:r>
                        <a:rPr lang="zh-CN" altLang="en-US" sz="1200" dirty="0">
                          <a:effectLst/>
                          <a:latin typeface="微软雅黑" panose="020B0503020204020204" pitchFamily="34" charset="-122"/>
                          <a:ea typeface="微软雅黑" panose="020B0503020204020204" pitchFamily="34" charset="-122"/>
                        </a:rPr>
                        <a:t>不同点</a:t>
                      </a:r>
                      <a:r>
                        <a:rPr lang="en-US" altLang="zh-CN" sz="1200" dirty="0">
                          <a:effectLst/>
                          <a:latin typeface="微软雅黑" panose="020B0503020204020204" pitchFamily="34" charset="-122"/>
                          <a:ea typeface="微软雅黑" panose="020B0503020204020204" pitchFamily="34" charset="-122"/>
                        </a:rPr>
                        <a:t>:</a:t>
                      </a:r>
                      <a:br>
                        <a:rPr lang="en-US" altLang="zh-CN" sz="1200" dirty="0">
                          <a:effectLst/>
                          <a:latin typeface="微软雅黑" panose="020B0503020204020204" pitchFamily="34" charset="-122"/>
                          <a:ea typeface="微软雅黑" panose="020B0503020204020204" pitchFamily="34" charset="-122"/>
                        </a:rPr>
                      </a:br>
                      <a:r>
                        <a:rPr lang="en-US" altLang="zh-CN" sz="1200" dirty="0">
                          <a:effectLst/>
                          <a:latin typeface="微软雅黑" panose="020B0503020204020204" pitchFamily="34" charset="-122"/>
                          <a:ea typeface="微软雅黑" panose="020B0503020204020204" pitchFamily="34" charset="-122"/>
                        </a:rPr>
                        <a:t>1.</a:t>
                      </a:r>
                      <a:r>
                        <a:rPr lang="zh-CN" altLang="en-US" sz="1200" dirty="0">
                          <a:effectLst/>
                          <a:latin typeface="微软雅黑" panose="020B0503020204020204" pitchFamily="34" charset="-122"/>
                          <a:ea typeface="微软雅黑" panose="020B0503020204020204" pitchFamily="34" charset="-122"/>
                        </a:rPr>
                        <a:t>多线程处理</a:t>
                      </a:r>
                      <a:br>
                        <a:rPr lang="zh-CN" altLang="en-US" sz="1200" dirty="0">
                          <a:effectLst/>
                          <a:latin typeface="微软雅黑" panose="020B0503020204020204" pitchFamily="34" charset="-122"/>
                          <a:ea typeface="微软雅黑" panose="020B0503020204020204" pitchFamily="34" charset="-122"/>
                        </a:rPr>
                      </a:br>
                      <a:r>
                        <a:rPr lang="en-US" sz="1200" b="1" dirty="0">
                          <a:effectLst/>
                          <a:latin typeface="微软雅黑" panose="020B0503020204020204" pitchFamily="34" charset="-122"/>
                          <a:ea typeface="微软雅黑" panose="020B0503020204020204" pitchFamily="34" charset="-122"/>
                        </a:rPr>
                        <a:t>CMSGC:</a:t>
                      </a:r>
                      <a:br>
                        <a:rPr lang="en-US" sz="1200" b="1" dirty="0">
                          <a:effectLst/>
                          <a:latin typeface="微软雅黑" panose="020B0503020204020204" pitchFamily="34" charset="-122"/>
                          <a:ea typeface="微软雅黑" panose="020B0503020204020204" pitchFamily="34" charset="-122"/>
                        </a:rPr>
                      </a:br>
                      <a:r>
                        <a:rPr lang="en-US" sz="1200" dirty="0">
                          <a:effectLst/>
                          <a:latin typeface="微软雅黑" panose="020B0503020204020204" pitchFamily="34" charset="-122"/>
                          <a:ea typeface="微软雅黑" panose="020B0503020204020204" pitchFamily="34" charset="-122"/>
                        </a:rPr>
                        <a:t>1.old gen</a:t>
                      </a:r>
                      <a:r>
                        <a:rPr lang="zh-CN" altLang="en-US" sz="1200" dirty="0">
                          <a:effectLst/>
                          <a:latin typeface="微软雅黑" panose="020B0503020204020204" pitchFamily="34" charset="-122"/>
                          <a:ea typeface="微软雅黑" panose="020B0503020204020204" pitchFamily="34" charset="-122"/>
                        </a:rPr>
                        <a:t>到达比率时只清除</a:t>
                      </a:r>
                      <a:r>
                        <a:rPr lang="en-US" sz="1200" dirty="0">
                          <a:effectLst/>
                          <a:latin typeface="微软雅黑" panose="020B0503020204020204" pitchFamily="34" charset="-122"/>
                          <a:ea typeface="微软雅黑" panose="020B0503020204020204" pitchFamily="34" charset="-122"/>
                        </a:rPr>
                        <a:t>old gen</a:t>
                      </a:r>
                      <a:r>
                        <a:rPr lang="zh-CN" altLang="en-US" sz="1200" dirty="0">
                          <a:effectLst/>
                          <a:latin typeface="微软雅黑" panose="020B0503020204020204" pitchFamily="34" charset="-122"/>
                          <a:ea typeface="微软雅黑" panose="020B0503020204020204" pitchFamily="34" charset="-122"/>
                        </a:rPr>
                        <a:t>中</a:t>
                      </a:r>
                      <a:r>
                        <a:rPr lang="en-US" sz="1200" dirty="0">
                          <a:effectLst/>
                          <a:latin typeface="微软雅黑" panose="020B0503020204020204" pitchFamily="34" charset="-122"/>
                          <a:ea typeface="微软雅黑" panose="020B0503020204020204" pitchFamily="34" charset="-122"/>
                        </a:rPr>
                        <a:t>no ref</a:t>
                      </a:r>
                      <a:r>
                        <a:rPr lang="zh-CN" altLang="en-US" sz="1200" dirty="0">
                          <a:effectLst/>
                          <a:latin typeface="微软雅黑" panose="020B0503020204020204" pitchFamily="34" charset="-122"/>
                          <a:ea typeface="微软雅黑" panose="020B0503020204020204" pitchFamily="34" charset="-122"/>
                        </a:rPr>
                        <a:t>的对象所占用的空间</a:t>
                      </a:r>
                      <a:br>
                        <a:rPr lang="zh-CN" altLang="en-US" sz="1200" dirty="0">
                          <a:effectLst/>
                          <a:latin typeface="微软雅黑" panose="020B0503020204020204" pitchFamily="34" charset="-122"/>
                          <a:ea typeface="微软雅黑" panose="020B0503020204020204" pitchFamily="34" charset="-122"/>
                        </a:rPr>
                      </a:br>
                      <a:r>
                        <a:rPr lang="en-US" altLang="zh-CN" sz="1200" dirty="0">
                          <a:effectLst/>
                          <a:latin typeface="微软雅黑" panose="020B0503020204020204" pitchFamily="34" charset="-122"/>
                          <a:ea typeface="微软雅黑" panose="020B0503020204020204" pitchFamily="34" charset="-122"/>
                        </a:rPr>
                        <a:t>2.</a:t>
                      </a:r>
                      <a:r>
                        <a:rPr lang="en-US" sz="1200" dirty="0">
                          <a:effectLst/>
                          <a:latin typeface="微软雅黑" panose="020B0503020204020204" pitchFamily="34" charset="-122"/>
                          <a:ea typeface="微软雅黑" panose="020B0503020204020204" pitchFamily="34" charset="-122"/>
                        </a:rPr>
                        <a:t>perm gen</a:t>
                      </a:r>
                      <a:r>
                        <a:rPr lang="zh-CN" altLang="en-US" sz="1200" dirty="0">
                          <a:effectLst/>
                          <a:latin typeface="微软雅黑" panose="020B0503020204020204" pitchFamily="34" charset="-122"/>
                          <a:ea typeface="微软雅黑" panose="020B0503020204020204" pitchFamily="34" charset="-122"/>
                        </a:rPr>
                        <a:t>到达比率时只清除已被清除的</a:t>
                      </a:r>
                      <a:r>
                        <a:rPr lang="en-US" sz="1200" dirty="0" err="1">
                          <a:effectLst/>
                          <a:latin typeface="微软雅黑" panose="020B0503020204020204" pitchFamily="34" charset="-122"/>
                          <a:ea typeface="微软雅黑" panose="020B0503020204020204" pitchFamily="34" charset="-122"/>
                        </a:rPr>
                        <a:t>classloader</a:t>
                      </a:r>
                      <a:r>
                        <a:rPr lang="zh-CN" altLang="en-US" sz="1200" dirty="0">
                          <a:effectLst/>
                          <a:latin typeface="微软雅黑" panose="020B0503020204020204" pitchFamily="34" charset="-122"/>
                          <a:ea typeface="微软雅黑" panose="020B0503020204020204" pitchFamily="34" charset="-122"/>
                        </a:rPr>
                        <a:t>加载的</a:t>
                      </a:r>
                      <a:r>
                        <a:rPr lang="en-US" sz="1200" dirty="0">
                          <a:effectLst/>
                          <a:latin typeface="微软雅黑" panose="020B0503020204020204" pitchFamily="34" charset="-122"/>
                          <a:ea typeface="微软雅黑" panose="020B0503020204020204" pitchFamily="34" charset="-122"/>
                        </a:rPr>
                        <a:t>class</a:t>
                      </a:r>
                      <a:r>
                        <a:rPr lang="zh-CN" altLang="en-US" sz="1200" dirty="0">
                          <a:effectLst/>
                          <a:latin typeface="微软雅黑" panose="020B0503020204020204" pitchFamily="34" charset="-122"/>
                          <a:ea typeface="微软雅黑" panose="020B0503020204020204" pitchFamily="34" charset="-122"/>
                        </a:rPr>
                        <a:t>信息</a:t>
                      </a:r>
                      <a:br>
                        <a:rPr lang="zh-CN" altLang="en-US" sz="1200" dirty="0">
                          <a:effectLst/>
                          <a:latin typeface="微软雅黑" panose="020B0503020204020204" pitchFamily="34" charset="-122"/>
                          <a:ea typeface="微软雅黑" panose="020B0503020204020204" pitchFamily="34" charset="-122"/>
                        </a:rPr>
                      </a:br>
                      <a:r>
                        <a:rPr lang="en-US" sz="1200" b="1" dirty="0">
                          <a:effectLst/>
                          <a:latin typeface="微软雅黑" panose="020B0503020204020204" pitchFamily="34" charset="-122"/>
                          <a:ea typeface="微软雅黑" panose="020B0503020204020204" pitchFamily="34" charset="-122"/>
                        </a:rPr>
                        <a:t>FGC</a:t>
                      </a:r>
                      <a:br>
                        <a:rPr lang="en-US" sz="1200" b="1" dirty="0">
                          <a:effectLst/>
                          <a:latin typeface="微软雅黑" panose="020B0503020204020204" pitchFamily="34" charset="-122"/>
                          <a:ea typeface="微软雅黑" panose="020B0503020204020204" pitchFamily="34" charset="-122"/>
                        </a:rPr>
                      </a:br>
                      <a:r>
                        <a:rPr lang="zh-CN" altLang="en-US" sz="1200" dirty="0">
                          <a:effectLst/>
                          <a:latin typeface="微软雅黑" panose="020B0503020204020204" pitchFamily="34" charset="-122"/>
                          <a:ea typeface="微软雅黑" panose="020B0503020204020204" pitchFamily="34" charset="-122"/>
                        </a:rPr>
                        <a:t>同</a:t>
                      </a:r>
                      <a:r>
                        <a:rPr lang="en-US" sz="1200" dirty="0">
                          <a:effectLst/>
                          <a:latin typeface="微软雅黑" panose="020B0503020204020204" pitchFamily="34" charset="-122"/>
                          <a:ea typeface="微软雅黑" panose="020B0503020204020204" pitchFamily="34" charset="-122"/>
                        </a:rPr>
                        <a:t>serial</a:t>
                      </a:r>
                    </a:p>
                  </a:txBody>
                  <a:tcPr marL="28575" marR="28575" marT="28575" marB="28575">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33200497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zh-CN" altLang="en-US" dirty="0" smtClean="0"/>
              <a:t>典型配置举例</a:t>
            </a:r>
            <a:r>
              <a:rPr lang="zh-CN" altLang="en-US" sz="1600" dirty="0" smtClean="0"/>
              <a:t> </a:t>
            </a:r>
            <a:endParaRPr lang="zh-CN" altLang="en-US" sz="1600" dirty="0"/>
          </a:p>
        </p:txBody>
      </p:sp>
      <p:sp>
        <p:nvSpPr>
          <p:cNvPr id="3" name="内容占位符 2"/>
          <p:cNvSpPr>
            <a:spLocks noGrp="1"/>
          </p:cNvSpPr>
          <p:nvPr>
            <p:ph idx="1"/>
          </p:nvPr>
        </p:nvSpPr>
        <p:spPr/>
        <p:txBody>
          <a:bodyPr>
            <a:normAutofit/>
          </a:bodyPr>
          <a:lstStyle/>
          <a:p>
            <a:r>
              <a:rPr lang="zh-CN" altLang="en-US" dirty="0"/>
              <a:t>堆大小</a:t>
            </a:r>
            <a:r>
              <a:rPr lang="zh-CN" altLang="en-US" dirty="0" smtClean="0"/>
              <a:t>设置</a:t>
            </a:r>
            <a:endParaRPr lang="en-US" altLang="zh-CN" sz="1600" dirty="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37</a:t>
            </a:fld>
            <a:endParaRPr lang="zh-CN" altLang="en-US"/>
          </a:p>
        </p:txBody>
      </p:sp>
      <p:pic>
        <p:nvPicPr>
          <p:cNvPr id="4" name="图片 3"/>
          <p:cNvPicPr>
            <a:picLocks noChangeAspect="1"/>
          </p:cNvPicPr>
          <p:nvPr/>
        </p:nvPicPr>
        <p:blipFill>
          <a:blip r:embed="rId2"/>
          <a:stretch>
            <a:fillRect/>
          </a:stretch>
        </p:blipFill>
        <p:spPr>
          <a:xfrm>
            <a:off x="180740" y="2024844"/>
            <a:ext cx="8926536" cy="3240360"/>
          </a:xfrm>
          <a:prstGeom prst="rect">
            <a:avLst/>
          </a:prstGeom>
        </p:spPr>
      </p:pic>
    </p:spTree>
    <p:extLst>
      <p:ext uri="{BB962C8B-B14F-4D97-AF65-F5344CB8AC3E}">
        <p14:creationId xmlns:p14="http://schemas.microsoft.com/office/powerpoint/2010/main" val="22181901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zh-CN" altLang="en-US" dirty="0" smtClean="0"/>
              <a:t>垃圾收集器调优</a:t>
            </a:r>
            <a:r>
              <a:rPr lang="zh-CN" altLang="en-US" sz="1600" dirty="0" smtClean="0"/>
              <a:t> </a:t>
            </a:r>
            <a:endParaRPr lang="zh-CN" altLang="en-US" sz="1600" dirty="0"/>
          </a:p>
        </p:txBody>
      </p:sp>
      <p:sp>
        <p:nvSpPr>
          <p:cNvPr id="3" name="内容占位符 2"/>
          <p:cNvSpPr>
            <a:spLocks noGrp="1"/>
          </p:cNvSpPr>
          <p:nvPr>
            <p:ph idx="1"/>
          </p:nvPr>
        </p:nvSpPr>
        <p:spPr/>
        <p:txBody>
          <a:bodyPr>
            <a:normAutofit/>
          </a:bodyPr>
          <a:lstStyle/>
          <a:p>
            <a:r>
              <a:rPr lang="zh-CN" altLang="en-US" dirty="0" smtClean="0"/>
              <a:t>并行收集器</a:t>
            </a:r>
            <a:r>
              <a:rPr lang="en-US" altLang="zh-CN" dirty="0" smtClean="0"/>
              <a:t>—</a:t>
            </a:r>
            <a:r>
              <a:rPr lang="zh-CN" altLang="en-US" dirty="0" smtClean="0"/>
              <a:t>吞吐量优先</a:t>
            </a:r>
            <a:endParaRPr lang="en-US" altLang="zh-CN" sz="1600" dirty="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38</a:t>
            </a:fld>
            <a:endParaRPr lang="zh-CN" altLang="en-US"/>
          </a:p>
        </p:txBody>
      </p:sp>
      <p:pic>
        <p:nvPicPr>
          <p:cNvPr id="5" name="图片 4"/>
          <p:cNvPicPr>
            <a:picLocks noChangeAspect="1"/>
          </p:cNvPicPr>
          <p:nvPr/>
        </p:nvPicPr>
        <p:blipFill>
          <a:blip r:embed="rId2"/>
          <a:stretch>
            <a:fillRect/>
          </a:stretch>
        </p:blipFill>
        <p:spPr>
          <a:xfrm>
            <a:off x="117571" y="2168860"/>
            <a:ext cx="9052873" cy="2952328"/>
          </a:xfrm>
          <a:prstGeom prst="rect">
            <a:avLst/>
          </a:prstGeom>
        </p:spPr>
      </p:pic>
    </p:spTree>
    <p:extLst>
      <p:ext uri="{BB962C8B-B14F-4D97-AF65-F5344CB8AC3E}">
        <p14:creationId xmlns:p14="http://schemas.microsoft.com/office/powerpoint/2010/main" val="16645927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zh-CN" altLang="en-US" dirty="0" smtClean="0"/>
              <a:t>垃圾收集器调优</a:t>
            </a:r>
            <a:r>
              <a:rPr lang="zh-CN" altLang="en-US" sz="1600" dirty="0" smtClean="0"/>
              <a:t> </a:t>
            </a:r>
            <a:endParaRPr lang="zh-CN" altLang="en-US" sz="1600" dirty="0"/>
          </a:p>
        </p:txBody>
      </p:sp>
      <p:sp>
        <p:nvSpPr>
          <p:cNvPr id="3" name="内容占位符 2"/>
          <p:cNvSpPr>
            <a:spLocks noGrp="1"/>
          </p:cNvSpPr>
          <p:nvPr>
            <p:ph idx="1"/>
          </p:nvPr>
        </p:nvSpPr>
        <p:spPr/>
        <p:txBody>
          <a:bodyPr>
            <a:normAutofit/>
          </a:bodyPr>
          <a:lstStyle/>
          <a:p>
            <a:r>
              <a:rPr lang="zh-CN" altLang="en-US" dirty="0" smtClean="0"/>
              <a:t>并发收集器</a:t>
            </a:r>
            <a:r>
              <a:rPr lang="en-US" altLang="zh-CN" dirty="0" smtClean="0"/>
              <a:t>—</a:t>
            </a:r>
            <a:r>
              <a:rPr lang="zh-CN" altLang="en-US" dirty="0" smtClean="0"/>
              <a:t>响应时间优先</a:t>
            </a:r>
            <a:endParaRPr lang="en-US" altLang="zh-CN" sz="1600" dirty="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39</a:t>
            </a:fld>
            <a:endParaRPr lang="zh-CN" altLang="en-US"/>
          </a:p>
        </p:txBody>
      </p:sp>
      <p:pic>
        <p:nvPicPr>
          <p:cNvPr id="4" name="图片 3"/>
          <p:cNvPicPr>
            <a:picLocks noChangeAspect="1"/>
          </p:cNvPicPr>
          <p:nvPr/>
        </p:nvPicPr>
        <p:blipFill>
          <a:blip r:embed="rId2"/>
          <a:stretch>
            <a:fillRect/>
          </a:stretch>
        </p:blipFill>
        <p:spPr>
          <a:xfrm>
            <a:off x="233772" y="2681672"/>
            <a:ext cx="8820472" cy="1926703"/>
          </a:xfrm>
          <a:prstGeom prst="rect">
            <a:avLst/>
          </a:prstGeom>
        </p:spPr>
      </p:pic>
    </p:spTree>
    <p:extLst>
      <p:ext uri="{BB962C8B-B14F-4D97-AF65-F5344CB8AC3E}">
        <p14:creationId xmlns:p14="http://schemas.microsoft.com/office/powerpoint/2010/main" val="10049260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zh-CN" altLang="en-US" dirty="0" smtClean="0"/>
              <a:t>调优总结</a:t>
            </a:r>
            <a:r>
              <a:rPr lang="zh-CN" altLang="en-US" sz="1600" dirty="0" smtClean="0"/>
              <a:t> </a:t>
            </a:r>
            <a:endParaRPr lang="zh-CN" altLang="en-US" sz="1600" dirty="0"/>
          </a:p>
        </p:txBody>
      </p:sp>
      <p:sp>
        <p:nvSpPr>
          <p:cNvPr id="3" name="内容占位符 2"/>
          <p:cNvSpPr>
            <a:spLocks noGrp="1"/>
          </p:cNvSpPr>
          <p:nvPr>
            <p:ph idx="1"/>
          </p:nvPr>
        </p:nvSpPr>
        <p:spPr/>
        <p:txBody>
          <a:bodyPr>
            <a:normAutofit/>
          </a:bodyPr>
          <a:lstStyle/>
          <a:p>
            <a:r>
              <a:rPr lang="zh-CN" altLang="en-US" dirty="0"/>
              <a:t>年轻</a:t>
            </a:r>
            <a:r>
              <a:rPr lang="zh-CN" altLang="en-US" dirty="0" smtClean="0"/>
              <a:t>代大小选择</a:t>
            </a:r>
            <a:endParaRPr lang="en-US" altLang="zh-CN" sz="1600" dirty="0"/>
          </a:p>
          <a:p>
            <a:pPr lvl="1"/>
            <a:r>
              <a:rPr lang="zh-CN" altLang="en-US" dirty="0" smtClean="0"/>
              <a:t>响应时间优先的应用</a:t>
            </a:r>
            <a:endParaRPr lang="en-US" altLang="zh-CN" dirty="0"/>
          </a:p>
          <a:p>
            <a:pPr lvl="2"/>
            <a:r>
              <a:rPr lang="zh-CN" altLang="en-US" sz="2000" dirty="0"/>
              <a:t>尽可能设大，直到接近系统的最低响应时间</a:t>
            </a:r>
            <a:r>
              <a:rPr lang="zh-CN" altLang="en-US" sz="2000" dirty="0" smtClean="0"/>
              <a:t>限制</a:t>
            </a:r>
            <a:endParaRPr lang="en-US" altLang="zh-CN" sz="2000" dirty="0" smtClean="0"/>
          </a:p>
          <a:p>
            <a:pPr lvl="2"/>
            <a:r>
              <a:rPr lang="zh-CN" altLang="en-US" sz="2000" dirty="0"/>
              <a:t>减少到达年老代的</a:t>
            </a:r>
            <a:r>
              <a:rPr lang="zh-CN" altLang="en-US" sz="2000" dirty="0" smtClean="0"/>
              <a:t>对象</a:t>
            </a:r>
            <a:endParaRPr lang="en-US" altLang="zh-CN" dirty="0" smtClean="0"/>
          </a:p>
          <a:p>
            <a:pPr lvl="1"/>
            <a:r>
              <a:rPr lang="zh-CN" altLang="en-US" dirty="0"/>
              <a:t>吞吐量优先的</a:t>
            </a:r>
            <a:r>
              <a:rPr lang="zh-CN" altLang="en-US" dirty="0" smtClean="0"/>
              <a:t>应用</a:t>
            </a:r>
            <a:endParaRPr lang="en-US" altLang="zh-CN" dirty="0"/>
          </a:p>
          <a:p>
            <a:pPr lvl="2"/>
            <a:r>
              <a:rPr lang="zh-CN" altLang="en-US" sz="2000" dirty="0"/>
              <a:t>尽可能的设置</a:t>
            </a:r>
            <a:r>
              <a:rPr lang="zh-CN" altLang="en-US" sz="2000" dirty="0" smtClean="0"/>
              <a:t>大</a:t>
            </a:r>
            <a:endParaRPr lang="en-US" altLang="zh-CN" sz="2000" dirty="0"/>
          </a:p>
          <a:p>
            <a:pPr lvl="2"/>
            <a:r>
              <a:rPr lang="zh-CN" altLang="en-US" sz="2000" dirty="0"/>
              <a:t>一般适合</a:t>
            </a:r>
            <a:r>
              <a:rPr lang="en-US" altLang="zh-CN" sz="2000" dirty="0"/>
              <a:t>8CPU</a:t>
            </a:r>
            <a:r>
              <a:rPr lang="zh-CN" altLang="en-US" sz="2000" dirty="0"/>
              <a:t>以上的</a:t>
            </a:r>
            <a:r>
              <a:rPr lang="zh-CN" altLang="en-US" sz="2000" dirty="0" smtClean="0"/>
              <a:t>应用</a:t>
            </a:r>
            <a:endParaRPr lang="en-US" altLang="zh-CN" sz="1600" dirty="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40</a:t>
            </a:fld>
            <a:endParaRPr lang="zh-CN" altLang="en-US"/>
          </a:p>
        </p:txBody>
      </p:sp>
    </p:spTree>
    <p:extLst>
      <p:ext uri="{BB962C8B-B14F-4D97-AF65-F5344CB8AC3E}">
        <p14:creationId xmlns:p14="http://schemas.microsoft.com/office/powerpoint/2010/main" val="23210238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anim calcmode="lin" valueType="num">
                                      <p:cBhvr>
                                        <p:cTn id="3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1000"/>
                                        <p:tgtEl>
                                          <p:spTgt spid="3">
                                            <p:txEl>
                                              <p:pRg st="6" end="6"/>
                                            </p:txEl>
                                          </p:spTgt>
                                        </p:tgtEl>
                                      </p:cBhvr>
                                    </p:animEffect>
                                    <p:anim calcmode="lin" valueType="num">
                                      <p:cBhvr>
                                        <p:cTn id="3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zh-CN" altLang="en-US" dirty="0" smtClean="0"/>
              <a:t>调优总结</a:t>
            </a:r>
            <a:r>
              <a:rPr lang="zh-CN" altLang="en-US" sz="1600" dirty="0" smtClean="0"/>
              <a:t> </a:t>
            </a:r>
            <a:endParaRPr lang="zh-CN" altLang="en-US" sz="1600" dirty="0"/>
          </a:p>
        </p:txBody>
      </p:sp>
      <p:sp>
        <p:nvSpPr>
          <p:cNvPr id="3" name="内容占位符 2"/>
          <p:cNvSpPr>
            <a:spLocks noGrp="1"/>
          </p:cNvSpPr>
          <p:nvPr>
            <p:ph idx="1"/>
          </p:nvPr>
        </p:nvSpPr>
        <p:spPr/>
        <p:txBody>
          <a:bodyPr>
            <a:normAutofit/>
          </a:bodyPr>
          <a:lstStyle/>
          <a:p>
            <a:r>
              <a:rPr lang="zh-CN" altLang="en-US" dirty="0" smtClean="0"/>
              <a:t>年老代大小选择</a:t>
            </a:r>
            <a:endParaRPr lang="en-US" altLang="zh-CN" sz="1600" dirty="0"/>
          </a:p>
          <a:p>
            <a:pPr lvl="1"/>
            <a:r>
              <a:rPr lang="zh-CN" altLang="en-US" dirty="0" smtClean="0"/>
              <a:t>响应时间优先的应用</a:t>
            </a:r>
            <a:endParaRPr lang="en-US" altLang="zh-CN" dirty="0"/>
          </a:p>
          <a:p>
            <a:pPr lvl="2"/>
            <a:r>
              <a:rPr lang="zh-CN" altLang="en-US" sz="2000" dirty="0"/>
              <a:t>一般要考虑</a:t>
            </a:r>
            <a:r>
              <a:rPr lang="zh-CN" altLang="en-US" sz="2000" b="1" dirty="0"/>
              <a:t>并发会话率</a:t>
            </a:r>
            <a:r>
              <a:rPr lang="zh-CN" altLang="en-US" sz="2000" dirty="0"/>
              <a:t>和</a:t>
            </a:r>
            <a:r>
              <a:rPr lang="zh-CN" altLang="en-US" sz="2000" b="1" dirty="0"/>
              <a:t>会话持续时间</a:t>
            </a:r>
            <a:r>
              <a:rPr lang="zh-CN" altLang="en-US" sz="2000" dirty="0"/>
              <a:t>等一些参数</a:t>
            </a:r>
            <a:endParaRPr lang="en-US" altLang="zh-CN" sz="2000" dirty="0" smtClean="0"/>
          </a:p>
          <a:p>
            <a:pPr lvl="2"/>
            <a:r>
              <a:rPr lang="zh-CN" altLang="en-US" sz="2000" dirty="0"/>
              <a:t>并发</a:t>
            </a:r>
            <a:r>
              <a:rPr lang="zh-CN" altLang="en-US" sz="2000" dirty="0" smtClean="0"/>
              <a:t>垃圾收集</a:t>
            </a:r>
            <a:endParaRPr lang="en-US" altLang="zh-CN" sz="2000" dirty="0" smtClean="0"/>
          </a:p>
          <a:p>
            <a:pPr lvl="2"/>
            <a:r>
              <a:rPr lang="zh-CN" altLang="en-US" sz="2000" dirty="0" smtClean="0"/>
              <a:t>注意花在年轻代和年老代回收上的时间比例</a:t>
            </a:r>
            <a:endParaRPr lang="en-US" altLang="zh-CN" dirty="0" smtClean="0"/>
          </a:p>
          <a:p>
            <a:pPr lvl="1"/>
            <a:r>
              <a:rPr lang="zh-CN" altLang="en-US" dirty="0"/>
              <a:t>吞吐量优先的</a:t>
            </a:r>
            <a:r>
              <a:rPr lang="zh-CN" altLang="en-US" dirty="0" smtClean="0"/>
              <a:t>应用</a:t>
            </a:r>
            <a:endParaRPr lang="en-US" altLang="zh-CN" dirty="0"/>
          </a:p>
          <a:p>
            <a:pPr lvl="2"/>
            <a:r>
              <a:rPr lang="zh-CN" altLang="en-US" sz="2000" dirty="0" smtClean="0"/>
              <a:t>一般都</a:t>
            </a:r>
            <a:r>
              <a:rPr lang="zh-CN" altLang="en-US" sz="2000" dirty="0"/>
              <a:t>有一个很大的年轻代和一个较小的年老</a:t>
            </a:r>
            <a:r>
              <a:rPr lang="zh-CN" altLang="en-US" sz="2000" dirty="0" smtClean="0"/>
              <a:t>代</a:t>
            </a:r>
            <a:endParaRPr lang="en-US" altLang="zh-CN" sz="2000" dirty="0"/>
          </a:p>
          <a:p>
            <a:pPr lvl="2"/>
            <a:r>
              <a:rPr lang="zh-CN" altLang="en-US" sz="2000" dirty="0"/>
              <a:t>尽可能回收掉大部分短期对象，减少中期的对象，而年老代尽存放长期存活</a:t>
            </a:r>
            <a:r>
              <a:rPr lang="zh-CN" altLang="en-US" sz="2000" dirty="0" smtClean="0"/>
              <a:t>对象</a:t>
            </a:r>
            <a:endParaRPr lang="en-US" altLang="zh-CN" sz="1600" dirty="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41</a:t>
            </a:fld>
            <a:endParaRPr lang="zh-CN" altLang="en-US"/>
          </a:p>
        </p:txBody>
      </p:sp>
    </p:spTree>
    <p:extLst>
      <p:ext uri="{BB962C8B-B14F-4D97-AF65-F5344CB8AC3E}">
        <p14:creationId xmlns:p14="http://schemas.microsoft.com/office/powerpoint/2010/main" val="33515673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anim calcmode="lin" valueType="num">
                                      <p:cBhvr>
                                        <p:cTn id="3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1000"/>
                                        <p:tgtEl>
                                          <p:spTgt spid="3">
                                            <p:txEl>
                                              <p:pRg st="6" end="6"/>
                                            </p:txEl>
                                          </p:spTgt>
                                        </p:tgtEl>
                                      </p:cBhvr>
                                    </p:animEffect>
                                    <p:anim calcmode="lin" valueType="num">
                                      <p:cBhvr>
                                        <p:cTn id="3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1000"/>
                                        <p:tgtEl>
                                          <p:spTgt spid="3">
                                            <p:txEl>
                                              <p:pRg st="7" end="7"/>
                                            </p:txEl>
                                          </p:spTgt>
                                        </p:tgtEl>
                                      </p:cBhvr>
                                    </p:animEffect>
                                    <p:anim calcmode="lin" valueType="num">
                                      <p:cBhvr>
                                        <p:cTn id="4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en-US" altLang="zh-CN" dirty="0" err="1" smtClean="0"/>
              <a:t>HeapDump</a:t>
            </a:r>
            <a:endParaRPr lang="zh-CN" altLang="en-US" sz="1600" dirty="0"/>
          </a:p>
        </p:txBody>
      </p:sp>
      <p:sp>
        <p:nvSpPr>
          <p:cNvPr id="3" name="内容占位符 2"/>
          <p:cNvSpPr>
            <a:spLocks noGrp="1"/>
          </p:cNvSpPr>
          <p:nvPr>
            <p:ph idx="1"/>
          </p:nvPr>
        </p:nvSpPr>
        <p:spPr/>
        <p:txBody>
          <a:bodyPr>
            <a:normAutofit/>
          </a:bodyPr>
          <a:lstStyle/>
          <a:p>
            <a:r>
              <a:rPr lang="en-US" altLang="zh-CN" dirty="0" err="1" smtClean="0"/>
              <a:t>Jconsole</a:t>
            </a:r>
            <a:endParaRPr lang="en-US" altLang="zh-CN" dirty="0" smtClean="0"/>
          </a:p>
          <a:p>
            <a:r>
              <a:rPr lang="en-US" altLang="zh-CN" dirty="0" err="1" smtClean="0"/>
              <a:t>visualV</a:t>
            </a:r>
            <a:r>
              <a:rPr lang="en-US" altLang="zh-CN" dirty="0" err="1"/>
              <a:t>M</a:t>
            </a:r>
            <a:endParaRPr lang="en-US" altLang="zh-CN" dirty="0" smtClean="0"/>
          </a:p>
          <a:p>
            <a:endParaRPr lang="en-US" altLang="zh-CN" dirty="0" smtClean="0"/>
          </a:p>
          <a:p>
            <a:r>
              <a:rPr lang="zh-CN" altLang="en-US" dirty="0" smtClean="0"/>
              <a:t>产生</a:t>
            </a:r>
            <a:r>
              <a:rPr lang="en-US" altLang="zh-CN" dirty="0" err="1" smtClean="0"/>
              <a:t>HeapDump</a:t>
            </a:r>
            <a:r>
              <a:rPr lang="zh-CN" altLang="en-US" dirty="0" smtClean="0"/>
              <a:t>文件</a:t>
            </a:r>
            <a:endParaRPr lang="en-US" altLang="zh-CN" sz="1600" dirty="0"/>
          </a:p>
          <a:p>
            <a:pPr lvl="1"/>
            <a:r>
              <a:rPr lang="en-US" altLang="zh-CN" dirty="0" err="1"/>
              <a:t>jmap</a:t>
            </a:r>
            <a:r>
              <a:rPr lang="en-US" altLang="zh-CN" dirty="0"/>
              <a:t> -</a:t>
            </a:r>
            <a:r>
              <a:rPr lang="en-US" altLang="zh-CN" dirty="0" err="1"/>
              <a:t>heap:format</a:t>
            </a:r>
            <a:r>
              <a:rPr lang="en-US" altLang="zh-CN" dirty="0"/>
              <a:t>=</a:t>
            </a:r>
            <a:r>
              <a:rPr lang="en-US" altLang="zh-CN" dirty="0" err="1"/>
              <a:t>b,file</a:t>
            </a:r>
            <a:r>
              <a:rPr lang="en-US" altLang="zh-CN" dirty="0"/>
              <a:t>=</a:t>
            </a:r>
            <a:r>
              <a:rPr lang="en-US" altLang="zh-CN" dirty="0" err="1"/>
              <a:t>heap.bin</a:t>
            </a:r>
            <a:r>
              <a:rPr lang="en-US" altLang="zh-CN" dirty="0"/>
              <a:t> &lt;</a:t>
            </a:r>
            <a:r>
              <a:rPr lang="en-US" altLang="zh-CN" dirty="0" err="1" smtClean="0"/>
              <a:t>pid</a:t>
            </a:r>
            <a:r>
              <a:rPr lang="en-US" altLang="zh-CN" dirty="0" smtClean="0"/>
              <a:t>&gt;</a:t>
            </a:r>
          </a:p>
          <a:p>
            <a:pPr lvl="1"/>
            <a:endParaRPr lang="en-US" altLang="zh-CN" dirty="0" smtClean="0"/>
          </a:p>
          <a:p>
            <a:pPr lvl="1"/>
            <a:r>
              <a:rPr lang="en-US" altLang="zh-CN" dirty="0"/>
              <a:t>-XX:+</a:t>
            </a:r>
            <a:r>
              <a:rPr lang="en-US" altLang="zh-CN" dirty="0" err="1" smtClean="0"/>
              <a:t>HeapDumpOnOutOfMemoryError</a:t>
            </a:r>
            <a:endParaRPr lang="en-US" altLang="zh-CN" dirty="0" smtClean="0"/>
          </a:p>
          <a:p>
            <a:pPr lvl="1"/>
            <a:r>
              <a:rPr lang="en-US" altLang="zh-CN" dirty="0"/>
              <a:t>-</a:t>
            </a:r>
            <a:r>
              <a:rPr lang="en-US" altLang="zh-CN" dirty="0" err="1" smtClean="0"/>
              <a:t>XX:HeapDumpPath</a:t>
            </a:r>
            <a:r>
              <a:rPr lang="en-US" altLang="zh-CN" dirty="0"/>
              <a:t>=./</a:t>
            </a:r>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42</a:t>
            </a:fld>
            <a:endParaRPr lang="zh-CN" altLang="en-US"/>
          </a:p>
        </p:txBody>
      </p:sp>
    </p:spTree>
    <p:extLst>
      <p:ext uri="{BB962C8B-B14F-4D97-AF65-F5344CB8AC3E}">
        <p14:creationId xmlns:p14="http://schemas.microsoft.com/office/powerpoint/2010/main" val="34050859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1000"/>
                                        <p:tgtEl>
                                          <p:spTgt spid="3">
                                            <p:txEl>
                                              <p:pRg st="4" end="4"/>
                                            </p:txEl>
                                          </p:spTgt>
                                        </p:tgtEl>
                                      </p:cBhvr>
                                    </p:animEffect>
                                    <p:anim calcmode="lin" valueType="num">
                                      <p:cBhvr>
                                        <p:cTn id="2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1000"/>
                                        <p:tgtEl>
                                          <p:spTgt spid="3">
                                            <p:txEl>
                                              <p:pRg st="6" end="6"/>
                                            </p:txEl>
                                          </p:spTgt>
                                        </p:tgtEl>
                                      </p:cBhvr>
                                    </p:animEffect>
                                    <p:anim calcmode="lin" valueType="num">
                                      <p:cBhvr>
                                        <p:cTn id="3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1000"/>
                                        <p:tgtEl>
                                          <p:spTgt spid="3">
                                            <p:txEl>
                                              <p:pRg st="7" end="7"/>
                                            </p:txEl>
                                          </p:spTgt>
                                        </p:tgtEl>
                                      </p:cBhvr>
                                    </p:animEffect>
                                    <p:anim calcmode="lin" valueType="num">
                                      <p:cBhvr>
                                        <p:cTn id="3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zh-CN" altLang="en-US" sz="3000" dirty="0" smtClean="0"/>
              <a:t>多线程</a:t>
            </a:r>
            <a:r>
              <a:rPr lang="zh-CN" altLang="en-US" sz="1600" dirty="0" smtClean="0"/>
              <a:t> </a:t>
            </a:r>
            <a:endParaRPr lang="zh-CN" altLang="en-US" sz="1600" dirty="0"/>
          </a:p>
        </p:txBody>
      </p:sp>
      <p:sp>
        <p:nvSpPr>
          <p:cNvPr id="3" name="内容占位符 2"/>
          <p:cNvSpPr>
            <a:spLocks noGrp="1"/>
          </p:cNvSpPr>
          <p:nvPr>
            <p:ph idx="1"/>
          </p:nvPr>
        </p:nvSpPr>
        <p:spPr/>
        <p:txBody>
          <a:bodyPr>
            <a:normAutofit/>
          </a:bodyPr>
          <a:lstStyle/>
          <a:p>
            <a:r>
              <a:rPr lang="zh-CN" altLang="en-US" dirty="0" smtClean="0"/>
              <a:t>能熟练地进行多线程编程</a:t>
            </a:r>
            <a:endParaRPr lang="en-US" altLang="zh-CN" dirty="0" smtClean="0"/>
          </a:p>
          <a:p>
            <a:r>
              <a:rPr lang="zh-CN" altLang="en-US" dirty="0"/>
              <a:t>线程</a:t>
            </a:r>
            <a:r>
              <a:rPr lang="zh-CN" altLang="en-US" dirty="0" smtClean="0"/>
              <a:t>池</a:t>
            </a:r>
            <a:endParaRPr lang="en-US" altLang="zh-CN" dirty="0" smtClean="0"/>
          </a:p>
          <a:p>
            <a:r>
              <a:rPr lang="en-US" altLang="zh-CN" dirty="0" err="1" smtClean="0"/>
              <a:t>sychronized</a:t>
            </a:r>
            <a:endParaRPr lang="en-US" altLang="zh-CN" dirty="0" smtClean="0"/>
          </a:p>
          <a:p>
            <a:r>
              <a:rPr lang="en-US" altLang="zh-CN" dirty="0" err="1" smtClean="0"/>
              <a:t>java.util.concurrent</a:t>
            </a:r>
            <a:r>
              <a:rPr lang="zh-CN" altLang="en-US" dirty="0" smtClean="0"/>
              <a:t>中</a:t>
            </a:r>
            <a:r>
              <a:rPr lang="zh-CN" altLang="en-US" dirty="0"/>
              <a:t>锁的分类和</a:t>
            </a:r>
            <a:r>
              <a:rPr lang="zh-CN" altLang="en-US" dirty="0" smtClean="0"/>
              <a:t>用途</a:t>
            </a:r>
            <a:endParaRPr lang="en-US" altLang="zh-CN" dirty="0" smtClean="0"/>
          </a:p>
          <a:p>
            <a:r>
              <a:rPr lang="en-US" altLang="zh-CN" dirty="0"/>
              <a:t>CAS</a:t>
            </a:r>
            <a:endParaRPr lang="en-US" altLang="zh-CN" dirty="0" smtClean="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43</a:t>
            </a:fld>
            <a:endParaRPr lang="zh-CN" altLang="en-US"/>
          </a:p>
        </p:txBody>
      </p:sp>
    </p:spTree>
    <p:extLst>
      <p:ext uri="{BB962C8B-B14F-4D97-AF65-F5344CB8AC3E}">
        <p14:creationId xmlns:p14="http://schemas.microsoft.com/office/powerpoint/2010/main" val="1251965590"/>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upload-images.jianshu.io/upload_images/1689841-f622a468b2694253.png?imageMogr2/auto-orient/strip%7CimageView2/2/w/1240"/>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1266" t="-1878" r="1266" b="1878"/>
          <a:stretch/>
        </p:blipFill>
        <p:spPr bwMode="auto">
          <a:xfrm>
            <a:off x="1682679" y="769995"/>
            <a:ext cx="5778642" cy="6012409"/>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a:xfrm>
            <a:off x="719572" y="151200"/>
            <a:ext cx="6444716" cy="490066"/>
          </a:xfrm>
        </p:spPr>
        <p:txBody>
          <a:bodyPr>
            <a:noAutofit/>
          </a:bodyPr>
          <a:lstStyle/>
          <a:p>
            <a:r>
              <a:rPr lang="zh-CN" altLang="en-US" sz="3000" dirty="0" smtClean="0"/>
              <a:t>多线程</a:t>
            </a:r>
            <a:r>
              <a:rPr lang="zh-CN" altLang="en-US" sz="1600" dirty="0" smtClean="0"/>
              <a:t> </a:t>
            </a:r>
            <a:endParaRPr lang="zh-CN" altLang="en-US" sz="1600" dirty="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44</a:t>
            </a:fld>
            <a:endParaRPr lang="zh-CN" altLang="en-US"/>
          </a:p>
        </p:txBody>
      </p:sp>
    </p:spTree>
    <p:extLst>
      <p:ext uri="{BB962C8B-B14F-4D97-AF65-F5344CB8AC3E}">
        <p14:creationId xmlns:p14="http://schemas.microsoft.com/office/powerpoint/2010/main" val="147363831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zh-CN" altLang="en-US" dirty="0" smtClean="0"/>
              <a:t>多线程</a:t>
            </a:r>
            <a:endParaRPr lang="zh-CN" altLang="en-US" sz="1600" dirty="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45</a:t>
            </a:fld>
            <a:endParaRPr lang="zh-CN" altLang="en-US"/>
          </a:p>
        </p:txBody>
      </p:sp>
      <p:grpSp>
        <p:nvGrpSpPr>
          <p:cNvPr id="18" name="组合 17"/>
          <p:cNvGrpSpPr/>
          <p:nvPr/>
        </p:nvGrpSpPr>
        <p:grpSpPr>
          <a:xfrm>
            <a:off x="449610" y="818528"/>
            <a:ext cx="8244779" cy="1413809"/>
            <a:chOff x="449610" y="818528"/>
            <a:chExt cx="8244779" cy="1413809"/>
          </a:xfrm>
        </p:grpSpPr>
        <p:sp>
          <p:nvSpPr>
            <p:cNvPr id="8" name="任意多边形 7"/>
            <p:cNvSpPr/>
            <p:nvPr/>
          </p:nvSpPr>
          <p:spPr>
            <a:xfrm>
              <a:off x="449610" y="818528"/>
              <a:ext cx="989666" cy="1413809"/>
            </a:xfrm>
            <a:custGeom>
              <a:avLst/>
              <a:gdLst>
                <a:gd name="connsiteX0" fmla="*/ 0 w 1413808"/>
                <a:gd name="connsiteY0" fmla="*/ 0 h 989665"/>
                <a:gd name="connsiteX1" fmla="*/ 918976 w 1413808"/>
                <a:gd name="connsiteY1" fmla="*/ 0 h 989665"/>
                <a:gd name="connsiteX2" fmla="*/ 1413808 w 1413808"/>
                <a:gd name="connsiteY2" fmla="*/ 494833 h 989665"/>
                <a:gd name="connsiteX3" fmla="*/ 918976 w 1413808"/>
                <a:gd name="connsiteY3" fmla="*/ 989665 h 989665"/>
                <a:gd name="connsiteX4" fmla="*/ 0 w 1413808"/>
                <a:gd name="connsiteY4" fmla="*/ 989665 h 989665"/>
                <a:gd name="connsiteX5" fmla="*/ 494833 w 1413808"/>
                <a:gd name="connsiteY5" fmla="*/ 494833 h 989665"/>
                <a:gd name="connsiteX6" fmla="*/ 0 w 1413808"/>
                <a:gd name="connsiteY6" fmla="*/ 0 h 989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13808" h="989665">
                  <a:moveTo>
                    <a:pt x="1413807" y="0"/>
                  </a:moveTo>
                  <a:lnTo>
                    <a:pt x="1413807" y="643283"/>
                  </a:lnTo>
                  <a:lnTo>
                    <a:pt x="706903" y="989665"/>
                  </a:lnTo>
                  <a:lnTo>
                    <a:pt x="1" y="643283"/>
                  </a:lnTo>
                  <a:lnTo>
                    <a:pt x="1" y="0"/>
                  </a:lnTo>
                  <a:lnTo>
                    <a:pt x="706903" y="346383"/>
                  </a:lnTo>
                  <a:lnTo>
                    <a:pt x="1413807"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7781" tIns="512614" rIns="17780" bIns="512612" numCol="1" spcCol="1270" anchor="ctr" anchorCtr="0">
              <a:noAutofit/>
            </a:bodyPr>
            <a:lstStyle/>
            <a:p>
              <a:pPr lvl="0" algn="ctr" defTabSz="1244600">
                <a:lnSpc>
                  <a:spcPct val="90000"/>
                </a:lnSpc>
                <a:spcBef>
                  <a:spcPct val="0"/>
                </a:spcBef>
                <a:spcAft>
                  <a:spcPct val="35000"/>
                </a:spcAft>
              </a:pPr>
              <a:r>
                <a:rPr lang="zh-CN" altLang="en-US" kern="1200" dirty="0" smtClean="0">
                  <a:latin typeface="微软雅黑" panose="020B0503020204020204" pitchFamily="34" charset="-122"/>
                  <a:ea typeface="微软雅黑" panose="020B0503020204020204" pitchFamily="34" charset="-122"/>
                </a:rPr>
                <a:t>扎好马步</a:t>
              </a:r>
              <a:endParaRPr lang="zh-CN" altLang="en-US" kern="1200" dirty="0">
                <a:latin typeface="微软雅黑" panose="020B0503020204020204" pitchFamily="34" charset="-122"/>
                <a:ea typeface="微软雅黑" panose="020B0503020204020204" pitchFamily="34" charset="-122"/>
              </a:endParaRPr>
            </a:p>
          </p:txBody>
        </p:sp>
        <p:sp>
          <p:nvSpPr>
            <p:cNvPr id="11" name="任意多边形 10"/>
            <p:cNvSpPr/>
            <p:nvPr/>
          </p:nvSpPr>
          <p:spPr>
            <a:xfrm>
              <a:off x="1439275" y="818530"/>
              <a:ext cx="7255114" cy="919458"/>
            </a:xfrm>
            <a:custGeom>
              <a:avLst/>
              <a:gdLst>
                <a:gd name="connsiteX0" fmla="*/ 153246 w 919458"/>
                <a:gd name="connsiteY0" fmla="*/ 0 h 7255114"/>
                <a:gd name="connsiteX1" fmla="*/ 766212 w 919458"/>
                <a:gd name="connsiteY1" fmla="*/ 0 h 7255114"/>
                <a:gd name="connsiteX2" fmla="*/ 919458 w 919458"/>
                <a:gd name="connsiteY2" fmla="*/ 153246 h 7255114"/>
                <a:gd name="connsiteX3" fmla="*/ 919458 w 919458"/>
                <a:gd name="connsiteY3" fmla="*/ 7255114 h 7255114"/>
                <a:gd name="connsiteX4" fmla="*/ 919458 w 919458"/>
                <a:gd name="connsiteY4" fmla="*/ 7255114 h 7255114"/>
                <a:gd name="connsiteX5" fmla="*/ 0 w 919458"/>
                <a:gd name="connsiteY5" fmla="*/ 7255114 h 7255114"/>
                <a:gd name="connsiteX6" fmla="*/ 0 w 919458"/>
                <a:gd name="connsiteY6" fmla="*/ 7255114 h 7255114"/>
                <a:gd name="connsiteX7" fmla="*/ 0 w 919458"/>
                <a:gd name="connsiteY7" fmla="*/ 153246 h 7255114"/>
                <a:gd name="connsiteX8" fmla="*/ 153246 w 919458"/>
                <a:gd name="connsiteY8" fmla="*/ 0 h 7255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9458" h="7255114">
                  <a:moveTo>
                    <a:pt x="919458" y="1209212"/>
                  </a:moveTo>
                  <a:lnTo>
                    <a:pt x="919458" y="6045902"/>
                  </a:lnTo>
                  <a:cubicBezTo>
                    <a:pt x="919458" y="6713726"/>
                    <a:pt x="910763" y="7255110"/>
                    <a:pt x="900037" y="7255110"/>
                  </a:cubicBezTo>
                  <a:lnTo>
                    <a:pt x="0" y="7255110"/>
                  </a:lnTo>
                  <a:lnTo>
                    <a:pt x="0" y="7255110"/>
                  </a:lnTo>
                  <a:lnTo>
                    <a:pt x="0" y="4"/>
                  </a:lnTo>
                  <a:lnTo>
                    <a:pt x="0" y="4"/>
                  </a:lnTo>
                  <a:lnTo>
                    <a:pt x="900037" y="4"/>
                  </a:lnTo>
                  <a:cubicBezTo>
                    <a:pt x="910763" y="4"/>
                    <a:pt x="919458" y="541388"/>
                    <a:pt x="919458" y="1209212"/>
                  </a:cubicBezTo>
                  <a:close/>
                </a:path>
              </a:pathLst>
            </a:custGeom>
          </p:spPr>
          <p:style>
            <a:lnRef idx="2">
              <a:schemeClr val="accent2">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70688" tIns="60124" rIns="60124" bIns="60124" numCol="1" spcCol="1270" anchor="ctr" anchorCtr="0">
              <a:noAutofit/>
            </a:bodyPr>
            <a:lstStyle/>
            <a:p>
              <a:pPr marL="228600" lvl="1" indent="-228600" defTabSz="1066800">
                <a:lnSpc>
                  <a:spcPct val="90000"/>
                </a:lnSpc>
                <a:spcBef>
                  <a:spcPct val="0"/>
                </a:spcBef>
                <a:spcAft>
                  <a:spcPct val="15000"/>
                </a:spcAft>
                <a:buChar char="••"/>
              </a:pPr>
              <a:r>
                <a:rPr lang="zh-CN" altLang="en-US" sz="2400" dirty="0">
                  <a:latin typeface="微软雅黑" panose="020B0503020204020204" pitchFamily="34" charset="-122"/>
                  <a:ea typeface="微软雅黑" panose="020B0503020204020204" pitchFamily="34" charset="-122"/>
                </a:rPr>
                <a:t>线程的</a:t>
              </a:r>
              <a:r>
                <a:rPr lang="zh-CN" altLang="en-US" sz="2400" dirty="0" smtClean="0">
                  <a:latin typeface="微软雅黑" panose="020B0503020204020204" pitchFamily="34" charset="-122"/>
                  <a:ea typeface="微软雅黑" panose="020B0503020204020204" pitchFamily="34" charset="-122"/>
                </a:rPr>
                <a:t>状态</a:t>
              </a:r>
              <a:endParaRPr lang="zh-CN" altLang="en-US" sz="2400" kern="1200" dirty="0">
                <a:latin typeface="微软雅黑" panose="020B0503020204020204" pitchFamily="34" charset="-122"/>
                <a:ea typeface="微软雅黑" panose="020B0503020204020204" pitchFamily="34" charset="-122"/>
              </a:endParaRPr>
            </a:p>
          </p:txBody>
        </p:sp>
      </p:grpSp>
      <p:grpSp>
        <p:nvGrpSpPr>
          <p:cNvPr id="19" name="组合 18"/>
          <p:cNvGrpSpPr/>
          <p:nvPr/>
        </p:nvGrpSpPr>
        <p:grpSpPr>
          <a:xfrm>
            <a:off x="449610" y="2087573"/>
            <a:ext cx="8244780" cy="1413809"/>
            <a:chOff x="449610" y="2087573"/>
            <a:chExt cx="8244780" cy="1413809"/>
          </a:xfrm>
        </p:grpSpPr>
        <p:sp>
          <p:nvSpPr>
            <p:cNvPr id="12" name="任意多边形 11"/>
            <p:cNvSpPr/>
            <p:nvPr/>
          </p:nvSpPr>
          <p:spPr>
            <a:xfrm>
              <a:off x="449610" y="2087573"/>
              <a:ext cx="989666" cy="1413809"/>
            </a:xfrm>
            <a:custGeom>
              <a:avLst/>
              <a:gdLst>
                <a:gd name="connsiteX0" fmla="*/ 0 w 1413808"/>
                <a:gd name="connsiteY0" fmla="*/ 0 h 989665"/>
                <a:gd name="connsiteX1" fmla="*/ 918976 w 1413808"/>
                <a:gd name="connsiteY1" fmla="*/ 0 h 989665"/>
                <a:gd name="connsiteX2" fmla="*/ 1413808 w 1413808"/>
                <a:gd name="connsiteY2" fmla="*/ 494833 h 989665"/>
                <a:gd name="connsiteX3" fmla="*/ 918976 w 1413808"/>
                <a:gd name="connsiteY3" fmla="*/ 989665 h 989665"/>
                <a:gd name="connsiteX4" fmla="*/ 0 w 1413808"/>
                <a:gd name="connsiteY4" fmla="*/ 989665 h 989665"/>
                <a:gd name="connsiteX5" fmla="*/ 494833 w 1413808"/>
                <a:gd name="connsiteY5" fmla="*/ 494833 h 989665"/>
                <a:gd name="connsiteX6" fmla="*/ 0 w 1413808"/>
                <a:gd name="connsiteY6" fmla="*/ 0 h 989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13808" h="989665">
                  <a:moveTo>
                    <a:pt x="1413807" y="0"/>
                  </a:moveTo>
                  <a:lnTo>
                    <a:pt x="1413807" y="643283"/>
                  </a:lnTo>
                  <a:lnTo>
                    <a:pt x="706903" y="989665"/>
                  </a:lnTo>
                  <a:lnTo>
                    <a:pt x="1" y="643283"/>
                  </a:lnTo>
                  <a:lnTo>
                    <a:pt x="1" y="0"/>
                  </a:lnTo>
                  <a:lnTo>
                    <a:pt x="706903" y="346383"/>
                  </a:lnTo>
                  <a:lnTo>
                    <a:pt x="1413807" y="0"/>
                  </a:lnTo>
                  <a:close/>
                </a:path>
              </a:pathLst>
            </a:custGeom>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17781" tIns="512614" rIns="17780" bIns="512612" numCol="1" spcCol="1270" anchor="ctr" anchorCtr="0">
              <a:noAutofit/>
            </a:bodyPr>
            <a:lstStyle/>
            <a:p>
              <a:pPr lvl="0" algn="ctr" defTabSz="1244600">
                <a:lnSpc>
                  <a:spcPct val="90000"/>
                </a:lnSpc>
                <a:spcBef>
                  <a:spcPct val="0"/>
                </a:spcBef>
                <a:spcAft>
                  <a:spcPct val="35000"/>
                </a:spcAft>
              </a:pPr>
              <a:r>
                <a:rPr lang="zh-CN" altLang="en-US" kern="1200" dirty="0" smtClean="0">
                  <a:latin typeface="微软雅黑" panose="020B0503020204020204" pitchFamily="34" charset="-122"/>
                  <a:ea typeface="微软雅黑" panose="020B0503020204020204" pitchFamily="34" charset="-122"/>
                </a:rPr>
                <a:t>内功心法</a:t>
              </a:r>
              <a:endParaRPr lang="zh-CN" altLang="en-US" kern="1200" dirty="0">
                <a:latin typeface="微软雅黑" panose="020B0503020204020204" pitchFamily="34" charset="-122"/>
                <a:ea typeface="微软雅黑" panose="020B0503020204020204" pitchFamily="34" charset="-122"/>
              </a:endParaRPr>
            </a:p>
          </p:txBody>
        </p:sp>
        <p:sp>
          <p:nvSpPr>
            <p:cNvPr id="13" name="任意多边形 12"/>
            <p:cNvSpPr/>
            <p:nvPr/>
          </p:nvSpPr>
          <p:spPr>
            <a:xfrm>
              <a:off x="1439275" y="2087574"/>
              <a:ext cx="7255115" cy="918976"/>
            </a:xfrm>
            <a:custGeom>
              <a:avLst/>
              <a:gdLst>
                <a:gd name="connsiteX0" fmla="*/ 153166 w 918975"/>
                <a:gd name="connsiteY0" fmla="*/ 0 h 7255114"/>
                <a:gd name="connsiteX1" fmla="*/ 765809 w 918975"/>
                <a:gd name="connsiteY1" fmla="*/ 0 h 7255114"/>
                <a:gd name="connsiteX2" fmla="*/ 918975 w 918975"/>
                <a:gd name="connsiteY2" fmla="*/ 153166 h 7255114"/>
                <a:gd name="connsiteX3" fmla="*/ 918975 w 918975"/>
                <a:gd name="connsiteY3" fmla="*/ 7255114 h 7255114"/>
                <a:gd name="connsiteX4" fmla="*/ 918975 w 918975"/>
                <a:gd name="connsiteY4" fmla="*/ 7255114 h 7255114"/>
                <a:gd name="connsiteX5" fmla="*/ 0 w 918975"/>
                <a:gd name="connsiteY5" fmla="*/ 7255114 h 7255114"/>
                <a:gd name="connsiteX6" fmla="*/ 0 w 918975"/>
                <a:gd name="connsiteY6" fmla="*/ 7255114 h 7255114"/>
                <a:gd name="connsiteX7" fmla="*/ 0 w 918975"/>
                <a:gd name="connsiteY7" fmla="*/ 153166 h 7255114"/>
                <a:gd name="connsiteX8" fmla="*/ 153166 w 918975"/>
                <a:gd name="connsiteY8" fmla="*/ 0 h 7255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8975" h="7255114">
                  <a:moveTo>
                    <a:pt x="918975" y="1209216"/>
                  </a:moveTo>
                  <a:lnTo>
                    <a:pt x="918975" y="6045898"/>
                  </a:lnTo>
                  <a:cubicBezTo>
                    <a:pt x="918975" y="6713725"/>
                    <a:pt x="910289" y="7255110"/>
                    <a:pt x="899574" y="7255110"/>
                  </a:cubicBezTo>
                  <a:lnTo>
                    <a:pt x="0" y="7255110"/>
                  </a:lnTo>
                  <a:lnTo>
                    <a:pt x="0" y="7255110"/>
                  </a:lnTo>
                  <a:lnTo>
                    <a:pt x="0" y="4"/>
                  </a:lnTo>
                  <a:lnTo>
                    <a:pt x="0" y="4"/>
                  </a:lnTo>
                  <a:lnTo>
                    <a:pt x="899574" y="4"/>
                  </a:lnTo>
                  <a:cubicBezTo>
                    <a:pt x="910289" y="4"/>
                    <a:pt x="918975" y="541389"/>
                    <a:pt x="918975" y="1209216"/>
                  </a:cubicBezTo>
                  <a:close/>
                </a:path>
              </a:pathLst>
            </a:custGeom>
          </p:spPr>
          <p:style>
            <a:lnRef idx="2">
              <a:schemeClr val="accent3">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70689" tIns="60101" rIns="60101" bIns="60102" numCol="1" spcCol="1270" anchor="ctr" anchorCtr="0">
              <a:noAutofit/>
            </a:bodyPr>
            <a:lstStyle/>
            <a:p>
              <a:pPr marL="228600" lvl="1" indent="-228600" defTabSz="1066800">
                <a:lnSpc>
                  <a:spcPct val="90000"/>
                </a:lnSpc>
                <a:spcBef>
                  <a:spcPct val="0"/>
                </a:spcBef>
                <a:spcAft>
                  <a:spcPct val="15000"/>
                </a:spcAft>
                <a:buChar char="••"/>
              </a:pPr>
              <a:r>
                <a:rPr lang="zh-CN" altLang="en-US" sz="2400" dirty="0">
                  <a:solidFill>
                    <a:schemeClr val="tx1"/>
                  </a:solidFill>
                  <a:latin typeface="微软雅黑" panose="020B0503020204020204" pitchFamily="34" charset="-122"/>
                  <a:ea typeface="微软雅黑" panose="020B0503020204020204" pitchFamily="34" charset="-122"/>
                </a:rPr>
                <a:t>每个对象都有的方法（机制</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kern="1200" dirty="0">
                <a:latin typeface="微软雅黑" panose="020B0503020204020204" pitchFamily="34" charset="-122"/>
                <a:ea typeface="微软雅黑" panose="020B0503020204020204" pitchFamily="34" charset="-122"/>
              </a:endParaRPr>
            </a:p>
          </p:txBody>
        </p:sp>
      </p:grpSp>
      <p:grpSp>
        <p:nvGrpSpPr>
          <p:cNvPr id="20" name="组合 19"/>
          <p:cNvGrpSpPr/>
          <p:nvPr/>
        </p:nvGrpSpPr>
        <p:grpSpPr>
          <a:xfrm>
            <a:off x="449610" y="3356617"/>
            <a:ext cx="8244780" cy="1413809"/>
            <a:chOff x="449610" y="3356617"/>
            <a:chExt cx="8244780" cy="1413809"/>
          </a:xfrm>
        </p:grpSpPr>
        <p:sp>
          <p:nvSpPr>
            <p:cNvPr id="14" name="任意多边形 13"/>
            <p:cNvSpPr/>
            <p:nvPr/>
          </p:nvSpPr>
          <p:spPr>
            <a:xfrm>
              <a:off x="449610" y="3356617"/>
              <a:ext cx="989666" cy="1413809"/>
            </a:xfrm>
            <a:custGeom>
              <a:avLst/>
              <a:gdLst>
                <a:gd name="connsiteX0" fmla="*/ 0 w 1413808"/>
                <a:gd name="connsiteY0" fmla="*/ 0 h 989665"/>
                <a:gd name="connsiteX1" fmla="*/ 918976 w 1413808"/>
                <a:gd name="connsiteY1" fmla="*/ 0 h 989665"/>
                <a:gd name="connsiteX2" fmla="*/ 1413808 w 1413808"/>
                <a:gd name="connsiteY2" fmla="*/ 494833 h 989665"/>
                <a:gd name="connsiteX3" fmla="*/ 918976 w 1413808"/>
                <a:gd name="connsiteY3" fmla="*/ 989665 h 989665"/>
                <a:gd name="connsiteX4" fmla="*/ 0 w 1413808"/>
                <a:gd name="connsiteY4" fmla="*/ 989665 h 989665"/>
                <a:gd name="connsiteX5" fmla="*/ 494833 w 1413808"/>
                <a:gd name="connsiteY5" fmla="*/ 494833 h 989665"/>
                <a:gd name="connsiteX6" fmla="*/ 0 w 1413808"/>
                <a:gd name="connsiteY6" fmla="*/ 0 h 989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13808" h="989665">
                  <a:moveTo>
                    <a:pt x="1413807" y="0"/>
                  </a:moveTo>
                  <a:lnTo>
                    <a:pt x="1413807" y="643283"/>
                  </a:lnTo>
                  <a:lnTo>
                    <a:pt x="706903" y="989665"/>
                  </a:lnTo>
                  <a:lnTo>
                    <a:pt x="1" y="643283"/>
                  </a:lnTo>
                  <a:lnTo>
                    <a:pt x="1" y="0"/>
                  </a:lnTo>
                  <a:lnTo>
                    <a:pt x="706903" y="346383"/>
                  </a:lnTo>
                  <a:lnTo>
                    <a:pt x="1413807" y="0"/>
                  </a:lnTo>
                  <a:close/>
                </a:path>
              </a:pathLst>
            </a:custGeom>
          </p:spPr>
          <p:style>
            <a:lnRef idx="2">
              <a:schemeClr val="accent4">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17781" tIns="512614" rIns="17780" bIns="512612" numCol="1" spcCol="1270" anchor="ctr" anchorCtr="0">
              <a:noAutofit/>
            </a:bodyPr>
            <a:lstStyle/>
            <a:p>
              <a:pPr lvl="0" algn="ctr" defTabSz="1244600">
                <a:lnSpc>
                  <a:spcPct val="90000"/>
                </a:lnSpc>
                <a:spcBef>
                  <a:spcPct val="0"/>
                </a:spcBef>
                <a:spcAft>
                  <a:spcPct val="35000"/>
                </a:spcAft>
              </a:pPr>
              <a:r>
                <a:rPr lang="zh-CN" altLang="en-US" kern="1200" dirty="0" smtClean="0">
                  <a:latin typeface="微软雅黑" panose="020B0503020204020204" pitchFamily="34" charset="-122"/>
                  <a:ea typeface="微软雅黑" panose="020B0503020204020204" pitchFamily="34" charset="-122"/>
                </a:rPr>
                <a:t>太祖长拳</a:t>
              </a:r>
              <a:endParaRPr lang="zh-CN" altLang="en-US" kern="1200" dirty="0">
                <a:latin typeface="微软雅黑" panose="020B0503020204020204" pitchFamily="34" charset="-122"/>
                <a:ea typeface="微软雅黑" panose="020B0503020204020204" pitchFamily="34" charset="-122"/>
              </a:endParaRPr>
            </a:p>
          </p:txBody>
        </p:sp>
        <p:sp>
          <p:nvSpPr>
            <p:cNvPr id="15" name="任意多边形 14"/>
            <p:cNvSpPr/>
            <p:nvPr/>
          </p:nvSpPr>
          <p:spPr>
            <a:xfrm>
              <a:off x="1439275" y="3356618"/>
              <a:ext cx="7255115" cy="918976"/>
            </a:xfrm>
            <a:custGeom>
              <a:avLst/>
              <a:gdLst>
                <a:gd name="connsiteX0" fmla="*/ 153166 w 918975"/>
                <a:gd name="connsiteY0" fmla="*/ 0 h 7255114"/>
                <a:gd name="connsiteX1" fmla="*/ 765809 w 918975"/>
                <a:gd name="connsiteY1" fmla="*/ 0 h 7255114"/>
                <a:gd name="connsiteX2" fmla="*/ 918975 w 918975"/>
                <a:gd name="connsiteY2" fmla="*/ 153166 h 7255114"/>
                <a:gd name="connsiteX3" fmla="*/ 918975 w 918975"/>
                <a:gd name="connsiteY3" fmla="*/ 7255114 h 7255114"/>
                <a:gd name="connsiteX4" fmla="*/ 918975 w 918975"/>
                <a:gd name="connsiteY4" fmla="*/ 7255114 h 7255114"/>
                <a:gd name="connsiteX5" fmla="*/ 0 w 918975"/>
                <a:gd name="connsiteY5" fmla="*/ 7255114 h 7255114"/>
                <a:gd name="connsiteX6" fmla="*/ 0 w 918975"/>
                <a:gd name="connsiteY6" fmla="*/ 7255114 h 7255114"/>
                <a:gd name="connsiteX7" fmla="*/ 0 w 918975"/>
                <a:gd name="connsiteY7" fmla="*/ 153166 h 7255114"/>
                <a:gd name="connsiteX8" fmla="*/ 153166 w 918975"/>
                <a:gd name="connsiteY8" fmla="*/ 0 h 7255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8975" h="7255114">
                  <a:moveTo>
                    <a:pt x="918975" y="1209216"/>
                  </a:moveTo>
                  <a:lnTo>
                    <a:pt x="918975" y="6045898"/>
                  </a:lnTo>
                  <a:cubicBezTo>
                    <a:pt x="918975" y="6713725"/>
                    <a:pt x="910289" y="7255110"/>
                    <a:pt x="899574" y="7255110"/>
                  </a:cubicBezTo>
                  <a:lnTo>
                    <a:pt x="0" y="7255110"/>
                  </a:lnTo>
                  <a:lnTo>
                    <a:pt x="0" y="7255110"/>
                  </a:lnTo>
                  <a:lnTo>
                    <a:pt x="0" y="4"/>
                  </a:lnTo>
                  <a:lnTo>
                    <a:pt x="0" y="4"/>
                  </a:lnTo>
                  <a:lnTo>
                    <a:pt x="899574" y="4"/>
                  </a:lnTo>
                  <a:cubicBezTo>
                    <a:pt x="910289" y="4"/>
                    <a:pt x="918975" y="541389"/>
                    <a:pt x="918975" y="1209216"/>
                  </a:cubicBezTo>
                  <a:close/>
                </a:path>
              </a:pathLst>
            </a:custGeom>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70689" tIns="60101" rIns="60101" bIns="60102" numCol="1" spcCol="1270" anchor="ctr" anchorCtr="0">
              <a:noAutofit/>
            </a:bodyPr>
            <a:lstStyle/>
            <a:p>
              <a:pPr marL="228600" lvl="1" indent="-228600" defTabSz="1066800">
                <a:lnSpc>
                  <a:spcPct val="90000"/>
                </a:lnSpc>
                <a:spcBef>
                  <a:spcPct val="0"/>
                </a:spcBef>
                <a:spcAft>
                  <a:spcPct val="15000"/>
                </a:spcAft>
                <a:buChar char="••"/>
              </a:pPr>
              <a:r>
                <a:rPr lang="zh-CN" altLang="en-US" sz="2400" dirty="0">
                  <a:solidFill>
                    <a:schemeClr val="tx1"/>
                  </a:solidFill>
                  <a:latin typeface="微软雅黑" panose="020B0503020204020204" pitchFamily="34" charset="-122"/>
                  <a:ea typeface="微软雅黑" panose="020B0503020204020204" pitchFamily="34" charset="-122"/>
                </a:rPr>
                <a:t>基本线程</a:t>
              </a:r>
              <a:r>
                <a:rPr lang="zh-CN" altLang="en-US" sz="2400" dirty="0" smtClean="0">
                  <a:solidFill>
                    <a:schemeClr val="tx1"/>
                  </a:solidFill>
                  <a:latin typeface="微软雅黑" panose="020B0503020204020204" pitchFamily="34" charset="-122"/>
                  <a:ea typeface="微软雅黑" panose="020B0503020204020204" pitchFamily="34" charset="-122"/>
                </a:rPr>
                <a:t>类</a:t>
              </a:r>
              <a:endParaRPr lang="zh-CN" altLang="en-US" sz="2400" kern="1200" dirty="0">
                <a:latin typeface="微软雅黑" panose="020B0503020204020204" pitchFamily="34" charset="-122"/>
                <a:ea typeface="微软雅黑" panose="020B0503020204020204" pitchFamily="34" charset="-122"/>
              </a:endParaRPr>
            </a:p>
          </p:txBody>
        </p:sp>
      </p:grpSp>
      <p:grpSp>
        <p:nvGrpSpPr>
          <p:cNvPr id="21" name="组合 20"/>
          <p:cNvGrpSpPr/>
          <p:nvPr/>
        </p:nvGrpSpPr>
        <p:grpSpPr>
          <a:xfrm>
            <a:off x="449610" y="4625661"/>
            <a:ext cx="8244780" cy="1413809"/>
            <a:chOff x="449610" y="4625661"/>
            <a:chExt cx="8244780" cy="1413809"/>
          </a:xfrm>
        </p:grpSpPr>
        <p:sp>
          <p:nvSpPr>
            <p:cNvPr id="16" name="任意多边形 15"/>
            <p:cNvSpPr/>
            <p:nvPr/>
          </p:nvSpPr>
          <p:spPr>
            <a:xfrm>
              <a:off x="449610" y="4625661"/>
              <a:ext cx="989666" cy="1413809"/>
            </a:xfrm>
            <a:custGeom>
              <a:avLst/>
              <a:gdLst>
                <a:gd name="connsiteX0" fmla="*/ 0 w 1413808"/>
                <a:gd name="connsiteY0" fmla="*/ 0 h 989665"/>
                <a:gd name="connsiteX1" fmla="*/ 918976 w 1413808"/>
                <a:gd name="connsiteY1" fmla="*/ 0 h 989665"/>
                <a:gd name="connsiteX2" fmla="*/ 1413808 w 1413808"/>
                <a:gd name="connsiteY2" fmla="*/ 494833 h 989665"/>
                <a:gd name="connsiteX3" fmla="*/ 918976 w 1413808"/>
                <a:gd name="connsiteY3" fmla="*/ 989665 h 989665"/>
                <a:gd name="connsiteX4" fmla="*/ 0 w 1413808"/>
                <a:gd name="connsiteY4" fmla="*/ 989665 h 989665"/>
                <a:gd name="connsiteX5" fmla="*/ 494833 w 1413808"/>
                <a:gd name="connsiteY5" fmla="*/ 494833 h 989665"/>
                <a:gd name="connsiteX6" fmla="*/ 0 w 1413808"/>
                <a:gd name="connsiteY6" fmla="*/ 0 h 989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13808" h="989665">
                  <a:moveTo>
                    <a:pt x="1413807" y="0"/>
                  </a:moveTo>
                  <a:lnTo>
                    <a:pt x="1413807" y="643283"/>
                  </a:lnTo>
                  <a:lnTo>
                    <a:pt x="706903" y="989665"/>
                  </a:lnTo>
                  <a:lnTo>
                    <a:pt x="1" y="643283"/>
                  </a:lnTo>
                  <a:lnTo>
                    <a:pt x="1" y="0"/>
                  </a:lnTo>
                  <a:lnTo>
                    <a:pt x="706903" y="346383"/>
                  </a:lnTo>
                  <a:lnTo>
                    <a:pt x="1413807" y="0"/>
                  </a:lnTo>
                  <a:close/>
                </a:path>
              </a:pathLst>
            </a:custGeom>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7781" tIns="512614" rIns="17780" bIns="512612" numCol="1" spcCol="1270" anchor="ctr" anchorCtr="0">
              <a:noAutofit/>
            </a:bodyPr>
            <a:lstStyle/>
            <a:p>
              <a:pPr lvl="0" algn="ctr" defTabSz="1244600">
                <a:lnSpc>
                  <a:spcPct val="90000"/>
                </a:lnSpc>
                <a:spcBef>
                  <a:spcPct val="0"/>
                </a:spcBef>
                <a:spcAft>
                  <a:spcPct val="35000"/>
                </a:spcAft>
              </a:pPr>
              <a:r>
                <a:rPr lang="zh-CN" altLang="en-US" kern="1200" dirty="0" smtClean="0">
                  <a:latin typeface="微软雅黑" panose="020B0503020204020204" pitchFamily="34" charset="-122"/>
                  <a:ea typeface="微软雅黑" panose="020B0503020204020204" pitchFamily="34" charset="-122"/>
                </a:rPr>
                <a:t>九阴真经</a:t>
              </a:r>
              <a:endParaRPr lang="zh-CN" altLang="en-US" kern="1200" dirty="0">
                <a:latin typeface="微软雅黑" panose="020B0503020204020204" pitchFamily="34" charset="-122"/>
                <a:ea typeface="微软雅黑" panose="020B0503020204020204" pitchFamily="34" charset="-122"/>
              </a:endParaRPr>
            </a:p>
          </p:txBody>
        </p:sp>
        <p:sp>
          <p:nvSpPr>
            <p:cNvPr id="17" name="任意多边形 16"/>
            <p:cNvSpPr/>
            <p:nvPr/>
          </p:nvSpPr>
          <p:spPr>
            <a:xfrm>
              <a:off x="1439275" y="4625661"/>
              <a:ext cx="7255115" cy="918976"/>
            </a:xfrm>
            <a:custGeom>
              <a:avLst/>
              <a:gdLst>
                <a:gd name="connsiteX0" fmla="*/ 153166 w 918975"/>
                <a:gd name="connsiteY0" fmla="*/ 0 h 7255114"/>
                <a:gd name="connsiteX1" fmla="*/ 765809 w 918975"/>
                <a:gd name="connsiteY1" fmla="*/ 0 h 7255114"/>
                <a:gd name="connsiteX2" fmla="*/ 918975 w 918975"/>
                <a:gd name="connsiteY2" fmla="*/ 153166 h 7255114"/>
                <a:gd name="connsiteX3" fmla="*/ 918975 w 918975"/>
                <a:gd name="connsiteY3" fmla="*/ 7255114 h 7255114"/>
                <a:gd name="connsiteX4" fmla="*/ 918975 w 918975"/>
                <a:gd name="connsiteY4" fmla="*/ 7255114 h 7255114"/>
                <a:gd name="connsiteX5" fmla="*/ 0 w 918975"/>
                <a:gd name="connsiteY5" fmla="*/ 7255114 h 7255114"/>
                <a:gd name="connsiteX6" fmla="*/ 0 w 918975"/>
                <a:gd name="connsiteY6" fmla="*/ 7255114 h 7255114"/>
                <a:gd name="connsiteX7" fmla="*/ 0 w 918975"/>
                <a:gd name="connsiteY7" fmla="*/ 153166 h 7255114"/>
                <a:gd name="connsiteX8" fmla="*/ 153166 w 918975"/>
                <a:gd name="connsiteY8" fmla="*/ 0 h 7255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8975" h="7255114">
                  <a:moveTo>
                    <a:pt x="918975" y="1209216"/>
                  </a:moveTo>
                  <a:lnTo>
                    <a:pt x="918975" y="6045898"/>
                  </a:lnTo>
                  <a:cubicBezTo>
                    <a:pt x="918975" y="6713725"/>
                    <a:pt x="910289" y="7255110"/>
                    <a:pt x="899574" y="7255110"/>
                  </a:cubicBezTo>
                  <a:lnTo>
                    <a:pt x="0" y="7255110"/>
                  </a:lnTo>
                  <a:lnTo>
                    <a:pt x="0" y="7255110"/>
                  </a:lnTo>
                  <a:lnTo>
                    <a:pt x="0" y="4"/>
                  </a:lnTo>
                  <a:lnTo>
                    <a:pt x="0" y="4"/>
                  </a:lnTo>
                  <a:lnTo>
                    <a:pt x="899574" y="4"/>
                  </a:lnTo>
                  <a:cubicBezTo>
                    <a:pt x="910289" y="4"/>
                    <a:pt x="918975" y="541389"/>
                    <a:pt x="918975" y="1209216"/>
                  </a:cubicBezTo>
                  <a:close/>
                </a:path>
              </a:pathLst>
            </a:custGeom>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70689" tIns="60102" rIns="60101" bIns="60101" numCol="1" spcCol="1270" anchor="ctr" anchorCtr="0">
              <a:noAutofit/>
            </a:bodyPr>
            <a:lstStyle/>
            <a:p>
              <a:pPr marL="228600" lvl="1" indent="-228600" defTabSz="1066800">
                <a:lnSpc>
                  <a:spcPct val="90000"/>
                </a:lnSpc>
                <a:spcBef>
                  <a:spcPct val="0"/>
                </a:spcBef>
                <a:spcAft>
                  <a:spcPct val="15000"/>
                </a:spcAft>
                <a:buChar char="••"/>
              </a:pPr>
              <a:r>
                <a:rPr lang="zh-CN" altLang="en-US" sz="2400" dirty="0">
                  <a:solidFill>
                    <a:schemeClr val="tx1"/>
                  </a:solidFill>
                  <a:latin typeface="微软雅黑" panose="020B0503020204020204" pitchFamily="34" charset="-122"/>
                  <a:ea typeface="微软雅黑" panose="020B0503020204020204" pitchFamily="34" charset="-122"/>
                </a:rPr>
                <a:t>高级多线程控制</a:t>
              </a:r>
              <a:r>
                <a:rPr lang="zh-CN" altLang="en-US" sz="2400" dirty="0" smtClean="0">
                  <a:solidFill>
                    <a:schemeClr val="tx1"/>
                  </a:solidFill>
                  <a:latin typeface="微软雅黑" panose="020B0503020204020204" pitchFamily="34" charset="-122"/>
                  <a:ea typeface="微软雅黑" panose="020B0503020204020204" pitchFamily="34" charset="-122"/>
                </a:rPr>
                <a:t>类</a:t>
              </a:r>
              <a:endParaRPr lang="zh-CN" altLang="en-US" sz="2400" kern="1200"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8524090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up)">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up)">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up)">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up)">
                                      <p:cBhvr>
                                        <p:cTn id="2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zh-CN" altLang="en-US" sz="3000" dirty="0" smtClean="0"/>
              <a:t>线程的状态</a:t>
            </a:r>
            <a:r>
              <a:rPr lang="zh-CN" altLang="en-US" sz="1600" dirty="0" smtClean="0"/>
              <a:t> </a:t>
            </a:r>
            <a:endParaRPr lang="zh-CN" altLang="en-US" sz="1600" dirty="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46</a:t>
            </a:fld>
            <a:endParaRPr lang="zh-CN" altLang="en-US"/>
          </a:p>
        </p:txBody>
      </p:sp>
      <p:pic>
        <p:nvPicPr>
          <p:cNvPr id="2052" name="Picture 4" descr="https://upload-images.jianshu.io/upload_images/1689841-383f7101e6588094.png?imageMogr2/auto-orient/strip%7CimageView2/2/w/124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79612" y="1412776"/>
            <a:ext cx="6984776" cy="48373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952389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zh-CN" altLang="en-US" dirty="0"/>
              <a:t>线程</a:t>
            </a:r>
            <a:r>
              <a:rPr lang="zh-CN" altLang="en-US" dirty="0" smtClean="0"/>
              <a:t>机制</a:t>
            </a:r>
            <a:r>
              <a:rPr lang="zh-CN" altLang="en-US" sz="1600" dirty="0" smtClean="0"/>
              <a:t> </a:t>
            </a:r>
            <a:endParaRPr lang="zh-CN" altLang="en-US" sz="1600" dirty="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47</a:t>
            </a:fld>
            <a:endParaRPr lang="zh-CN" altLang="en-US"/>
          </a:p>
        </p:txBody>
      </p:sp>
      <p:pic>
        <p:nvPicPr>
          <p:cNvPr id="3074" name="Picture 2" descr="https://upload-images.jianshu.io/upload_images/1689841-a8720771d68cb2ba.png?imageMogr2/auto-orient/strip%7CimageView2/2/w/124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79612" y="1340768"/>
            <a:ext cx="6984776" cy="4726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6667488"/>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zh-CN" altLang="en-US" dirty="0"/>
              <a:t>基本线程</a:t>
            </a:r>
            <a:r>
              <a:rPr lang="zh-CN" altLang="en-US" dirty="0" smtClean="0"/>
              <a:t>类</a:t>
            </a:r>
            <a:r>
              <a:rPr lang="zh-CN" altLang="en-US" sz="1600" dirty="0" smtClean="0"/>
              <a:t> </a:t>
            </a:r>
            <a:endParaRPr lang="zh-CN" altLang="en-US" sz="1600" dirty="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48</a:t>
            </a:fld>
            <a:endParaRPr lang="zh-CN" altLang="en-US"/>
          </a:p>
        </p:txBody>
      </p:sp>
      <p:sp>
        <p:nvSpPr>
          <p:cNvPr id="3" name="内容占位符 2"/>
          <p:cNvSpPr>
            <a:spLocks noGrp="1"/>
          </p:cNvSpPr>
          <p:nvPr>
            <p:ph idx="1"/>
          </p:nvPr>
        </p:nvSpPr>
        <p:spPr/>
        <p:txBody>
          <a:bodyPr/>
          <a:lstStyle/>
          <a:p>
            <a:r>
              <a:rPr lang="en-US" altLang="zh-CN" dirty="0" smtClean="0"/>
              <a:t>Thread</a:t>
            </a:r>
          </a:p>
          <a:p>
            <a:pPr lvl="1"/>
            <a:r>
              <a:rPr lang="en-US" altLang="zh-CN" dirty="0" smtClean="0"/>
              <a:t>run</a:t>
            </a:r>
          </a:p>
          <a:p>
            <a:pPr lvl="1"/>
            <a:r>
              <a:rPr lang="en-US" altLang="zh-CN" dirty="0" smtClean="0"/>
              <a:t>start</a:t>
            </a:r>
          </a:p>
          <a:p>
            <a:pPr lvl="1"/>
            <a:r>
              <a:rPr lang="en-US" altLang="zh-CN" dirty="0"/>
              <a:t>……</a:t>
            </a:r>
            <a:endParaRPr lang="en-US" altLang="zh-CN" dirty="0" smtClean="0"/>
          </a:p>
          <a:p>
            <a:r>
              <a:rPr lang="en-US" altLang="zh-CN" dirty="0" smtClean="0"/>
              <a:t>Runnable</a:t>
            </a:r>
          </a:p>
          <a:p>
            <a:endParaRPr lang="en-US" altLang="zh-CN" dirty="0" smtClean="0"/>
          </a:p>
          <a:p>
            <a:r>
              <a:rPr lang="en-US" altLang="zh-CN" dirty="0" smtClean="0"/>
              <a:t>Callable</a:t>
            </a:r>
          </a:p>
          <a:p>
            <a:pPr lvl="1"/>
            <a:r>
              <a:rPr lang="en-US" altLang="zh-CN" dirty="0" err="1" smtClean="0"/>
              <a:t>isDone</a:t>
            </a:r>
            <a:endParaRPr lang="en-US" altLang="zh-CN" dirty="0" smtClean="0"/>
          </a:p>
          <a:p>
            <a:pPr lvl="1"/>
            <a:r>
              <a:rPr lang="en-US" altLang="zh-CN" dirty="0" smtClean="0"/>
              <a:t>get</a:t>
            </a:r>
            <a:endParaRPr lang="zh-CN" altLang="en-US" dirty="0"/>
          </a:p>
        </p:txBody>
      </p:sp>
    </p:spTree>
    <p:extLst>
      <p:ext uri="{BB962C8B-B14F-4D97-AF65-F5344CB8AC3E}">
        <p14:creationId xmlns:p14="http://schemas.microsoft.com/office/powerpoint/2010/main" val="10776025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zh-CN" altLang="en-US" dirty="0"/>
              <a:t>高级多线程控制</a:t>
            </a:r>
            <a:r>
              <a:rPr lang="zh-CN" altLang="en-US" dirty="0" smtClean="0"/>
              <a:t>类</a:t>
            </a:r>
            <a:r>
              <a:rPr lang="zh-CN" altLang="en-US" sz="1600" dirty="0" smtClean="0"/>
              <a:t> </a:t>
            </a:r>
            <a:endParaRPr lang="zh-CN" altLang="en-US" sz="1600" dirty="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49</a:t>
            </a:fld>
            <a:endParaRPr lang="zh-CN" altLang="en-US"/>
          </a:p>
        </p:txBody>
      </p:sp>
      <p:sp>
        <p:nvSpPr>
          <p:cNvPr id="3" name="内容占位符 2"/>
          <p:cNvSpPr>
            <a:spLocks noGrp="1"/>
          </p:cNvSpPr>
          <p:nvPr>
            <p:ph idx="1"/>
          </p:nvPr>
        </p:nvSpPr>
        <p:spPr/>
        <p:txBody>
          <a:bodyPr>
            <a:normAutofit fontScale="92500" lnSpcReduction="10000"/>
          </a:bodyPr>
          <a:lstStyle/>
          <a:p>
            <a:r>
              <a:rPr lang="en-US" altLang="zh-CN" dirty="0" err="1" smtClean="0"/>
              <a:t>ThreadLocal</a:t>
            </a:r>
            <a:r>
              <a:rPr lang="zh-CN" altLang="en-US" dirty="0" smtClean="0"/>
              <a:t>（</a:t>
            </a:r>
            <a:r>
              <a:rPr lang="zh-CN" altLang="en-US" dirty="0"/>
              <a:t>保存线程的独立变量</a:t>
            </a:r>
            <a:r>
              <a:rPr lang="zh-CN" altLang="en-US" dirty="0" smtClean="0"/>
              <a:t>）</a:t>
            </a:r>
            <a:endParaRPr lang="en-US" altLang="zh-CN" dirty="0"/>
          </a:p>
          <a:p>
            <a:pPr algn="l"/>
            <a:r>
              <a:rPr lang="zh-CN" altLang="en-US" dirty="0"/>
              <a:t>原子</a:t>
            </a:r>
            <a:r>
              <a:rPr lang="zh-CN" altLang="en-US" dirty="0" smtClean="0"/>
              <a:t>类（</a:t>
            </a:r>
            <a:r>
              <a:rPr lang="zh-CN" altLang="en-US" dirty="0"/>
              <a:t>保证原子的操作</a:t>
            </a:r>
            <a:r>
              <a:rPr lang="zh-CN" altLang="en-US" dirty="0" smtClean="0"/>
              <a:t>）</a:t>
            </a:r>
            <a:endParaRPr lang="en-US" altLang="zh-CN" dirty="0" smtClean="0"/>
          </a:p>
          <a:p>
            <a:pPr lvl="1" algn="l"/>
            <a:r>
              <a:rPr lang="en-US" altLang="zh-CN" dirty="0" err="1" smtClean="0"/>
              <a:t>AtomicInteger</a:t>
            </a:r>
            <a:endParaRPr lang="en-US" altLang="zh-CN" dirty="0" smtClean="0"/>
          </a:p>
          <a:p>
            <a:pPr lvl="1" algn="l"/>
            <a:r>
              <a:rPr lang="en-US" altLang="zh-CN" dirty="0" err="1" smtClean="0"/>
              <a:t>AtomicBoolean</a:t>
            </a:r>
            <a:endParaRPr lang="en-US" altLang="zh-CN" dirty="0" smtClean="0"/>
          </a:p>
          <a:p>
            <a:pPr lvl="1" algn="l"/>
            <a:r>
              <a:rPr lang="en-US" altLang="zh-CN" dirty="0" smtClean="0"/>
              <a:t>……</a:t>
            </a:r>
            <a:endParaRPr lang="zh-CN" altLang="en-US" dirty="0"/>
          </a:p>
          <a:p>
            <a:r>
              <a:rPr lang="en-US" altLang="zh-CN" dirty="0"/>
              <a:t>Lock</a:t>
            </a:r>
            <a:r>
              <a:rPr lang="zh-CN" altLang="en-US" dirty="0" smtClean="0"/>
              <a:t>类（</a:t>
            </a:r>
            <a:r>
              <a:rPr lang="zh-CN" altLang="en-US" dirty="0"/>
              <a:t>解决同步问题</a:t>
            </a:r>
            <a:r>
              <a:rPr lang="zh-CN" altLang="en-US" dirty="0" smtClean="0"/>
              <a:t>）</a:t>
            </a:r>
            <a:endParaRPr lang="zh-CN" altLang="en-US" dirty="0"/>
          </a:p>
          <a:p>
            <a:r>
              <a:rPr lang="zh-CN" altLang="en-US" dirty="0"/>
              <a:t>容器类</a:t>
            </a:r>
          </a:p>
          <a:p>
            <a:pPr lvl="1"/>
            <a:r>
              <a:rPr lang="en-US" altLang="zh-CN" dirty="0" err="1" smtClean="0"/>
              <a:t>BlockingQueue</a:t>
            </a:r>
            <a:endParaRPr lang="en-US" altLang="zh-CN" dirty="0"/>
          </a:p>
          <a:p>
            <a:pPr lvl="1"/>
            <a:r>
              <a:rPr lang="en-US" altLang="zh-CN" dirty="0" err="1"/>
              <a:t>ConcurrentHashMap</a:t>
            </a:r>
            <a:endParaRPr lang="en-US" altLang="zh-CN" dirty="0"/>
          </a:p>
          <a:p>
            <a:r>
              <a:rPr lang="zh-CN" altLang="en-US" dirty="0"/>
              <a:t>管理类</a:t>
            </a:r>
          </a:p>
          <a:p>
            <a:pPr lvl="1"/>
            <a:r>
              <a:rPr lang="en-US" altLang="zh-CN" dirty="0" err="1"/>
              <a:t>ThreadPoolExecutor</a:t>
            </a:r>
            <a:endParaRPr lang="zh-CN" altLang="en-US" dirty="0"/>
          </a:p>
        </p:txBody>
      </p:sp>
    </p:spTree>
    <p:extLst>
      <p:ext uri="{BB962C8B-B14F-4D97-AF65-F5344CB8AC3E}">
        <p14:creationId xmlns:p14="http://schemas.microsoft.com/office/powerpoint/2010/main" val="2658205924"/>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572" y="151200"/>
            <a:ext cx="6444716" cy="490066"/>
          </a:xfrm>
        </p:spPr>
        <p:txBody>
          <a:bodyPr>
            <a:noAutofit/>
          </a:bodyPr>
          <a:lstStyle/>
          <a:p>
            <a:r>
              <a:rPr lang="zh-CN" altLang="en-US" sz="3000" dirty="0" smtClean="0"/>
              <a:t>总结</a:t>
            </a:r>
            <a:r>
              <a:rPr lang="zh-CN" altLang="en-US" sz="1600" dirty="0" smtClean="0"/>
              <a:t> </a:t>
            </a:r>
            <a:endParaRPr lang="zh-CN" altLang="en-US" sz="1600" dirty="0"/>
          </a:p>
        </p:txBody>
      </p:sp>
      <p:sp>
        <p:nvSpPr>
          <p:cNvPr id="3" name="内容占位符 2"/>
          <p:cNvSpPr>
            <a:spLocks noGrp="1"/>
          </p:cNvSpPr>
          <p:nvPr>
            <p:ph idx="1"/>
          </p:nvPr>
        </p:nvSpPr>
        <p:spPr/>
        <p:txBody>
          <a:bodyPr>
            <a:normAutofit/>
          </a:bodyPr>
          <a:lstStyle/>
          <a:p>
            <a:r>
              <a:rPr lang="en-US" altLang="zh-CN" dirty="0" smtClean="0"/>
              <a:t>JAVA</a:t>
            </a:r>
            <a:r>
              <a:rPr lang="zh-CN" altLang="en-US" dirty="0" smtClean="0"/>
              <a:t>中级的学习方向</a:t>
            </a:r>
            <a:endParaRPr lang="en-US" altLang="zh-CN" dirty="0" smtClean="0"/>
          </a:p>
          <a:p>
            <a:pPr lvl="1"/>
            <a:r>
              <a:rPr lang="zh-CN" altLang="en-US" dirty="0" smtClean="0"/>
              <a:t>多线程、线程池、线程安全</a:t>
            </a:r>
            <a:endParaRPr lang="en-US" altLang="zh-CN" dirty="0" smtClean="0"/>
          </a:p>
          <a:p>
            <a:pPr lvl="1"/>
            <a:r>
              <a:rPr lang="en-US" altLang="zh-CN" dirty="0" smtClean="0"/>
              <a:t>IO</a:t>
            </a:r>
            <a:r>
              <a:rPr lang="zh-CN" altLang="en-US" dirty="0" smtClean="0"/>
              <a:t>流体系</a:t>
            </a:r>
            <a:endParaRPr lang="en-US" altLang="zh-CN" dirty="0" smtClean="0"/>
          </a:p>
          <a:p>
            <a:pPr lvl="1"/>
            <a:r>
              <a:rPr lang="en-US" altLang="zh-CN" dirty="0" smtClean="0"/>
              <a:t>JVM</a:t>
            </a:r>
            <a:r>
              <a:rPr lang="zh-CN" altLang="en-US" dirty="0" smtClean="0"/>
              <a:t>内存模型、参数调优</a:t>
            </a:r>
            <a:endParaRPr lang="en-US" altLang="zh-CN" dirty="0" smtClean="0"/>
          </a:p>
          <a:p>
            <a:pPr lvl="1"/>
            <a:r>
              <a:rPr lang="en-US" altLang="zh-CN" dirty="0"/>
              <a:t>h</a:t>
            </a:r>
            <a:r>
              <a:rPr lang="en-US" altLang="zh-CN" dirty="0" smtClean="0"/>
              <a:t>eap dump</a:t>
            </a:r>
            <a:r>
              <a:rPr lang="zh-CN" altLang="en-US" dirty="0" smtClean="0"/>
              <a:t>分析</a:t>
            </a:r>
            <a:endParaRPr lang="en-US" altLang="zh-CN" dirty="0" smtClean="0"/>
          </a:p>
          <a:p>
            <a:pPr lvl="1"/>
            <a:r>
              <a:rPr lang="en-US" altLang="zh-CN" dirty="0" err="1" smtClean="0"/>
              <a:t>jstack</a:t>
            </a:r>
            <a:r>
              <a:rPr lang="zh-CN" altLang="en-US" dirty="0" smtClean="0"/>
              <a:t>分析</a:t>
            </a:r>
            <a:endParaRPr lang="en-US" altLang="zh-CN" dirty="0" smtClean="0"/>
          </a:p>
          <a:p>
            <a:r>
              <a:rPr lang="en-US" altLang="zh-CN" dirty="0" smtClean="0"/>
              <a:t>JAVA</a:t>
            </a:r>
            <a:r>
              <a:rPr lang="zh-CN" altLang="en-US" dirty="0" smtClean="0"/>
              <a:t>中级的考察标准</a:t>
            </a:r>
            <a:endParaRPr lang="en-US" altLang="zh-CN" dirty="0" smtClean="0"/>
          </a:p>
          <a:p>
            <a:pPr lvl="1"/>
            <a:r>
              <a:rPr lang="zh-CN" altLang="en-US" dirty="0" smtClean="0"/>
              <a:t>掌握上述知识点</a:t>
            </a:r>
            <a:endParaRPr lang="en-US" altLang="zh-CN" dirty="0" smtClean="0"/>
          </a:p>
          <a:p>
            <a:pPr lvl="1"/>
            <a:r>
              <a:rPr lang="zh-CN" altLang="en-US" dirty="0" smtClean="0"/>
              <a:t>有项目调优排错经验</a:t>
            </a:r>
            <a:endParaRPr lang="en-US" altLang="zh-CN" dirty="0" smtClean="0"/>
          </a:p>
          <a:p>
            <a:pPr lvl="1"/>
            <a:r>
              <a:rPr lang="zh-CN" altLang="en-US" dirty="0" smtClean="0"/>
              <a:t>有过分析</a:t>
            </a:r>
            <a:r>
              <a:rPr lang="en-US" altLang="zh-CN" dirty="0" smtClean="0"/>
              <a:t>heap dump</a:t>
            </a:r>
            <a:r>
              <a:rPr lang="zh-CN" altLang="en-US" dirty="0" smtClean="0"/>
              <a:t>和线程信息的经验</a:t>
            </a:r>
            <a:endParaRPr lang="en-US" altLang="zh-CN" dirty="0" smtClean="0"/>
          </a:p>
        </p:txBody>
      </p:sp>
      <p:sp>
        <p:nvSpPr>
          <p:cNvPr id="9" name="日期占位符 8"/>
          <p:cNvSpPr>
            <a:spLocks noGrp="1"/>
          </p:cNvSpPr>
          <p:nvPr>
            <p:ph type="dt" sz="half" idx="10"/>
          </p:nvPr>
        </p:nvSpPr>
        <p:spPr/>
        <p:txBody>
          <a:bodyPr/>
          <a:lstStyle/>
          <a:p>
            <a:fld id="{87CFE59E-5C11-4AFD-B2C8-3B7BBBA23724}" type="datetime1">
              <a:rPr lang="zh-CN" altLang="en-US" smtClean="0"/>
              <a:pPr/>
              <a:t>2018-7-11</a:t>
            </a:fld>
            <a:endParaRPr lang="zh-CN" altLang="en-US"/>
          </a:p>
        </p:txBody>
      </p:sp>
      <p:sp>
        <p:nvSpPr>
          <p:cNvPr id="10" name="灯片编号占位符 9"/>
          <p:cNvSpPr>
            <a:spLocks noGrp="1"/>
          </p:cNvSpPr>
          <p:nvPr>
            <p:ph type="sldNum" sz="quarter" idx="12"/>
          </p:nvPr>
        </p:nvSpPr>
        <p:spPr/>
        <p:txBody>
          <a:bodyPr/>
          <a:lstStyle/>
          <a:p>
            <a:fld id="{5C794E63-F2AF-49E2-AE37-43481CC587E5}" type="slidenum">
              <a:rPr lang="zh-CN" altLang="en-US" smtClean="0"/>
              <a:pPr/>
              <a:t>50</a:t>
            </a:fld>
            <a:endParaRPr lang="zh-CN" altLang="en-US"/>
          </a:p>
        </p:txBody>
      </p:sp>
    </p:spTree>
    <p:extLst>
      <p:ext uri="{BB962C8B-B14F-4D97-AF65-F5344CB8AC3E}">
        <p14:creationId xmlns:p14="http://schemas.microsoft.com/office/powerpoint/2010/main" val="1622554845"/>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 y="3989946"/>
            <a:ext cx="9144000" cy="953508"/>
          </a:xfrm>
        </p:spPr>
        <p:txBody>
          <a:bodyPr>
            <a:noAutofit/>
          </a:bodyPr>
          <a:lstStyle/>
          <a:p>
            <a:r>
              <a:rPr lang="zh-CN" altLang="en-US" sz="6000" dirty="0" smtClean="0">
                <a:latin typeface="微软雅黑" pitchFamily="34" charset="-122"/>
                <a:ea typeface="微软雅黑" pitchFamily="34" charset="-122"/>
              </a:rPr>
              <a:t>谢 谢</a:t>
            </a:r>
            <a:endParaRPr lang="zh-CN" altLang="en-US" sz="6000" dirty="0">
              <a:latin typeface="微软雅黑" pitchFamily="34" charset="-122"/>
              <a:ea typeface="微软雅黑" pitchFamily="34" charset="-122"/>
            </a:endParaRPr>
          </a:p>
        </p:txBody>
      </p:sp>
    </p:spTree>
    <p:extLst>
      <p:ext uri="{BB962C8B-B14F-4D97-AF65-F5344CB8AC3E}">
        <p14:creationId xmlns:p14="http://schemas.microsoft.com/office/powerpoint/2010/main" val="6425701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heme/theme1.xml><?xml version="1.0" encoding="utf-8"?>
<a:theme xmlns:a="http://schemas.openxmlformats.org/drawingml/2006/main" name="ppt模板（对外）4：3 华宇信息">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thunisoft(16：9)</Template>
  <TotalTime>1293</TotalTime>
  <Words>2599</Words>
  <Application>Microsoft Office PowerPoint</Application>
  <PresentationFormat>全屏显示(4:3)</PresentationFormat>
  <Paragraphs>447</Paragraphs>
  <Slides>51</Slides>
  <Notes>35</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51</vt:i4>
      </vt:variant>
    </vt:vector>
  </HeadingPairs>
  <TitlesOfParts>
    <vt:vector size="59" baseType="lpstr">
      <vt:lpstr>方正兰亭纤黑_GBK</vt:lpstr>
      <vt:lpstr>宋体</vt:lpstr>
      <vt:lpstr>微软雅黑</vt:lpstr>
      <vt:lpstr>Arial</vt:lpstr>
      <vt:lpstr>Arial Black</vt:lpstr>
      <vt:lpstr>Calibri</vt:lpstr>
      <vt:lpstr>Wingdings</vt:lpstr>
      <vt:lpstr>ppt模板（对外）4：3 华宇信息</vt:lpstr>
      <vt:lpstr>PowerPoint 演示文稿</vt:lpstr>
      <vt:lpstr>分享目的 </vt:lpstr>
      <vt:lpstr>IO </vt:lpstr>
      <vt:lpstr>字符流和字节流</vt:lpstr>
      <vt:lpstr>字符流和字节流</vt:lpstr>
      <vt:lpstr>字符流和字节流</vt:lpstr>
      <vt:lpstr>IO中的设计模式</vt:lpstr>
      <vt:lpstr>IO中的设计模式</vt:lpstr>
      <vt:lpstr>IO中的设计模式</vt:lpstr>
      <vt:lpstr>IO中的设计模式</vt:lpstr>
      <vt:lpstr>IO中的设计模式</vt:lpstr>
      <vt:lpstr>IO中的设计模式</vt:lpstr>
      <vt:lpstr>JVM内存模型原理 </vt:lpstr>
      <vt:lpstr>堆和栈 </vt:lpstr>
      <vt:lpstr>堆和栈 </vt:lpstr>
      <vt:lpstr>堆和栈</vt:lpstr>
      <vt:lpstr>引用类型 </vt:lpstr>
      <vt:lpstr>基本回收策略</vt:lpstr>
      <vt:lpstr>基本回收策略</vt:lpstr>
      <vt:lpstr>基本回收策略</vt:lpstr>
      <vt:lpstr>基本回收策略</vt:lpstr>
      <vt:lpstr>基本回收策略</vt:lpstr>
      <vt:lpstr>基本回收策略</vt:lpstr>
      <vt:lpstr>分代</vt:lpstr>
      <vt:lpstr>什么情况下触发垃圾回收</vt:lpstr>
      <vt:lpstr>垃圾回收流程</vt:lpstr>
      <vt:lpstr>垃圾回收流程</vt:lpstr>
      <vt:lpstr>垃圾回收流程</vt:lpstr>
      <vt:lpstr>垃圾回收流程</vt:lpstr>
      <vt:lpstr>垃圾收集器算法 </vt:lpstr>
      <vt:lpstr>垃圾收集器算法 </vt:lpstr>
      <vt:lpstr>垃圾收集器算法 </vt:lpstr>
      <vt:lpstr>垃圾收集器算法</vt:lpstr>
      <vt:lpstr>垃圾收集器算法</vt:lpstr>
      <vt:lpstr>垃圾收集器算法</vt:lpstr>
      <vt:lpstr>垃圾收集器算法</vt:lpstr>
      <vt:lpstr>典型配置举例 </vt:lpstr>
      <vt:lpstr>垃圾收集器调优 </vt:lpstr>
      <vt:lpstr>垃圾收集器调优 </vt:lpstr>
      <vt:lpstr>调优总结 </vt:lpstr>
      <vt:lpstr>调优总结 </vt:lpstr>
      <vt:lpstr>HeapDump</vt:lpstr>
      <vt:lpstr>多线程 </vt:lpstr>
      <vt:lpstr>多线程 </vt:lpstr>
      <vt:lpstr>多线程</vt:lpstr>
      <vt:lpstr>线程的状态 </vt:lpstr>
      <vt:lpstr>线程机制 </vt:lpstr>
      <vt:lpstr>基本线程类 </vt:lpstr>
      <vt:lpstr>高级多线程控制类 </vt:lpstr>
      <vt:lpstr>总结 </vt:lpstr>
      <vt:lpstr>谢 谢</vt:lpstr>
    </vt:vector>
  </TitlesOfParts>
  <Company>thunisoft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郝正彬</dc:creator>
  <cp:lastModifiedBy>郝正彬</cp:lastModifiedBy>
  <cp:revision>394</cp:revision>
  <dcterms:created xsi:type="dcterms:W3CDTF">2017-03-28T09:04:17Z</dcterms:created>
  <dcterms:modified xsi:type="dcterms:W3CDTF">2018-07-11T10:18:21Z</dcterms:modified>
</cp:coreProperties>
</file>