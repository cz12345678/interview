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37"/>
  </p:handoutMasterIdLst>
  <p:sldIdLst>
    <p:sldId id="256" r:id="rId3"/>
    <p:sldId id="257" r:id="rId4"/>
    <p:sldId id="332" r:id="rId5"/>
    <p:sldId id="333" r:id="rId7"/>
    <p:sldId id="334" r:id="rId8"/>
    <p:sldId id="335" r:id="rId9"/>
    <p:sldId id="336" r:id="rId10"/>
    <p:sldId id="337" r:id="rId11"/>
    <p:sldId id="338" r:id="rId12"/>
    <p:sldId id="339" r:id="rId13"/>
    <p:sldId id="341" r:id="rId14"/>
    <p:sldId id="342" r:id="rId15"/>
    <p:sldId id="343" r:id="rId16"/>
    <p:sldId id="344" r:id="rId17"/>
    <p:sldId id="345" r:id="rId18"/>
    <p:sldId id="346" r:id="rId19"/>
    <p:sldId id="347" r:id="rId20"/>
    <p:sldId id="348" r:id="rId21"/>
    <p:sldId id="350" r:id="rId22"/>
    <p:sldId id="351" r:id="rId23"/>
    <p:sldId id="352" r:id="rId24"/>
    <p:sldId id="353" r:id="rId25"/>
    <p:sldId id="354" r:id="rId26"/>
    <p:sldId id="355" r:id="rId27"/>
    <p:sldId id="356" r:id="rId28"/>
    <p:sldId id="358" r:id="rId29"/>
    <p:sldId id="360" r:id="rId30"/>
    <p:sldId id="359" r:id="rId31"/>
    <p:sldId id="361" r:id="rId32"/>
    <p:sldId id="362" r:id="rId33"/>
    <p:sldId id="363" r:id="rId34"/>
    <p:sldId id="364" r:id="rId35"/>
    <p:sldId id="260" r:id="rId3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59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78328" autoAdjust="0"/>
  </p:normalViewPr>
  <p:slideViewPr>
    <p:cSldViewPr>
      <p:cViewPr>
        <p:scale>
          <a:sx n="100" d="100"/>
          <a:sy n="100" d="100"/>
        </p:scale>
        <p:origin x="-1944" y="-660"/>
      </p:cViewPr>
      <p:guideLst>
        <p:guide orient="horz" pos="1642"/>
        <p:guide pos="432"/>
        <p:guide pos="550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557FAE7-EC11-4E53-A21F-7D84E6706A6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CA21452-1892-4AB6-876D-28EFDBD7FBE6}" type="slidenum">
              <a:rPr lang="zh-CN" altLang="en-US" smtClean="0"/>
            </a:fld>
            <a:endParaRPr lang="zh-CN" altLang="en-US"/>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13B5D8-536A-4691-A7F7-CB70A0A61F5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3662E1-3B16-43A0-803A-DFB1AF90FB26}" type="slidenum">
              <a:rPr lang="zh-CN" altLang="en-US" smtClean="0"/>
            </a:fld>
            <a:endParaRPr lang="zh-CN" altLang="en-US"/>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每个程序员都可以从理解编程原则和模式中受益。</a:t>
            </a:r>
            <a:endParaRPr lang="zh-CN" altLang="en-US">
              <a:sym typeface="+mn-ea"/>
            </a:endParaRPr>
          </a:p>
          <a:p>
            <a:endParaRPr lang="zh-CN" altLang="en-US"/>
          </a:p>
          <a:p>
            <a:r>
              <a:rPr lang="zh-CN" altLang="en-US"/>
              <a:t>- 僵化：很难做改动，因为每一个细微的改动都会影响到系统大量的其他功能</a:t>
            </a:r>
            <a:endParaRPr lang="zh-CN" altLang="en-US"/>
          </a:p>
          <a:p>
            <a:r>
              <a:rPr lang="zh-CN" altLang="en-US"/>
              <a:t>- 脆弱：每当你做一次改动，总会引起系统中预期之外的部分出现故障</a:t>
            </a:r>
            <a:endParaRPr lang="zh-CN" altLang="en-US"/>
          </a:p>
          <a:p>
            <a:r>
              <a:rPr lang="zh-CN" altLang="en-US"/>
              <a:t>- 死板：代码很难在其他应用中重用，因其不能从当前应用中单独抽离出来</a:t>
            </a:r>
            <a:endParaRPr lang="zh-CN" altLang="en-US"/>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简单清晰、功能强大是软件设计最重要的原则和目标。但是软件工程天然错综复杂，而“简单”却没有一个衡量标准，</a:t>
            </a:r>
            <a:endParaRPr lang="zh-CN" altLang="en-US"/>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关注点分离是处理复杂性的一个原则。由于关注点混杂在一起会导致软件程序复杂性大大增加，所以能够把不同的关注点分离开来，分别处理就是处理复杂性的一个原则，一种方法。关注点分离原则不仅体现在软件程序设计等设计方法中，同时也体现在架构设计、问题求解、软件开发过程、软件项目管理以及软件开发方法学等诸多方面。</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 **纵向分离**: 如常见的三层架构（逻辑控制层、业务处理层和数据持久化层）。</a:t>
            </a:r>
            <a:endParaRPr lang="zh-CN" altLang="en-US">
              <a:sym typeface="+mn-ea"/>
            </a:endParaRPr>
          </a:p>
          <a:p>
            <a:r>
              <a:rPr lang="zh-CN" altLang="en-US">
                <a:sym typeface="+mn-ea"/>
              </a:rPr>
              <a:t>- **横向分离**: 如把我们的软件拆分成模块或子系统。从左到右是模块1、模块2、模块3，这是一种水平方向的切割。这跟纵向的分离是两个不同的方向，横向分离大多是模块化的过程。</a:t>
            </a:r>
            <a:endParaRPr lang="zh-CN" altLang="en-US">
              <a:sym typeface="+mn-ea"/>
            </a:endParaRPr>
          </a:p>
          <a:p>
            <a:r>
              <a:rPr lang="zh-CN" altLang="en-US">
                <a:sym typeface="+mn-ea"/>
              </a:rPr>
              <a:t>- **切面分离**: 有些内容是多个层之间都需要的，比如日志（`log`），在你的系统里面，界面层、逻辑层、数据访问层可能都需要写日志，这种跨到多层同样逻辑就可以考虑切面分离。</a:t>
            </a:r>
            <a:endParaRPr lang="zh-CN" altLang="en-US">
              <a:sym typeface="+mn-ea"/>
            </a:endParaRPr>
          </a:p>
          <a:p>
            <a:r>
              <a:rPr lang="zh-CN" altLang="en-US">
                <a:sym typeface="+mn-ea"/>
              </a:rPr>
              <a:t>- **依赖方向分离**: 按依赖方向考虑，决定某个类应该放在哪个层次里面，或者考虑将某一层切割成多层。</a:t>
            </a:r>
            <a:endParaRPr lang="zh-CN" altLang="en-US">
              <a:sym typeface="+mn-ea"/>
            </a:endParaRPr>
          </a:p>
          <a:p>
            <a:r>
              <a:rPr lang="zh-CN" altLang="en-US">
                <a:sym typeface="+mn-ea"/>
              </a:rPr>
              <a:t>- **关注数据分离**: 在组织数据时，应该尽量考虑数据本身的固有属性，如果不是它们的固有属性，那么应该分离出来。比如产品的类就不应该关联`customer`类，应该是用订单类来把他们联系在一起。</a:t>
            </a:r>
            <a:endParaRPr lang="zh-CN" altLang="en-US">
              <a:sym typeface="+mn-ea"/>
            </a:endParaRPr>
          </a:p>
          <a:p>
            <a:r>
              <a:rPr lang="zh-CN" altLang="en-US">
                <a:sym typeface="+mn-ea"/>
              </a:rPr>
              <a:t>- **关注行为分离**: 行为也应该是事物或对象的固有的本身的行为，明显偏离原来行为的，应该考虑成另外的关注点儿分离开。比如有一个函数叫做`CreateNewCustomer()`，那么`CreateNewCustomer()`的行为就应该限定在创建一个新客户上面，给新客户自动发优惠券的动作就不能放到这个函数里面。</a:t>
            </a:r>
            <a:endParaRPr lang="zh-CN" altLang="en-US">
              <a:sym typeface="+mn-ea"/>
            </a:endParaRPr>
          </a:p>
          <a:p>
            <a:r>
              <a:rPr lang="zh-CN" altLang="en-US">
                <a:sym typeface="+mn-ea"/>
              </a:rPr>
              <a:t>- **扩展分离**: 如果基于某种设计，原先不具有某些行为需要增加，可以考虑通过扩展或插件的形式来完成，将这些功能放入到插件或扩展中。</a:t>
            </a:r>
            <a:endParaRPr lang="zh-CN" altLang="en-US">
              <a:sym typeface="+mn-ea"/>
            </a:endParaRPr>
          </a:p>
          <a:p>
            <a:r>
              <a:rPr lang="zh-CN" altLang="en-US">
                <a:sym typeface="+mn-ea"/>
              </a:rPr>
              <a:t>- **反转分离**: 很多依赖注入的框架，如`Spring`、`Guice`等等，这些帮助我们做依赖反转，从而倒置依赖关系。</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它是一种极限编程（XP）实践，表示程序员不应为目前还不需要的功能编写代码。YAGNI很像KISS原则，因为它也是致力于构建简单的方案。然而，KISS是通过尽可能容易的完成某件事情来实现精简方案；但YAGNI是通过根本就不实现它来达到精简。YAGNI的观点是你应该</a:t>
            </a:r>
            <a:r>
              <a:rPr lang="zh-CN" altLang="en-US" b="1">
                <a:sym typeface="+mn-ea"/>
              </a:rPr>
              <a:t>为了眼前的需求做设计而不是未来</a:t>
            </a:r>
            <a:r>
              <a:rPr lang="zh-CN" altLang="en-US">
                <a:sym typeface="+mn-ea"/>
              </a:rPr>
              <a:t>。</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a:sym typeface="+mn-ea"/>
              </a:rPr>
              <a:t>如果看到地上有垃圾，不管是谁扔的，都要清理。这样你就有意地为下一批来宿营的人改善了环境。</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不少人会像上面这样辩解自己的过错。其实，这些说法根本站不住脚，错了就是错了，影响的大小并不能改变行为错误的本质，别人的错误更不会是证明你无错的理由。</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 **避免过早优化**（`Avoid Premature Optimization`）: 除非你的代码运行的比你想像中的要慢，否则别去优化。假如你真的想优化，就必须先想好如何用数据证明，它的速度变快了。“**过早的优化是一切罪恶之源**。”——Donald Knuth</a:t>
            </a:r>
            <a:endParaRPr lang="zh-CN" altLang="en-US">
              <a:sym typeface="+mn-ea"/>
            </a:endParaRPr>
          </a:p>
          <a:p>
            <a:r>
              <a:rPr lang="zh-CN" altLang="en-US">
                <a:sym typeface="+mn-ea"/>
              </a:rPr>
              <a:t>- **最小惊讶原则**(`Principle of least astonishment`): 代码应该尽可能减少让读者惊喜。也就是说，你编写的代码只需按照项目的要求来编写。其他华丽的功能就不必了，以免弄巧成拙。</a:t>
            </a:r>
            <a:endParaRPr lang="zh-CN" altLang="en-US">
              <a:sym typeface="+mn-ea"/>
            </a:endParaRPr>
          </a:p>
          <a:p>
            <a:r>
              <a:rPr lang="zh-CN" altLang="en-US">
                <a:sym typeface="+mn-ea"/>
              </a:rPr>
              <a:t>- **代码重用原则**（`Code Reuse is Good`）: 重用代码能提高代码的可读性，缩短开发时间。</a:t>
            </a:r>
            <a:endParaRPr lang="zh-CN" altLang="en-US">
              <a:sym typeface="+mn-ea"/>
            </a:endParaRPr>
          </a:p>
          <a:p>
            <a:r>
              <a:rPr lang="zh-CN" altLang="en-US">
                <a:sym typeface="+mn-ea"/>
              </a:rPr>
              <a:t>- **别让我思考**(`Don’t Make Me Think`): 所编写的代码一定要易于读易于理解，这样别人才会欣赏，也能够给你提出合理化的建议。相反，若是繁杂难解的程序，其他人总是会避而远之的。</a:t>
            </a:r>
            <a:endParaRPr lang="zh-CN" altLang="en-US">
              <a:sym typeface="+mn-ea"/>
            </a:endParaRPr>
          </a:p>
          <a:p>
            <a:r>
              <a:rPr lang="zh-CN" altLang="en-US">
                <a:sym typeface="+mn-ea"/>
              </a:rPr>
              <a:t>- **为维护者写代码**(`Write Code for the Maintainer`): 优秀的代码，应当使本人或是他人在将来都能够对它继续编写或维护。代码维护时，或许本人会比较容易，但对他人却比较麻烦。因此你写的代码要尽可能保证他人能够容易维护。“如果一个维护者不再继续维护你的代码，很可能他就有了想杀你的冲动。”</a:t>
            </a:r>
            <a:endParaRPr lang="zh-CN" altLang="en-US">
              <a:sym typeface="+mn-ea"/>
            </a:endParaRPr>
          </a:p>
          <a:p>
            <a:r>
              <a:rPr lang="zh-CN" altLang="en-US">
                <a:sym typeface="+mn-ea"/>
              </a:rPr>
              <a:t>- **正交原则(Orthogonality)**: 正交性的基本思想是，在概念上不相关的事物不应该与系统相关。设计越正交，异常越少。 这使得用编程语言更容易学习，读写程序。(反例：`CSS`)。</a:t>
            </a:r>
            <a:endParaRPr lang="zh-CN" altLang="en-US">
              <a:sym typeface="+mn-ea"/>
            </a:endParaRPr>
          </a:p>
          <a:p>
            <a:r>
              <a:rPr lang="zh-CN" altLang="en-US">
                <a:sym typeface="+mn-ea"/>
              </a:rPr>
              <a:t>- **做最简单的事儿就让代码可运行**（`Do the simplest thing that could possibly work`）: 尽可能做最简单的事就可以让代码可运行。在编程中，一定要保持简单原则。作为一名程序员不断的反思“如何在工作中做到简化呢？”这将有助于在设计中保持简单的路径。</a:t>
            </a:r>
            <a:endParaRPr lang="zh-CN" altLang="en-US">
              <a:sym typeface="+mn-ea"/>
            </a:endParaRPr>
          </a:p>
          <a:p>
            <a:r>
              <a:rPr lang="zh-CN" altLang="en-US">
                <a:sym typeface="+mn-ea"/>
              </a:rPr>
              <a:t>- **隐藏实现细节**（`Hide Implementation Details`）: 软件模块通过提供接口隐藏信息（即实现细节），而不泄漏任何不必要的信息。</a:t>
            </a:r>
            <a:endParaRPr lang="zh-CN" altLang="en-US">
              <a:sym typeface="+mn-ea"/>
            </a:endParaRPr>
          </a:p>
          <a:p>
            <a:r>
              <a:rPr lang="zh-CN" altLang="en-US">
                <a:sym typeface="+mn-ea"/>
              </a:rPr>
              <a:t>- **科里定律**(`Curly's Law`): 是为任何特定的代码选择一个明确定义的目标：**只做一件事**。</a:t>
            </a:r>
            <a:endParaRPr lang="zh-CN" altLang="en-US">
              <a:sym typeface="+mn-ea"/>
            </a:endParaRPr>
          </a:p>
          <a:p>
            <a:r>
              <a:rPr lang="zh-CN" altLang="en-US">
                <a:sym typeface="+mn-ea"/>
              </a:rPr>
              <a:t>- **墨菲定律**（`Murphy's Law`）:根本内容是：**如果事情有变坏的可能，不管这种可能性有多小，它总会发生**。主要内容如下：</a:t>
            </a:r>
            <a:endParaRPr lang="zh-CN" altLang="en-US">
              <a:sym typeface="+mn-ea"/>
            </a:endParaRPr>
          </a:p>
          <a:p>
            <a:r>
              <a:rPr lang="zh-CN" altLang="en-US">
                <a:sym typeface="+mn-ea"/>
              </a:rPr>
              <a:t>  - 任何事都没有表面看起来那么简单；</a:t>
            </a:r>
            <a:endParaRPr lang="zh-CN" altLang="en-US">
              <a:sym typeface="+mn-ea"/>
            </a:endParaRPr>
          </a:p>
          <a:p>
            <a:r>
              <a:rPr lang="zh-CN" altLang="en-US">
                <a:sym typeface="+mn-ea"/>
              </a:rPr>
              <a:t>  - 所有的事都会比你预计的时间长；</a:t>
            </a:r>
            <a:endParaRPr lang="zh-CN" altLang="en-US">
              <a:sym typeface="+mn-ea"/>
            </a:endParaRPr>
          </a:p>
          <a:p>
            <a:r>
              <a:rPr lang="zh-CN" altLang="en-US">
                <a:sym typeface="+mn-ea"/>
              </a:rPr>
              <a:t>  - 会出错的事总会出错；</a:t>
            </a:r>
            <a:endParaRPr lang="zh-CN" altLang="en-US">
              <a:sym typeface="+mn-ea"/>
            </a:endParaRPr>
          </a:p>
          <a:p>
            <a:r>
              <a:rPr lang="zh-CN" altLang="en-US">
                <a:sym typeface="+mn-ea"/>
              </a:rPr>
              <a:t>  - 如果你担心某种情况发生，那么它就更有可能发生。</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如果一个类承担的职责过多，就等于把这些职责耦合在一起了。一个职责的变化可能会削弱或者抑制这个类完成其他职责的能力。这种耦合会导致脆弱的设计，当发生变化时，设计会遭受到意想不到的破坏。而如果想要避免这种现象的发生，就要尽可能的遵守单一职责原则。此原则的核心就是</a:t>
            </a:r>
            <a:r>
              <a:rPr lang="zh-CN" altLang="en-US" b="1">
                <a:sym typeface="+mn-ea"/>
              </a:rPr>
              <a:t>解耦</a:t>
            </a:r>
            <a:r>
              <a:rPr lang="zh-CN" altLang="en-US">
                <a:sym typeface="+mn-ea"/>
              </a:rPr>
              <a:t>和</a:t>
            </a:r>
            <a:r>
              <a:rPr lang="zh-CN" altLang="en-US" b="1">
                <a:sym typeface="+mn-ea"/>
              </a:rPr>
              <a:t>增强内聚性</a:t>
            </a:r>
            <a:r>
              <a:rPr lang="zh-CN" altLang="en-US">
                <a:sym typeface="+mn-ea"/>
              </a:rPr>
              <a:t>。</a:t>
            </a:r>
            <a:endParaRPr lang="zh-CN" altLang="en-US">
              <a:sym typeface="+mn-ea"/>
            </a:endParaRPr>
          </a:p>
          <a:p>
            <a:endParaRPr lang="zh-CN" altLang="en-US">
              <a:sym typeface="+mn-ea"/>
            </a:endParaRPr>
          </a:p>
          <a:p>
            <a:r>
              <a:rPr lang="zh-CN" altLang="en-US">
                <a:sym typeface="+mn-ea"/>
              </a:rPr>
              <a:t>单一职责的好处：</a:t>
            </a:r>
            <a:endParaRPr lang="zh-CN" altLang="en-US">
              <a:sym typeface="+mn-ea"/>
            </a:endParaRPr>
          </a:p>
          <a:p>
            <a:endParaRPr lang="zh-CN" altLang="en-US">
              <a:sym typeface="+mn-ea"/>
            </a:endParaRPr>
          </a:p>
          <a:p>
            <a:r>
              <a:rPr lang="zh-CN" altLang="en-US">
                <a:sym typeface="+mn-ea"/>
              </a:rPr>
              <a:t>- 类的复杂性降低，实现什么职责都有清晰明确的定义;</a:t>
            </a:r>
            <a:endParaRPr lang="zh-CN" altLang="en-US">
              <a:sym typeface="+mn-ea"/>
            </a:endParaRPr>
          </a:p>
          <a:p>
            <a:r>
              <a:rPr lang="zh-CN" altLang="en-US">
                <a:sym typeface="+mn-ea"/>
              </a:rPr>
              <a:t>- 可读性提高，复杂性降低，可维护性提高;</a:t>
            </a:r>
            <a:endParaRPr lang="zh-CN" altLang="en-US">
              <a:sym typeface="+mn-ea"/>
            </a:endParaRPr>
          </a:p>
          <a:p>
            <a:r>
              <a:rPr lang="zh-CN" altLang="en-US">
                <a:sym typeface="+mn-ea"/>
              </a:rPr>
              <a:t>- 变更引起的风险降低。</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里氏替换原则包含了一下4层含义：</a:t>
            </a:r>
            <a:endParaRPr lang="zh-CN" altLang="en-US">
              <a:sym typeface="+mn-ea"/>
            </a:endParaRPr>
          </a:p>
          <a:p>
            <a:endParaRPr lang="zh-CN" altLang="en-US">
              <a:sym typeface="+mn-ea"/>
            </a:endParaRPr>
          </a:p>
          <a:p>
            <a:r>
              <a:rPr lang="zh-CN" altLang="en-US">
                <a:sym typeface="+mn-ea"/>
              </a:rPr>
              <a:t>- 子类必须完全实现父类的方法。在类中调用其他类是务必要使用父类或接口，如果不能使用父类或接口，则说明类的设计已经违背了`LSP`原则。</a:t>
            </a:r>
            <a:endParaRPr lang="zh-CN" altLang="en-US">
              <a:sym typeface="+mn-ea"/>
            </a:endParaRPr>
          </a:p>
          <a:p>
            <a:r>
              <a:rPr lang="zh-CN" altLang="en-US">
                <a:sym typeface="+mn-ea"/>
              </a:rPr>
              <a:t>- 子类可以有自己的个性。子类当然可以有自己的行为和外观了，也就是方法和属性。</a:t>
            </a:r>
            <a:endParaRPr lang="zh-CN" altLang="en-US">
              <a:sym typeface="+mn-ea"/>
            </a:endParaRPr>
          </a:p>
          <a:p>
            <a:r>
              <a:rPr lang="zh-CN" altLang="en-US">
                <a:sym typeface="+mn-ea"/>
              </a:rPr>
              <a:t>- 覆盖或实现父类的方法时输入参数可以被放大。即子类可以覆盖父类的方法，但输入参数应比父类方法中的大，这样在子类代替父类的时候，调用的仍然是父类的方法。即以子类中方法的前置条件必须与超类中被覆盖的方法的前置条件相同或者更宽松。</a:t>
            </a:r>
            <a:endParaRPr lang="zh-CN" altLang="en-US">
              <a:sym typeface="+mn-ea"/>
            </a:endParaRPr>
          </a:p>
          <a:p>
            <a:r>
              <a:rPr lang="zh-CN" altLang="en-US">
                <a:sym typeface="+mn-ea"/>
              </a:rPr>
              <a:t>- 覆盖或实现父类的方法时输出结果可以被缩小。</a:t>
            </a:r>
            <a:endParaRPr lang="zh-CN" altLang="en-US">
              <a:sym typeface="+mn-ea"/>
            </a:endParaRPr>
          </a:p>
          <a:p>
            <a:endParaRPr lang="zh-CN" altLang="en-US">
              <a:sym typeface="+mn-ea"/>
            </a:endParaRPr>
          </a:p>
          <a:p>
            <a:r>
              <a:rPr lang="zh-CN" altLang="en-US">
                <a:sym typeface="+mn-ea"/>
              </a:rPr>
              <a:t>#### 优点：</a:t>
            </a:r>
            <a:endParaRPr lang="zh-CN" altLang="en-US">
              <a:sym typeface="+mn-ea"/>
            </a:endParaRPr>
          </a:p>
          <a:p>
            <a:endParaRPr lang="zh-CN" altLang="en-US">
              <a:sym typeface="+mn-ea"/>
            </a:endParaRPr>
          </a:p>
          <a:p>
            <a:r>
              <a:rPr lang="zh-CN" altLang="en-US">
                <a:sym typeface="+mn-ea"/>
              </a:rPr>
              <a:t>- 提高代码的重用性，子类拥有父类的方法和属性；</a:t>
            </a:r>
            <a:endParaRPr lang="zh-CN" altLang="en-US">
              <a:sym typeface="+mn-ea"/>
            </a:endParaRPr>
          </a:p>
          <a:p>
            <a:r>
              <a:rPr lang="zh-CN" altLang="en-US">
                <a:sym typeface="+mn-ea"/>
              </a:rPr>
              <a:t>- 提高代码的可扩展性，子类可形似于父类，但异于父类，保留自我的特性；</a:t>
            </a:r>
            <a:endParaRPr lang="zh-CN" altLang="en-US">
              <a:sym typeface="+mn-ea"/>
            </a:endParaRPr>
          </a:p>
          <a:p>
            <a:endParaRPr lang="zh-CN" altLang="en-US">
              <a:sym typeface="+mn-ea"/>
            </a:endParaRPr>
          </a:p>
          <a:p>
            <a:r>
              <a:rPr lang="zh-CN" altLang="en-US">
                <a:sym typeface="+mn-ea"/>
              </a:rPr>
              <a:t>#### 缺点：</a:t>
            </a:r>
            <a:endParaRPr lang="zh-CN" altLang="en-US">
              <a:sym typeface="+mn-ea"/>
            </a:endParaRPr>
          </a:p>
          <a:p>
            <a:endParaRPr lang="zh-CN" altLang="en-US">
              <a:sym typeface="+mn-ea"/>
            </a:endParaRPr>
          </a:p>
          <a:p>
            <a:r>
              <a:rPr lang="zh-CN" altLang="en-US">
                <a:sym typeface="+mn-ea"/>
              </a:rPr>
              <a:t>- 继承是侵入性的，只要继承就必须拥有父类的所有方法和属性，在一定程度上约束了子类，降低了代码的灵活性；</a:t>
            </a:r>
            <a:endParaRPr lang="zh-CN" altLang="en-US">
              <a:sym typeface="+mn-ea"/>
            </a:endParaRPr>
          </a:p>
          <a:p>
            <a:r>
              <a:rPr lang="zh-CN" altLang="en-US">
                <a:sym typeface="+mn-ea"/>
              </a:rPr>
              <a:t>- 增加了耦合，当父类的常量、变量或者方法被修改了，需要考虑子类的修改，所以一旦父类有了变动，很可能会造成非常糟糕的结果，要重构大量的代码。</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采用接口隔离原则对接口进行约束时，要注意以下几点：</a:t>
            </a:r>
            <a:endParaRPr lang="zh-CN" altLang="en-US">
              <a:sym typeface="+mn-ea"/>
            </a:endParaRPr>
          </a:p>
          <a:p>
            <a:endParaRPr lang="zh-CN" altLang="en-US">
              <a:sym typeface="+mn-ea"/>
            </a:endParaRPr>
          </a:p>
          <a:p>
            <a:r>
              <a:rPr lang="zh-CN" altLang="en-US">
                <a:sym typeface="+mn-ea"/>
              </a:rPr>
              <a:t>- 接口尽量小，但是要有限度。对接口进行细化可以提高程序设计灵活性是不挣的事实，但是如果过小，则会造成接口数量过多，使设计复杂化。所以一定要适度。</a:t>
            </a:r>
            <a:endParaRPr lang="zh-CN" altLang="en-US">
              <a:sym typeface="+mn-ea"/>
            </a:endParaRPr>
          </a:p>
          <a:p>
            <a:r>
              <a:rPr lang="zh-CN" altLang="en-US">
                <a:sym typeface="+mn-ea"/>
              </a:rPr>
              <a:t>- 为依赖接口的类定制服务，只暴露给调用的类它需要的方法，它不需要的方法则隐藏起来。只有专注地为一个模块提供定制服务，才能建立最小的依赖关系。</a:t>
            </a:r>
            <a:endParaRPr lang="zh-CN" altLang="en-US">
              <a:sym typeface="+mn-ea"/>
            </a:endParaRPr>
          </a:p>
          <a:p>
            <a:r>
              <a:rPr lang="zh-CN" altLang="en-US">
                <a:sym typeface="+mn-ea"/>
              </a:rPr>
              <a:t>- 提高内聚，减少对外交互。使接口用最少的方法去完成最多的事情。</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开闭原则是面向对象设计中“可复用设计”的基石，是面向对象设计中最重要的原则之一，其它很多的设计原则和设计模式都是实现开闭原则的一种手段。核心就是：对扩展开放，对修改关闭。</a:t>
            </a:r>
            <a:endParaRPr lang="zh-CN" altLang="en-US">
              <a:sym typeface="+mn-ea"/>
            </a:endParaRPr>
          </a:p>
          <a:p>
            <a:endParaRPr lang="zh-CN" altLang="en-US">
              <a:sym typeface="+mn-ea"/>
            </a:endParaRPr>
          </a:p>
          <a:p>
            <a:r>
              <a:rPr lang="zh-CN" altLang="en-US">
                <a:sym typeface="+mn-ea"/>
              </a:rPr>
              <a:t>实现开闭原则的关键就在于“**抽象**”。把系统的所有可能的行为抽象成一个抽象底层，这个抽象底层规定出所有的具体实现必须提供的方法的特征。作为系统设计的抽象层，要预见所有可能的扩展，从而使得在任何扩展情况下，系统的抽象底层不需修改；同时，由于可以从抽象底层导出一个或多个新的具体实现，可以改变系统的行为，因此系统设计对扩展是开放的。在实际开发过程的设计开始阶段，就要罗列出来系统所有可能的行为，并把这些行为加入到抽象底层，根本就是不可能的，这么去做也是不经济的。因此我们应该现实的接受修改拥抱变化，使我们的代码可以对扩展开放，对修改关闭。</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继承的缺点主要有以下几点：</a:t>
            </a:r>
            <a:endParaRPr lang="zh-CN" altLang="en-US">
              <a:sym typeface="+mn-ea"/>
            </a:endParaRPr>
          </a:p>
          <a:p>
            <a:endParaRPr lang="zh-CN" altLang="en-US">
              <a:sym typeface="+mn-ea"/>
            </a:endParaRPr>
          </a:p>
          <a:p>
            <a:r>
              <a:rPr lang="zh-CN" altLang="en-US">
                <a:sym typeface="+mn-ea"/>
              </a:rPr>
              <a:t>- 继承复用破坏数据封装性，将基类的实现细节全部暴露给了派生类，基类的内部细节常常对派生类是透明的，白箱复用。虽然简单，但不安全，不能在程序的运行过程中随便改变。</a:t>
            </a:r>
            <a:endParaRPr lang="zh-CN" altLang="en-US">
              <a:sym typeface="+mn-ea"/>
            </a:endParaRPr>
          </a:p>
          <a:p>
            <a:r>
              <a:rPr lang="zh-CN" altLang="en-US">
                <a:sym typeface="+mn-ea"/>
              </a:rPr>
              <a:t>- 基类的实现发生了改变，派生类的实现也不得不改变。</a:t>
            </a:r>
            <a:endParaRPr lang="zh-CN" altLang="en-US">
              <a:sym typeface="+mn-ea"/>
            </a:endParaRPr>
          </a:p>
          <a:p>
            <a:r>
              <a:rPr lang="zh-CN" altLang="en-US">
                <a:sym typeface="+mn-ea"/>
              </a:rPr>
              <a:t>- 从基类继承而来的派生类是静态的，不可能在运行时间内发生改变，因此没有足够的灵活性。</a:t>
            </a:r>
            <a:endParaRPr lang="zh-CN" altLang="en-US">
              <a:sym typeface="+mn-ea"/>
            </a:endParaRPr>
          </a:p>
          <a:p>
            <a:endParaRPr lang="zh-CN" altLang="en-US">
              <a:sym typeface="+mn-ea"/>
            </a:endParaRPr>
          </a:p>
          <a:p>
            <a:r>
              <a:rPr lang="zh-CN" altLang="en-US">
                <a:sym typeface="+mn-ea"/>
              </a:rPr>
              <a:t>由于组合可以将已有的对象纳入到新对象中，使之成为新对象的一部分，因此新对象可以调用已有对象的功能，这样做有下面的好处：</a:t>
            </a:r>
            <a:endParaRPr lang="zh-CN" altLang="en-US">
              <a:sym typeface="+mn-ea"/>
            </a:endParaRPr>
          </a:p>
          <a:p>
            <a:endParaRPr lang="zh-CN" altLang="en-US">
              <a:sym typeface="+mn-ea"/>
            </a:endParaRPr>
          </a:p>
          <a:p>
            <a:r>
              <a:rPr lang="zh-CN" altLang="en-US">
                <a:sym typeface="+mn-ea"/>
              </a:rPr>
              <a:t>- 新对象存取`组成对象`的唯一方法是通过`组成对象`的`getter/setter`方法。</a:t>
            </a:r>
            <a:endParaRPr lang="zh-CN" altLang="en-US">
              <a:sym typeface="+mn-ea"/>
            </a:endParaRPr>
          </a:p>
          <a:p>
            <a:r>
              <a:rPr lang="zh-CN" altLang="en-US">
                <a:sym typeface="+mn-ea"/>
              </a:rPr>
              <a:t>- 组合复用是黑箱复用，因为组成对象的内部细节是新对象所看不见的。</a:t>
            </a:r>
            <a:endParaRPr lang="zh-CN" altLang="en-US">
              <a:sym typeface="+mn-ea"/>
            </a:endParaRPr>
          </a:p>
          <a:p>
            <a:r>
              <a:rPr lang="zh-CN" altLang="en-US">
                <a:sym typeface="+mn-ea"/>
              </a:rPr>
              <a:t>- 组合复用所需要的依赖较少。</a:t>
            </a:r>
            <a:endParaRPr lang="zh-CN" altLang="en-US">
              <a:sym typeface="+mn-ea"/>
            </a:endParaRPr>
          </a:p>
          <a:p>
            <a:r>
              <a:rPr lang="zh-CN" altLang="en-US">
                <a:sym typeface="+mn-ea"/>
              </a:rPr>
              <a:t>- 每一个新的类可以将焦点集中到一个任务上。</a:t>
            </a:r>
            <a:endParaRPr lang="zh-CN" altLang="en-US">
              <a:sym typeface="+mn-ea"/>
            </a:endParaRPr>
          </a:p>
          <a:p>
            <a:r>
              <a:rPr lang="zh-CN" altLang="en-US">
                <a:sym typeface="+mn-ea"/>
              </a:rPr>
              <a:t>- 组合复用可以在运行时间动态进行，新对象可以动态的引用与成分对象类型相同的对象。</a:t>
            </a:r>
            <a:endParaRPr lang="zh-CN" altLang="en-US">
              <a:sym typeface="+mn-ea"/>
            </a:endParaRPr>
          </a:p>
          <a:p>
            <a:endParaRPr lang="zh-CN" altLang="en-US">
              <a:sym typeface="+mn-ea"/>
            </a:endParaRPr>
          </a:p>
          <a:p>
            <a:r>
              <a:rPr lang="zh-CN" altLang="en-US">
                <a:sym typeface="+mn-ea"/>
              </a:rPr>
              <a:t>组合复用的缺点：就是用组合复用建造的系统会有较多的对象需要管理。</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需求在变，语言在变，框架在变，工具在变，架构在变，趋势在变，甚至连组织结构都在不断的变化。随着变化的不断产生，软件变得越来越复杂。</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对于什么是重构，《重构-改善既有代码的设计》一书中已经有明确的定义，分名词和动词两种形式。</a:t>
            </a:r>
            <a:endParaRPr lang="zh-CN" altLang="en-US">
              <a:sym typeface="+mn-ea"/>
            </a:endParaRPr>
          </a:p>
          <a:p>
            <a:endParaRPr lang="zh-CN" altLang="en-US">
              <a:sym typeface="+mn-ea"/>
            </a:endParaRPr>
          </a:p>
          <a:p>
            <a:r>
              <a:rPr lang="zh-CN" altLang="en-US">
                <a:sym typeface="+mn-ea"/>
              </a:rPr>
              <a:t>重构就是为了让软件始终可以维护，保证开发效率，一种以可控的方式整理代码的技术，在不改变软件可观察行为的前提下改善其内部结构，重构也是基于以上诸多设计原则而逐步改善代码、优化代码的过程。</a:t>
            </a:r>
            <a:endParaRPr lang="zh-CN" altLang="en-US">
              <a:sym typeface="+mn-ea"/>
            </a:endParaRPr>
          </a:p>
          <a:p>
            <a:endParaRPr lang="zh-CN" altLang="en-US">
              <a:sym typeface="+mn-ea"/>
            </a:endParaRPr>
          </a:p>
          <a:p>
            <a:r>
              <a:rPr lang="zh-CN" altLang="en-US">
                <a:sym typeface="+mn-ea"/>
              </a:rPr>
              <a:t>- **重构可以改进软件设计。**软件开发中唯一保持不变的就是变化。当软件因为需求变更而开始逐渐退化时，运用软件重构改善我们的结构，使之重新适应软件需求的变化。经常性的重构可以维护代码原有的形态。</a:t>
            </a:r>
            <a:endParaRPr lang="zh-CN" altLang="en-US">
              <a:sym typeface="+mn-ea"/>
            </a:endParaRPr>
          </a:p>
          <a:p>
            <a:r>
              <a:rPr lang="zh-CN" altLang="en-US">
                <a:sym typeface="+mn-ea"/>
              </a:rPr>
              <a:t>- **重构可以帮助理解代码。**在理解代码时，尝试去按自己的理解修改，使代码更趋简洁，随之而来的是看到一些以前看不到的设计层面的东西。</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 **静态检查。**现在市面上有很多代码静态检查的工具，也是发现bug和风格不好的比较容易的方式。解决Sonar质量管理平台上的所有问题，避免技术债务。</a:t>
            </a:r>
            <a:endParaRPr lang="zh-CN" altLang="en-US">
              <a:sym typeface="+mn-ea"/>
            </a:endParaRPr>
          </a:p>
          <a:p>
            <a:r>
              <a:rPr lang="zh-CN" altLang="en-US">
                <a:sym typeface="+mn-ea"/>
              </a:rPr>
              <a:t>- **删除冗余代码。**某个函数、类、变量如果不再工作，就应该将其删除。过多的冗余代码将会增加他人理解代码的难度，且使编译后的目标文件增大。局部变量应在使用前定义，没必要在函数入口处一次定义。</a:t>
            </a:r>
            <a:endParaRPr lang="zh-CN" altLang="en-US">
              <a:sym typeface="+mn-ea"/>
            </a:endParaRPr>
          </a:p>
          <a:p>
            <a:r>
              <a:rPr lang="zh-CN" altLang="en-US">
                <a:sym typeface="+mn-ea"/>
              </a:rPr>
              <a:t>- **遵循好的代码风格。**重构后的代码应尽量与好的代码风格保持一致。原来不好的风格，如变量跟运算符间未添加空格、函数参数之间空格、函数之间未空出一行等等，应进行修改。</a:t>
            </a:r>
            <a:endParaRPr lang="zh-CN" altLang="en-US">
              <a:sym typeface="+mn-ea"/>
            </a:endParaRPr>
          </a:p>
          <a:p>
            <a:r>
              <a:rPr lang="zh-CN" altLang="en-US">
                <a:sym typeface="+mn-ea"/>
              </a:rPr>
              <a:t>- **重命名。**糊不清的方法名会影响代码的可用性。这些模糊不清的名称应该重命名为有意义且与业务有关的名称，来帮助更好地理解代码。对类，接口，方法，变量、参数等重命名，以使得更易理解。名称应该能比较清晰的说明该函数、变量、类的职责。好的名称可以达到自注释的目的。</a:t>
            </a:r>
            <a:endParaRPr lang="zh-CN" altLang="en-US">
              <a:sym typeface="+mn-ea"/>
            </a:endParaRPr>
          </a:p>
          <a:p>
            <a:r>
              <a:rPr lang="zh-CN" altLang="en-US">
                <a:sym typeface="+mn-ea"/>
              </a:rPr>
              <a:t>- **消除魔法数字魔法常量。**应该使用常量替代魔法数字和常量。这能大大增强代码可维护性、可读性。</a:t>
            </a:r>
            <a:endParaRPr lang="zh-CN" altLang="en-US">
              <a:sym typeface="+mn-ea"/>
            </a:endParaRPr>
          </a:p>
          <a:p>
            <a:r>
              <a:rPr lang="zh-CN" altLang="en-US">
                <a:sym typeface="+mn-ea"/>
              </a:rPr>
              <a:t>- **减少函数参数。**如果一个函数或方法的参数过多就会出现如果更改了其中一个参数， 就得在多个调用点进行更改。可以将多个参数封装成一个结构体或类。</a:t>
            </a:r>
            <a:endParaRPr lang="zh-CN" altLang="en-US">
              <a:sym typeface="+mn-ea"/>
            </a:endParaRPr>
          </a:p>
          <a:p>
            <a:r>
              <a:rPr lang="zh-CN" altLang="en-US">
                <a:sym typeface="+mn-ea"/>
              </a:rPr>
              <a:t>- **过大的类拆分成多个类。**将一个类承担的多个职责拆分成多个类，以使每个类职责相对单一。</a:t>
            </a:r>
            <a:endParaRPr lang="zh-CN" altLang="en-US">
              <a:sym typeface="+mn-ea"/>
            </a:endParaRPr>
          </a:p>
          <a:p>
            <a:r>
              <a:rPr lang="zh-CN" altLang="en-US">
                <a:sym typeface="+mn-ea"/>
              </a:rPr>
              <a:t>- **将过长的方法分解成多个功能相对单一、命名良好的小方法。**更容易理解且具有更好的复用性。很多程序员担心带来性能损耗，拆分后的多个小函数调用的性能消耗微乎其微。与其带来的好处相比可以忽略。如果确实导致性能损耗可以再通过重构改善性能。</a:t>
            </a:r>
            <a:endParaRPr lang="zh-CN" altLang="en-US">
              <a:sym typeface="+mn-ea"/>
            </a:endParaRPr>
          </a:p>
          <a:p>
            <a:r>
              <a:rPr lang="zh-CN" altLang="en-US">
                <a:sym typeface="+mn-ea"/>
              </a:rPr>
              <a:t>- **消除重复代码。**重复代码会使目标文件体积增大。很多是通过代码拷贝实现，可能会导致错误扩散。</a:t>
            </a:r>
            <a:endParaRPr lang="zh-CN" altLang="en-US">
              <a:sym typeface="+mn-ea"/>
            </a:endParaRPr>
          </a:p>
          <a:p>
            <a:r>
              <a:rPr lang="zh-CN" altLang="en-US">
                <a:sym typeface="+mn-ea"/>
              </a:rPr>
              <a:t>- **提取方法或函数。**提取重复代码定义成独立的函数，函数粒度小复用的机会就大。一旦需要修改仅需修改一处 ，职责单一容易理解。若重复代码位于同一继承体系中，可以提取成基类的方法。若并不是完全重复，存在微小的差异，可以使用模板方法模式。</a:t>
            </a:r>
            <a:endParaRPr lang="zh-CN" altLang="en-US">
              <a:sym typeface="+mn-ea"/>
            </a:endParaRPr>
          </a:p>
          <a:p>
            <a:r>
              <a:rPr lang="zh-CN" altLang="en-US">
                <a:sym typeface="+mn-ea"/>
              </a:rPr>
              <a:t>- **优先使用组合而非继承。**通过继承和组合都可以使一个类获得另一个类的功能。但使用继承时子类与父类是强依赖关系。在使用父类指针或引用的地方都可以使用子类替代父类。也就是说只有当两个类之间确实存在`Is-A`关系时才能使用继承。强依赖关系使得子类父类耦合性很强。而组合相比较来说依赖减弱，当满足`Has-A`关系时就可以通过组合来实现。</a:t>
            </a:r>
            <a:endParaRPr lang="zh-CN" altLang="en-US">
              <a:sym typeface="+mn-ea"/>
            </a:endParaRPr>
          </a:p>
          <a:p>
            <a:r>
              <a:rPr lang="zh-CN" altLang="en-US">
                <a:sym typeface="+mn-ea"/>
              </a:rPr>
              <a:t>- **降低圈复杂度。**圈复杂度用来衡量一个模块判定结构的复杂程度，也可理解为覆盖所有的可能情况最少使用的测试用例数。复杂度高的代码判断逻辑复杂，可能会引入bug，且可读性很差。圈复杂度主要与分支语句（`if`、`else`、`for`、`switch`等）的个数有关。当一段代码中含有较多的分支语句，其逻辑复杂程度就会增加。有目的的降低核心类、核心方法的复杂度，可以降低软件的风险，增加软件的可扩展性。</a:t>
            </a:r>
            <a:endParaRPr lang="zh-CN" altLang="en-US">
              <a:sym typeface="+mn-ea"/>
            </a:endParaRPr>
          </a:p>
          <a:p>
            <a:r>
              <a:rPr lang="zh-CN" altLang="en-US">
                <a:sym typeface="+mn-ea"/>
              </a:rPr>
              <a:t>- **合并/简化条件表达式。**若一系列条件判断，得到相同结果，可以将这些测试合并为一个独立函数或方法。</a:t>
            </a:r>
            <a:endParaRPr lang="zh-CN" altLang="en-US">
              <a:sym typeface="+mn-ea"/>
            </a:endParaRPr>
          </a:p>
          <a:p>
            <a:r>
              <a:rPr lang="zh-CN" altLang="en-US">
                <a:sym typeface="+mn-ea"/>
              </a:rPr>
              <a:t>- **避免多层嵌套条件表达式。**条件表达式通常有两种形式：所有分支都属于正常语句以及只有一个分支属于正常语句，其他都是非正常情况。如果某个条件属于异常条件且不太常见，则应该单独检查该条件。嵌套导致代码可读性差，应尽量避免。</a:t>
            </a:r>
            <a:endParaRPr lang="zh-CN" altLang="en-US">
              <a:sym typeface="+mn-ea"/>
            </a:endParaRPr>
          </a:p>
          <a:p>
            <a:r>
              <a:rPr lang="zh-CN" altLang="en-US">
                <a:sym typeface="+mn-ea"/>
              </a:rPr>
              <a:t>- **使用多态取代条件表达式。**若在某个条件表达式中存在根据类型的不同具有不同的行为。可以考虑将原始函数声明为抽象函数，将条件表达式的每个分支放进一个子类重写的方法中。使用多态不必编写某些条件表达式并且若你想添加一种新类型，只需创建一个新的子类并重写该方法。这些更改对类的用户是透明的，上层不需要做任何更改。</a:t>
            </a:r>
            <a:endParaRPr lang="zh-CN" altLang="en-US">
              <a:sym typeface="+mn-ea"/>
            </a:endParaRPr>
          </a:p>
          <a:p>
            <a:r>
              <a:rPr lang="zh-CN" altLang="en-US">
                <a:sym typeface="+mn-ea"/>
              </a:rPr>
              <a:t>- **免过度超前设计。**过度超前的设计是指代码的灵活性和复杂性超出了所需。代码应该满足当前的需求，并留有可扩展的余地。对于未来的变化，既不要考虑的太多，也不能一点都不考虑。</a:t>
            </a:r>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
        <p:nvSpPr>
          <p:cNvPr id="4" name="页眉占位符 3"/>
          <p:cNvSpPr>
            <a:spLocks noGrp="1"/>
          </p:cNvSpPr>
          <p:nvPr>
            <p:ph type="hdr" sz="quarter"/>
          </p:nvPr>
        </p:nvSpPr>
        <p:spPr/>
        <p:txBody>
          <a:bodyPr/>
          <a:p>
            <a:endParaRPr lang="zh-CN" altLang="en-US"/>
          </a:p>
        </p:txBody>
      </p:sp>
      <p:sp>
        <p:nvSpPr>
          <p:cNvPr id="5" name="页脚占位符 4"/>
          <p:cNvSpPr>
            <a:spLocks noGrp="1"/>
          </p:cNvSpPr>
          <p:nvPr>
            <p:ph type="ftr" sz="quarter" idx="4"/>
          </p:nvPr>
        </p:nvSpPr>
        <p:spPr/>
        <p:txBody>
          <a:bodyPr/>
          <a:p>
            <a:endParaRPr lang="zh-CN" altLang="en-US"/>
          </a:p>
        </p:txBody>
      </p:sp>
      <p:sp>
        <p:nvSpPr>
          <p:cNvPr id="6" name="灯片编号占位符 5"/>
          <p:cNvSpPr>
            <a:spLocks noGrp="1"/>
          </p:cNvSpPr>
          <p:nvPr>
            <p:ph type="sldNum" sz="quarter" idx="5"/>
          </p:nvPr>
        </p:nvSpPr>
        <p:spPr/>
        <p:txBody>
          <a:bodyPr/>
          <a:p>
            <a:fld id="{FA3662E1-3B16-43A0-803A-DFB1AF90FB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i="1">
                <a:solidFill>
                  <a:srgbClr val="0070C0"/>
                </a:solidFill>
                <a:latin typeface="Exo" pitchFamily="50" charset="0"/>
              </a:defRPr>
            </a:lvl1pPr>
          </a:lstStyle>
          <a:p>
            <a:fld id="{182DE3AF-391B-4CA3-8CC2-59ACF0A556C0}" type="datetime1">
              <a:rPr lang="zh-CN" altLang="en-US" smtClean="0"/>
            </a:fld>
            <a:endParaRPr lang="zh-CN" altLang="en-US" dirty="0"/>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lvl1pPr>
              <a:defRPr i="1">
                <a:solidFill>
                  <a:srgbClr val="0070C0"/>
                </a:solidFill>
                <a:latin typeface="Exo" pitchFamily="50" charset="0"/>
              </a:defRPr>
            </a:lvl1pPr>
          </a:lstStyle>
          <a:p>
            <a:r>
              <a:rPr lang="en-US" altLang="zh-CN" dirty="0" smtClean="0"/>
              <a:t>1</a:t>
            </a:r>
            <a:endParaRPr lang="zh-CN" altLang="en-US" dirty="0"/>
          </a:p>
        </p:txBody>
      </p:sp>
      <p:pic>
        <p:nvPicPr>
          <p:cNvPr id="7" name="Picture 12" descr="PPT - 169"/>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5144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彩色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2966" y="364109"/>
            <a:ext cx="1746904" cy="66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p:cNvSpPr txBox="1">
            <a:spLocks noChangeArrowheads="1"/>
          </p:cNvSpPr>
          <p:nvPr userDrawn="1"/>
        </p:nvSpPr>
        <p:spPr bwMode="auto">
          <a:xfrm>
            <a:off x="7308304" y="446632"/>
            <a:ext cx="1269962" cy="210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0636" tIns="20318" rIns="40636" bIns="20318">
            <a:spAutoFit/>
          </a:bodyPr>
          <a:lstStyle>
            <a:lvl1pPr defTabSz="1293495" eaLnBrk="0" hangingPunct="0">
              <a:defRPr sz="4000">
                <a:solidFill>
                  <a:schemeClr val="tx1"/>
                </a:solidFill>
                <a:latin typeface="Arial" panose="020B0604020202020204" pitchFamily="34" charset="0"/>
                <a:ea typeface="宋体" panose="02010600030101010101" pitchFamily="2" charset="-122"/>
              </a:defRPr>
            </a:lvl1pPr>
            <a:lvl2pPr marL="742950" indent="-285750" defTabSz="1293495" eaLnBrk="0" hangingPunct="0">
              <a:defRPr sz="4000">
                <a:solidFill>
                  <a:schemeClr val="tx1"/>
                </a:solidFill>
                <a:latin typeface="Arial" panose="020B0604020202020204" pitchFamily="34" charset="0"/>
                <a:ea typeface="宋体" panose="02010600030101010101" pitchFamily="2" charset="-122"/>
              </a:defRPr>
            </a:lvl2pPr>
            <a:lvl3pPr marL="1143000" indent="-228600" defTabSz="1293495" eaLnBrk="0" hangingPunct="0">
              <a:defRPr sz="4000">
                <a:solidFill>
                  <a:schemeClr val="tx1"/>
                </a:solidFill>
                <a:latin typeface="Arial" panose="020B0604020202020204" pitchFamily="34" charset="0"/>
                <a:ea typeface="宋体" panose="02010600030101010101" pitchFamily="2" charset="-122"/>
              </a:defRPr>
            </a:lvl3pPr>
            <a:lvl4pPr marL="1600200" indent="-228600" defTabSz="1293495" eaLnBrk="0" hangingPunct="0">
              <a:defRPr sz="4000">
                <a:solidFill>
                  <a:schemeClr val="tx1"/>
                </a:solidFill>
                <a:latin typeface="Arial" panose="020B0604020202020204" pitchFamily="34" charset="0"/>
                <a:ea typeface="宋体" panose="02010600030101010101" pitchFamily="2" charset="-122"/>
              </a:defRPr>
            </a:lvl4pPr>
            <a:lvl5pPr marL="2057400" indent="-228600" defTabSz="1293495" eaLnBrk="0" hangingPunct="0">
              <a:defRPr sz="4000">
                <a:solidFill>
                  <a:schemeClr val="tx1"/>
                </a:solidFill>
                <a:latin typeface="Arial" panose="020B0604020202020204" pitchFamily="34" charset="0"/>
                <a:ea typeface="宋体" panose="02010600030101010101" pitchFamily="2" charset="-122"/>
              </a:defRPr>
            </a:lvl5pPr>
            <a:lvl6pPr marL="25146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6pPr>
            <a:lvl7pPr marL="29718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7pPr>
            <a:lvl8pPr marL="34290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8pPr>
            <a:lvl9pPr marL="38862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100" dirty="0">
                <a:solidFill>
                  <a:srgbClr val="0068B7"/>
                </a:solidFill>
                <a:latin typeface="Arial" panose="020B0604020202020204" pitchFamily="34" charset="0"/>
                <a:cs typeface="Arial" panose="020B0604020202020204" pitchFamily="34" charset="0"/>
              </a:rPr>
              <a:t>www.thunisoft.com</a:t>
            </a:r>
            <a:endParaRPr lang="zh-CN" altLang="en-US" sz="1100" dirty="0">
              <a:solidFill>
                <a:srgbClr val="0068B7"/>
              </a:solidFill>
              <a:latin typeface="Arial" panose="020B0604020202020204" pitchFamily="34" charset="0"/>
              <a:cs typeface="Arial" panose="020B0604020202020204" pitchFamily="34" charset="0"/>
            </a:endParaRPr>
          </a:p>
        </p:txBody>
      </p:sp>
      <p:sp>
        <p:nvSpPr>
          <p:cNvPr id="11" name="Rectangle 11"/>
          <p:cNvSpPr>
            <a:spLocks noChangeArrowheads="1"/>
          </p:cNvSpPr>
          <p:nvPr userDrawn="1"/>
        </p:nvSpPr>
        <p:spPr bwMode="auto">
          <a:xfrm>
            <a:off x="1372972" y="4443958"/>
            <a:ext cx="5779050" cy="19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055" tIns="29028" rIns="58055" bIns="29028">
            <a:spAutoFit/>
          </a:bodyPr>
          <a:lstStyle/>
          <a:p>
            <a:pPr defTabSz="821055"/>
            <a:r>
              <a:rPr lang="zh-CN" altLang="en-US" sz="900" baseline="0" dirty="0" smtClean="0">
                <a:solidFill>
                  <a:schemeClr val="bg1"/>
                </a:solidFill>
                <a:latin typeface="微软雅黑" panose="020B0503020204020204" pitchFamily="34" charset="-122"/>
                <a:ea typeface="微软雅黑" panose="020B0503020204020204" pitchFamily="34" charset="-122"/>
              </a:rPr>
              <a:t>北京华宇信息技术有限公司 </a:t>
            </a:r>
            <a:r>
              <a:rPr lang="en-US" altLang="zh-CN" sz="9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BEIJING THUNISOFT INFORMATION </a:t>
            </a:r>
            <a:r>
              <a:rPr lang="en-US" altLang="zh-CN" sz="900" baseline="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9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TECHNOLOGY CORPORATION LIMITED</a:t>
            </a:r>
            <a:endParaRPr lang="zh-CN" altLang="en-US" sz="900"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t="10896" b="88214"/>
          <a:stretch>
            <a:fillRect/>
          </a:stretch>
        </p:blipFill>
        <p:spPr>
          <a:xfrm>
            <a:off x="0" y="563880"/>
            <a:ext cx="9144000" cy="45719"/>
          </a:xfrm>
          <a:prstGeom prst="rect">
            <a:avLst/>
          </a:prstGeom>
        </p:spPr>
      </p:pic>
      <p:sp>
        <p:nvSpPr>
          <p:cNvPr id="4" name="日期占位符 3"/>
          <p:cNvSpPr>
            <a:spLocks noGrp="1"/>
          </p:cNvSpPr>
          <p:nvPr>
            <p:ph type="dt" sz="half" idx="10"/>
          </p:nvPr>
        </p:nvSpPr>
        <p:spPr>
          <a:xfrm>
            <a:off x="638200"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E367A7DA-86D1-420F-A51D-4AFD9CBED3AA}" type="datetime1">
              <a:rPr lang="zh-CN" altLang="en-US" smtClean="0"/>
            </a:fld>
            <a:endParaRPr lang="zh-CN" altLang="en-US" dirty="0"/>
          </a:p>
        </p:txBody>
      </p:sp>
      <p:sp>
        <p:nvSpPr>
          <p:cNvPr id="6" name="灯片编号占位符 5"/>
          <p:cNvSpPr>
            <a:spLocks noGrp="1"/>
          </p:cNvSpPr>
          <p:nvPr>
            <p:ph type="sldNum" sz="quarter" idx="12"/>
          </p:nvPr>
        </p:nvSpPr>
        <p:spPr>
          <a:xfrm>
            <a:off x="6597225"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68A76D54-3549-4889-A063-7624046C7348}" type="slidenum">
              <a:rPr lang="zh-CN" altLang="en-US" smtClean="0"/>
            </a:fld>
            <a:endParaRPr lang="zh-CN" altLang="en-US" dirty="0"/>
          </a:p>
        </p:txBody>
      </p:sp>
      <p:pic>
        <p:nvPicPr>
          <p:cNvPr id="8" name="Picture 11" descr="彩色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596336" y="81520"/>
            <a:ext cx="1080120" cy="40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标题 1"/>
          <p:cNvSpPr>
            <a:spLocks noGrp="1"/>
          </p:cNvSpPr>
          <p:nvPr>
            <p:ph type="title"/>
          </p:nvPr>
        </p:nvSpPr>
        <p:spPr>
          <a:xfrm>
            <a:off x="662880" y="51470"/>
            <a:ext cx="8229600" cy="432048"/>
          </a:xfrm>
          <a:prstGeom prst="rect">
            <a:avLst/>
          </a:prstGeom>
        </p:spPr>
        <p:txBody>
          <a:bodyPr/>
          <a:lstStyle>
            <a:lvl1pPr algn="l">
              <a:defRPr sz="2800">
                <a:solidFill>
                  <a:srgbClr val="595757"/>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7" name="内容占位符 2"/>
          <p:cNvSpPr>
            <a:spLocks noGrp="1"/>
          </p:cNvSpPr>
          <p:nvPr>
            <p:ph idx="1"/>
          </p:nvPr>
        </p:nvSpPr>
        <p:spPr>
          <a:xfrm>
            <a:off x="656564" y="771549"/>
            <a:ext cx="8011185" cy="3825425"/>
          </a:xfrm>
          <a:prstGeom prst="rect">
            <a:avLst/>
          </a:prstGeom>
        </p:spPr>
        <p:txBody>
          <a:bodyPr/>
          <a:lstStyle>
            <a:lvl1pPr marL="342900" indent="-342900" algn="just">
              <a:lnSpc>
                <a:spcPct val="125000"/>
              </a:lnSpc>
              <a:spcBef>
                <a:spcPts val="300"/>
              </a:spcBef>
              <a:buClr>
                <a:srgbClr val="0070C0"/>
              </a:buClr>
              <a:buSzPct val="60000"/>
              <a:buFont typeface="Wingdings" panose="05000000000000000000" pitchFamily="2" charset="2"/>
              <a:buChar char="n"/>
              <a:defRPr sz="2400" b="0" baseline="0">
                <a:solidFill>
                  <a:srgbClr val="595757"/>
                </a:solidFill>
                <a:latin typeface="微软雅黑" panose="020B0503020204020204" pitchFamily="34" charset="-122"/>
                <a:ea typeface="微软雅黑" panose="020B0503020204020204" pitchFamily="34" charset="-122"/>
              </a:defRPr>
            </a:lvl1pPr>
            <a:lvl2pPr marL="742950" indent="-285750" algn="just">
              <a:lnSpc>
                <a:spcPct val="125000"/>
              </a:lnSpc>
              <a:spcBef>
                <a:spcPts val="300"/>
              </a:spcBef>
              <a:buClr>
                <a:srgbClr val="0070C0"/>
              </a:buClr>
              <a:buSzPct val="60000"/>
              <a:buFont typeface="Wingdings" panose="05000000000000000000" pitchFamily="2" charset="2"/>
              <a:buChar char="p"/>
              <a:defRPr sz="2000" baseline="0">
                <a:solidFill>
                  <a:srgbClr val="595757"/>
                </a:solidFill>
                <a:latin typeface="微软雅黑" panose="020B0503020204020204" pitchFamily="34" charset="-122"/>
                <a:ea typeface="微软雅黑" panose="020B0503020204020204" pitchFamily="34" charset="-122"/>
              </a:defRPr>
            </a:lvl2pPr>
            <a:lvl3pPr algn="just">
              <a:lnSpc>
                <a:spcPct val="125000"/>
              </a:lnSpc>
              <a:spcBef>
                <a:spcPts val="300"/>
              </a:spcBef>
              <a:buClr>
                <a:srgbClr val="0070C0"/>
              </a:buClr>
              <a:defRPr sz="1800" baseline="0">
                <a:solidFill>
                  <a:srgbClr val="595757"/>
                </a:solidFill>
                <a:latin typeface="微软雅黑" panose="020B0503020204020204" pitchFamily="34" charset="-122"/>
                <a:ea typeface="微软雅黑" panose="020B0503020204020204" pitchFamily="34" charset="-122"/>
              </a:defRPr>
            </a:lvl3pPr>
            <a:lvl4pPr algn="just">
              <a:lnSpc>
                <a:spcPct val="125000"/>
              </a:lnSpc>
              <a:spcBef>
                <a:spcPts val="300"/>
              </a:spcBef>
              <a:buClr>
                <a:srgbClr val="0070C0"/>
              </a:buClr>
              <a:defRPr sz="1600" baseline="0">
                <a:solidFill>
                  <a:srgbClr val="595757"/>
                </a:solidFill>
                <a:latin typeface="微软雅黑" panose="020B0503020204020204" pitchFamily="34" charset="-122"/>
                <a:ea typeface="微软雅黑" panose="020B0503020204020204" pitchFamily="34" charset="-122"/>
              </a:defRPr>
            </a:lvl4pPr>
            <a:lvl5pPr algn="just">
              <a:lnSpc>
                <a:spcPct val="125000"/>
              </a:lnSpc>
              <a:spcBef>
                <a:spcPts val="300"/>
              </a:spcBef>
              <a:buClr>
                <a:srgbClr val="0070C0"/>
              </a:buClr>
              <a:defRPr sz="1600" baseline="0">
                <a:solidFill>
                  <a:srgbClr val="595757"/>
                </a:solidFill>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t="10896" b="88214"/>
          <a:stretch>
            <a:fillRect/>
          </a:stretch>
        </p:blipFill>
        <p:spPr>
          <a:xfrm>
            <a:off x="0" y="563880"/>
            <a:ext cx="9144000" cy="45719"/>
          </a:xfrm>
          <a:prstGeom prst="rect">
            <a:avLst/>
          </a:prstGeom>
        </p:spPr>
      </p:pic>
      <p:sp>
        <p:nvSpPr>
          <p:cNvPr id="4" name="日期占位符 3"/>
          <p:cNvSpPr>
            <a:spLocks noGrp="1"/>
          </p:cNvSpPr>
          <p:nvPr>
            <p:ph type="dt" sz="half" idx="10"/>
          </p:nvPr>
        </p:nvSpPr>
        <p:spPr>
          <a:xfrm>
            <a:off x="638200"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E367A7DA-86D1-420F-A51D-4AFD9CBED3AA}" type="datetime1">
              <a:rPr lang="zh-CN" altLang="en-US" smtClean="0"/>
            </a:fld>
            <a:endParaRPr lang="zh-CN" altLang="en-US" dirty="0"/>
          </a:p>
        </p:txBody>
      </p:sp>
      <p:sp>
        <p:nvSpPr>
          <p:cNvPr id="6" name="灯片编号占位符 5"/>
          <p:cNvSpPr>
            <a:spLocks noGrp="1"/>
          </p:cNvSpPr>
          <p:nvPr>
            <p:ph type="sldNum" sz="quarter" idx="12"/>
          </p:nvPr>
        </p:nvSpPr>
        <p:spPr>
          <a:xfrm>
            <a:off x="6597225"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68A76D54-3549-4889-A063-7624046C7348}" type="slidenum">
              <a:rPr lang="zh-CN" altLang="en-US" smtClean="0"/>
            </a:fld>
            <a:endParaRPr lang="zh-CN" altLang="en-US" dirty="0"/>
          </a:p>
        </p:txBody>
      </p:sp>
      <p:pic>
        <p:nvPicPr>
          <p:cNvPr id="8" name="Picture 11" descr="彩色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596336" y="81520"/>
            <a:ext cx="1080120" cy="40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a:spLocks noGrp="1"/>
          </p:cNvSpPr>
          <p:nvPr>
            <p:ph idx="1"/>
          </p:nvPr>
        </p:nvSpPr>
        <p:spPr>
          <a:xfrm>
            <a:off x="1106615" y="1716088"/>
            <a:ext cx="8011185" cy="3105912"/>
          </a:xfrm>
          <a:prstGeom prst="rect">
            <a:avLst/>
          </a:prstGeom>
        </p:spPr>
        <p:txBody>
          <a:bodyPr/>
          <a:lstStyle>
            <a:lvl1pPr marL="0" indent="0" algn="just">
              <a:lnSpc>
                <a:spcPct val="150000"/>
              </a:lnSpc>
              <a:spcBef>
                <a:spcPts val="300"/>
              </a:spcBef>
              <a:buClr>
                <a:srgbClr val="0070C0"/>
              </a:buClr>
              <a:buSzPct val="60000"/>
              <a:buFontTx/>
              <a:buNone/>
              <a:defRPr sz="2200" b="0" baseline="0">
                <a:solidFill>
                  <a:srgbClr val="595757"/>
                </a:solidFill>
                <a:latin typeface="微软雅黑" panose="020B0503020204020204" pitchFamily="34" charset="-122"/>
                <a:ea typeface="微软雅黑" panose="020B0503020204020204" pitchFamily="34" charset="-122"/>
              </a:defRPr>
            </a:lvl1pPr>
            <a:lvl2pPr marL="457200" indent="0" algn="just">
              <a:lnSpc>
                <a:spcPct val="150000"/>
              </a:lnSpc>
              <a:spcBef>
                <a:spcPts val="300"/>
              </a:spcBef>
              <a:buClr>
                <a:srgbClr val="0070C0"/>
              </a:buClr>
              <a:buSzPct val="60000"/>
              <a:buFontTx/>
              <a:buNone/>
              <a:defRPr sz="2200" baseline="0">
                <a:solidFill>
                  <a:srgbClr val="595757"/>
                </a:solidFill>
                <a:latin typeface="微软雅黑" panose="020B0503020204020204" pitchFamily="34" charset="-122"/>
                <a:ea typeface="微软雅黑" panose="020B0503020204020204" pitchFamily="34" charset="-122"/>
              </a:defRPr>
            </a:lvl2pPr>
            <a:lvl3pPr marL="914400" indent="0" algn="just">
              <a:lnSpc>
                <a:spcPct val="150000"/>
              </a:lnSpc>
              <a:spcBef>
                <a:spcPts val="300"/>
              </a:spcBef>
              <a:buClr>
                <a:srgbClr val="0070C0"/>
              </a:buClr>
              <a:buFontTx/>
              <a:buNone/>
              <a:defRPr sz="2200" baseline="0">
                <a:solidFill>
                  <a:srgbClr val="595757"/>
                </a:solidFill>
                <a:latin typeface="微软雅黑" panose="020B0503020204020204" pitchFamily="34" charset="-122"/>
                <a:ea typeface="微软雅黑" panose="020B0503020204020204" pitchFamily="34" charset="-122"/>
              </a:defRPr>
            </a:lvl3pPr>
            <a:lvl4pPr marL="1371600" indent="0" algn="just">
              <a:lnSpc>
                <a:spcPct val="150000"/>
              </a:lnSpc>
              <a:spcBef>
                <a:spcPts val="300"/>
              </a:spcBef>
              <a:buClr>
                <a:srgbClr val="0070C0"/>
              </a:buClr>
              <a:buFontTx/>
              <a:buNone/>
              <a:defRPr sz="2200" baseline="0">
                <a:solidFill>
                  <a:srgbClr val="595757"/>
                </a:solidFill>
                <a:latin typeface="微软雅黑" panose="020B0503020204020204" pitchFamily="34" charset="-122"/>
                <a:ea typeface="微软雅黑" panose="020B0503020204020204" pitchFamily="34" charset="-122"/>
              </a:defRPr>
            </a:lvl4pPr>
            <a:lvl5pPr marL="1828800" indent="0" algn="just">
              <a:lnSpc>
                <a:spcPct val="150000"/>
              </a:lnSpc>
              <a:spcBef>
                <a:spcPts val="300"/>
              </a:spcBef>
              <a:buClr>
                <a:srgbClr val="0070C0"/>
              </a:buClr>
              <a:buFontTx/>
              <a:buNone/>
              <a:defRPr sz="2200" baseline="0">
                <a:solidFill>
                  <a:srgbClr val="595757"/>
                </a:solidFill>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p:txBody>
      </p:sp>
      <p:sp>
        <p:nvSpPr>
          <p:cNvPr id="9" name="Text Box 8"/>
          <p:cNvSpPr txBox="1">
            <a:spLocks noChangeArrowheads="1"/>
          </p:cNvSpPr>
          <p:nvPr userDrawn="1"/>
        </p:nvSpPr>
        <p:spPr bwMode="auto">
          <a:xfrm>
            <a:off x="1106615" y="955698"/>
            <a:ext cx="4140460" cy="6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055" tIns="29028" rIns="58055" bIns="29028">
            <a:spAutoFit/>
          </a:bodyPr>
          <a:lstStyle>
            <a:lvl1pPr defTabSz="1293495" eaLnBrk="0" hangingPunct="0">
              <a:defRPr sz="2800">
                <a:solidFill>
                  <a:schemeClr val="tx1"/>
                </a:solidFill>
                <a:latin typeface="Arial" panose="020B0604020202020204" pitchFamily="34" charset="0"/>
                <a:ea typeface="宋体" panose="02010600030101010101" pitchFamily="2" charset="-122"/>
              </a:defRPr>
            </a:lvl1pPr>
            <a:lvl2pPr marL="742950" indent="-285750" defTabSz="1293495" eaLnBrk="0" hangingPunct="0">
              <a:defRPr sz="2800">
                <a:solidFill>
                  <a:schemeClr val="tx1"/>
                </a:solidFill>
                <a:latin typeface="Arial" panose="020B0604020202020204" pitchFamily="34" charset="0"/>
                <a:ea typeface="宋体" panose="02010600030101010101" pitchFamily="2" charset="-122"/>
              </a:defRPr>
            </a:lvl2pPr>
            <a:lvl3pPr marL="1143000" indent="-228600" defTabSz="1293495" eaLnBrk="0" hangingPunct="0">
              <a:defRPr sz="2800">
                <a:solidFill>
                  <a:schemeClr val="tx1"/>
                </a:solidFill>
                <a:latin typeface="Arial" panose="020B0604020202020204" pitchFamily="34" charset="0"/>
                <a:ea typeface="宋体" panose="02010600030101010101" pitchFamily="2" charset="-122"/>
              </a:defRPr>
            </a:lvl3pPr>
            <a:lvl4pPr marL="1600200" indent="-228600" defTabSz="1293495" eaLnBrk="0" hangingPunct="0">
              <a:defRPr sz="2800">
                <a:solidFill>
                  <a:schemeClr val="tx1"/>
                </a:solidFill>
                <a:latin typeface="Arial" panose="020B0604020202020204" pitchFamily="34" charset="0"/>
                <a:ea typeface="宋体" panose="02010600030101010101" pitchFamily="2" charset="-122"/>
              </a:defRPr>
            </a:lvl4pPr>
            <a:lvl5pPr marL="2057400" indent="-228600" defTabSz="1293495" eaLnBrk="0" hangingPunct="0">
              <a:defRPr sz="2800">
                <a:solidFill>
                  <a:schemeClr val="tx1"/>
                </a:solidFill>
                <a:latin typeface="Arial" panose="020B0604020202020204" pitchFamily="34" charset="0"/>
                <a:ea typeface="宋体" panose="02010600030101010101" pitchFamily="2" charset="-122"/>
              </a:defRPr>
            </a:lvl5pPr>
            <a:lvl6pPr marL="25146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dirty="0" smtClean="0">
                <a:solidFill>
                  <a:srgbClr val="0062AD"/>
                </a:solidFill>
                <a:latin typeface="微软雅黑" panose="020B0503020204020204" pitchFamily="34" charset="-122"/>
                <a:ea typeface="微软雅黑" panose="020B0503020204020204" pitchFamily="34" charset="-122"/>
              </a:rPr>
              <a:t>目 录</a:t>
            </a:r>
            <a:endParaRPr lang="en-US" altLang="zh-CN" sz="3200" dirty="0">
              <a:solidFill>
                <a:schemeClr val="bg1">
                  <a:lumMod val="75000"/>
                </a:schemeClr>
              </a:solidFill>
              <a:latin typeface="Arial Black" panose="020B0A04020102020204" pitchFamily="34" charset="0"/>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514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ctrTitle"/>
          </p:nvPr>
        </p:nvSpPr>
        <p:spPr>
          <a:xfrm>
            <a:off x="0" y="2860581"/>
            <a:ext cx="9144000" cy="1101725"/>
          </a:xfrm>
          <a:prstGeom prst="rect">
            <a:avLst/>
          </a:prstGeom>
        </p:spPr>
        <p:txBody>
          <a:bodyPr>
            <a:noAutofit/>
          </a:bodyPr>
          <a:lstStyle>
            <a:lvl1pPr algn="ctr">
              <a:defRPr sz="4500">
                <a:solidFill>
                  <a:schemeClr val="bg1"/>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
        <p:nvSpPr>
          <p:cNvPr id="11" name="Rectangle 18"/>
          <p:cNvSpPr>
            <a:spLocks noChangeArrowheads="1"/>
          </p:cNvSpPr>
          <p:nvPr userDrawn="1"/>
        </p:nvSpPr>
        <p:spPr bwMode="auto">
          <a:xfrm>
            <a:off x="1626327" y="4652773"/>
            <a:ext cx="5710207" cy="179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0635" tIns="20318" rIns="40635" bIns="20318">
            <a:spAutoFit/>
          </a:bodyPr>
          <a:lstStyle/>
          <a:p>
            <a:pPr defTabSz="574675"/>
            <a:r>
              <a:rPr lang="zh-CN" altLang="en-US" sz="900" baseline="0" dirty="0" smtClean="0">
                <a:solidFill>
                  <a:schemeClr val="bg1"/>
                </a:solidFill>
                <a:latin typeface="微软雅黑" panose="020B0503020204020204" pitchFamily="34" charset="-122"/>
                <a:ea typeface="微软雅黑" panose="020B0503020204020204" pitchFamily="34" charset="-122"/>
              </a:rPr>
              <a:t>北京华宇信息技术有限公司 </a:t>
            </a:r>
            <a:r>
              <a:rPr lang="en-US" altLang="zh-CN" sz="9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BEIJING THUNISOFT INFORMATION TECHNOLOGY CORPORATION LIMITED</a:t>
            </a:r>
            <a:endParaRPr lang="zh-CN" altLang="en-US" sz="900"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 name="Picture 16" descr="竖版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955714" y="500807"/>
            <a:ext cx="1201351" cy="109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100" b="0" i="1">
                <a:solidFill>
                  <a:srgbClr val="0070C0"/>
                </a:solidFill>
                <a:latin typeface="微软雅黑" panose="020B0503020204020204" pitchFamily="34" charset="-122"/>
                <a:ea typeface="微软雅黑" panose="020B0503020204020204" pitchFamily="34" charset="-122"/>
                <a:cs typeface="Arial" panose="020B0604020202020204" pitchFamily="34" charset="0"/>
              </a:defRPr>
            </a:lvl1pPr>
          </a:lstStyle>
          <a:p>
            <a:fld id="{B199EE37-FCE5-44AF-9991-B9620BC5CFF1}" type="datetime1">
              <a:rPr lang="zh-CN" altLang="en-US" smtClean="0"/>
            </a:fld>
            <a:endParaRPr lang="zh-CN" altLang="en-US" dirty="0"/>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100" i="1">
                <a:solidFill>
                  <a:srgbClr val="0070C0"/>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dirty="0" smtClean="0"/>
              <a:t>1</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5"/>
          <p:cNvSpPr txBox="1">
            <a:spLocks noChangeArrowheads="1"/>
          </p:cNvSpPr>
          <p:nvPr/>
        </p:nvSpPr>
        <p:spPr bwMode="auto">
          <a:xfrm>
            <a:off x="1375222" y="2250163"/>
            <a:ext cx="7554496"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283" tIns="18141" rIns="36283" bIns="18141">
            <a:spAutoFit/>
          </a:bodyPr>
          <a:lstStyle>
            <a:lvl1pPr defTabSz="1293495" eaLnBrk="0" hangingPunct="0">
              <a:defRPr sz="4000">
                <a:solidFill>
                  <a:schemeClr val="tx1"/>
                </a:solidFill>
                <a:latin typeface="Arial" panose="020B0604020202020204" pitchFamily="34" charset="0"/>
                <a:ea typeface="宋体" panose="02010600030101010101" pitchFamily="2" charset="-122"/>
              </a:defRPr>
            </a:lvl1pPr>
            <a:lvl2pPr marL="742950" indent="-285750" defTabSz="1293495" eaLnBrk="0" hangingPunct="0">
              <a:defRPr sz="4000">
                <a:solidFill>
                  <a:schemeClr val="tx1"/>
                </a:solidFill>
                <a:latin typeface="Arial" panose="020B0604020202020204" pitchFamily="34" charset="0"/>
                <a:ea typeface="宋体" panose="02010600030101010101" pitchFamily="2" charset="-122"/>
              </a:defRPr>
            </a:lvl2pPr>
            <a:lvl3pPr marL="1143000" indent="-228600" defTabSz="1293495" eaLnBrk="0" hangingPunct="0">
              <a:defRPr sz="4000">
                <a:solidFill>
                  <a:schemeClr val="tx1"/>
                </a:solidFill>
                <a:latin typeface="Arial" panose="020B0604020202020204" pitchFamily="34" charset="0"/>
                <a:ea typeface="宋体" panose="02010600030101010101" pitchFamily="2" charset="-122"/>
              </a:defRPr>
            </a:lvl3pPr>
            <a:lvl4pPr marL="1600200" indent="-228600" defTabSz="1293495" eaLnBrk="0" hangingPunct="0">
              <a:defRPr sz="4000">
                <a:solidFill>
                  <a:schemeClr val="tx1"/>
                </a:solidFill>
                <a:latin typeface="Arial" panose="020B0604020202020204" pitchFamily="34" charset="0"/>
                <a:ea typeface="宋体" panose="02010600030101010101" pitchFamily="2" charset="-122"/>
              </a:defRPr>
            </a:lvl4pPr>
            <a:lvl5pPr marL="2057400" indent="-228600" defTabSz="1293495" eaLnBrk="0" hangingPunct="0">
              <a:defRPr sz="4000">
                <a:solidFill>
                  <a:schemeClr val="tx1"/>
                </a:solidFill>
                <a:latin typeface="Arial" panose="020B0604020202020204" pitchFamily="34" charset="0"/>
                <a:ea typeface="宋体" panose="02010600030101010101" pitchFamily="2" charset="-122"/>
              </a:defRPr>
            </a:lvl5pPr>
            <a:lvl6pPr marL="25146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6pPr>
            <a:lvl7pPr marL="29718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7pPr>
            <a:lvl8pPr marL="34290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8pPr>
            <a:lvl9pPr marL="38862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smtClean="0">
                <a:solidFill>
                  <a:schemeClr val="bg1"/>
                </a:solidFill>
                <a:latin typeface="微软雅黑" panose="020B0503020204020204" pitchFamily="34" charset="-122"/>
                <a:ea typeface="微软雅黑" panose="020B0503020204020204" pitchFamily="34" charset="-122"/>
              </a:rPr>
              <a:t>软件程序设计原则和重构基础</a:t>
            </a:r>
            <a:endParaRPr lang="zh-CN" altLang="en-US" sz="3200" dirty="0" smtClean="0">
              <a:solidFill>
                <a:schemeClr val="bg1"/>
              </a:solidFill>
              <a:latin typeface="微软雅黑" panose="020B0503020204020204" pitchFamily="34" charset="-122"/>
              <a:ea typeface="微软雅黑" panose="020B0503020204020204" pitchFamily="34" charset="-122"/>
            </a:endParaRPr>
          </a:p>
          <a:p>
            <a:pPr eaLnBrk="1" hangingPunct="1"/>
            <a:endParaRPr lang="zh-CN" altLang="en-US" sz="600" dirty="0" smtClean="0">
              <a:solidFill>
                <a:schemeClr val="bg1"/>
              </a:solidFill>
              <a:ea typeface="黑体" panose="02010609060101010101" pitchFamily="49" charset="-122"/>
            </a:endParaRPr>
          </a:p>
          <a:p>
            <a:pPr eaLnBrk="1" hangingPunct="1"/>
            <a:r>
              <a:rPr lang="zh-CN" altLang="en-US" sz="1600" dirty="0" smtClean="0">
                <a:solidFill>
                  <a:srgbClr val="00B0F0"/>
                </a:solidFill>
                <a:latin typeface="微软雅黑" panose="020B0503020204020204" pitchFamily="34" charset="-122"/>
                <a:ea typeface="微软雅黑" panose="020B0503020204020204" pitchFamily="34" charset="-122"/>
              </a:rPr>
              <a:t>陈家银   </a:t>
            </a:r>
            <a:endParaRPr lang="zh-CN" altLang="en-US" sz="1600" dirty="0">
              <a:solidFill>
                <a:srgbClr val="00B0F0"/>
              </a:solidFill>
              <a:latin typeface="微软雅黑" panose="020B0503020204020204" pitchFamily="34" charset="-122"/>
              <a:ea typeface="微软雅黑" panose="020B0503020204020204" pitchFamily="34"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5"/>
          <p:cNvSpPr>
            <a:spLocks noGrp="1"/>
          </p:cNvSpPr>
          <p:nvPr>
            <p:ph type="dt" sz="half" idx="10"/>
          </p:nvPr>
        </p:nvSpPr>
        <p:spPr/>
        <p:txBody>
          <a:bodyPr/>
          <a:lstStyle/>
          <a:p>
            <a:fld id="{E57C5576-EB7D-4929-818E-721938FE8545}" type="datetime1">
              <a:rPr lang="zh-CN" altLang="en-US" smtClean="0"/>
            </a:fld>
            <a:endParaRPr lang="zh-CN" altLang="en-US" dirty="0"/>
          </a:p>
        </p:txBody>
      </p:sp>
      <p:sp>
        <p:nvSpPr>
          <p:cNvPr id="5" name="灯片编号占位符 4"/>
          <p:cNvSpPr>
            <a:spLocks noGrp="1"/>
          </p:cNvSpPr>
          <p:nvPr>
            <p:ph type="sldNum" sz="quarter" idx="12"/>
          </p:nvPr>
        </p:nvSpPr>
        <p:spPr/>
        <p:txBody>
          <a:bodyPr/>
          <a:lstStyle/>
          <a:p>
            <a:fld id="{0EA08D64-B9C4-439A-A544-F43F11EA8F7D}" type="slidenum">
              <a:rPr lang="zh-CN" altLang="en-US" smtClean="0"/>
            </a:fld>
            <a:endParaRPr lang="zh-CN" altLang="en-US" dirty="0"/>
          </a:p>
        </p:txBody>
      </p:sp>
      <p:sp>
        <p:nvSpPr>
          <p:cNvPr id="2" name="内容占位符 1"/>
          <p:cNvSpPr>
            <a:spLocks noGrp="1"/>
          </p:cNvSpPr>
          <p:nvPr>
            <p:ph idx="1"/>
          </p:nvPr>
        </p:nvSpPr>
        <p:spPr>
          <a:xfrm>
            <a:off x="1106805" y="1819275"/>
            <a:ext cx="8011160" cy="2608580"/>
          </a:xfrm>
        </p:spPr>
        <p:txBody>
          <a:bodyPr/>
          <a:lstStyle/>
          <a:p>
            <a:r>
              <a:rPr lang="zh-CN" altLang="en-US" sz="2000" dirty="0" smtClean="0"/>
              <a:t>一、为什么需要软件设计</a:t>
            </a:r>
            <a:endParaRPr lang="en-US" altLang="zh-CN" sz="2000" dirty="0" smtClean="0"/>
          </a:p>
          <a:p>
            <a:r>
              <a:rPr lang="zh-CN" altLang="en-US" sz="2000" dirty="0" smtClean="0">
                <a:cs typeface="Arial" panose="020B0604020202020204" pitchFamily="34" charset="0"/>
              </a:rPr>
              <a:t>二、通用设计原则</a:t>
            </a:r>
            <a:endParaRPr lang="zh-CN" altLang="en-US" sz="2000" dirty="0" smtClean="0">
              <a:cs typeface="Arial" panose="020B0604020202020204" pitchFamily="34" charset="0"/>
            </a:endParaRPr>
          </a:p>
          <a:p>
            <a:r>
              <a:rPr lang="zh-CN" altLang="en-US" sz="2000" dirty="0" smtClean="0">
                <a:cs typeface="Arial" panose="020B0604020202020204" pitchFamily="34" charset="0"/>
              </a:rPr>
              <a:t>三、</a:t>
            </a:r>
            <a:r>
              <a:rPr lang="en-US" altLang="zh-CN" sz="2000" dirty="0" smtClean="0"/>
              <a:t>面向对象设计原则</a:t>
            </a:r>
            <a:endParaRPr lang="en-US" altLang="zh-CN" sz="2000" dirty="0" smtClean="0"/>
          </a:p>
          <a:p>
            <a:r>
              <a:rPr lang="zh-CN" altLang="en-US" sz="2000" dirty="0" smtClean="0"/>
              <a:t>四、设计模式简介</a:t>
            </a:r>
            <a:endParaRPr lang="zh-CN" altLang="en-US" sz="2000" dirty="0" smtClean="0">
              <a:cs typeface="Arial" panose="020B0604020202020204" pitchFamily="34" charset="0"/>
            </a:endParaRPr>
          </a:p>
          <a:p>
            <a:r>
              <a:rPr lang="zh-CN" altLang="en-US" sz="2000" dirty="0" smtClean="0">
                <a:cs typeface="Arial" panose="020B0604020202020204" pitchFamily="34" charset="0"/>
                <a:sym typeface="+mn-ea"/>
              </a:rPr>
              <a:t>五、重构</a:t>
            </a:r>
            <a:endParaRPr lang="zh-CN" altLang="en-US" sz="2000"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72330" y="3643320"/>
            <a:ext cx="1944216" cy="833236"/>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 calcmode="lin" valueType="num">
                                      <p:cBhvr additive="base">
                                        <p:cTn id="22"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一、为什么需要软件设计</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13740" y="878205"/>
            <a:ext cx="7891145" cy="645160"/>
          </a:xfrm>
          <a:prstGeom prst="rect">
            <a:avLst/>
          </a:prstGeom>
          <a:noFill/>
        </p:spPr>
        <p:txBody>
          <a:bodyPr wrap="square" rtlCol="0">
            <a:spAutoFit/>
          </a:bodyPr>
          <a:p>
            <a:r>
              <a:rPr lang="zh-CN" altLang="en-US">
                <a:sym typeface="+mn-ea"/>
              </a:rPr>
              <a:t>软件也像人一样，具有生命力，从出生到死亡，会经历多种变化。软件架构设计也不是一蹴而就的，是不断地演进发展。</a:t>
            </a:r>
            <a:endParaRPr lang="zh-CN" altLang="en-US"/>
          </a:p>
        </p:txBody>
      </p:sp>
      <p:sp>
        <p:nvSpPr>
          <p:cNvPr id="7" name="文本框 6"/>
          <p:cNvSpPr txBox="1"/>
          <p:nvPr/>
        </p:nvSpPr>
        <p:spPr>
          <a:xfrm>
            <a:off x="714375" y="1839595"/>
            <a:ext cx="7673975" cy="1845310"/>
          </a:xfrm>
          <a:prstGeom prst="rect">
            <a:avLst/>
          </a:prstGeom>
          <a:noFill/>
        </p:spPr>
        <p:txBody>
          <a:bodyPr wrap="square" rtlCol="0">
            <a:spAutoFit/>
          </a:bodyPr>
          <a:p>
            <a:r>
              <a:rPr lang="zh-CN" altLang="en-US"/>
              <a:t>软件设计原则是一组帮助我们避开不良设计的指导方针。根据Robert Martin的理论，应该避免不良设计的以下三个重要特点：</a:t>
            </a:r>
            <a:endParaRPr lang="zh-CN" altLang="en-US"/>
          </a:p>
          <a:p>
            <a:endParaRPr lang="zh-CN" altLang="en-US"/>
          </a:p>
          <a:p>
            <a:pPr marL="285750" indent="-285750">
              <a:buFont typeface="Wingdings" panose="05000000000000000000" charset="0"/>
              <a:buChar char=""/>
            </a:pPr>
            <a:r>
              <a:rPr lang="zh-CN" altLang="en-US" sz="2000">
                <a:sym typeface="+mn-ea"/>
              </a:rPr>
              <a:t>僵化</a:t>
            </a:r>
            <a:endParaRPr lang="zh-CN" altLang="en-US" sz="2000"/>
          </a:p>
          <a:p>
            <a:pPr marL="285750" indent="-285750">
              <a:buFont typeface="Wingdings" panose="05000000000000000000" charset="0"/>
              <a:buChar char=""/>
            </a:pPr>
            <a:r>
              <a:rPr lang="zh-CN" altLang="en-US" sz="2000">
                <a:sym typeface="+mn-ea"/>
              </a:rPr>
              <a:t>脆弱</a:t>
            </a:r>
            <a:endParaRPr lang="zh-CN" altLang="en-US" sz="2000"/>
          </a:p>
          <a:p>
            <a:pPr marL="285750" indent="-285750">
              <a:buFont typeface="Wingdings" panose="05000000000000000000" charset="0"/>
              <a:buChar char=""/>
            </a:pPr>
            <a:r>
              <a:rPr lang="zh-CN" altLang="en-US" sz="2000">
                <a:sym typeface="+mn-ea"/>
              </a:rPr>
              <a:t>死板</a:t>
            </a:r>
            <a:endParaRPr lang="zh-CN" altLang="en-US"/>
          </a:p>
        </p:txBody>
      </p:sp>
      <p:sp>
        <p:nvSpPr>
          <p:cNvPr id="8" name="文本框 7"/>
          <p:cNvSpPr txBox="1"/>
          <p:nvPr/>
        </p:nvSpPr>
        <p:spPr>
          <a:xfrm>
            <a:off x="713740" y="3949065"/>
            <a:ext cx="7962900" cy="645160"/>
          </a:xfrm>
          <a:prstGeom prst="rect">
            <a:avLst/>
          </a:prstGeom>
          <a:noFill/>
        </p:spPr>
        <p:txBody>
          <a:bodyPr wrap="square" rtlCol="0">
            <a:spAutoFit/>
          </a:bodyPr>
          <a:p>
            <a:r>
              <a:rPr lang="zh-CN" altLang="en-US"/>
              <a:t>下面这些软件设计原则并不完整，而且你也需要在一些有“冲突的原则”之间进行权衡和取舍。</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-KISS</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817245"/>
            <a:ext cx="8005445" cy="645160"/>
          </a:xfrm>
          <a:prstGeom prst="rect">
            <a:avLst/>
          </a:prstGeom>
          <a:noFill/>
        </p:spPr>
        <p:txBody>
          <a:bodyPr wrap="square" rtlCol="0">
            <a:spAutoFit/>
          </a:bodyPr>
          <a:p>
            <a:r>
              <a:rPr lang="zh-CN" altLang="en-US"/>
              <a:t>所谓</a:t>
            </a:r>
            <a:r>
              <a:rPr lang="zh-CN" altLang="en-US">
                <a:solidFill>
                  <a:srgbClr val="0070C0"/>
                </a:solidFill>
              </a:rPr>
              <a:t>KISS</a:t>
            </a:r>
            <a:r>
              <a:rPr lang="zh-CN" altLang="en-US"/>
              <a:t>原则，即：</a:t>
            </a:r>
            <a:r>
              <a:rPr lang="zh-CN" altLang="en-US">
                <a:solidFill>
                  <a:srgbClr val="0070C0"/>
                </a:solidFill>
              </a:rPr>
              <a:t>Keep It Simple,Stupid</a:t>
            </a:r>
            <a:r>
              <a:rPr lang="zh-CN" altLang="en-US"/>
              <a:t>，指</a:t>
            </a:r>
            <a:r>
              <a:rPr lang="zh-CN" altLang="en-US" b="1"/>
              <a:t>设计时要坚持简约原则，避免不必要的复杂化，并且易于修改。</a:t>
            </a:r>
            <a:endParaRPr lang="zh-CN" altLang="en-US" b="1"/>
          </a:p>
        </p:txBody>
      </p:sp>
      <p:sp>
        <p:nvSpPr>
          <p:cNvPr id="7" name="文本框 6"/>
          <p:cNvSpPr txBox="1"/>
          <p:nvPr/>
        </p:nvSpPr>
        <p:spPr>
          <a:xfrm>
            <a:off x="767080" y="1635125"/>
            <a:ext cx="7981315" cy="645160"/>
          </a:xfrm>
          <a:prstGeom prst="rect">
            <a:avLst/>
          </a:prstGeom>
          <a:noFill/>
        </p:spPr>
        <p:txBody>
          <a:bodyPr wrap="square" rtlCol="0">
            <a:spAutoFit/>
          </a:bodyPr>
          <a:p>
            <a:r>
              <a:rPr lang="zh-CN" altLang="en-US"/>
              <a:t>Everything should be made as simple as possible, but not simpler. </a:t>
            </a:r>
            <a:endParaRPr lang="zh-CN" altLang="en-US"/>
          </a:p>
          <a:p>
            <a:pPr algn="r"/>
            <a:r>
              <a:rPr lang="en-US" altLang="zh-CN"/>
              <a:t>—— </a:t>
            </a:r>
            <a:r>
              <a:rPr lang="zh-CN" altLang="en-US"/>
              <a:t>Albert Einstein</a:t>
            </a:r>
            <a:endParaRPr lang="zh-CN" altLang="en-US"/>
          </a:p>
        </p:txBody>
      </p:sp>
      <p:sp>
        <p:nvSpPr>
          <p:cNvPr id="8" name="文本框 7"/>
          <p:cNvSpPr txBox="1"/>
          <p:nvPr/>
        </p:nvSpPr>
        <p:spPr>
          <a:xfrm>
            <a:off x="731520" y="2439670"/>
            <a:ext cx="8016875" cy="1814830"/>
          </a:xfrm>
          <a:prstGeom prst="rect">
            <a:avLst/>
          </a:prstGeom>
          <a:noFill/>
        </p:spPr>
        <p:txBody>
          <a:bodyPr wrap="square" rtlCol="0">
            <a:spAutoFit/>
          </a:bodyPr>
          <a:p>
            <a:r>
              <a:rPr lang="zh-CN" altLang="en-US" sz="1600"/>
              <a:t>判断和实现一个东西是不是简单，可以通过以下方式来参考。</a:t>
            </a:r>
            <a:endParaRPr lang="zh-CN" altLang="en-US" sz="1600"/>
          </a:p>
          <a:p>
            <a:endParaRPr lang="zh-CN" altLang="en-US" sz="1600"/>
          </a:p>
          <a:p>
            <a:pPr marL="342900" indent="-342900">
              <a:buAutoNum type="arabicPeriod"/>
            </a:pPr>
            <a:r>
              <a:rPr lang="zh-CN" altLang="en-US" sz="1600"/>
              <a:t>让别的软件工程师以一种最容易的方式使用你的方案。</a:t>
            </a:r>
            <a:endParaRPr lang="zh-CN" altLang="en-US" sz="1600"/>
          </a:p>
          <a:p>
            <a:pPr marL="342900" indent="-342900">
              <a:buAutoNum type="arabicPeriod"/>
            </a:pPr>
            <a:r>
              <a:rPr lang="zh-CN" altLang="en-US" sz="1600"/>
              <a:t>简单不是走捷径，不是为手边的问题找一个最快的方案。</a:t>
            </a:r>
            <a:endParaRPr lang="zh-CN" altLang="en-US" sz="1600"/>
          </a:p>
          <a:p>
            <a:pPr marL="342900" indent="-342900">
              <a:buAutoNum type="arabicPeriod"/>
            </a:pPr>
            <a:r>
              <a:rPr lang="zh-CN" altLang="en-US" sz="1600"/>
              <a:t>当系统变得更庞大更复杂的时候依然能够被理解。</a:t>
            </a:r>
            <a:endParaRPr lang="zh-CN" altLang="en-US" sz="1600"/>
          </a:p>
          <a:p>
            <a:pPr marL="342900" indent="-342900">
              <a:buAutoNum type="arabicPeriod"/>
            </a:pPr>
            <a:r>
              <a:rPr lang="zh-CN" altLang="en-US" sz="1600"/>
              <a:t>如果系统无法保持简单，那么我们能做的就是保持各个局部简单，即任何单个的类、模块、应用的设计目标及工作原理都能被快速理解。</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2"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8" grpId="0"/>
      <p:bldP spid="8" grpId="1"/>
      <p:bldP spid="8" grpId="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sym typeface="+mn-ea"/>
              </a:rPr>
              <a:t>通用设计原则</a:t>
            </a:r>
            <a:r>
              <a:rPr lang="en-US" altLang="zh-CN">
                <a:sym typeface="+mn-ea"/>
              </a:rPr>
              <a:t>-KISS</a:t>
            </a:r>
            <a:endParaRPr lang="en-US" altLang="zh-CN">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553720" y="1303020"/>
            <a:ext cx="7978775" cy="2306955"/>
          </a:xfrm>
          <a:prstGeom prst="rect">
            <a:avLst/>
          </a:prstGeom>
          <a:noFill/>
        </p:spPr>
        <p:txBody>
          <a:bodyPr wrap="square" rtlCol="0">
            <a:spAutoFit/>
          </a:bodyPr>
          <a:p>
            <a:r>
              <a:rPr lang="zh-CN" altLang="en-US" b="1"/>
              <a:t>我的理解</a:t>
            </a:r>
            <a:r>
              <a:rPr lang="zh-CN" altLang="en-US"/>
              <a:t>：保持简单但不能掩盖软件丰富的内涵。即</a:t>
            </a:r>
            <a:r>
              <a:rPr lang="zh-CN" altLang="en-US" b="1">
                <a:solidFill>
                  <a:srgbClr val="0070C0"/>
                </a:solidFill>
              </a:rPr>
              <a:t>简约而不简单</a:t>
            </a:r>
            <a:r>
              <a:rPr lang="zh-CN" altLang="en-US"/>
              <a:t>！简约是对复杂的事物抽丝剥茧、去除细枝末节显露主要逻辑的过程。就像小时候老师教写文章，要求尽可能用朴实的语言，言简意赅的写出来，但却又要避免语言过于贫乏。</a:t>
            </a:r>
            <a:endParaRPr lang="zh-CN" altLang="en-US"/>
          </a:p>
          <a:p>
            <a:endParaRPr lang="zh-CN" altLang="en-US"/>
          </a:p>
          <a:p>
            <a:r>
              <a:rPr lang="zh-CN" altLang="en-US"/>
              <a:t>软件的“抽象”和它的“直观性”，其实是一对矛盾的关系，软件设计就要保证这两者的平衡。代码抽象过于复杂会陷入“过度设计”不易理解的困境；为了“直观性”缺乏抽象，长此以往又会出现大量的重复、不易于扩展和难维护的困境。</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-DRY</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960755"/>
            <a:ext cx="8005445" cy="368300"/>
          </a:xfrm>
          <a:prstGeom prst="rect">
            <a:avLst/>
          </a:prstGeom>
          <a:noFill/>
        </p:spPr>
        <p:txBody>
          <a:bodyPr wrap="square" rtlCol="0">
            <a:spAutoFit/>
          </a:bodyPr>
          <a:p>
            <a:r>
              <a:rPr lang="zh-CN" altLang="en-US"/>
              <a:t>所谓</a:t>
            </a:r>
            <a:r>
              <a:rPr lang="zh-CN" altLang="en-US">
                <a:solidFill>
                  <a:srgbClr val="0070C0"/>
                </a:solidFill>
              </a:rPr>
              <a:t>DRY</a:t>
            </a:r>
            <a:r>
              <a:rPr lang="zh-CN" altLang="en-US"/>
              <a:t>原则，即：</a:t>
            </a:r>
            <a:r>
              <a:rPr lang="zh-CN" altLang="en-US">
                <a:solidFill>
                  <a:srgbClr val="0070C0"/>
                </a:solidFill>
              </a:rPr>
              <a:t>Don't Repeat Yourself</a:t>
            </a:r>
            <a:r>
              <a:rPr lang="zh-CN" altLang="en-US"/>
              <a:t>，</a:t>
            </a:r>
            <a:r>
              <a:rPr lang="zh-CN" altLang="en-US" b="1"/>
              <a:t>不要让自己重复</a:t>
            </a:r>
            <a:r>
              <a:rPr lang="zh-CN" altLang="en-US"/>
              <a:t>。</a:t>
            </a:r>
            <a:endParaRPr lang="zh-CN" altLang="en-US"/>
          </a:p>
        </p:txBody>
      </p:sp>
      <p:sp>
        <p:nvSpPr>
          <p:cNvPr id="7" name="文本框 6"/>
          <p:cNvSpPr txBox="1"/>
          <p:nvPr/>
        </p:nvSpPr>
        <p:spPr>
          <a:xfrm>
            <a:off x="767080" y="1850390"/>
            <a:ext cx="7981315" cy="645160"/>
          </a:xfrm>
          <a:prstGeom prst="rect">
            <a:avLst/>
          </a:prstGeom>
          <a:noFill/>
        </p:spPr>
        <p:txBody>
          <a:bodyPr wrap="square" rtlCol="0">
            <a:spAutoFit/>
          </a:bodyPr>
          <a:p>
            <a:r>
              <a:rPr lang="zh-CN" altLang="en-US"/>
              <a:t>重复代码是软件程序变烂的万恶之首。DRY并不是指你不能复制代码，而是你复制的代码不能包含重复的“</a:t>
            </a:r>
            <a:r>
              <a:rPr lang="zh-CN" altLang="en-US" b="1"/>
              <a:t>信息</a:t>
            </a:r>
            <a:r>
              <a:rPr lang="zh-CN" altLang="en-US"/>
              <a:t>”。</a:t>
            </a:r>
            <a:endParaRPr lang="zh-CN" altLang="en-US"/>
          </a:p>
        </p:txBody>
      </p:sp>
      <p:sp>
        <p:nvSpPr>
          <p:cNvPr id="8" name="文本框 7"/>
          <p:cNvSpPr txBox="1"/>
          <p:nvPr/>
        </p:nvSpPr>
        <p:spPr>
          <a:xfrm>
            <a:off x="731520" y="3013710"/>
            <a:ext cx="8016875" cy="1322070"/>
          </a:xfrm>
          <a:prstGeom prst="rect">
            <a:avLst/>
          </a:prstGeom>
          <a:noFill/>
        </p:spPr>
        <p:txBody>
          <a:bodyPr wrap="square" rtlCol="0">
            <a:spAutoFit/>
          </a:bodyPr>
          <a:p>
            <a:r>
              <a:rPr lang="zh-CN" altLang="en-US" sz="1600"/>
              <a:t>“重复代码”有很多变体：</a:t>
            </a:r>
            <a:endParaRPr lang="zh-CN" altLang="en-US" sz="1600"/>
          </a:p>
          <a:p>
            <a:endParaRPr lang="zh-CN" altLang="en-US" sz="1600"/>
          </a:p>
          <a:p>
            <a:pPr marL="285750" indent="-285750">
              <a:buFont typeface="Wingdings" panose="05000000000000000000" charset="0"/>
              <a:buChar char=""/>
            </a:pPr>
            <a:r>
              <a:rPr lang="zh-CN" altLang="en-US" sz="1600"/>
              <a:t>魔法数字、魔法字符串等</a:t>
            </a:r>
            <a:endParaRPr lang="zh-CN" altLang="en-US" sz="1600"/>
          </a:p>
          <a:p>
            <a:pPr marL="285750" indent="-285750">
              <a:buFont typeface="Wingdings" panose="05000000000000000000" charset="0"/>
              <a:buChar char=""/>
            </a:pPr>
            <a:r>
              <a:rPr lang="zh-CN" altLang="en-US" sz="1600"/>
              <a:t>相同代码块</a:t>
            </a:r>
            <a:endParaRPr lang="zh-CN" altLang="en-US" sz="1600"/>
          </a:p>
          <a:p>
            <a:pPr marL="285750" indent="-285750">
              <a:buFont typeface="Wingdings" panose="05000000000000000000" charset="0"/>
              <a:buChar char=""/>
            </a:pPr>
            <a:r>
              <a:rPr lang="zh-CN" altLang="en-US" sz="1600"/>
              <a:t>相似的代码逻辑及操作</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anim calcmode="lin" valueType="num">
                                      <p:cBhvr>
                                        <p:cTn id="13" dur="500" fill="hold"/>
                                        <p:tgtEl>
                                          <p:spTgt spid="7"/>
                                        </p:tgtEl>
                                        <p:attrNameLst>
                                          <p:attrName>ppt_x</p:attrName>
                                        </p:attrNameLst>
                                      </p:cBhvr>
                                      <p:tavLst>
                                        <p:tav tm="0">
                                          <p:val>
                                            <p:strVal val="#ppt_x"/>
                                          </p:val>
                                        </p:tav>
                                        <p:tav tm="100000">
                                          <p:val>
                                            <p:strVal val="#ppt_x"/>
                                          </p:val>
                                        </p:tav>
                                      </p:tavLst>
                                    </p:anim>
                                    <p:anim calcmode="lin" valueType="num">
                                      <p:cBhvr>
                                        <p:cTn id="14"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1"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strVal val="#ppt_w+.3"/>
                                          </p:val>
                                        </p:tav>
                                        <p:tav tm="100000">
                                          <p:val>
                                            <p:strVal val="#ppt_w"/>
                                          </p:val>
                                        </p:tav>
                                      </p:tavLst>
                                    </p:anim>
                                    <p:anim calcmode="lin" valueType="num">
                                      <p:cBhvr>
                                        <p:cTn id="20" dur="500" fill="hold"/>
                                        <p:tgtEl>
                                          <p:spTgt spid="8"/>
                                        </p:tgtEl>
                                        <p:attrNameLst>
                                          <p:attrName>ppt_h</p:attrName>
                                        </p:attrNameLst>
                                      </p:cBhvr>
                                      <p:tavLst>
                                        <p:tav tm="0">
                                          <p:val>
                                            <p:strVal val="#ppt_h"/>
                                          </p:val>
                                        </p:tav>
                                        <p:tav tm="100000">
                                          <p:val>
                                            <p:strVal val="#ppt_h"/>
                                          </p:val>
                                        </p:tav>
                                      </p:tavLst>
                                    </p:anim>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8"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-DRY</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880745"/>
            <a:ext cx="8005445" cy="1814830"/>
          </a:xfrm>
          <a:prstGeom prst="rect">
            <a:avLst/>
          </a:prstGeom>
          <a:noFill/>
        </p:spPr>
        <p:txBody>
          <a:bodyPr wrap="square" rtlCol="0">
            <a:spAutoFit/>
          </a:bodyPr>
          <a:p>
            <a:r>
              <a:rPr lang="zh-CN" altLang="en-US" sz="1600"/>
              <a:t>对于消除重复的代码有</a:t>
            </a:r>
            <a:r>
              <a:rPr lang="zh-CN" altLang="en-US" sz="1600" b="1"/>
              <a:t>事不过三</a:t>
            </a:r>
            <a:r>
              <a:rPr lang="zh-CN" altLang="en-US" sz="1600"/>
              <a:t>原则。</a:t>
            </a:r>
            <a:endParaRPr lang="zh-CN" altLang="en-US" sz="1600"/>
          </a:p>
          <a:p>
            <a:endParaRPr lang="zh-CN" altLang="en-US" sz="1600"/>
          </a:p>
          <a:p>
            <a:pPr marL="342900" indent="-342900">
              <a:buFont typeface="+mj-lt"/>
              <a:buAutoNum type="arabicPeriod"/>
            </a:pPr>
            <a:r>
              <a:rPr lang="zh-CN" altLang="en-US" sz="1600"/>
              <a:t>第一次先写了一段代码。</a:t>
            </a:r>
            <a:endParaRPr lang="zh-CN" altLang="en-US" sz="1600"/>
          </a:p>
          <a:p>
            <a:pPr marL="342900" indent="-342900">
              <a:buFont typeface="+mj-lt"/>
              <a:buAutoNum type="arabicPeriod"/>
            </a:pPr>
            <a:r>
              <a:rPr lang="zh-CN" altLang="en-US" sz="1600"/>
              <a:t>第二次在另一个地方写了一段相同或相似逻辑的代码，你已经有消除和提取重复代码的冲动了。</a:t>
            </a:r>
            <a:endParaRPr lang="zh-CN" altLang="en-US" sz="1600"/>
          </a:p>
          <a:p>
            <a:pPr marL="342900" indent="-342900">
              <a:buFont typeface="+mj-lt"/>
              <a:buAutoNum type="arabicPeriod"/>
            </a:pPr>
            <a:r>
              <a:rPr lang="zh-CN" altLang="en-US" sz="1600"/>
              <a:t>再次在另一个地方写了同样的代码，你已忍无可忍，现在可以考虑抽取和消除重复代码了。</a:t>
            </a:r>
            <a:endParaRPr lang="zh-CN" altLang="en-US" sz="1600"/>
          </a:p>
        </p:txBody>
      </p:sp>
      <p:sp>
        <p:nvSpPr>
          <p:cNvPr id="8" name="文本框 7"/>
          <p:cNvSpPr txBox="1"/>
          <p:nvPr/>
        </p:nvSpPr>
        <p:spPr>
          <a:xfrm>
            <a:off x="731520" y="2870200"/>
            <a:ext cx="8016875" cy="1814830"/>
          </a:xfrm>
          <a:prstGeom prst="rect">
            <a:avLst/>
          </a:prstGeom>
          <a:noFill/>
        </p:spPr>
        <p:txBody>
          <a:bodyPr wrap="square" rtlCol="0">
            <a:spAutoFit/>
          </a:bodyPr>
          <a:p>
            <a:r>
              <a:rPr lang="zh-CN" altLang="en-US" sz="1600" b="1"/>
              <a:t>我的理解</a:t>
            </a:r>
            <a:r>
              <a:rPr lang="zh-CN" altLang="en-US" sz="1600"/>
              <a:t>：解决重复的最佳的方式是通过培养良好的编码习惯来避免重复，通过重构的手段来消除重复。去掉重复的信息会让你的代码结构发生本质的变化。</a:t>
            </a:r>
            <a:endParaRPr lang="zh-CN" altLang="en-US" sz="1600"/>
          </a:p>
          <a:p>
            <a:endParaRPr lang="zh-CN" altLang="en-US" sz="1600"/>
          </a:p>
          <a:p>
            <a:r>
              <a:rPr lang="zh-CN" altLang="en-US" sz="1600"/>
              <a:t>发现和解决重复并不困难，通过提取抽象、提取方法等措施就能消除重复，但困难的是</a:t>
            </a:r>
            <a:r>
              <a:rPr lang="zh-CN" altLang="en-US" sz="1600" b="1"/>
              <a:t>立即行动</a:t>
            </a:r>
            <a:r>
              <a:rPr lang="zh-CN" altLang="en-US" sz="1600"/>
              <a:t>去解决重复，从而不断的磨砺和提升自己的编程技艺，不断将私人代码变成公共代码，这才是自我提升的过程。解决了重复，经过一段时间，你就会发现，你对整个系统的理解程度在不知不觉中提高了不少。</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4"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289">
                                          <p:stCondLst>
                                            <p:cond delay="0"/>
                                          </p:stCondLst>
                                        </p:cTn>
                                        <p:tgtEl>
                                          <p:spTgt spid="8"/>
                                        </p:tgtEl>
                                      </p:cBhvr>
                                    </p:animEffect>
                                    <p:anim calcmode="lin" valueType="num">
                                      <p:cBhvr>
                                        <p:cTn id="16" dur="910"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7" dur="331"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8" dur="331" tmFilter="0, 0; 0.125,0.2665; 0.25,0.4; 0.375,0.465; 0.5,0.5;  0.625,0.535; 0.75,0.6; 0.875,0.7335; 1,1">
                                          <p:stCondLst>
                                            <p:cond delay="331"/>
                                          </p:stCondLst>
                                        </p:cTn>
                                        <p:tgtEl>
                                          <p:spTgt spid="8"/>
                                        </p:tgtEl>
                                        <p:attrNameLst>
                                          <p:attrName>ppt_y</p:attrName>
                                        </p:attrNameLst>
                                      </p:cBhvr>
                                      <p:tavLst>
                                        <p:tav tm="0" fmla="#ppt_y-sin(pi*$)/9">
                                          <p:val>
                                            <p:fltVal val="0"/>
                                          </p:val>
                                        </p:tav>
                                        <p:tav tm="100000">
                                          <p:val>
                                            <p:fltVal val="1"/>
                                          </p:val>
                                        </p:tav>
                                      </p:tavLst>
                                    </p:anim>
                                    <p:anim calcmode="lin" valueType="num">
                                      <p:cBhvr>
                                        <p:cTn id="19" dur="166" tmFilter="0, 0; 0.125,0.2665; 0.25,0.4; 0.375,0.465; 0.5,0.5;  0.625,0.535; 0.75,0.6; 0.875,0.7335; 1,1">
                                          <p:stCondLst>
                                            <p:cond delay="661"/>
                                          </p:stCondLst>
                                        </p:cTn>
                                        <p:tgtEl>
                                          <p:spTgt spid="8"/>
                                        </p:tgtEl>
                                        <p:attrNameLst>
                                          <p:attrName>ppt_y</p:attrName>
                                        </p:attrNameLst>
                                      </p:cBhvr>
                                      <p:tavLst>
                                        <p:tav tm="0" fmla="#ppt_y-sin(pi*$)/27">
                                          <p:val>
                                            <p:fltVal val="0"/>
                                          </p:val>
                                        </p:tav>
                                        <p:tav tm="100000">
                                          <p:val>
                                            <p:fltVal val="1"/>
                                          </p:val>
                                        </p:tav>
                                      </p:tavLst>
                                    </p:anim>
                                    <p:anim calcmode="lin" valueType="num">
                                      <p:cBhvr>
                                        <p:cTn id="20" dur="82" tmFilter="0, 0; 0.125,0.2665; 0.25,0.4; 0.375,0.465; 0.5,0.5;  0.625,0.535; 0.75,0.6; 0.875,0.7335; 1,1">
                                          <p:stCondLst>
                                            <p:cond delay="826"/>
                                          </p:stCondLst>
                                        </p:cTn>
                                        <p:tgtEl>
                                          <p:spTgt spid="8"/>
                                        </p:tgtEl>
                                        <p:attrNameLst>
                                          <p:attrName>ppt_y</p:attrName>
                                        </p:attrNameLst>
                                      </p:cBhvr>
                                      <p:tavLst>
                                        <p:tav tm="0" fmla="#ppt_y-sin(pi*$)/81">
                                          <p:val>
                                            <p:fltVal val="0"/>
                                          </p:val>
                                        </p:tav>
                                        <p:tav tm="100000">
                                          <p:val>
                                            <p:fltVal val="1"/>
                                          </p:val>
                                        </p:tav>
                                      </p:tavLst>
                                    </p:anim>
                                    <p:animScale>
                                      <p:cBhvr>
                                        <p:cTn id="21" dur="14">
                                          <p:stCondLst>
                                            <p:cond delay="325"/>
                                          </p:stCondLst>
                                        </p:cTn>
                                        <p:tgtEl>
                                          <p:spTgt spid="8"/>
                                        </p:tgtEl>
                                      </p:cBhvr>
                                      <p:to x="100000" y="60000"/>
                                    </p:animScale>
                                    <p:animScale>
                                      <p:cBhvr>
                                        <p:cTn id="22" dur="84" decel="50000">
                                          <p:stCondLst>
                                            <p:cond delay="337"/>
                                          </p:stCondLst>
                                        </p:cTn>
                                        <p:tgtEl>
                                          <p:spTgt spid="8"/>
                                        </p:tgtEl>
                                      </p:cBhvr>
                                      <p:to x="100000" y="100000"/>
                                    </p:animScale>
                                    <p:animScale>
                                      <p:cBhvr>
                                        <p:cTn id="23" dur="14">
                                          <p:stCondLst>
                                            <p:cond delay="655"/>
                                          </p:stCondLst>
                                        </p:cTn>
                                        <p:tgtEl>
                                          <p:spTgt spid="8"/>
                                        </p:tgtEl>
                                      </p:cBhvr>
                                      <p:to x="100000" y="80000"/>
                                    </p:animScale>
                                    <p:animScale>
                                      <p:cBhvr>
                                        <p:cTn id="24" dur="84" decel="50000">
                                          <p:stCondLst>
                                            <p:cond delay="669"/>
                                          </p:stCondLst>
                                        </p:cTn>
                                        <p:tgtEl>
                                          <p:spTgt spid="8"/>
                                        </p:tgtEl>
                                      </p:cBhvr>
                                      <p:to x="100000" y="100000"/>
                                    </p:animScale>
                                    <p:animScale>
                                      <p:cBhvr>
                                        <p:cTn id="25" dur="14">
                                          <p:stCondLst>
                                            <p:cond delay="820"/>
                                          </p:stCondLst>
                                        </p:cTn>
                                        <p:tgtEl>
                                          <p:spTgt spid="8"/>
                                        </p:tgtEl>
                                      </p:cBhvr>
                                      <p:to x="100000" y="90000"/>
                                    </p:animScale>
                                    <p:animScale>
                                      <p:cBhvr>
                                        <p:cTn id="26" dur="84" decel="50000">
                                          <p:stCondLst>
                                            <p:cond delay="832"/>
                                          </p:stCondLst>
                                        </p:cTn>
                                        <p:tgtEl>
                                          <p:spTgt spid="8"/>
                                        </p:tgtEl>
                                      </p:cBhvr>
                                      <p:to x="100000" y="100000"/>
                                    </p:animScale>
                                    <p:animScale>
                                      <p:cBhvr>
                                        <p:cTn id="27" dur="14">
                                          <p:stCondLst>
                                            <p:cond delay="902"/>
                                          </p:stCondLst>
                                        </p:cTn>
                                        <p:tgtEl>
                                          <p:spTgt spid="8"/>
                                        </p:tgtEl>
                                      </p:cBhvr>
                                      <p:to x="100000" y="95000"/>
                                    </p:animScale>
                                    <p:animScale>
                                      <p:cBhvr>
                                        <p:cTn id="28" dur="84" decel="50000">
                                          <p:stCondLst>
                                            <p:cond delay="916"/>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8" grpId="2"/>
      <p:bldP spid="8" grpId="3"/>
      <p:bldP spid="8" grpId="4"/>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-2MC</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960755"/>
            <a:ext cx="8005445" cy="368300"/>
          </a:xfrm>
          <a:prstGeom prst="rect">
            <a:avLst/>
          </a:prstGeom>
          <a:noFill/>
        </p:spPr>
        <p:txBody>
          <a:bodyPr wrap="square" rtlCol="0">
            <a:spAutoFit/>
          </a:bodyPr>
          <a:p>
            <a:r>
              <a:rPr lang="zh-CN" altLang="en-US"/>
              <a:t>所谓</a:t>
            </a:r>
            <a:r>
              <a:rPr lang="en-US" altLang="zh-CN">
                <a:solidFill>
                  <a:srgbClr val="0070C0"/>
                </a:solidFill>
              </a:rPr>
              <a:t>2MC</a:t>
            </a:r>
            <a:r>
              <a:rPr lang="zh-CN" altLang="en-US"/>
              <a:t>原则，即：</a:t>
            </a:r>
            <a:r>
              <a:rPr lang="zh-CN" altLang="en-US">
                <a:solidFill>
                  <a:srgbClr val="0070C0"/>
                </a:solidFill>
              </a:rPr>
              <a:t>Maximize Cohesion,Minimize Coupling</a:t>
            </a:r>
            <a:r>
              <a:rPr lang="zh-CN" altLang="en-US"/>
              <a:t>，</a:t>
            </a:r>
            <a:r>
              <a:rPr lang="zh-CN" altLang="en-US" b="1"/>
              <a:t>高内聚低耦合</a:t>
            </a:r>
            <a:r>
              <a:rPr lang="zh-CN" altLang="en-US"/>
              <a:t>。</a:t>
            </a:r>
            <a:endParaRPr lang="zh-CN" altLang="en-US"/>
          </a:p>
        </p:txBody>
      </p:sp>
      <p:sp>
        <p:nvSpPr>
          <p:cNvPr id="7" name="文本框 6"/>
          <p:cNvSpPr txBox="1"/>
          <p:nvPr/>
        </p:nvSpPr>
        <p:spPr>
          <a:xfrm>
            <a:off x="767080" y="1690370"/>
            <a:ext cx="7981315" cy="645160"/>
          </a:xfrm>
          <a:prstGeom prst="rect">
            <a:avLst/>
          </a:prstGeom>
          <a:noFill/>
        </p:spPr>
        <p:txBody>
          <a:bodyPr wrap="square" rtlCol="0">
            <a:spAutoFit/>
          </a:bodyPr>
          <a:p>
            <a:r>
              <a:rPr lang="zh-CN" altLang="en-US"/>
              <a:t>这是判断设计好坏的标准，主要是看</a:t>
            </a:r>
            <a:r>
              <a:rPr lang="zh-CN" altLang="en-US" b="1"/>
              <a:t>模块内的内聚性是否高，模块间的耦合度是否低。</a:t>
            </a:r>
            <a:endParaRPr lang="zh-CN" altLang="en-US"/>
          </a:p>
        </p:txBody>
      </p:sp>
      <p:sp>
        <p:nvSpPr>
          <p:cNvPr id="8" name="文本框 7"/>
          <p:cNvSpPr txBox="1"/>
          <p:nvPr/>
        </p:nvSpPr>
        <p:spPr>
          <a:xfrm>
            <a:off x="731520" y="2643505"/>
            <a:ext cx="8016875" cy="2061210"/>
          </a:xfrm>
          <a:prstGeom prst="rect">
            <a:avLst/>
          </a:prstGeom>
          <a:noFill/>
        </p:spPr>
        <p:txBody>
          <a:bodyPr wrap="square" rtlCol="0">
            <a:spAutoFit/>
          </a:bodyPr>
          <a:p>
            <a:r>
              <a:rPr lang="zh-CN" altLang="en-US" sz="1600"/>
              <a:t>Java中实现高内聚低耦合的常用方式：</a:t>
            </a:r>
            <a:endParaRPr lang="zh-CN" altLang="en-US" sz="1600"/>
          </a:p>
          <a:p>
            <a:endParaRPr lang="zh-CN" altLang="en-US" sz="1600"/>
          </a:p>
          <a:p>
            <a:pPr marL="285750" indent="-285750">
              <a:buFont typeface="Wingdings" panose="05000000000000000000" charset="0"/>
              <a:buChar char=""/>
            </a:pPr>
            <a:r>
              <a:rPr lang="zh-CN" altLang="en-US" sz="1600"/>
              <a:t>少使用类的继承，多用接口隐藏实现的细节。</a:t>
            </a:r>
            <a:endParaRPr lang="zh-CN" altLang="en-US" sz="1600"/>
          </a:p>
          <a:p>
            <a:pPr marL="285750" indent="-285750">
              <a:buFont typeface="Wingdings" panose="05000000000000000000" charset="0"/>
              <a:buChar char=""/>
            </a:pPr>
            <a:r>
              <a:rPr lang="zh-CN" altLang="en-US" sz="1600"/>
              <a:t>模块的功能化分尽可能的单一，道理也很简单，功能单一的模块供其它模块调用的机会就少。</a:t>
            </a:r>
            <a:endParaRPr lang="zh-CN" altLang="en-US" sz="1600"/>
          </a:p>
          <a:p>
            <a:pPr marL="285750" indent="-285750">
              <a:buFont typeface="Wingdings" panose="05000000000000000000" charset="0"/>
              <a:buChar char=""/>
            </a:pPr>
            <a:r>
              <a:rPr lang="zh-CN" altLang="en-US" sz="1600"/>
              <a:t>遵循一个定义只在一个地方出现。</a:t>
            </a:r>
            <a:endParaRPr lang="zh-CN" altLang="en-US" sz="1600"/>
          </a:p>
          <a:p>
            <a:pPr marL="285750" indent="-285750">
              <a:buFont typeface="Wingdings" panose="05000000000000000000" charset="0"/>
              <a:buChar char=""/>
            </a:pPr>
            <a:r>
              <a:rPr lang="zh-CN" altLang="en-US" sz="1600"/>
              <a:t>少使用全局变量。</a:t>
            </a:r>
            <a:endParaRPr lang="zh-CN" altLang="en-US" sz="1600"/>
          </a:p>
          <a:p>
            <a:pPr marL="285750" indent="-285750">
              <a:buFont typeface="Wingdings" panose="05000000000000000000" charset="0"/>
              <a:buChar char=""/>
            </a:pPr>
            <a:r>
              <a:rPr lang="zh-CN" altLang="en-US" sz="1600"/>
              <a:t>类属性和方法的声明少用`public`，多用`private`关键字。</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300" fill="hold">
                                          <p:stCondLst>
                                            <p:cond delay="0"/>
                                          </p:stCondLst>
                                        </p:cTn>
                                        <p:tgtEl>
                                          <p:spTgt spid="6"/>
                                        </p:tgtEl>
                                        <p:attrNameLst>
                                          <p:attrName>ppt_x</p:attrName>
                                        </p:attrNameLst>
                                      </p:cBhvr>
                                    </p:anim>
                                    <p:anim from="0" to="-1.0" calcmode="lin" valueType="num">
                                      <p:cBhvr>
                                        <p:cTn id="8" dur="100" decel="50000" autoRev="1" fill="hold">
                                          <p:stCondLst>
                                            <p:cond delay="300"/>
                                          </p:stCondLst>
                                        </p:cTn>
                                        <p:tgtEl>
                                          <p:spTgt spid="6"/>
                                        </p:tgtEl>
                                        <p:attrNameLst>
                                          <p:attrName>xshear</p:attrName>
                                        </p:attrNameLst>
                                      </p:cBhvr>
                                    </p:anim>
                                    <p:animScale>
                                      <p:cBhvr>
                                        <p:cTn id="9" dur="100" decel="100000" autoRev="1" fill="hold">
                                          <p:stCondLst>
                                            <p:cond delay="300"/>
                                          </p:stCondLst>
                                        </p:cTn>
                                        <p:tgtEl>
                                          <p:spTgt spid="6"/>
                                        </p:tgtEl>
                                      </p:cBhvr>
                                      <p:from x="100000" y="100000"/>
                                      <p:to x="80000" y="100000"/>
                                    </p:animScale>
                                    <p:anim by="(#ppt_h/3+#ppt_w*0.1)" calcmode="lin" valueType="num">
                                      <p:cBhvr additive="sum">
                                        <p:cTn id="10" dur="100" decel="100000" autoRev="1" fill="hold">
                                          <p:stCondLst>
                                            <p:cond delay="3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2"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to="" calcmode="lin" valueType="num">
                                      <p:cBhvr>
                                        <p:cTn id="23"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7" grpId="2"/>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-SOC</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960755"/>
            <a:ext cx="8005445" cy="645160"/>
          </a:xfrm>
          <a:prstGeom prst="rect">
            <a:avLst/>
          </a:prstGeom>
          <a:noFill/>
        </p:spPr>
        <p:txBody>
          <a:bodyPr wrap="square" rtlCol="0">
            <a:spAutoFit/>
          </a:bodyPr>
          <a:p>
            <a:r>
              <a:rPr lang="zh-CN" altLang="en-US"/>
              <a:t>所谓</a:t>
            </a:r>
            <a:r>
              <a:rPr lang="zh-CN" altLang="en-US">
                <a:solidFill>
                  <a:srgbClr val="0070C0"/>
                </a:solidFill>
              </a:rPr>
              <a:t>SOC</a:t>
            </a:r>
            <a:r>
              <a:rPr lang="zh-CN" altLang="en-US"/>
              <a:t>原则，即：</a:t>
            </a:r>
            <a:r>
              <a:rPr lang="zh-CN" altLang="en-US">
                <a:solidFill>
                  <a:srgbClr val="0070C0"/>
                </a:solidFill>
              </a:rPr>
              <a:t>关注点分离</a:t>
            </a:r>
            <a:r>
              <a:rPr lang="zh-CN" altLang="en-US"/>
              <a:t>（</a:t>
            </a:r>
            <a:r>
              <a:rPr lang="zh-CN" altLang="en-US">
                <a:solidFill>
                  <a:srgbClr val="0070C0"/>
                </a:solidFill>
              </a:rPr>
              <a:t>Separation of Concerns</a:t>
            </a:r>
            <a:r>
              <a:rPr lang="zh-CN" altLang="en-US"/>
              <a:t>）。</a:t>
            </a:r>
            <a:r>
              <a:rPr lang="zh-CN" altLang="en-US" b="1"/>
              <a:t>不同领域的功能，应该由不同的代码和最小重迭的模块组成。</a:t>
            </a:r>
            <a:endParaRPr lang="zh-CN" altLang="en-US" b="1"/>
          </a:p>
        </p:txBody>
      </p:sp>
      <p:sp>
        <p:nvSpPr>
          <p:cNvPr id="8" name="文本框 7"/>
          <p:cNvSpPr txBox="1"/>
          <p:nvPr/>
        </p:nvSpPr>
        <p:spPr>
          <a:xfrm>
            <a:off x="731520" y="1782445"/>
            <a:ext cx="8016875" cy="1568450"/>
          </a:xfrm>
          <a:prstGeom prst="rect">
            <a:avLst/>
          </a:prstGeom>
          <a:noFill/>
        </p:spPr>
        <p:txBody>
          <a:bodyPr wrap="square" rtlCol="0">
            <a:spAutoFit/>
          </a:bodyPr>
          <a:p>
            <a:r>
              <a:rPr lang="zh-CN" altLang="en-US" sz="1600"/>
              <a:t>MVC就是关注点分离的一个体现，基本结构：</a:t>
            </a:r>
            <a:endParaRPr lang="zh-CN" altLang="en-US" sz="1600"/>
          </a:p>
          <a:p>
            <a:endParaRPr lang="zh-CN" altLang="en-US" sz="1600"/>
          </a:p>
          <a:p>
            <a:r>
              <a:rPr lang="zh-CN" altLang="en-US" sz="1600">
                <a:solidFill>
                  <a:srgbClr val="0070C0"/>
                </a:solidFill>
              </a:rPr>
              <a:t>Model</a:t>
            </a:r>
            <a:r>
              <a:rPr lang="zh-CN" altLang="en-US" sz="1600"/>
              <a:t>：层表示应用程序的数据核心，通常负责在数据库中存取数据。</a:t>
            </a:r>
            <a:endParaRPr lang="zh-CN" altLang="en-US" sz="1600"/>
          </a:p>
          <a:p>
            <a:r>
              <a:rPr lang="zh-CN" altLang="en-US" sz="1600">
                <a:solidFill>
                  <a:srgbClr val="0070C0"/>
                </a:solidFill>
              </a:rPr>
              <a:t>View</a:t>
            </a:r>
            <a:r>
              <a:rPr lang="zh-CN" altLang="en-US" sz="1600"/>
              <a:t>：是应用程序的显示层，通常是依据模型的数据而建立。</a:t>
            </a:r>
            <a:endParaRPr lang="zh-CN" altLang="en-US" sz="1600"/>
          </a:p>
          <a:p>
            <a:r>
              <a:rPr lang="zh-CN" altLang="en-US" sz="1600">
                <a:solidFill>
                  <a:srgbClr val="0070C0"/>
                </a:solidFill>
              </a:rPr>
              <a:t>Controller</a:t>
            </a:r>
            <a:r>
              <a:rPr lang="zh-CN" altLang="en-US" sz="1600"/>
              <a:t>：是用来控制和处理输入输出的，是处理用户交互的部分，也负责向模型（Model层）发送数据。</a:t>
            </a:r>
            <a:endParaRPr lang="zh-CN" altLang="en-US" sz="1600"/>
          </a:p>
        </p:txBody>
      </p:sp>
      <p:sp>
        <p:nvSpPr>
          <p:cNvPr id="3" name="文本框 2"/>
          <p:cNvSpPr txBox="1"/>
          <p:nvPr/>
        </p:nvSpPr>
        <p:spPr>
          <a:xfrm>
            <a:off x="778510" y="3543300"/>
            <a:ext cx="7753985" cy="1076325"/>
          </a:xfrm>
          <a:prstGeom prst="rect">
            <a:avLst/>
          </a:prstGeom>
          <a:noFill/>
        </p:spPr>
        <p:txBody>
          <a:bodyPr wrap="square" rtlCol="0">
            <a:spAutoFit/>
          </a:bodyPr>
          <a:p>
            <a:r>
              <a:rPr lang="zh-CN" altLang="en-US" sz="1600"/>
              <a:t>好的架构必须使每个关注点相互分离，也就是说系统中的一个部分发生了变化，不会影响其他部分。即使需要改变，也能够清晰地识别出那些部分需要改变。如果需要扩展架构，影响将会最小化，已经可以工作的每个部分都将继续工作。——Ivar Jacobson(《AOSD中文版》)</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to="" calcmode="lin" valueType="num">
                                      <p:cBhvr>
                                        <p:cTn id="17"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-SOC</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1176020"/>
            <a:ext cx="8005445" cy="2861310"/>
          </a:xfrm>
          <a:prstGeom prst="rect">
            <a:avLst/>
          </a:prstGeom>
          <a:noFill/>
        </p:spPr>
        <p:txBody>
          <a:bodyPr wrap="square" rtlCol="0">
            <a:spAutoFit/>
          </a:bodyPr>
          <a:p>
            <a:r>
              <a:rPr lang="zh-CN" altLang="en-US"/>
              <a:t>一些常见的分层思想和方式：</a:t>
            </a:r>
            <a:endParaRPr lang="zh-CN" altLang="en-US"/>
          </a:p>
          <a:p>
            <a:endParaRPr lang="zh-CN" altLang="en-US"/>
          </a:p>
          <a:p>
            <a:pPr marL="285750" indent="-285750">
              <a:buFont typeface="Wingdings" panose="05000000000000000000" charset="0"/>
              <a:buChar char=""/>
            </a:pPr>
            <a:r>
              <a:rPr lang="zh-CN" altLang="en-US"/>
              <a:t>纵向分离</a:t>
            </a:r>
            <a:endParaRPr lang="zh-CN" altLang="en-US"/>
          </a:p>
          <a:p>
            <a:pPr marL="285750" indent="-285750">
              <a:buFont typeface="Wingdings" panose="05000000000000000000" charset="0"/>
              <a:buChar char=""/>
            </a:pPr>
            <a:r>
              <a:rPr lang="zh-CN" altLang="en-US"/>
              <a:t>横向分离</a:t>
            </a:r>
            <a:endParaRPr lang="zh-CN" altLang="en-US"/>
          </a:p>
          <a:p>
            <a:pPr marL="285750" indent="-285750">
              <a:buFont typeface="Wingdings" panose="05000000000000000000" charset="0"/>
              <a:buChar char=""/>
            </a:pPr>
            <a:r>
              <a:rPr lang="zh-CN" altLang="en-US"/>
              <a:t>切面分离</a:t>
            </a:r>
            <a:endParaRPr lang="zh-CN" altLang="en-US"/>
          </a:p>
          <a:p>
            <a:pPr marL="285750" indent="-285750">
              <a:buFont typeface="Wingdings" panose="05000000000000000000" charset="0"/>
              <a:buChar char=""/>
            </a:pPr>
            <a:r>
              <a:rPr lang="zh-CN" altLang="en-US"/>
              <a:t>依赖方向分离</a:t>
            </a:r>
            <a:endParaRPr lang="zh-CN" altLang="en-US"/>
          </a:p>
          <a:p>
            <a:pPr marL="285750" indent="-285750">
              <a:buFont typeface="Wingdings" panose="05000000000000000000" charset="0"/>
              <a:buChar char=""/>
            </a:pPr>
            <a:r>
              <a:rPr lang="zh-CN" altLang="en-US"/>
              <a:t>关注数据分离</a:t>
            </a:r>
            <a:endParaRPr lang="zh-CN" altLang="en-US"/>
          </a:p>
          <a:p>
            <a:pPr marL="285750" indent="-285750">
              <a:buFont typeface="Wingdings" panose="05000000000000000000" charset="0"/>
              <a:buChar char=""/>
            </a:pPr>
            <a:r>
              <a:rPr lang="zh-CN" altLang="en-US"/>
              <a:t>关注行为分离</a:t>
            </a:r>
            <a:endParaRPr lang="zh-CN" altLang="en-US"/>
          </a:p>
          <a:p>
            <a:pPr marL="285750" indent="-285750">
              <a:buFont typeface="Wingdings" panose="05000000000000000000" charset="0"/>
              <a:buChar char=""/>
            </a:pPr>
            <a:r>
              <a:rPr lang="zh-CN" altLang="en-US"/>
              <a:t>扩展分离</a:t>
            </a:r>
            <a:endParaRPr lang="zh-CN" altLang="en-US"/>
          </a:p>
          <a:p>
            <a:pPr marL="285750" indent="-285750">
              <a:buFont typeface="Wingdings" panose="05000000000000000000" charset="0"/>
              <a:buChar char=""/>
            </a:pPr>
            <a:r>
              <a:rPr lang="zh-CN" altLang="en-US"/>
              <a:t>反转分离</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 to="" calcmode="lin" valueType="num">
                                      <p:cBhvr>
                                        <p:cTn id="12" dur="1" fill="hold"/>
                                        <p:tgtEl>
                                          <p:spTgt spid="6">
                                            <p:txEl>
                                              <p:pRg st="2" end="2"/>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 to="" calcmode="lin" valueType="num">
                                      <p:cBhvr>
                                        <p:cTn id="17" dur="1" fill="hold"/>
                                        <p:tgtEl>
                                          <p:spTgt spid="6">
                                            <p:txEl>
                                              <p:pRg st="3" end="3"/>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 to="" calcmode="lin" valueType="num">
                                      <p:cBhvr>
                                        <p:cTn id="22" dur="1" fill="hold"/>
                                        <p:tgtEl>
                                          <p:spTgt spid="6">
                                            <p:txEl>
                                              <p:pRg st="4" end="4"/>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 to="" calcmode="lin" valueType="num">
                                      <p:cBhvr>
                                        <p:cTn id="27" dur="1" fill="hold"/>
                                        <p:tgtEl>
                                          <p:spTgt spid="6">
                                            <p:txEl>
                                              <p:pRg st="5" end="5"/>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 to="" calcmode="lin" valueType="num">
                                      <p:cBhvr>
                                        <p:cTn id="32" dur="1" fill="hold"/>
                                        <p:tgtEl>
                                          <p:spTgt spid="6">
                                            <p:txEl>
                                              <p:pRg st="6" end="6"/>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 to="" calcmode="lin" valueType="num">
                                      <p:cBhvr>
                                        <p:cTn id="37" dur="1" fill="hold"/>
                                        <p:tgtEl>
                                          <p:spTgt spid="6">
                                            <p:txEl>
                                              <p:pRg st="7" end="7"/>
                                            </p:txEl>
                                          </p:spTgt>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 to="" calcmode="lin" valueType="num">
                                      <p:cBhvr>
                                        <p:cTn id="42" dur="1" fill="hold"/>
                                        <p:tgtEl>
                                          <p:spTgt spid="6">
                                            <p:txEl>
                                              <p:pRg st="8" end="8"/>
                                            </p:txEl>
                                          </p:spTgt>
                                        </p:tgtEl>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nodeType="click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 to="" calcmode="lin" valueType="num">
                                      <p:cBhvr>
                                        <p:cTn id="47" dur="1" fill="hold"/>
                                        <p:tgtEl>
                                          <p:spTgt spid="6">
                                            <p:txEl>
                                              <p:pRg st="9" end="9"/>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-YAGNI</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960755"/>
            <a:ext cx="8005445" cy="368300"/>
          </a:xfrm>
          <a:prstGeom prst="rect">
            <a:avLst/>
          </a:prstGeom>
          <a:noFill/>
        </p:spPr>
        <p:txBody>
          <a:bodyPr wrap="square" rtlCol="0">
            <a:spAutoFit/>
          </a:bodyPr>
          <a:p>
            <a:r>
              <a:rPr lang="zh-CN" altLang="en-US"/>
              <a:t>所谓</a:t>
            </a:r>
            <a:r>
              <a:rPr lang="zh-CN" altLang="en-US">
                <a:solidFill>
                  <a:srgbClr val="0070C0"/>
                </a:solidFill>
              </a:rPr>
              <a:t>YAGNI</a:t>
            </a:r>
            <a:r>
              <a:rPr lang="zh-CN" altLang="en-US"/>
              <a:t>原则，即：</a:t>
            </a:r>
            <a:r>
              <a:rPr lang="zh-CN" altLang="en-US">
                <a:solidFill>
                  <a:srgbClr val="0070C0"/>
                </a:solidFill>
              </a:rPr>
              <a:t>You Ain</a:t>
            </a:r>
            <a:r>
              <a:rPr lang="en-US" altLang="zh-CN">
                <a:solidFill>
                  <a:srgbClr val="0070C0"/>
                </a:solidFill>
              </a:rPr>
              <a:t>'</a:t>
            </a:r>
            <a:r>
              <a:rPr lang="zh-CN" altLang="en-US">
                <a:solidFill>
                  <a:srgbClr val="0070C0"/>
                </a:solidFill>
              </a:rPr>
              <a:t>t Gonna Need It</a:t>
            </a:r>
            <a:r>
              <a:rPr lang="zh-CN" altLang="en-US"/>
              <a:t>，</a:t>
            </a:r>
            <a:r>
              <a:rPr lang="zh-CN" altLang="en-US" b="1"/>
              <a:t>你不需要它。</a:t>
            </a:r>
            <a:endParaRPr lang="zh-CN" altLang="en-US" b="1"/>
          </a:p>
        </p:txBody>
      </p:sp>
      <p:sp>
        <p:nvSpPr>
          <p:cNvPr id="8" name="文本框 7"/>
          <p:cNvSpPr txBox="1"/>
          <p:nvPr/>
        </p:nvSpPr>
        <p:spPr>
          <a:xfrm>
            <a:off x="731520" y="1638935"/>
            <a:ext cx="8016875" cy="583565"/>
          </a:xfrm>
          <a:prstGeom prst="rect">
            <a:avLst/>
          </a:prstGeom>
          <a:noFill/>
        </p:spPr>
        <p:txBody>
          <a:bodyPr wrap="square" rtlCol="0">
            <a:spAutoFit/>
          </a:bodyPr>
          <a:p>
            <a:r>
              <a:rPr lang="zh-CN" altLang="en-US" sz="1600"/>
              <a:t>只在真正需要某些功能的时候才去实现它，而不是仅仅因为你预见到它将出现。</a:t>
            </a:r>
            <a:endParaRPr lang="zh-CN" altLang="en-US" sz="1600"/>
          </a:p>
          <a:p>
            <a:pPr algn="r"/>
            <a:r>
              <a:rPr lang="en-US" altLang="zh-CN" sz="1600"/>
              <a:t>——</a:t>
            </a:r>
            <a:r>
              <a:rPr lang="zh-CN" altLang="en-US" sz="1600"/>
              <a:t> XP的联合创始人Ron Jeffries</a:t>
            </a:r>
            <a:endParaRPr lang="zh-CN" altLang="en-US" sz="1600"/>
          </a:p>
        </p:txBody>
      </p:sp>
      <p:sp>
        <p:nvSpPr>
          <p:cNvPr id="3" name="文本框 2"/>
          <p:cNvSpPr txBox="1"/>
          <p:nvPr/>
        </p:nvSpPr>
        <p:spPr>
          <a:xfrm>
            <a:off x="778510" y="2621915"/>
            <a:ext cx="7753985" cy="1814830"/>
          </a:xfrm>
          <a:prstGeom prst="rect">
            <a:avLst/>
          </a:prstGeom>
          <a:noFill/>
        </p:spPr>
        <p:txBody>
          <a:bodyPr wrap="square" rtlCol="0">
            <a:spAutoFit/>
          </a:bodyPr>
          <a:p>
            <a:r>
              <a:rPr lang="zh-CN" altLang="en-US" sz="1600"/>
              <a:t>即使你非常确信将来你需要某个特性，也不要现在就去实现它。在很多情况下，你会发现或许最终你不需要它了，或者是你真正所需的特性与你之前预计的有很大的出入。遵循 YAGNI 实践有两个主要原因：</a:t>
            </a:r>
            <a:endParaRPr lang="zh-CN" altLang="en-US" sz="1600"/>
          </a:p>
          <a:p>
            <a:endParaRPr lang="zh-CN" altLang="en-US" sz="1600"/>
          </a:p>
          <a:p>
            <a:pPr marL="285750" indent="-285750">
              <a:buFont typeface="Wingdings" panose="05000000000000000000" charset="0"/>
              <a:buChar char="Ø"/>
            </a:pPr>
            <a:r>
              <a:rPr lang="zh-CN" altLang="en-US" sz="1600"/>
              <a:t>你节约了时间，因为你避免了编写最终证明不必要的代码。</a:t>
            </a:r>
            <a:endParaRPr lang="zh-CN" altLang="en-US" sz="1600"/>
          </a:p>
          <a:p>
            <a:pPr marL="285750" indent="-285750">
              <a:buFont typeface="Wingdings" panose="05000000000000000000" charset="0"/>
              <a:buChar char="Ø"/>
            </a:pPr>
            <a:r>
              <a:rPr lang="zh-CN" altLang="en-US" sz="1600"/>
              <a:t>你的代码质量更高了，因为你使代码不必为你的“推测”所污染，而这些“推测”最终可能或多或少有些错误，但此时这些错误已牢牢地依附在你的代码中了。</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300" fill="hold">
                                          <p:stCondLst>
                                            <p:cond delay="0"/>
                                          </p:stCondLst>
                                        </p:cTn>
                                        <p:tgtEl>
                                          <p:spTgt spid="6"/>
                                        </p:tgtEl>
                                        <p:attrNameLst>
                                          <p:attrName>ppt_x</p:attrName>
                                        </p:attrNameLst>
                                      </p:cBhvr>
                                    </p:anim>
                                    <p:anim from="0" to="-1.0" calcmode="lin" valueType="num">
                                      <p:cBhvr>
                                        <p:cTn id="8" dur="100" decel="50000" autoRev="1" fill="hold">
                                          <p:stCondLst>
                                            <p:cond delay="300"/>
                                          </p:stCondLst>
                                        </p:cTn>
                                        <p:tgtEl>
                                          <p:spTgt spid="6"/>
                                        </p:tgtEl>
                                        <p:attrNameLst>
                                          <p:attrName>xshear</p:attrName>
                                        </p:attrNameLst>
                                      </p:cBhvr>
                                    </p:anim>
                                    <p:animScale>
                                      <p:cBhvr>
                                        <p:cTn id="9" dur="100" decel="100000" autoRev="1" fill="hold">
                                          <p:stCondLst>
                                            <p:cond delay="300"/>
                                          </p:stCondLst>
                                        </p:cTn>
                                        <p:tgtEl>
                                          <p:spTgt spid="6"/>
                                        </p:tgtEl>
                                      </p:cBhvr>
                                      <p:from x="100000" y="100000"/>
                                      <p:to x="80000" y="100000"/>
                                    </p:animScale>
                                    <p:anim by="(#ppt_h/3+#ppt_w*0.1)" calcmode="lin" valueType="num">
                                      <p:cBhvr additive="sum">
                                        <p:cTn id="10" dur="100" decel="100000" autoRev="1" fill="hold">
                                          <p:stCondLst>
                                            <p:cond delay="3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to="" calcmode="lin" valueType="num">
                                      <p:cBhvr>
                                        <p:cTn id="15" dur="1" fill="hold"/>
                                        <p:tgtEl>
                                          <p:spTgt spid="8"/>
                                        </p:tgtEl>
                                      </p:cBhvr>
                                    </p:anim>
                                  </p:childTnLst>
                                </p:cTn>
                              </p:par>
                            </p:childTnLst>
                          </p:cTn>
                        </p:par>
                      </p:childTnLst>
                    </p:cTn>
                  </p:par>
                  <p:par>
                    <p:cTn id="16" fill="hold">
                      <p:stCondLst>
                        <p:cond delay="indefinite"/>
                      </p:stCondLst>
                      <p:childTnLst>
                        <p:par>
                          <p:cTn id="17" fill="hold">
                            <p:stCondLst>
                              <p:cond delay="0"/>
                            </p:stCondLst>
                            <p:childTnLst>
                              <p:par>
                                <p:cTn id="18" presetID="24"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to="" calcmode="lin" valueType="num">
                                      <p:cBhvr>
                                        <p:cTn id="20"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-YAGNI</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3" name="文本框 2"/>
          <p:cNvSpPr txBox="1"/>
          <p:nvPr/>
        </p:nvSpPr>
        <p:spPr>
          <a:xfrm>
            <a:off x="778510" y="1085215"/>
            <a:ext cx="7753985" cy="2799715"/>
          </a:xfrm>
          <a:prstGeom prst="rect">
            <a:avLst/>
          </a:prstGeom>
          <a:noFill/>
        </p:spPr>
        <p:txBody>
          <a:bodyPr wrap="square" rtlCol="0">
            <a:spAutoFit/>
          </a:bodyPr>
          <a:p>
            <a:r>
              <a:rPr lang="zh-CN" altLang="en-US" sz="1600" b="1"/>
              <a:t>我的理解</a:t>
            </a:r>
            <a:r>
              <a:rPr lang="zh-CN" altLang="en-US" sz="1600"/>
              <a:t>：</a:t>
            </a:r>
            <a:endParaRPr lang="zh-CN" altLang="en-US" sz="1600"/>
          </a:p>
          <a:p>
            <a:endParaRPr lang="zh-CN" altLang="en-US" sz="1600"/>
          </a:p>
          <a:p>
            <a:r>
              <a:rPr lang="zh-CN" altLang="en-US" sz="1600"/>
              <a:t>YAGNI 原则，本质上是告诫我们</a:t>
            </a:r>
            <a:r>
              <a:rPr lang="zh-CN" altLang="en-US" sz="1600" b="1"/>
              <a:t>写代码不要画蛇添足，否则就会弄巧成拙了</a:t>
            </a:r>
            <a:r>
              <a:rPr lang="zh-CN" altLang="en-US" sz="1600"/>
              <a:t>。</a:t>
            </a:r>
            <a:endParaRPr lang="zh-CN" altLang="en-US" sz="1600"/>
          </a:p>
          <a:p>
            <a:endParaRPr lang="zh-CN" altLang="en-US" sz="1600"/>
          </a:p>
          <a:p>
            <a:r>
              <a:rPr lang="zh-CN" altLang="en-US" sz="1600"/>
              <a:t>编写业务代码时，不要去假想一些需求或者场景，因为大多数你所设想的场景都不会发生，而你所多写的那些代码也将会长期滞留在你的系统中，收效甚微，但却让你和团队花费了更多的时间和精力去书写和维护，更可怕的是可能会对将来新的代码维护人造成困惑。</a:t>
            </a:r>
            <a:endParaRPr lang="zh-CN" altLang="en-US" sz="1600"/>
          </a:p>
          <a:p>
            <a:endParaRPr lang="zh-CN" altLang="en-US" sz="1600"/>
          </a:p>
          <a:p>
            <a:r>
              <a:rPr lang="zh-CN" altLang="en-US" sz="1600"/>
              <a:t>另外对于没有被使用到的代码，我认为也都应该立即删除，从而保持系统的精简，如果将来需要时再去书写或恢复，而且那时侯写出的代码也绝对比之前的更为契合。</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-Boy-Scout Rule</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829310"/>
            <a:ext cx="8005445" cy="583565"/>
          </a:xfrm>
          <a:prstGeom prst="rect">
            <a:avLst/>
          </a:prstGeom>
          <a:noFill/>
        </p:spPr>
        <p:txBody>
          <a:bodyPr wrap="square" rtlCol="0">
            <a:spAutoFit/>
          </a:bodyPr>
          <a:p>
            <a:r>
              <a:rPr sz="1600">
                <a:solidFill>
                  <a:srgbClr val="0070C0"/>
                </a:solidFill>
              </a:rPr>
              <a:t>Boy-Scout Rule</a:t>
            </a:r>
            <a:r>
              <a:rPr sz="1600"/>
              <a:t>，译为：</a:t>
            </a:r>
            <a:r>
              <a:rPr sz="1600">
                <a:solidFill>
                  <a:srgbClr val="0070C0"/>
                </a:solidFill>
              </a:rPr>
              <a:t>童子军规则</a:t>
            </a:r>
            <a:r>
              <a:rPr sz="1600"/>
              <a:t>。美国童子军有一个简单的规则：“</a:t>
            </a:r>
            <a:r>
              <a:rPr sz="1600" b="1"/>
              <a:t>让营地比你刚来时更干净(`Always leave the campground cleaner than you found it`)</a:t>
            </a:r>
            <a:r>
              <a:rPr sz="1600"/>
              <a:t>”。</a:t>
            </a:r>
            <a:endParaRPr sz="1600"/>
          </a:p>
        </p:txBody>
      </p:sp>
      <p:sp>
        <p:nvSpPr>
          <p:cNvPr id="3" name="文本框 2"/>
          <p:cNvSpPr txBox="1"/>
          <p:nvPr/>
        </p:nvSpPr>
        <p:spPr>
          <a:xfrm>
            <a:off x="742950" y="1795780"/>
            <a:ext cx="7753985" cy="2061210"/>
          </a:xfrm>
          <a:prstGeom prst="rect">
            <a:avLst/>
          </a:prstGeom>
          <a:noFill/>
        </p:spPr>
        <p:txBody>
          <a:bodyPr wrap="square" rtlCol="0">
            <a:spAutoFit/>
          </a:bodyPr>
          <a:p>
            <a:r>
              <a:rPr lang="zh-CN" altLang="en-US" sz="1600"/>
              <a:t>童子军规则告诉我们在对现有代码库进行更改时，代码质量往往会降低，从而积累技术债务。所以需要</a:t>
            </a:r>
            <a:r>
              <a:rPr lang="zh-CN" altLang="en-US" sz="1600" b="1">
                <a:solidFill>
                  <a:srgbClr val="0070C0"/>
                </a:solidFill>
              </a:rPr>
              <a:t>始终保持代码整洁</a:t>
            </a:r>
            <a:r>
              <a:rPr lang="zh-CN" altLang="en-US" sz="1600"/>
              <a:t>。</a:t>
            </a:r>
            <a:endParaRPr lang="zh-CN" altLang="en-US" sz="1600"/>
          </a:p>
          <a:p>
            <a:endParaRPr lang="zh-CN" altLang="en-US" sz="1600"/>
          </a:p>
          <a:p>
            <a:r>
              <a:rPr lang="zh-CN" altLang="en-US" sz="1600"/>
              <a:t>不管原作者是谁，如果我们努力去改进代码模块，不管是多么小的改进，我们的软件系统就再也不会持续变坏了。取而代之的是，系统在发展的同时会逐渐变得更好。我们也会看到团队们关心整体的系统，而不是各自只关心自己负责的一小部分。而且团队成员要互助，互相清理代码，他们遵从童子军规则，因为那对每个人都很好，而不仅仅是对自己好。</a:t>
            </a:r>
            <a:endParaRPr lang="zh-CN" altLang="en-US" sz="1600"/>
          </a:p>
        </p:txBody>
      </p:sp>
      <p:sp>
        <p:nvSpPr>
          <p:cNvPr id="7" name="文本框 6"/>
          <p:cNvSpPr txBox="1"/>
          <p:nvPr/>
        </p:nvSpPr>
        <p:spPr>
          <a:xfrm>
            <a:off x="843280" y="4007485"/>
            <a:ext cx="7689215" cy="583565"/>
          </a:xfrm>
          <a:prstGeom prst="rect">
            <a:avLst/>
          </a:prstGeom>
          <a:noFill/>
        </p:spPr>
        <p:txBody>
          <a:bodyPr wrap="square" rtlCol="0">
            <a:spAutoFit/>
          </a:bodyPr>
          <a:p>
            <a:r>
              <a:rPr lang="zh-CN" altLang="en-US" sz="1600"/>
              <a:t>关于童子军规则中所提倡的</a:t>
            </a:r>
            <a:r>
              <a:rPr lang="zh-CN" altLang="en-US" sz="1600" b="1"/>
              <a:t>对代码坏味道的尽早修复</a:t>
            </a:r>
            <a:r>
              <a:rPr lang="zh-CN" altLang="en-US" sz="1600"/>
              <a:t>，我也想起来了我们所熟知的“</a:t>
            </a:r>
            <a:r>
              <a:rPr lang="zh-CN" altLang="en-US" sz="1600">
                <a:solidFill>
                  <a:srgbClr val="0070C0"/>
                </a:solidFill>
              </a:rPr>
              <a:t>破窗效应</a:t>
            </a:r>
            <a:r>
              <a:rPr lang="zh-CN" altLang="en-US" sz="1600"/>
              <a:t>”和“</a:t>
            </a:r>
            <a:r>
              <a:rPr lang="zh-CN" altLang="en-US" sz="1600">
                <a:solidFill>
                  <a:srgbClr val="0070C0"/>
                </a:solidFill>
              </a:rPr>
              <a:t>讳疾忌医</a:t>
            </a:r>
            <a:r>
              <a:rPr lang="zh-CN" altLang="en-US" sz="1600"/>
              <a:t>”的典故：</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to="" calcmode="lin" valueType="num">
                                      <p:cBhvr>
                                        <p:cTn id="17"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-Boy-Scout Rule</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6" name="文本框 5"/>
          <p:cNvSpPr txBox="1"/>
          <p:nvPr/>
        </p:nvSpPr>
        <p:spPr>
          <a:xfrm>
            <a:off x="742950" y="817245"/>
            <a:ext cx="8005445" cy="1137285"/>
          </a:xfrm>
          <a:prstGeom prst="rect">
            <a:avLst/>
          </a:prstGeom>
          <a:noFill/>
        </p:spPr>
        <p:txBody>
          <a:bodyPr wrap="square" rtlCol="0">
            <a:spAutoFit/>
          </a:bodyPr>
          <a:p>
            <a:r>
              <a:rPr sz="1600" b="1"/>
              <a:t>如果有人打坏了一幢建筑物的窗户玻璃，而这扇窗户又得不到及时的维修，别人就可能受到某些示范性的纵容去打烂更多的窗户。久而久之，这些破窗户就给人造成一种无序的感觉，结果在这种公众麻木不仁的氛围中，犯罪就会滋生、猖獗</a:t>
            </a:r>
            <a:r>
              <a:t>。——政治学家威尔逊和犯罪学家凯琳提出的“破窗效应”理论</a:t>
            </a:r>
          </a:p>
        </p:txBody>
      </p:sp>
      <p:pic>
        <p:nvPicPr>
          <p:cNvPr id="1026" name="Picture 2" descr="“破窗效应”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33390" y="2049145"/>
            <a:ext cx="3359150" cy="243141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831215" y="2120900"/>
            <a:ext cx="3812540" cy="953135"/>
          </a:xfrm>
          <a:prstGeom prst="rect">
            <a:avLst/>
          </a:prstGeom>
          <a:noFill/>
        </p:spPr>
        <p:txBody>
          <a:bodyPr wrap="square" rtlCol="0">
            <a:spAutoFit/>
          </a:bodyPr>
          <a:p>
            <a:r>
              <a:rPr lang="zh-CN" altLang="en-US" sz="1400"/>
              <a:t>- “环境早就脏了，我扔的这点儿垃圾根本起不到关键性作用。”</a:t>
            </a:r>
            <a:endParaRPr lang="zh-CN" altLang="en-US" sz="1400"/>
          </a:p>
          <a:p>
            <a:r>
              <a:rPr lang="zh-CN" altLang="en-US" sz="1400"/>
              <a:t>- “这个代码以前的其他人也都是这样写的。”</a:t>
            </a:r>
            <a:endParaRPr lang="zh-CN" altLang="en-US" sz="1400"/>
          </a:p>
          <a:p>
            <a:r>
              <a:rPr lang="zh-CN" altLang="en-US" sz="1400"/>
              <a:t>- “反正也不是只有我才这么写代码的。”</a:t>
            </a:r>
            <a:endParaRPr lang="zh-CN" altLang="en-US" sz="1400"/>
          </a:p>
        </p:txBody>
      </p:sp>
      <p:sp>
        <p:nvSpPr>
          <p:cNvPr id="9" name="文本框 8"/>
          <p:cNvSpPr txBox="1"/>
          <p:nvPr/>
        </p:nvSpPr>
        <p:spPr>
          <a:xfrm>
            <a:off x="790575" y="3441065"/>
            <a:ext cx="4429760" cy="1076325"/>
          </a:xfrm>
          <a:prstGeom prst="rect">
            <a:avLst/>
          </a:prstGeom>
          <a:noFill/>
        </p:spPr>
        <p:txBody>
          <a:bodyPr wrap="square" rtlCol="0">
            <a:spAutoFit/>
          </a:bodyPr>
          <a:p>
            <a:r>
              <a:rPr lang="zh-CN" altLang="en-US" sz="1600"/>
              <a:t>任何一种不良现象的存在，都有可能传递一种错误信息。进而导致更坏的后果，正所谓“</a:t>
            </a:r>
            <a:r>
              <a:rPr lang="zh-CN" altLang="en-US" sz="1600">
                <a:solidFill>
                  <a:srgbClr val="0070C0"/>
                </a:solidFill>
              </a:rPr>
              <a:t>千里之堤，溃于蚁穴</a:t>
            </a:r>
            <a:r>
              <a:rPr lang="zh-CN" altLang="en-US" sz="1600"/>
              <a:t>”、</a:t>
            </a:r>
            <a:r>
              <a:rPr lang="zh-CN" altLang="en-US" sz="1600">
                <a:solidFill>
                  <a:srgbClr val="0070C0"/>
                </a:solidFill>
              </a:rPr>
              <a:t>勿以善小而不为，勿以恶小而为之</a:t>
            </a:r>
            <a:r>
              <a:rPr lang="zh-CN" altLang="en-US" sz="1600"/>
              <a:t>。</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heckerboard(across)">
                                      <p:cBhvr>
                                        <p:cTn id="7" dur="500"/>
                                        <p:tgtEl>
                                          <p:spTgt spid="1026"/>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6" grpId="2"/>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-Boy-Scout Rule</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pic>
        <p:nvPicPr>
          <p:cNvPr id="3" name="图片 2"/>
          <p:cNvPicPr>
            <a:picLocks noChangeAspect="1"/>
          </p:cNvPicPr>
          <p:nvPr/>
        </p:nvPicPr>
        <p:blipFill>
          <a:blip r:embed="rId1"/>
          <a:stretch>
            <a:fillRect/>
          </a:stretch>
        </p:blipFill>
        <p:spPr>
          <a:xfrm>
            <a:off x="5719445" y="821055"/>
            <a:ext cx="3057525" cy="3851275"/>
          </a:xfrm>
          <a:prstGeom prst="rect">
            <a:avLst/>
          </a:prstGeom>
        </p:spPr>
      </p:pic>
      <p:sp>
        <p:nvSpPr>
          <p:cNvPr id="7" name="文本框 6"/>
          <p:cNvSpPr txBox="1"/>
          <p:nvPr/>
        </p:nvSpPr>
        <p:spPr>
          <a:xfrm>
            <a:off x="676910" y="848995"/>
            <a:ext cx="4759325" cy="2061210"/>
          </a:xfrm>
          <a:prstGeom prst="rect">
            <a:avLst/>
          </a:prstGeom>
          <a:noFill/>
        </p:spPr>
        <p:txBody>
          <a:bodyPr wrap="square" rtlCol="0">
            <a:spAutoFit/>
          </a:bodyPr>
          <a:p>
            <a:r>
              <a:rPr lang="zh-CN" altLang="en-US" sz="1600"/>
              <a:t>代码坏味道或者糟糕的程序代码就像隐形的“疾病”一样潜伏在项目中，也因此形成了技术债务。</a:t>
            </a:r>
            <a:endParaRPr lang="zh-CN" altLang="en-US" sz="1600"/>
          </a:p>
          <a:p>
            <a:endParaRPr lang="zh-CN" altLang="en-US" sz="1600"/>
          </a:p>
          <a:p>
            <a:r>
              <a:rPr lang="zh-CN" altLang="en-US" sz="1600"/>
              <a:t>如果这些“疾病”在项目初期不引起注关注、不把疾病扼杀在萌芽之中，那么后期修复它的代价也就越大，也必然会使得项目的软件程序越来越难以维护，这个项目也最终会像蔡桓公一样无药可治、“无奈何也”。</a:t>
            </a:r>
            <a:endParaRPr lang="zh-CN" altLang="en-US" sz="1600"/>
          </a:p>
        </p:txBody>
      </p:sp>
      <p:sp>
        <p:nvSpPr>
          <p:cNvPr id="10" name="文本框 9"/>
          <p:cNvSpPr txBox="1"/>
          <p:nvPr/>
        </p:nvSpPr>
        <p:spPr>
          <a:xfrm>
            <a:off x="684530" y="3319145"/>
            <a:ext cx="4751705" cy="922020"/>
          </a:xfrm>
          <a:prstGeom prst="rect">
            <a:avLst/>
          </a:prstGeom>
          <a:noFill/>
        </p:spPr>
        <p:txBody>
          <a:bodyPr wrap="square" rtlCol="0">
            <a:spAutoFit/>
          </a:bodyPr>
          <a:p>
            <a:r>
              <a:rPr lang="zh-CN" altLang="en-US"/>
              <a:t>所以，请记住童子军规则对我们的启示：</a:t>
            </a:r>
            <a:r>
              <a:rPr lang="zh-CN" altLang="en-US">
                <a:solidFill>
                  <a:srgbClr val="0070C0"/>
                </a:solidFill>
              </a:rPr>
              <a:t>始终保持代码整洁，勿以善小而不为，勿以恶小而为之，有病早治</a:t>
            </a:r>
            <a:r>
              <a:rPr lang="zh-CN" altLang="en-US"/>
              <a:t>。</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to="" calcmode="lin" valueType="num">
                                      <p:cBhvr>
                                        <p:cTn id="13" dur="1" fill="hold"/>
                                        <p:tgtEl>
                                          <p:spTgt spid="7"/>
                                        </p:tgtEl>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to="" calcmode="lin" valueType="num">
                                      <p:cBhvr>
                                        <p:cTn id="18" dur="1" fill="hold"/>
                                        <p:tgtEl>
                                          <p:spTgt spid="1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二、</a:t>
            </a:r>
            <a:r>
              <a:rPr lang="zh-CN" altLang="en-US"/>
              <a:t>通用设计原则</a:t>
            </a:r>
            <a:r>
              <a:rPr lang="en-US" altLang="zh-CN"/>
              <a:t>-</a:t>
            </a:r>
            <a:r>
              <a:rPr lang="zh-CN" altLang="en-US"/>
              <a:t>其它原则</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3646170"/>
          </a:xfrm>
          <a:prstGeom prst="rect">
            <a:avLst/>
          </a:prstGeom>
          <a:noFill/>
        </p:spPr>
        <p:txBody>
          <a:bodyPr wrap="square" rtlCol="0">
            <a:spAutoFit/>
          </a:bodyPr>
          <a:p>
            <a:pPr marL="285750" indent="-285750">
              <a:lnSpc>
                <a:spcPct val="150000"/>
              </a:lnSpc>
              <a:buFont typeface="Wingdings" panose="05000000000000000000" charset="0"/>
              <a:buChar char="Ø"/>
            </a:pPr>
            <a:r>
              <a:rPr lang="zh-CN" altLang="en-US" sz="1400"/>
              <a:t>避免过早优化（Avoid Premature Optimization）</a:t>
            </a:r>
            <a:endParaRPr lang="zh-CN" altLang="en-US" sz="1400"/>
          </a:p>
          <a:p>
            <a:pPr marL="285750" indent="-285750">
              <a:lnSpc>
                <a:spcPct val="150000"/>
              </a:lnSpc>
              <a:buFont typeface="Wingdings" panose="05000000000000000000" charset="0"/>
              <a:buChar char="Ø"/>
            </a:pPr>
            <a:r>
              <a:rPr lang="zh-CN" altLang="en-US" sz="1400"/>
              <a:t>最小惊讶原则(`Principle of least astonishment`)</a:t>
            </a:r>
            <a:endParaRPr lang="zh-CN" altLang="en-US" sz="1400"/>
          </a:p>
          <a:p>
            <a:pPr marL="285750" indent="-285750">
              <a:lnSpc>
                <a:spcPct val="150000"/>
              </a:lnSpc>
              <a:buFont typeface="Wingdings" panose="05000000000000000000" charset="0"/>
              <a:buChar char="Ø"/>
            </a:pPr>
            <a:r>
              <a:rPr lang="zh-CN" altLang="en-US" sz="1400"/>
              <a:t>代码重用原则（`Code Reuse is Good`）</a:t>
            </a:r>
            <a:endParaRPr lang="zh-CN" altLang="en-US" sz="1400"/>
          </a:p>
          <a:p>
            <a:pPr marL="285750" indent="-285750">
              <a:lnSpc>
                <a:spcPct val="150000"/>
              </a:lnSpc>
              <a:buFont typeface="Wingdings" panose="05000000000000000000" charset="0"/>
              <a:buChar char="Ø"/>
            </a:pPr>
            <a:r>
              <a:rPr lang="zh-CN" altLang="en-US" sz="1400"/>
              <a:t>别让我思考(`Don’t Make Me Think`)</a:t>
            </a:r>
            <a:endParaRPr lang="zh-CN" altLang="en-US" sz="1400"/>
          </a:p>
          <a:p>
            <a:pPr marL="285750" indent="-285750">
              <a:lnSpc>
                <a:spcPct val="150000"/>
              </a:lnSpc>
              <a:buFont typeface="Wingdings" panose="05000000000000000000" charset="0"/>
              <a:buChar char="Ø"/>
            </a:pPr>
            <a:r>
              <a:rPr lang="zh-CN" altLang="en-US" sz="1400"/>
              <a:t>为维护者写代码(`Write Code for the Maintainer`)</a:t>
            </a:r>
            <a:endParaRPr lang="zh-CN" altLang="en-US" sz="1400"/>
          </a:p>
          <a:p>
            <a:pPr marL="285750" indent="-285750">
              <a:lnSpc>
                <a:spcPct val="150000"/>
              </a:lnSpc>
              <a:buFont typeface="Wingdings" panose="05000000000000000000" charset="0"/>
              <a:buChar char="Ø"/>
            </a:pPr>
            <a:r>
              <a:rPr lang="zh-CN" altLang="en-US" sz="1400"/>
              <a:t>正交原则(Orthogonality)</a:t>
            </a:r>
            <a:endParaRPr lang="zh-CN" altLang="en-US" sz="1400"/>
          </a:p>
          <a:p>
            <a:pPr marL="285750" indent="-285750">
              <a:lnSpc>
                <a:spcPct val="150000"/>
              </a:lnSpc>
              <a:buFont typeface="Wingdings" panose="05000000000000000000" charset="0"/>
              <a:buChar char="Ø"/>
            </a:pPr>
            <a:r>
              <a:rPr lang="zh-CN" altLang="en-US" sz="1400"/>
              <a:t>做最简单的事儿就让代码可运行</a:t>
            </a:r>
            <a:endParaRPr lang="zh-CN" altLang="en-US" sz="1400"/>
          </a:p>
          <a:p>
            <a:pPr marL="285750" indent="-285750">
              <a:lnSpc>
                <a:spcPct val="150000"/>
              </a:lnSpc>
              <a:buFont typeface="Wingdings" panose="05000000000000000000" charset="0"/>
              <a:buChar char="Ø"/>
            </a:pPr>
            <a:r>
              <a:rPr lang="zh-CN" altLang="en-US" sz="1400"/>
              <a:t>隐藏实现细节（`Hide Implementation Details`）</a:t>
            </a:r>
            <a:endParaRPr lang="zh-CN" altLang="en-US" sz="1400"/>
          </a:p>
          <a:p>
            <a:pPr marL="285750" indent="-285750">
              <a:lnSpc>
                <a:spcPct val="150000"/>
              </a:lnSpc>
              <a:buFont typeface="Wingdings" panose="05000000000000000000" charset="0"/>
              <a:buChar char="Ø"/>
            </a:pPr>
            <a:r>
              <a:rPr lang="zh-CN" altLang="en-US" sz="1400"/>
              <a:t>科里定律(`Curly's Law`)</a:t>
            </a:r>
            <a:endParaRPr lang="zh-CN" altLang="en-US" sz="1400"/>
          </a:p>
          <a:p>
            <a:pPr marL="285750" indent="-285750">
              <a:lnSpc>
                <a:spcPct val="150000"/>
              </a:lnSpc>
              <a:buFont typeface="Wingdings" panose="05000000000000000000" charset="0"/>
              <a:buChar char="Ø"/>
            </a:pPr>
            <a:r>
              <a:rPr lang="zh-CN" altLang="en-US" sz="1400"/>
              <a:t>墨菲定律（`Murphy's Law`）:根本内容是：如果事情有变坏的可能，不管这种可能性有多小，它总会发生。</a:t>
            </a:r>
            <a:endParaRPr lang="zh-CN" altLang="en-US" sz="14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 to="" calcmode="lin" valueType="num">
                                      <p:cBhvr>
                                        <p:cTn id="12" dur="1" fill="hold"/>
                                        <p:tgtEl>
                                          <p:spTgt spid="7">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to="" calcmode="lin" valueType="num">
                                      <p:cBhvr>
                                        <p:cTn id="17" dur="1" fill="hold"/>
                                        <p:tgtEl>
                                          <p:spTgt spid="7">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 to="" calcmode="lin" valueType="num">
                                      <p:cBhvr>
                                        <p:cTn id="22" dur="1" fill="hold"/>
                                        <p:tgtEl>
                                          <p:spTgt spid="7">
                                            <p:txEl>
                                              <p:pRg st="2" end="2"/>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 to="" calcmode="lin" valueType="num">
                                      <p:cBhvr>
                                        <p:cTn id="27" dur="1" fill="hold"/>
                                        <p:tgtEl>
                                          <p:spTgt spid="7">
                                            <p:txEl>
                                              <p:pRg st="3" end="3"/>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 to="" calcmode="lin" valueType="num">
                                      <p:cBhvr>
                                        <p:cTn id="32" dur="1" fill="hold"/>
                                        <p:tgtEl>
                                          <p:spTgt spid="7">
                                            <p:txEl>
                                              <p:pRg st="4" end="4"/>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to="" calcmode="lin" valueType="num">
                                      <p:cBhvr>
                                        <p:cTn id="37" dur="1" fill="hold"/>
                                        <p:tgtEl>
                                          <p:spTgt spid="7">
                                            <p:txEl>
                                              <p:pRg st="5" end="5"/>
                                            </p:txEl>
                                          </p:spTgt>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 to="" calcmode="lin" valueType="num">
                                      <p:cBhvr>
                                        <p:cTn id="42" dur="1" fill="hold"/>
                                        <p:tgtEl>
                                          <p:spTgt spid="7">
                                            <p:txEl>
                                              <p:pRg st="6" end="6"/>
                                            </p:txEl>
                                          </p:spTgt>
                                        </p:tgtEl>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 to="" calcmode="lin" valueType="num">
                                      <p:cBhvr>
                                        <p:cTn id="47" dur="1" fill="hold"/>
                                        <p:tgtEl>
                                          <p:spTgt spid="7">
                                            <p:txEl>
                                              <p:pRg st="7" end="7"/>
                                            </p:txEl>
                                          </p:spTgt>
                                        </p:tgtEl>
                                      </p:cBhvr>
                                    </p:anim>
                                  </p:childTnLst>
                                </p:cTn>
                              </p:par>
                            </p:childTnLst>
                          </p:cTn>
                        </p:par>
                      </p:childTnLst>
                    </p:cTn>
                  </p:par>
                  <p:par>
                    <p:cTn id="48" fill="hold">
                      <p:stCondLst>
                        <p:cond delay="indefinite"/>
                      </p:stCondLst>
                      <p:childTnLst>
                        <p:par>
                          <p:cTn id="49" fill="hold">
                            <p:stCondLst>
                              <p:cond delay="0"/>
                            </p:stCondLst>
                            <p:childTnLst>
                              <p:par>
                                <p:cTn id="50" presetID="24" presetClass="entr" presetSubtype="0" fill="hold"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anim to="" calcmode="lin" valueType="num">
                                      <p:cBhvr>
                                        <p:cTn id="52" dur="1" fill="hold"/>
                                        <p:tgtEl>
                                          <p:spTgt spid="7">
                                            <p:txEl>
                                              <p:pRg st="8" end="8"/>
                                            </p:txEl>
                                          </p:spTgt>
                                        </p:tgtEl>
                                      </p:cBhvr>
                                    </p:anim>
                                  </p:childTnLst>
                                </p:cTn>
                              </p:par>
                            </p:childTnLst>
                          </p:cTn>
                        </p:par>
                      </p:childTnLst>
                    </p:cTn>
                  </p:par>
                  <p:par>
                    <p:cTn id="53" fill="hold">
                      <p:stCondLst>
                        <p:cond delay="indefinite"/>
                      </p:stCondLst>
                      <p:childTnLst>
                        <p:par>
                          <p:cTn id="54" fill="hold">
                            <p:stCondLst>
                              <p:cond delay="0"/>
                            </p:stCondLst>
                            <p:childTnLst>
                              <p:par>
                                <p:cTn id="55" presetID="24" presetClass="entr" presetSubtype="0" fill="hold" nodeType="click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anim to="" calcmode="lin" valueType="num">
                                      <p:cBhvr>
                                        <p:cTn id="57" dur="1" fill="hold"/>
                                        <p:tgtEl>
                                          <p:spTgt spid="7">
                                            <p:txEl>
                                              <p:pRg st="9" end="9"/>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-SRP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829945"/>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SRP</a:t>
            </a:r>
            <a:r>
              <a:rPr lang="zh-CN" altLang="en-US" sz="1600"/>
              <a:t>原则，即：</a:t>
            </a:r>
            <a:r>
              <a:rPr lang="zh-CN" altLang="en-US" sz="1600">
                <a:solidFill>
                  <a:srgbClr val="0070C0"/>
                </a:solidFill>
              </a:rPr>
              <a:t>Single Responsibility Principle</a:t>
            </a:r>
            <a:r>
              <a:rPr lang="zh-CN" altLang="en-US" sz="1600"/>
              <a:t>，</a:t>
            </a:r>
            <a:r>
              <a:rPr lang="zh-CN" altLang="en-US" sz="1600" b="1">
                <a:solidFill>
                  <a:srgbClr val="0070C0"/>
                </a:solidFill>
              </a:rPr>
              <a:t>单一职责原则</a:t>
            </a:r>
            <a:r>
              <a:rPr lang="zh-CN" altLang="en-US" sz="1600"/>
              <a:t>。原始定义如下：</a:t>
            </a:r>
            <a:r>
              <a:rPr lang="zh-CN" altLang="en-US" sz="1600" b="1"/>
              <a:t>There should never be more than one reason for a class to change.(只有一个引起类改变的原因。)</a:t>
            </a:r>
            <a:endParaRPr lang="zh-CN" altLang="en-US" sz="1600" b="1"/>
          </a:p>
        </p:txBody>
      </p:sp>
      <p:sp>
        <p:nvSpPr>
          <p:cNvPr id="3" name="文本框 2"/>
          <p:cNvSpPr txBox="1"/>
          <p:nvPr/>
        </p:nvSpPr>
        <p:spPr>
          <a:xfrm>
            <a:off x="705485" y="3037840"/>
            <a:ext cx="7971155" cy="1568450"/>
          </a:xfrm>
          <a:prstGeom prst="rect">
            <a:avLst/>
          </a:prstGeom>
          <a:noFill/>
        </p:spPr>
        <p:txBody>
          <a:bodyPr wrap="square" rtlCol="0">
            <a:spAutoFit/>
          </a:bodyPr>
          <a:p>
            <a:r>
              <a:rPr lang="zh-CN" altLang="en-US" sz="1600" b="1"/>
              <a:t>注意点</a:t>
            </a:r>
            <a:r>
              <a:rPr lang="zh-CN" altLang="en-US" sz="1600"/>
              <a:t>：</a:t>
            </a:r>
            <a:endParaRPr lang="zh-CN" altLang="en-US" sz="1600"/>
          </a:p>
          <a:p>
            <a:endParaRPr lang="zh-CN" altLang="en-US" sz="1600"/>
          </a:p>
          <a:p>
            <a:pPr marL="285750" indent="-285750">
              <a:buFont typeface="Wingdings" panose="05000000000000000000" charset="0"/>
              <a:buChar char="Ø"/>
            </a:pPr>
            <a:r>
              <a:rPr lang="zh-CN" altLang="en-US" sz="1600"/>
              <a:t>单一职责最难划分的是</a:t>
            </a:r>
            <a:r>
              <a:rPr lang="zh-CN" altLang="en-US" sz="1600" b="1"/>
              <a:t>职责</a:t>
            </a:r>
            <a:r>
              <a:rPr lang="zh-CN" altLang="en-US" sz="1600"/>
              <a:t>。</a:t>
            </a:r>
            <a:endParaRPr lang="zh-CN" altLang="en-US" sz="1600"/>
          </a:p>
          <a:p>
            <a:pPr marL="285750" indent="-285750">
              <a:buFont typeface="Wingdings" panose="05000000000000000000" charset="0"/>
              <a:buChar char="Ø"/>
            </a:pPr>
            <a:r>
              <a:rPr lang="zh-CN" altLang="en-US" sz="1600"/>
              <a:t>单一职责原则提出标准：用职责和变化原因来衡量接口或类设计的是否优良，但是职责和变化原因都是不可度量的，因项目、环境而异。</a:t>
            </a:r>
            <a:endParaRPr lang="zh-CN" altLang="en-US" sz="1600"/>
          </a:p>
          <a:p>
            <a:pPr marL="285750" indent="-285750">
              <a:buFont typeface="Wingdings" panose="05000000000000000000" charset="0"/>
              <a:buChar char="Ø"/>
            </a:pPr>
            <a:r>
              <a:rPr lang="zh-CN" altLang="en-US" sz="1600"/>
              <a:t>接口一定要做到单一职责，类的设计尽量做到只有一个原因引起它变化。</a:t>
            </a:r>
            <a:endParaRPr lang="zh-CN" altLang="en-US" sz="1600"/>
          </a:p>
        </p:txBody>
      </p:sp>
      <p:sp>
        <p:nvSpPr>
          <p:cNvPr id="6" name="文本框 5"/>
          <p:cNvSpPr txBox="1"/>
          <p:nvPr/>
        </p:nvSpPr>
        <p:spPr>
          <a:xfrm>
            <a:off x="705485" y="1847215"/>
            <a:ext cx="7683500" cy="1076325"/>
          </a:xfrm>
          <a:prstGeom prst="rect">
            <a:avLst/>
          </a:prstGeom>
          <a:noFill/>
        </p:spPr>
        <p:txBody>
          <a:bodyPr wrap="square" rtlCol="0">
            <a:spAutoFit/>
          </a:bodyPr>
          <a:p>
            <a:r>
              <a:rPr lang="zh-CN" altLang="en-US" sz="1600">
                <a:sym typeface="+mn-ea"/>
              </a:rPr>
              <a:t>在面向对象编程领域中，单一职责原则规定每个类都应该有一个单一的职责或者叫功能，并且该功能应该由这个类完全封装起来。所有它的（这个类的）服务都应该严密的和该功能平行（功能平行，意味着没有依赖）。一个类或者模块应该有且只有一个改变的原因。</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to="" calcmode="lin" valueType="num">
                                      <p:cBhvr>
                                        <p:cTn id="13" dur="1" fill="hold"/>
                                        <p:tgtEl>
                                          <p:spTgt spid="6"/>
                                        </p:tgtEl>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to="" calcmode="lin" valueType="num">
                                      <p:cBhvr>
                                        <p:cTn id="18"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-LSP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1076325"/>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LSP</a:t>
            </a:r>
            <a:r>
              <a:rPr lang="zh-CN" altLang="en-US" sz="1600"/>
              <a:t>原则，即：</a:t>
            </a:r>
            <a:r>
              <a:rPr lang="zh-CN" altLang="en-US" sz="1600">
                <a:solidFill>
                  <a:srgbClr val="0070C0"/>
                </a:solidFill>
              </a:rPr>
              <a:t>Liskov Substitution principle</a:t>
            </a:r>
            <a:r>
              <a:rPr lang="zh-CN" altLang="en-US" sz="1600"/>
              <a:t>，</a:t>
            </a:r>
            <a:r>
              <a:rPr lang="zh-CN" altLang="en-US" sz="1600" b="1">
                <a:solidFill>
                  <a:srgbClr val="0070C0"/>
                </a:solidFill>
              </a:rPr>
              <a:t>里氏替换原则</a:t>
            </a:r>
            <a:r>
              <a:rPr lang="zh-CN" altLang="en-US" sz="1600"/>
              <a:t>。原始定义如下：</a:t>
            </a:r>
            <a:r>
              <a:rPr lang="zh-CN" altLang="en-US" sz="1600" b="1"/>
              <a:t>Functions that use pointers of references to base classes must be able to use objects of derived classes without knowing it.（所有引用基类的地方必须能透明地使用其子类的对象）</a:t>
            </a:r>
            <a:endParaRPr lang="zh-CN" altLang="en-US" sz="1600" b="1"/>
          </a:p>
        </p:txBody>
      </p:sp>
      <p:sp>
        <p:nvSpPr>
          <p:cNvPr id="3" name="文本框 2"/>
          <p:cNvSpPr txBox="1"/>
          <p:nvPr/>
        </p:nvSpPr>
        <p:spPr>
          <a:xfrm>
            <a:off x="633730" y="2966085"/>
            <a:ext cx="7971155" cy="1568450"/>
          </a:xfrm>
          <a:prstGeom prst="rect">
            <a:avLst/>
          </a:prstGeom>
          <a:noFill/>
        </p:spPr>
        <p:txBody>
          <a:bodyPr wrap="square" rtlCol="0">
            <a:spAutoFit/>
          </a:bodyPr>
          <a:p>
            <a:r>
              <a:rPr lang="zh-CN" altLang="en-US" sz="1600"/>
              <a:t>里氏替换原则包含了一下4层含义：</a:t>
            </a:r>
            <a:endParaRPr lang="zh-CN" altLang="en-US" sz="1600"/>
          </a:p>
          <a:p>
            <a:endParaRPr lang="zh-CN" altLang="en-US" sz="1600"/>
          </a:p>
          <a:p>
            <a:pPr marL="285750" indent="-285750">
              <a:buFont typeface="Wingdings" panose="05000000000000000000" charset="0"/>
              <a:buChar char="Ø"/>
            </a:pPr>
            <a:r>
              <a:rPr lang="zh-CN" altLang="en-US" sz="1600"/>
              <a:t>子类必须完全实现父类的方法。</a:t>
            </a:r>
            <a:endParaRPr lang="zh-CN" altLang="en-US" sz="1600"/>
          </a:p>
          <a:p>
            <a:pPr marL="285750" indent="-285750">
              <a:buFont typeface="Wingdings" panose="05000000000000000000" charset="0"/>
              <a:buChar char="Ø"/>
            </a:pPr>
            <a:r>
              <a:rPr lang="zh-CN" altLang="en-US" sz="1600"/>
              <a:t>子类可以有自己的个性。</a:t>
            </a:r>
            <a:endParaRPr lang="zh-CN" altLang="en-US" sz="1600"/>
          </a:p>
          <a:p>
            <a:pPr marL="285750" indent="-285750">
              <a:buFont typeface="Wingdings" panose="05000000000000000000" charset="0"/>
              <a:buChar char="Ø"/>
            </a:pPr>
            <a:r>
              <a:rPr lang="zh-CN" altLang="en-US" sz="1600"/>
              <a:t>覆盖或实现父类的方法时输入参数可以被放大。</a:t>
            </a:r>
            <a:endParaRPr lang="zh-CN" altLang="en-US" sz="1600"/>
          </a:p>
          <a:p>
            <a:pPr marL="285750" indent="-285750">
              <a:buFont typeface="Wingdings" panose="05000000000000000000" charset="0"/>
              <a:buChar char="Ø"/>
            </a:pPr>
            <a:r>
              <a:rPr lang="zh-CN" altLang="en-US" sz="1600"/>
              <a:t>覆盖或实现父类的方法时输出结果可以被缩小。</a:t>
            </a:r>
            <a:endParaRPr lang="zh-CN" altLang="en-US" sz="1600"/>
          </a:p>
        </p:txBody>
      </p:sp>
      <p:sp>
        <p:nvSpPr>
          <p:cNvPr id="6" name="文本框 5"/>
          <p:cNvSpPr txBox="1"/>
          <p:nvPr/>
        </p:nvSpPr>
        <p:spPr>
          <a:xfrm>
            <a:off x="642620" y="2205990"/>
            <a:ext cx="7683500" cy="337185"/>
          </a:xfrm>
          <a:prstGeom prst="rect">
            <a:avLst/>
          </a:prstGeom>
          <a:noFill/>
        </p:spPr>
        <p:txBody>
          <a:bodyPr wrap="square" rtlCol="0">
            <a:spAutoFit/>
          </a:bodyPr>
          <a:p>
            <a:r>
              <a:rPr lang="zh-CN" altLang="en-US" sz="1600">
                <a:sym typeface="+mn-ea"/>
              </a:rPr>
              <a:t>更通俗的定义即为：</a:t>
            </a:r>
            <a:r>
              <a:rPr lang="zh-CN" altLang="en-US" sz="1600">
                <a:solidFill>
                  <a:srgbClr val="0070C0"/>
                </a:solidFill>
                <a:sym typeface="+mn-ea"/>
              </a:rPr>
              <a:t>子类可以扩展父类的功能，但不能改变父类原有的功能</a:t>
            </a:r>
            <a:r>
              <a:rPr lang="zh-CN" altLang="en-US" sz="1600">
                <a:sym typeface="+mn-ea"/>
              </a:rPr>
              <a:t>。</a:t>
            </a:r>
            <a:endParaRPr lang="zh-CN" altLang="en-US" sz="160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to="" calcmode="lin" valueType="num">
                                      <p:cBhvr>
                                        <p:cTn id="14" dur="1" fill="hold"/>
                                        <p:tgtEl>
                                          <p:spTgt spid="6"/>
                                        </p:tgtEl>
                                      </p:cBhvr>
                                    </p:anim>
                                  </p:childTnLst>
                                </p:cTn>
                              </p:par>
                            </p:childTnLst>
                          </p:cTn>
                        </p:par>
                      </p:childTnLst>
                    </p:cTn>
                  </p:par>
                  <p:par>
                    <p:cTn id="15" fill="hold">
                      <p:stCondLst>
                        <p:cond delay="indefinite"/>
                      </p:stCondLst>
                      <p:childTnLst>
                        <p:par>
                          <p:cTn id="16" fill="hold">
                            <p:stCondLst>
                              <p:cond delay="0"/>
                            </p:stCondLst>
                            <p:childTnLst>
                              <p:par>
                                <p:cTn id="17" presetID="24"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to="" calcmode="lin" valueType="num">
                                      <p:cBhvr>
                                        <p:cTn id="19"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-ISP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1568450"/>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ISP</a:t>
            </a:r>
            <a:r>
              <a:rPr lang="zh-CN" altLang="en-US" sz="1600"/>
              <a:t>原则，即：</a:t>
            </a:r>
            <a:r>
              <a:rPr lang="zh-CN" altLang="en-US" sz="1600">
                <a:solidFill>
                  <a:srgbClr val="0070C0"/>
                </a:solidFill>
              </a:rPr>
              <a:t>Interface Segregation Principle</a:t>
            </a:r>
            <a:r>
              <a:rPr lang="zh-CN" altLang="en-US" sz="1600"/>
              <a:t>`，</a:t>
            </a:r>
            <a:r>
              <a:rPr lang="zh-CN" altLang="en-US" sz="1600" b="1">
                <a:solidFill>
                  <a:srgbClr val="0070C0"/>
                </a:solidFill>
              </a:rPr>
              <a:t>接口隔离原则</a:t>
            </a:r>
            <a:r>
              <a:rPr lang="zh-CN" altLang="en-US" sz="1600"/>
              <a:t>。原始定义如下：</a:t>
            </a:r>
            <a:endParaRPr lang="zh-CN" altLang="en-US" sz="1600"/>
          </a:p>
          <a:p>
            <a:pPr indent="0">
              <a:lnSpc>
                <a:spcPct val="100000"/>
              </a:lnSpc>
              <a:buFont typeface="Wingdings" panose="05000000000000000000" charset="0"/>
              <a:buNone/>
            </a:pPr>
            <a:endParaRPr lang="zh-CN" altLang="en-US" sz="800"/>
          </a:p>
          <a:p>
            <a:pPr indent="0">
              <a:lnSpc>
                <a:spcPct val="100000"/>
              </a:lnSpc>
              <a:buFont typeface="Wingdings" panose="05000000000000000000" charset="0"/>
              <a:buNone/>
            </a:pPr>
            <a:r>
              <a:rPr lang="zh-CN" altLang="en-US" sz="1600"/>
              <a:t>Clients should not be forced to depend upon interfaces that they do not use.(</a:t>
            </a:r>
            <a:r>
              <a:rPr lang="zh-CN" altLang="en-US" sz="1600" b="1"/>
              <a:t>客户端只依赖于它所需要的接口；它需要什么接口就提供什么接口，把不需要的接口剔除掉。)</a:t>
            </a:r>
            <a:endParaRPr lang="zh-CN" altLang="en-US" sz="1600"/>
          </a:p>
          <a:p>
            <a:pPr indent="0">
              <a:lnSpc>
                <a:spcPct val="100000"/>
              </a:lnSpc>
              <a:buFont typeface="Wingdings" panose="05000000000000000000" charset="0"/>
              <a:buNone/>
            </a:pPr>
            <a:endParaRPr lang="zh-CN" altLang="en-US" sz="800"/>
          </a:p>
          <a:p>
            <a:pPr indent="0">
              <a:lnSpc>
                <a:spcPct val="100000"/>
              </a:lnSpc>
              <a:buFont typeface="Wingdings" panose="05000000000000000000" charset="0"/>
              <a:buNone/>
            </a:pPr>
            <a:r>
              <a:rPr lang="zh-CN" altLang="en-US" sz="1600"/>
              <a:t>The dependency of one class to another one should depend on the smallest possible interface.(</a:t>
            </a:r>
            <a:r>
              <a:rPr lang="zh-CN" altLang="en-US" sz="1600" b="1"/>
              <a:t>类间的依赖关系应建立在最小的接口上。</a:t>
            </a:r>
            <a:r>
              <a:rPr lang="zh-CN" altLang="en-US" sz="1600"/>
              <a:t>)</a:t>
            </a:r>
            <a:endParaRPr lang="zh-CN" altLang="en-US" sz="1600"/>
          </a:p>
        </p:txBody>
      </p:sp>
      <p:sp>
        <p:nvSpPr>
          <p:cNvPr id="3" name="文本框 2"/>
          <p:cNvSpPr txBox="1"/>
          <p:nvPr/>
        </p:nvSpPr>
        <p:spPr>
          <a:xfrm>
            <a:off x="633730" y="2894330"/>
            <a:ext cx="7971155" cy="1076325"/>
          </a:xfrm>
          <a:prstGeom prst="rect">
            <a:avLst/>
          </a:prstGeom>
          <a:noFill/>
        </p:spPr>
        <p:txBody>
          <a:bodyPr wrap="square" rtlCol="0">
            <a:spAutoFit/>
          </a:bodyPr>
          <a:p>
            <a:r>
              <a:rPr lang="zh-CN" altLang="en-US" sz="1600" b="1">
                <a:solidFill>
                  <a:srgbClr val="0070C0"/>
                </a:solidFill>
              </a:rPr>
              <a:t>接口尽量细化，接口中的方法尽量少</a:t>
            </a:r>
            <a:r>
              <a:rPr lang="zh-CN" altLang="en-US" sz="1600"/>
              <a:t>。接口隔离原则与单一职责原则的审视角度是不同的，单一职责原则要求的是类和接口职责单一，注重的是职责，这是业务逻辑上的划分，而接口隔离原则要求接口的方法尽量少。根据接口隔离原则拆分接口时，首先必须满足单一职责原则。</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45">
                                          <p:stCondLst>
                                            <p:cond delay="0"/>
                                          </p:stCondLst>
                                        </p:cTn>
                                        <p:tgtEl>
                                          <p:spTgt spid="7"/>
                                        </p:tgtEl>
                                      </p:cBhvr>
                                    </p:animEffect>
                                    <p:anim calcmode="lin" valueType="num">
                                      <p:cBhvr>
                                        <p:cTn id="8" dur="456"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7"/>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7"/>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7"/>
                                        </p:tgtEl>
                                        <p:attrNameLst>
                                          <p:attrName>ppt_y</p:attrName>
                                        </p:attrNameLst>
                                      </p:cBhvr>
                                      <p:tavLst>
                                        <p:tav tm="0" fmla="#ppt_y-sin(pi*$)/81">
                                          <p:val>
                                            <p:fltVal val="0"/>
                                          </p:val>
                                        </p:tav>
                                        <p:tav tm="100000">
                                          <p:val>
                                            <p:fltVal val="1"/>
                                          </p:val>
                                        </p:tav>
                                      </p:tavLst>
                                    </p:anim>
                                    <p:animScale>
                                      <p:cBhvr>
                                        <p:cTn id="13" dur="7">
                                          <p:stCondLst>
                                            <p:cond delay="163"/>
                                          </p:stCondLst>
                                        </p:cTn>
                                        <p:tgtEl>
                                          <p:spTgt spid="7"/>
                                        </p:tgtEl>
                                      </p:cBhvr>
                                      <p:to x="100000" y="60000"/>
                                    </p:animScale>
                                    <p:animScale>
                                      <p:cBhvr>
                                        <p:cTn id="14" dur="42" decel="50000">
                                          <p:stCondLst>
                                            <p:cond delay="169"/>
                                          </p:stCondLst>
                                        </p:cTn>
                                        <p:tgtEl>
                                          <p:spTgt spid="7"/>
                                        </p:tgtEl>
                                      </p:cBhvr>
                                      <p:to x="100000" y="100000"/>
                                    </p:animScale>
                                    <p:animScale>
                                      <p:cBhvr>
                                        <p:cTn id="15" dur="7">
                                          <p:stCondLst>
                                            <p:cond delay="328"/>
                                          </p:stCondLst>
                                        </p:cTn>
                                        <p:tgtEl>
                                          <p:spTgt spid="7"/>
                                        </p:tgtEl>
                                      </p:cBhvr>
                                      <p:to x="100000" y="80000"/>
                                    </p:animScale>
                                    <p:animScale>
                                      <p:cBhvr>
                                        <p:cTn id="16" dur="42" decel="50000">
                                          <p:stCondLst>
                                            <p:cond delay="335"/>
                                          </p:stCondLst>
                                        </p:cTn>
                                        <p:tgtEl>
                                          <p:spTgt spid="7"/>
                                        </p:tgtEl>
                                      </p:cBhvr>
                                      <p:to x="100000" y="100000"/>
                                    </p:animScale>
                                    <p:animScale>
                                      <p:cBhvr>
                                        <p:cTn id="17" dur="7">
                                          <p:stCondLst>
                                            <p:cond delay="411"/>
                                          </p:stCondLst>
                                        </p:cTn>
                                        <p:tgtEl>
                                          <p:spTgt spid="7"/>
                                        </p:tgtEl>
                                      </p:cBhvr>
                                      <p:to x="100000" y="90000"/>
                                    </p:animScale>
                                    <p:animScale>
                                      <p:cBhvr>
                                        <p:cTn id="18" dur="42" decel="50000">
                                          <p:stCondLst>
                                            <p:cond delay="417"/>
                                          </p:stCondLst>
                                        </p:cTn>
                                        <p:tgtEl>
                                          <p:spTgt spid="7"/>
                                        </p:tgtEl>
                                      </p:cBhvr>
                                      <p:to x="100000" y="100000"/>
                                    </p:animScale>
                                    <p:animScale>
                                      <p:cBhvr>
                                        <p:cTn id="19" dur="7">
                                          <p:stCondLst>
                                            <p:cond delay="452"/>
                                          </p:stCondLst>
                                        </p:cTn>
                                        <p:tgtEl>
                                          <p:spTgt spid="7"/>
                                        </p:tgtEl>
                                      </p:cBhvr>
                                      <p:to x="100000" y="95000"/>
                                    </p:animScale>
                                    <p:animScale>
                                      <p:cBhvr>
                                        <p:cTn id="20" dur="42" decel="50000">
                                          <p:stCondLst>
                                            <p:cond delay="459"/>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to="" calcmode="lin" valueType="num">
                                      <p:cBhvr>
                                        <p:cTn id="25"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-ISP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1568450"/>
          </a:xfrm>
          <a:prstGeom prst="rect">
            <a:avLst/>
          </a:prstGeom>
          <a:noFill/>
        </p:spPr>
        <p:txBody>
          <a:bodyPr wrap="square" rtlCol="0">
            <a:spAutoFit/>
          </a:bodyPr>
          <a:p>
            <a:pPr indent="0">
              <a:lnSpc>
                <a:spcPct val="100000"/>
              </a:lnSpc>
              <a:buFont typeface="Wingdings" panose="05000000000000000000" charset="0"/>
              <a:buNone/>
            </a:pPr>
            <a:r>
              <a:rPr lang="zh-CN" altLang="en-US" sz="1600"/>
              <a:t>要注意以下几点：</a:t>
            </a:r>
            <a:endParaRPr lang="zh-CN" altLang="en-US" sz="1600"/>
          </a:p>
          <a:p>
            <a:pPr indent="0">
              <a:lnSpc>
                <a:spcPct val="100000"/>
              </a:lnSpc>
              <a:buFont typeface="Wingdings" panose="05000000000000000000" charset="0"/>
              <a:buNone/>
            </a:pPr>
            <a:endParaRPr lang="zh-CN" altLang="en-US" sz="1600"/>
          </a:p>
          <a:p>
            <a:pPr marL="285750" indent="-285750">
              <a:lnSpc>
                <a:spcPct val="100000"/>
              </a:lnSpc>
              <a:buFont typeface="Wingdings" panose="05000000000000000000" charset="0"/>
              <a:buChar char="Ø"/>
            </a:pPr>
            <a:r>
              <a:rPr lang="zh-CN" altLang="en-US" sz="1600"/>
              <a:t>接口尽量小，但是要有限度。</a:t>
            </a:r>
            <a:endParaRPr lang="zh-CN" altLang="en-US" sz="1600"/>
          </a:p>
          <a:p>
            <a:pPr marL="285750" indent="-285750">
              <a:lnSpc>
                <a:spcPct val="100000"/>
              </a:lnSpc>
              <a:buFont typeface="Wingdings" panose="05000000000000000000" charset="0"/>
              <a:buChar char="Ø"/>
            </a:pPr>
            <a:r>
              <a:rPr lang="zh-CN" altLang="en-US" sz="1600"/>
              <a:t>为依赖接口的类定制服务，只暴露给调用的类它需要的方法，它不需要的方法则隐藏起来。</a:t>
            </a:r>
            <a:endParaRPr lang="zh-CN" altLang="en-US" sz="1600"/>
          </a:p>
          <a:p>
            <a:pPr marL="285750" indent="-285750">
              <a:lnSpc>
                <a:spcPct val="100000"/>
              </a:lnSpc>
              <a:buFont typeface="Wingdings" panose="05000000000000000000" charset="0"/>
              <a:buChar char="Ø"/>
            </a:pPr>
            <a:r>
              <a:rPr lang="zh-CN" altLang="en-US" sz="1600"/>
              <a:t>提高内聚，减少对外交互。</a:t>
            </a:r>
            <a:endParaRPr lang="zh-CN" altLang="en-US" sz="1600"/>
          </a:p>
        </p:txBody>
      </p:sp>
      <p:sp>
        <p:nvSpPr>
          <p:cNvPr id="3" name="文本框 2"/>
          <p:cNvSpPr txBox="1"/>
          <p:nvPr/>
        </p:nvSpPr>
        <p:spPr>
          <a:xfrm>
            <a:off x="633730" y="3181350"/>
            <a:ext cx="7971155" cy="583565"/>
          </a:xfrm>
          <a:prstGeom prst="rect">
            <a:avLst/>
          </a:prstGeom>
          <a:noFill/>
        </p:spPr>
        <p:txBody>
          <a:bodyPr wrap="square" rtlCol="0">
            <a:spAutoFit/>
          </a:bodyPr>
          <a:p>
            <a:r>
              <a:rPr lang="zh-CN" altLang="en-US" sz="1600"/>
              <a:t>我的理解</a:t>
            </a:r>
            <a:r>
              <a:rPr lang="zh-CN" altLang="en-US" sz="1600">
                <a:solidFill>
                  <a:srgbClr val="0070C0"/>
                </a:solidFill>
              </a:rPr>
              <a:t>：运用接口隔离原则，一定要适度，接口设计的过大或过小都不好</a:t>
            </a:r>
            <a:r>
              <a:rPr lang="zh-CN" altLang="en-US" sz="1600"/>
              <a:t>。设计接口的时候，只有多花些时间去思考和筹划，才能准确地实践这一原则。</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 to="" calcmode="lin" valueType="num">
                                      <p:cBhvr>
                                        <p:cTn id="14" dur="1" fill="hold"/>
                                        <p:tgtEl>
                                          <p:spTgt spid="7">
                                            <p:txEl>
                                              <p:pRg st="2" end="2"/>
                                            </p:txEl>
                                          </p:spTgt>
                                        </p:tgtEl>
                                      </p:cBhvr>
                                    </p:anim>
                                  </p:childTnLst>
                                </p:cTn>
                              </p:par>
                            </p:childTnLst>
                          </p:cTn>
                        </p:par>
                      </p:childTnLst>
                    </p:cTn>
                  </p:par>
                  <p:par>
                    <p:cTn id="15" fill="hold">
                      <p:stCondLst>
                        <p:cond delay="indefinite"/>
                      </p:stCondLst>
                      <p:childTnLst>
                        <p:par>
                          <p:cTn id="16" fill="hold">
                            <p:stCondLst>
                              <p:cond delay="0"/>
                            </p:stCondLst>
                            <p:childTnLst>
                              <p:par>
                                <p:cTn id="17" presetID="24"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to="" calcmode="lin" valueType="num">
                                      <p:cBhvr>
                                        <p:cTn id="19" dur="1" fill="hold"/>
                                        <p:tgtEl>
                                          <p:spTgt spid="7">
                                            <p:txEl>
                                              <p:pRg st="3" end="3"/>
                                            </p:txEl>
                                          </p:spTgt>
                                        </p:tgtEl>
                                      </p:cBhvr>
                                    </p:anim>
                                  </p:childTnLst>
                                </p:cTn>
                              </p:par>
                            </p:childTnLst>
                          </p:cTn>
                        </p:par>
                      </p:childTnLst>
                    </p:cTn>
                  </p:par>
                  <p:par>
                    <p:cTn id="20" fill="hold">
                      <p:stCondLst>
                        <p:cond delay="indefinite"/>
                      </p:stCondLst>
                      <p:childTnLst>
                        <p:par>
                          <p:cTn id="21" fill="hold">
                            <p:stCondLst>
                              <p:cond delay="0"/>
                            </p:stCondLst>
                            <p:childTnLst>
                              <p:par>
                                <p:cTn id="22" presetID="24" presetClass="entr" presetSubtype="0" fill="hold" nodeType="click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 to="" calcmode="lin" valueType="num">
                                      <p:cBhvr>
                                        <p:cTn id="24" dur="1" fill="hold"/>
                                        <p:tgtEl>
                                          <p:spTgt spid="7">
                                            <p:txEl>
                                              <p:pRg st="4" end="4"/>
                                            </p:txEl>
                                          </p:spTgt>
                                        </p:tgtEl>
                                      </p:cBhvr>
                                    </p:anim>
                                  </p:childTnLst>
                                </p:cTn>
                              </p:par>
                            </p:childTnLst>
                          </p:cTn>
                        </p:par>
                      </p:childTnLst>
                    </p:cTn>
                  </p:par>
                  <p:par>
                    <p:cTn id="25" fill="hold">
                      <p:stCondLst>
                        <p:cond delay="indefinite"/>
                      </p:stCondLst>
                      <p:childTnLst>
                        <p:par>
                          <p:cTn id="26" fill="hold">
                            <p:stCondLst>
                              <p:cond delay="0"/>
                            </p:stCondLst>
                            <p:childTnLst>
                              <p:par>
                                <p:cTn id="27" presetID="24"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to="" calcmode="lin" valueType="num">
                                      <p:cBhvr>
                                        <p:cTn id="29"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-OCP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920750"/>
            <a:ext cx="7955915" cy="1076325"/>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OCP</a:t>
            </a:r>
            <a:r>
              <a:rPr lang="zh-CN" altLang="en-US" sz="1600"/>
              <a:t>原则，即：</a:t>
            </a:r>
            <a:r>
              <a:rPr lang="zh-CN" altLang="en-US" sz="1600">
                <a:solidFill>
                  <a:srgbClr val="0070C0"/>
                </a:solidFill>
              </a:rPr>
              <a:t>Open Closed Principle</a:t>
            </a:r>
            <a:r>
              <a:rPr lang="zh-CN" altLang="en-US" sz="1600"/>
              <a:t>，</a:t>
            </a:r>
            <a:r>
              <a:rPr lang="zh-CN" altLang="en-US" sz="1600" b="1"/>
              <a:t>开闭原则</a:t>
            </a:r>
            <a:r>
              <a:rPr lang="zh-CN" altLang="en-US" sz="1600"/>
              <a:t>。原始定义如下：</a:t>
            </a:r>
            <a:endParaRPr lang="zh-CN" altLang="en-US" sz="1600"/>
          </a:p>
          <a:p>
            <a:pPr indent="0">
              <a:lnSpc>
                <a:spcPct val="100000"/>
              </a:lnSpc>
              <a:buFont typeface="Wingdings" panose="05000000000000000000" charset="0"/>
              <a:buNone/>
            </a:pPr>
            <a:endParaRPr lang="zh-CN" altLang="en-US" sz="1600"/>
          </a:p>
          <a:p>
            <a:pPr indent="0">
              <a:lnSpc>
                <a:spcPct val="100000"/>
              </a:lnSpc>
              <a:buFont typeface="Wingdings" panose="05000000000000000000" charset="0"/>
              <a:buNone/>
            </a:pPr>
            <a:r>
              <a:rPr lang="zh-CN" altLang="en-US" sz="1600"/>
              <a:t>&gt; software entities (classes, modules, functions, etc.) should be open for extension, but closed for modification.(</a:t>
            </a:r>
            <a:r>
              <a:rPr lang="zh-CN" altLang="en-US" sz="1600" b="1">
                <a:solidFill>
                  <a:srgbClr val="0070C0"/>
                </a:solidFill>
              </a:rPr>
              <a:t>对扩展开放，对修改关闭</a:t>
            </a:r>
            <a:r>
              <a:rPr lang="zh-CN" altLang="en-US" sz="1600"/>
              <a:t>)</a:t>
            </a:r>
            <a:endParaRPr lang="zh-CN" altLang="en-US" sz="1600"/>
          </a:p>
        </p:txBody>
      </p:sp>
      <p:sp>
        <p:nvSpPr>
          <p:cNvPr id="3" name="文本框 2"/>
          <p:cNvSpPr txBox="1"/>
          <p:nvPr/>
        </p:nvSpPr>
        <p:spPr>
          <a:xfrm>
            <a:off x="633730" y="2248535"/>
            <a:ext cx="7971155" cy="1322070"/>
          </a:xfrm>
          <a:prstGeom prst="rect">
            <a:avLst/>
          </a:prstGeom>
          <a:noFill/>
        </p:spPr>
        <p:txBody>
          <a:bodyPr wrap="square" rtlCol="0">
            <a:spAutoFit/>
          </a:bodyPr>
          <a:p>
            <a:r>
              <a:rPr lang="zh-CN" altLang="en-US" sz="1600"/>
              <a:t>一个软件应该通过扩展来实现变化，而不是通过修改已有的代码来实现变化的。软件系统中包含的各种组件，例如模块（`Module`）、类（`Class`）以及功能（`Function`）等等，应该在不修改现有代码的基础上，引入新功能。</a:t>
            </a:r>
            <a:r>
              <a:rPr lang="zh-CN" altLang="en-US" sz="1600" b="1"/>
              <a:t>开闭原则中“开”，是指对于组件功能的扩展是开放的，是允许对其进行功能扩展的；开闭原则中“闭”，是指对于原有代码的修改是封闭的。</a:t>
            </a:r>
            <a:endParaRPr lang="zh-CN" altLang="en-US" sz="1600" b="1"/>
          </a:p>
        </p:txBody>
      </p:sp>
      <p:sp>
        <p:nvSpPr>
          <p:cNvPr id="6" name="文本框 5"/>
          <p:cNvSpPr txBox="1"/>
          <p:nvPr/>
        </p:nvSpPr>
        <p:spPr>
          <a:xfrm>
            <a:off x="701040" y="3874770"/>
            <a:ext cx="7780655" cy="368300"/>
          </a:xfrm>
          <a:prstGeom prst="rect">
            <a:avLst/>
          </a:prstGeom>
          <a:noFill/>
        </p:spPr>
        <p:txBody>
          <a:bodyPr wrap="square" rtlCol="0">
            <a:spAutoFit/>
          </a:bodyPr>
          <a:p>
            <a:r>
              <a:rPr lang="zh-CN" altLang="en-US"/>
              <a:t>实现开闭原则的关键就在于“</a:t>
            </a:r>
            <a:r>
              <a:rPr lang="zh-CN" altLang="en-US" b="1">
                <a:solidFill>
                  <a:srgbClr val="0070C0"/>
                </a:solidFill>
              </a:rPr>
              <a:t>抽象</a:t>
            </a:r>
            <a:r>
              <a:rPr lang="zh-CN" altLang="en-US"/>
              <a:t>”。</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3" presetClass="entr" presetSubtype="0" fill="hold" grpId="2"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
                                        <p:tgtEl>
                                          <p:spTgt spid="7"/>
                                        </p:tgtEl>
                                      </p:cBhvr>
                                    </p:animEffect>
                                    <p:anim calcmode="lin" valueType="num">
                                      <p:cBhvr>
                                        <p:cTn id="8" dur="200" fill="hold"/>
                                        <p:tgtEl>
                                          <p:spTgt spid="7"/>
                                        </p:tgtEl>
                                        <p:attrNameLst>
                                          <p:attrName>ppt_x</p:attrName>
                                        </p:attrNameLst>
                                      </p:cBhvr>
                                      <p:tavLst>
                                        <p:tav tm="0">
                                          <p:val>
                                            <p:strVal val="#ppt_x"/>
                                          </p:val>
                                        </p:tav>
                                        <p:tav tm="100000">
                                          <p:val>
                                            <p:strVal val="#ppt_x"/>
                                          </p:val>
                                        </p:tav>
                                      </p:tavLst>
                                    </p:anim>
                                    <p:anim calcmode="lin" valueType="num">
                                      <p:cBhvr>
                                        <p:cTn id="9" dur="200" fill="hold"/>
                                        <p:tgtEl>
                                          <p:spTgt spid="7"/>
                                        </p:tgtEl>
                                        <p:attrNameLst>
                                          <p:attrName>ppt_y</p:attrName>
                                        </p:attrNameLst>
                                      </p:cBhvr>
                                      <p:tavLst>
                                        <p:tav tm="0">
                                          <p:val>
                                            <p:strVal val="#ppt_y+0.31"/>
                                          </p:val>
                                        </p:tav>
                                        <p:tav tm="100000">
                                          <p:val>
                                            <p:strVal val="#ppt_y+0.31"/>
                                          </p:val>
                                        </p:tav>
                                      </p:tavLst>
                                    </p:anim>
                                    <p:anim calcmode="lin" valueType="num">
                                      <p:cBhvr>
                                        <p:cTn id="10" dur="300" decel="50000" fill="hold">
                                          <p:stCondLst>
                                            <p:cond delay="200"/>
                                          </p:stCondLst>
                                        </p:cTn>
                                        <p:tgtEl>
                                          <p:spTgt spid="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300" decel="50000" fill="hold">
                                          <p:stCondLst>
                                            <p:cond delay="200"/>
                                          </p:stCondLst>
                                        </p:cTn>
                                        <p:tgtEl>
                                          <p:spTgt spid="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4" presetClass="entr" presetSubtype="0" fill="hold" grpId="1" nodeType="clickEffect">
                                  <p:stCondLst>
                                    <p:cond delay="0"/>
                                  </p:stCondLst>
                                  <p:childTnLst>
                                    <p:set>
                                      <p:cBhvr>
                                        <p:cTn id="15" dur="1" fill="hold">
                                          <p:stCondLst>
                                            <p:cond delay="0"/>
                                          </p:stCondLst>
                                        </p:cTn>
                                        <p:tgtEl>
                                          <p:spTgt spid="3"/>
                                        </p:tgtEl>
                                        <p:attrNameLst>
                                          <p:attrName>style.visibility</p:attrName>
                                        </p:attrNameLst>
                                      </p:cBhvr>
                                      <p:to>
                                        <p:strVal val="visible"/>
                                      </p:to>
                                    </p:set>
                                    <p:anim to="" calcmode="lin" valueType="num">
                                      <p:cBhvr>
                                        <p:cTn id="16" dur="1" fill="hold"/>
                                        <p:tgtEl>
                                          <p:spTgt spid="3"/>
                                        </p:tgtEl>
                                      </p:cBhvr>
                                    </p:anim>
                                  </p:childTnLst>
                                </p:cTn>
                              </p:par>
                            </p:childTnLst>
                          </p:cTn>
                        </p:par>
                      </p:childTnLst>
                    </p:cTn>
                  </p:par>
                  <p:par>
                    <p:cTn id="17" fill="hold">
                      <p:stCondLst>
                        <p:cond delay="indefinite"/>
                      </p:stCondLst>
                      <p:childTnLst>
                        <p:par>
                          <p:cTn id="18" fill="hold">
                            <p:stCondLst>
                              <p:cond delay="0"/>
                            </p:stCondLst>
                            <p:childTnLst>
                              <p:par>
                                <p:cTn id="19" presetID="24"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to="" calcmode="lin" valueType="num">
                                      <p:cBhvr>
                                        <p:cTn id="21" dur="1" fill="hold"/>
                                        <p:tgtEl>
                                          <p:spTgt spid="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7" grpId="2"/>
      <p:bldP spid="3" grpId="0"/>
      <p:bldP spid="3" grpId="1"/>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-DIP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1568450"/>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DIP</a:t>
            </a:r>
            <a:r>
              <a:rPr lang="zh-CN" altLang="en-US" sz="1600"/>
              <a:t>原则，即：</a:t>
            </a:r>
            <a:r>
              <a:rPr lang="zh-CN" altLang="en-US" sz="1600">
                <a:solidFill>
                  <a:srgbClr val="0070C0"/>
                </a:solidFill>
              </a:rPr>
              <a:t>Dependency Inversion Principle</a:t>
            </a:r>
            <a:r>
              <a:rPr lang="zh-CN" altLang="en-US" sz="1600"/>
              <a:t>，</a:t>
            </a:r>
            <a:r>
              <a:rPr lang="zh-CN" altLang="en-US" sz="1600">
                <a:solidFill>
                  <a:srgbClr val="0070C0"/>
                </a:solidFill>
              </a:rPr>
              <a:t>依赖倒置原则</a:t>
            </a:r>
            <a:r>
              <a:rPr lang="zh-CN" altLang="en-US" sz="1600"/>
              <a:t>。原始定义如下：</a:t>
            </a:r>
            <a:endParaRPr lang="zh-CN" altLang="en-US" sz="1600"/>
          </a:p>
          <a:p>
            <a:pPr indent="0">
              <a:lnSpc>
                <a:spcPct val="100000"/>
              </a:lnSpc>
              <a:buFont typeface="Wingdings" panose="05000000000000000000" charset="0"/>
              <a:buNone/>
            </a:pPr>
            <a:endParaRPr lang="zh-CN" altLang="en-US" sz="800"/>
          </a:p>
          <a:p>
            <a:pPr marL="285750" indent="-285750">
              <a:lnSpc>
                <a:spcPct val="100000"/>
              </a:lnSpc>
              <a:buFont typeface="Wingdings" panose="05000000000000000000" charset="0"/>
              <a:buChar char="Ø"/>
            </a:pPr>
            <a:r>
              <a:rPr lang="zh-CN" altLang="en-US" sz="1600"/>
              <a:t>High-level modules should not depend on low-level modules. Both should depend on abstractions.(</a:t>
            </a:r>
            <a:r>
              <a:rPr lang="zh-CN" altLang="en-US" sz="1600" b="1"/>
              <a:t>高层模块不应该依赖低层模块，两者都应该依赖其抽象</a:t>
            </a:r>
            <a:r>
              <a:rPr lang="zh-CN" altLang="en-US" sz="1600"/>
              <a:t>)</a:t>
            </a:r>
            <a:endParaRPr lang="zh-CN" altLang="en-US" sz="1600"/>
          </a:p>
          <a:p>
            <a:pPr marL="171450" indent="-171450">
              <a:lnSpc>
                <a:spcPct val="100000"/>
              </a:lnSpc>
              <a:buFont typeface="Wingdings" panose="05000000000000000000" charset="0"/>
              <a:buChar char="Ø"/>
            </a:pPr>
            <a:endParaRPr lang="zh-CN" altLang="en-US" sz="800"/>
          </a:p>
          <a:p>
            <a:pPr marL="285750" indent="-285750">
              <a:lnSpc>
                <a:spcPct val="100000"/>
              </a:lnSpc>
              <a:buFont typeface="Wingdings" panose="05000000000000000000" charset="0"/>
              <a:buChar char="Ø"/>
            </a:pPr>
            <a:r>
              <a:rPr lang="zh-CN" altLang="en-US" sz="1600"/>
              <a:t>Abstractions should not depend on details. Details should depend on abstractions.(</a:t>
            </a:r>
            <a:r>
              <a:rPr lang="zh-CN" altLang="en-US" sz="1600" b="1"/>
              <a:t>抽象不应该依赖细节；细节应该依赖抽象</a:t>
            </a:r>
            <a:r>
              <a:rPr lang="zh-CN" altLang="en-US" sz="1600"/>
              <a:t>)</a:t>
            </a:r>
            <a:endParaRPr lang="zh-CN" altLang="en-US" sz="1600"/>
          </a:p>
        </p:txBody>
      </p:sp>
      <p:sp>
        <p:nvSpPr>
          <p:cNvPr id="8" name="文本框 7"/>
          <p:cNvSpPr txBox="1"/>
          <p:nvPr/>
        </p:nvSpPr>
        <p:spPr>
          <a:xfrm>
            <a:off x="676275" y="2778760"/>
            <a:ext cx="7957185" cy="1568450"/>
          </a:xfrm>
          <a:prstGeom prst="rect">
            <a:avLst/>
          </a:prstGeom>
          <a:noFill/>
        </p:spPr>
        <p:txBody>
          <a:bodyPr wrap="square" rtlCol="0">
            <a:spAutoFit/>
          </a:bodyPr>
          <a:p>
            <a:r>
              <a:rPr lang="zh-CN" altLang="en-US" sz="1600"/>
              <a:t>面向过程的开发，上层调用下层，上层依赖于下层，当下层剧烈变动时上层也要跟着变动，这就会导致模块的复用性降低而且大大提高了开发的成本。</a:t>
            </a:r>
            <a:endParaRPr lang="zh-CN" altLang="en-US" sz="1600"/>
          </a:p>
          <a:p>
            <a:endParaRPr lang="zh-CN" altLang="en-US" sz="1600"/>
          </a:p>
          <a:p>
            <a:r>
              <a:rPr lang="zh-CN" altLang="en-US" sz="1600"/>
              <a:t>面向对象的开发很好的解决了这个问题，一般情况下抽象的变化概率很小，让用户程序依赖于抽象，实现的细节也依赖于抽象。即使实现细节不断变动，只要抽象不变，客户程序就不需要变化。这大大降低了客户程序与实现细节的耦合度。</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5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to="" calcmode="lin" valueType="num">
                                      <p:cBhvr>
                                        <p:cTn id="15"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-DIP</a:t>
            </a:r>
            <a:endParaRPr lang="zh-CN" altLang="en-US"/>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777240"/>
            <a:ext cx="7955915" cy="1322070"/>
          </a:xfrm>
          <a:prstGeom prst="rect">
            <a:avLst/>
          </a:prstGeom>
          <a:noFill/>
        </p:spPr>
        <p:txBody>
          <a:bodyPr wrap="square" rtlCol="0">
            <a:spAutoFit/>
          </a:bodyPr>
          <a:p>
            <a:pPr indent="0">
              <a:lnSpc>
                <a:spcPct val="100000"/>
              </a:lnSpc>
              <a:buFont typeface="Wingdings" panose="05000000000000000000" charset="0"/>
              <a:buNone/>
            </a:pPr>
            <a:r>
              <a:rPr lang="zh-CN" altLang="en-US" sz="1600"/>
              <a:t>依赖倒置原则主要有以下三层含义：</a:t>
            </a:r>
            <a:endParaRPr lang="zh-CN" altLang="en-US" sz="1600"/>
          </a:p>
          <a:p>
            <a:pPr indent="0">
              <a:lnSpc>
                <a:spcPct val="100000"/>
              </a:lnSpc>
              <a:buFont typeface="Wingdings" panose="05000000000000000000" charset="0"/>
              <a:buNone/>
            </a:pPr>
            <a:endParaRPr lang="zh-CN" altLang="en-US" sz="1600"/>
          </a:p>
          <a:p>
            <a:pPr marL="285750" indent="-285750">
              <a:lnSpc>
                <a:spcPct val="100000"/>
              </a:lnSpc>
              <a:buFont typeface="Wingdings" panose="05000000000000000000" charset="0"/>
              <a:buChar char="Ø"/>
            </a:pPr>
            <a:r>
              <a:rPr lang="zh-CN" altLang="en-US" sz="1600"/>
              <a:t>高层模块不应该依赖低层模块，两者都应该依赖其抽象（抽象类或接口）；</a:t>
            </a:r>
            <a:endParaRPr lang="zh-CN" altLang="en-US" sz="1600"/>
          </a:p>
          <a:p>
            <a:pPr marL="285750" indent="-285750">
              <a:lnSpc>
                <a:spcPct val="100000"/>
              </a:lnSpc>
              <a:buFont typeface="Wingdings" panose="05000000000000000000" charset="0"/>
              <a:buChar char="Ø"/>
            </a:pPr>
            <a:r>
              <a:rPr lang="zh-CN" altLang="en-US" sz="1600"/>
              <a:t>抽象不应该依赖细节（具体实现）；  </a:t>
            </a:r>
            <a:endParaRPr lang="zh-CN" altLang="en-US" sz="1600"/>
          </a:p>
          <a:p>
            <a:pPr marL="285750" indent="-285750">
              <a:lnSpc>
                <a:spcPct val="100000"/>
              </a:lnSpc>
              <a:buFont typeface="Wingdings" panose="05000000000000000000" charset="0"/>
              <a:buChar char="Ø"/>
            </a:pPr>
            <a:r>
              <a:rPr lang="zh-CN" altLang="en-US" sz="1600"/>
              <a:t>细节（具体实现）应该依赖抽象。</a:t>
            </a:r>
            <a:endParaRPr lang="zh-CN" altLang="en-US" sz="1600"/>
          </a:p>
        </p:txBody>
      </p:sp>
      <p:sp>
        <p:nvSpPr>
          <p:cNvPr id="8" name="文本框 7"/>
          <p:cNvSpPr txBox="1"/>
          <p:nvPr/>
        </p:nvSpPr>
        <p:spPr>
          <a:xfrm>
            <a:off x="676275" y="2635250"/>
            <a:ext cx="7957185" cy="1814830"/>
          </a:xfrm>
          <a:prstGeom prst="rect">
            <a:avLst/>
          </a:prstGeom>
          <a:noFill/>
        </p:spPr>
        <p:txBody>
          <a:bodyPr wrap="square" rtlCol="0">
            <a:spAutoFit/>
          </a:bodyPr>
          <a:p>
            <a:r>
              <a:rPr lang="zh-CN" altLang="en-US" sz="1600" b="1"/>
              <a:t>我的理解</a:t>
            </a:r>
            <a:r>
              <a:rPr lang="zh-CN" altLang="en-US" sz="1600"/>
              <a:t>：</a:t>
            </a:r>
            <a:endParaRPr lang="zh-CN" altLang="en-US" sz="1600"/>
          </a:p>
          <a:p>
            <a:endParaRPr lang="zh-CN" altLang="en-US" sz="800" b="1">
              <a:solidFill>
                <a:srgbClr val="0070C0"/>
              </a:solidFill>
            </a:endParaRPr>
          </a:p>
          <a:p>
            <a:r>
              <a:rPr lang="zh-CN" altLang="en-US" sz="1600" b="1">
                <a:solidFill>
                  <a:srgbClr val="0070C0"/>
                </a:solidFill>
              </a:rPr>
              <a:t>相对于细节的多变性，抽象的东西要稳定的多</a:t>
            </a:r>
            <a:r>
              <a:rPr lang="zh-CN" altLang="en-US" sz="1600"/>
              <a:t>。以抽象为基础搭建起来的架构比以细节为基础搭建起来的架构要稳定的多。</a:t>
            </a:r>
            <a:endParaRPr lang="zh-CN" altLang="en-US" sz="1600"/>
          </a:p>
          <a:p>
            <a:endParaRPr lang="zh-CN" altLang="en-US" sz="800"/>
          </a:p>
          <a:p>
            <a:r>
              <a:rPr lang="zh-CN" altLang="en-US" sz="1600"/>
              <a:t>在 Java 中，抽象指的是接口或者抽象类，细节就是具体的实现类，使用接口或者抽象类的目的是制定好规范和契约，而不去涉及任何具体的操作，把展现细节的任务交给他们的实现类去完成。</a:t>
            </a:r>
            <a:r>
              <a:rPr lang="zh-CN" altLang="en-US" sz="1600" b="1">
                <a:solidFill>
                  <a:srgbClr val="0070C0"/>
                </a:solidFill>
              </a:rPr>
              <a:t>依赖倒置原则的核心思想就是面向接口编程</a:t>
            </a:r>
            <a:r>
              <a:rPr lang="zh-CN" altLang="en-US" sz="1600"/>
              <a:t>。</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to="" calcmode="lin" valueType="num">
                                      <p:cBhvr>
                                        <p:cTn id="13"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-LOD | LKP</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953135"/>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LOD</a:t>
            </a:r>
            <a:r>
              <a:rPr lang="zh-CN" altLang="en-US" sz="1600"/>
              <a:t>原则，即：</a:t>
            </a:r>
            <a:r>
              <a:rPr lang="zh-CN" altLang="en-US" sz="1600">
                <a:solidFill>
                  <a:srgbClr val="0070C0"/>
                </a:solidFill>
              </a:rPr>
              <a:t>Law of Demeter</a:t>
            </a:r>
            <a:r>
              <a:rPr lang="zh-CN" altLang="en-US" sz="1600"/>
              <a:t>，</a:t>
            </a:r>
            <a:r>
              <a:rPr lang="zh-CN" altLang="en-US" sz="1600" b="1">
                <a:solidFill>
                  <a:srgbClr val="0070C0"/>
                </a:solidFill>
              </a:rPr>
              <a:t>迪米特法则</a:t>
            </a:r>
            <a:r>
              <a:rPr lang="zh-CN" altLang="en-US" sz="1600"/>
              <a:t>，又叫</a:t>
            </a:r>
            <a:r>
              <a:rPr lang="zh-CN" altLang="en-US" sz="1600" b="1">
                <a:solidFill>
                  <a:srgbClr val="0070C0"/>
                </a:solidFill>
              </a:rPr>
              <a:t>最少知识原则</a:t>
            </a:r>
            <a:r>
              <a:rPr lang="zh-CN" altLang="en-US" sz="1600"/>
              <a:t>（</a:t>
            </a:r>
            <a:r>
              <a:rPr lang="zh-CN" altLang="en-US" sz="1600">
                <a:solidFill>
                  <a:srgbClr val="0070C0"/>
                </a:solidFill>
              </a:rPr>
              <a:t>Least Knowledge Principle</a:t>
            </a:r>
            <a:r>
              <a:rPr lang="zh-CN" altLang="en-US" sz="1600"/>
              <a:t>，简写</a:t>
            </a:r>
            <a:r>
              <a:rPr lang="zh-CN" altLang="en-US" sz="1600">
                <a:solidFill>
                  <a:srgbClr val="0070C0"/>
                </a:solidFill>
              </a:rPr>
              <a:t>LKP</a:t>
            </a:r>
            <a:r>
              <a:rPr lang="zh-CN" altLang="en-US" sz="1600"/>
              <a:t>）。</a:t>
            </a:r>
            <a:endParaRPr lang="zh-CN" altLang="en-US" sz="1600"/>
          </a:p>
          <a:p>
            <a:pPr indent="0">
              <a:lnSpc>
                <a:spcPct val="100000"/>
              </a:lnSpc>
              <a:buFont typeface="Wingdings" panose="05000000000000000000" charset="0"/>
              <a:buNone/>
            </a:pPr>
            <a:endParaRPr lang="zh-CN" altLang="en-US" sz="800"/>
          </a:p>
          <a:p>
            <a:pPr indent="0">
              <a:lnSpc>
                <a:spcPct val="100000"/>
              </a:lnSpc>
              <a:buFont typeface="Wingdings" panose="05000000000000000000" charset="0"/>
              <a:buNone/>
            </a:pPr>
            <a:r>
              <a:rPr lang="zh-CN" altLang="en-US" sz="1600"/>
              <a:t>talk only to your immediate friends.(只与直接的朋友通信)。</a:t>
            </a:r>
            <a:endParaRPr lang="zh-CN" altLang="en-US" sz="1600"/>
          </a:p>
        </p:txBody>
      </p:sp>
      <p:sp>
        <p:nvSpPr>
          <p:cNvPr id="8" name="文本框 7"/>
          <p:cNvSpPr txBox="1"/>
          <p:nvPr/>
        </p:nvSpPr>
        <p:spPr>
          <a:xfrm>
            <a:off x="676275" y="3496310"/>
            <a:ext cx="7957185" cy="1076325"/>
          </a:xfrm>
          <a:prstGeom prst="rect">
            <a:avLst/>
          </a:prstGeom>
          <a:noFill/>
        </p:spPr>
        <p:txBody>
          <a:bodyPr wrap="square" rtlCol="0">
            <a:spAutoFit/>
          </a:bodyPr>
          <a:p>
            <a:r>
              <a:rPr lang="zh-CN" altLang="en-US" sz="1600"/>
              <a:t>应用迪米特法则有可能造成的一个后果就是：系统中存在大量的中介类，这些类之所以存在完全是为了传递类之间的相互调用关系——这在一定程度上增加了系统的复杂度,同时也为系统的维护带来了难度。所以，</a:t>
            </a:r>
            <a:r>
              <a:rPr lang="zh-CN" altLang="en-US" sz="1600" b="1"/>
              <a:t>在采用迪米特法则时需要反复权衡，不遵循不对，严格执行又会“过犹不及”</a:t>
            </a:r>
            <a:r>
              <a:rPr lang="zh-CN" altLang="en-US" sz="1600"/>
              <a:t>。既要做到让结构清晰，又要做到高内聚低耦合。</a:t>
            </a:r>
            <a:endParaRPr lang="zh-CN" altLang="en-US" sz="1600"/>
          </a:p>
        </p:txBody>
      </p:sp>
      <p:sp>
        <p:nvSpPr>
          <p:cNvPr id="3" name="文本框 2"/>
          <p:cNvSpPr txBox="1"/>
          <p:nvPr/>
        </p:nvSpPr>
        <p:spPr>
          <a:xfrm>
            <a:off x="694055" y="2209800"/>
            <a:ext cx="7882255" cy="922020"/>
          </a:xfrm>
          <a:prstGeom prst="rect">
            <a:avLst/>
          </a:prstGeom>
          <a:noFill/>
        </p:spPr>
        <p:txBody>
          <a:bodyPr wrap="square" rtlCol="0">
            <a:spAutoFit/>
          </a:bodyPr>
          <a:p>
            <a:r>
              <a:rPr lang="zh-CN" altLang="en-US" b="1"/>
              <a:t>迪米特法则的初衷在于降低类之间的耦合</a:t>
            </a:r>
            <a:r>
              <a:rPr lang="zh-CN" altLang="en-US"/>
              <a:t>。由于每个类尽量减少对其他类的依赖，因此，很容易使得系统的功能模块功能独立，相互之间不存在（或很少有）依赖关系。</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to="" calcmode="lin" valueType="num">
                                      <p:cBhvr>
                                        <p:cTn id="15" dur="1" fill="hold"/>
                                        <p:tgtEl>
                                          <p:spTgt spid="3"/>
                                        </p:tgtEl>
                                      </p:cBhvr>
                                    </p:anim>
                                  </p:childTnLst>
                                </p:cTn>
                              </p:par>
                            </p:childTnLst>
                          </p:cTn>
                        </p:par>
                      </p:childTnLst>
                    </p:cTn>
                  </p:par>
                  <p:par>
                    <p:cTn id="16" fill="hold">
                      <p:stCondLst>
                        <p:cond delay="indefinite"/>
                      </p:stCondLst>
                      <p:childTnLst>
                        <p:par>
                          <p:cTn id="17" fill="hold">
                            <p:stCondLst>
                              <p:cond delay="0"/>
                            </p:stCondLst>
                            <p:childTnLst>
                              <p:par>
                                <p:cTn id="18" presetID="24"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to="" calcmode="lin" valueType="num">
                                      <p:cBhvr>
                                        <p:cTn id="20"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三、面向对象</a:t>
            </a:r>
            <a:r>
              <a:rPr lang="zh-CN" altLang="en-US"/>
              <a:t>设计原则</a:t>
            </a:r>
            <a:r>
              <a:rPr lang="en-US" altLang="zh-CN"/>
              <a:t>-C/ARP</a:t>
            </a:r>
            <a:endParaRPr lang="en-US" altLang="zh-CN"/>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848995"/>
            <a:ext cx="7955915" cy="829945"/>
          </a:xfrm>
          <a:prstGeom prst="rect">
            <a:avLst/>
          </a:prstGeom>
          <a:noFill/>
        </p:spPr>
        <p:txBody>
          <a:bodyPr wrap="square" rtlCol="0">
            <a:spAutoFit/>
          </a:bodyPr>
          <a:p>
            <a:pPr indent="0">
              <a:lnSpc>
                <a:spcPct val="100000"/>
              </a:lnSpc>
              <a:buFont typeface="Wingdings" panose="05000000000000000000" charset="0"/>
              <a:buNone/>
            </a:pPr>
            <a:r>
              <a:rPr lang="zh-CN" altLang="en-US" sz="1600"/>
              <a:t>所谓</a:t>
            </a:r>
            <a:r>
              <a:rPr lang="zh-CN" altLang="en-US" sz="1600">
                <a:solidFill>
                  <a:srgbClr val="0070C0"/>
                </a:solidFill>
              </a:rPr>
              <a:t>CRP</a:t>
            </a:r>
            <a:r>
              <a:rPr lang="zh-CN" altLang="en-US" sz="1600"/>
              <a:t>原则，即：</a:t>
            </a:r>
            <a:r>
              <a:rPr lang="zh-CN" altLang="en-US" sz="1600">
                <a:solidFill>
                  <a:srgbClr val="0070C0"/>
                </a:solidFill>
              </a:rPr>
              <a:t>Composite/Aggregation Reuse Principle</a:t>
            </a:r>
            <a:r>
              <a:rPr lang="zh-CN" altLang="en-US" sz="1600"/>
              <a:t>，</a:t>
            </a:r>
            <a:r>
              <a:rPr lang="zh-CN" altLang="en-US" sz="1600" b="1">
                <a:solidFill>
                  <a:srgbClr val="0070C0"/>
                </a:solidFill>
              </a:rPr>
              <a:t>组合/聚合复用原则</a:t>
            </a:r>
            <a:r>
              <a:rPr lang="zh-CN" altLang="en-US" sz="1600"/>
              <a:t>。</a:t>
            </a:r>
            <a:endParaRPr lang="zh-CN" altLang="en-US" sz="1600"/>
          </a:p>
          <a:p>
            <a:pPr indent="0">
              <a:lnSpc>
                <a:spcPct val="100000"/>
              </a:lnSpc>
              <a:buFont typeface="Wingdings" panose="05000000000000000000" charset="0"/>
              <a:buNone/>
            </a:pPr>
            <a:endParaRPr lang="zh-CN" altLang="en-US" sz="1600"/>
          </a:p>
          <a:p>
            <a:pPr indent="0">
              <a:lnSpc>
                <a:spcPct val="100000"/>
              </a:lnSpc>
              <a:buFont typeface="Wingdings" panose="05000000000000000000" charset="0"/>
              <a:buNone/>
            </a:pPr>
            <a:r>
              <a:rPr lang="zh-CN" altLang="en-US" sz="1600"/>
              <a:t>组合复用原则的核心思想是：</a:t>
            </a:r>
            <a:r>
              <a:rPr lang="zh-CN" altLang="en-US" sz="1600" b="1"/>
              <a:t>尽量使用对象组合，而不是继承来达到复用的目的</a:t>
            </a:r>
            <a:r>
              <a:rPr lang="zh-CN" altLang="en-US" sz="1600"/>
              <a:t>。</a:t>
            </a:r>
            <a:endParaRPr lang="zh-CN" altLang="en-US" sz="1600"/>
          </a:p>
        </p:txBody>
      </p:sp>
      <p:sp>
        <p:nvSpPr>
          <p:cNvPr id="8" name="文本框 7"/>
          <p:cNvSpPr txBox="1"/>
          <p:nvPr/>
        </p:nvSpPr>
        <p:spPr>
          <a:xfrm>
            <a:off x="676275" y="3711575"/>
            <a:ext cx="7957185" cy="583565"/>
          </a:xfrm>
          <a:prstGeom prst="rect">
            <a:avLst/>
          </a:prstGeom>
          <a:noFill/>
        </p:spPr>
        <p:txBody>
          <a:bodyPr wrap="square" rtlCol="0">
            <a:spAutoFit/>
          </a:bodyPr>
          <a:p>
            <a:r>
              <a:rPr lang="zh-CN" altLang="en-US" sz="1600"/>
              <a:t>使用继承时必须满足</a:t>
            </a:r>
            <a:r>
              <a:rPr lang="zh-CN" altLang="en-US" sz="1600">
                <a:solidFill>
                  <a:srgbClr val="0070C0"/>
                </a:solidFill>
              </a:rPr>
              <a:t>Is-A</a:t>
            </a:r>
            <a:r>
              <a:rPr lang="zh-CN" altLang="en-US" sz="1600"/>
              <a:t>的关系是才能使用继承，而组合却是一种</a:t>
            </a:r>
            <a:r>
              <a:rPr lang="zh-CN" altLang="en-US" sz="1600">
                <a:solidFill>
                  <a:srgbClr val="0070C0"/>
                </a:solidFill>
              </a:rPr>
              <a:t>Has-A</a:t>
            </a:r>
            <a:r>
              <a:rPr lang="zh-CN" altLang="en-US" sz="1600"/>
              <a:t>的关系。导致错误的使用继承而不是使用组合的一个重要原因可能就是错误的把</a:t>
            </a:r>
            <a:r>
              <a:rPr lang="zh-CN" altLang="en-US" sz="1600">
                <a:solidFill>
                  <a:srgbClr val="0070C0"/>
                </a:solidFill>
              </a:rPr>
              <a:t>Has-A</a:t>
            </a:r>
            <a:r>
              <a:rPr lang="zh-CN" altLang="en-US" sz="1600"/>
              <a:t>当成了</a:t>
            </a:r>
            <a:r>
              <a:rPr lang="zh-CN" altLang="en-US" sz="1600">
                <a:solidFill>
                  <a:srgbClr val="0070C0"/>
                </a:solidFill>
              </a:rPr>
              <a:t>Is-A</a:t>
            </a:r>
            <a:r>
              <a:rPr lang="zh-CN" altLang="en-US" sz="1600"/>
              <a:t>。</a:t>
            </a:r>
            <a:endParaRPr lang="zh-CN" altLang="en-US" sz="1600"/>
          </a:p>
        </p:txBody>
      </p:sp>
      <p:sp>
        <p:nvSpPr>
          <p:cNvPr id="3" name="文本框 2"/>
          <p:cNvSpPr txBox="1"/>
          <p:nvPr/>
        </p:nvSpPr>
        <p:spPr>
          <a:xfrm>
            <a:off x="694055" y="1994535"/>
            <a:ext cx="7882255" cy="1476375"/>
          </a:xfrm>
          <a:prstGeom prst="rect">
            <a:avLst/>
          </a:prstGeom>
          <a:noFill/>
        </p:spPr>
        <p:txBody>
          <a:bodyPr wrap="square" rtlCol="0">
            <a:spAutoFit/>
          </a:bodyPr>
          <a:p>
            <a:r>
              <a:rPr lang="zh-CN" altLang="en-US"/>
              <a:t>组合复用原则可以使系统更加灵活，类与类之间的耦合度降低，一个类的变化对其他类造成的影响相对较少，因此一般首选使用组合来实现复用；其次才考虑继承。在使用继承时，需要严格遵循里氏代换原则，有效使用继承会有助于对问题的理解，降低复杂度，而滥用继承反而会增加系统构建和维护的难度以及系统的复杂度，因此需要慎重使用继承复用。</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3"/>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to="" calcmode="lin" valueType="num">
                                      <p:cBhvr>
                                        <p:cTn id="14" dur="1" fill="hold"/>
                                        <p:tgtEl>
                                          <p:spTgt spid="3"/>
                                        </p:tgtEl>
                                      </p:cBhvr>
                                    </p:anim>
                                  </p:childTnLst>
                                </p:cTn>
                              </p:par>
                            </p:childTnLst>
                          </p:cTn>
                        </p:par>
                      </p:childTnLst>
                    </p:cTn>
                  </p:par>
                  <p:par>
                    <p:cTn id="15" fill="hold">
                      <p:stCondLst>
                        <p:cond delay="indefinite"/>
                      </p:stCondLst>
                      <p:childTnLst>
                        <p:par>
                          <p:cTn id="16" fill="hold">
                            <p:stCondLst>
                              <p:cond delay="0"/>
                            </p:stCondLst>
                            <p:childTnLst>
                              <p:par>
                                <p:cTn id="17" presetID="24"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to="" calcmode="lin" valueType="num">
                                      <p:cBhvr>
                                        <p:cTn id="19"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四、设计模式简介</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76910" y="992505"/>
            <a:ext cx="7955915" cy="583565"/>
          </a:xfrm>
          <a:prstGeom prst="rect">
            <a:avLst/>
          </a:prstGeom>
          <a:noFill/>
        </p:spPr>
        <p:txBody>
          <a:bodyPr wrap="square" rtlCol="0">
            <a:spAutoFit/>
          </a:bodyPr>
          <a:p>
            <a:pPr indent="0">
              <a:lnSpc>
                <a:spcPct val="100000"/>
              </a:lnSpc>
              <a:buFont typeface="Wingdings" panose="05000000000000000000" charset="0"/>
              <a:buNone/>
            </a:pPr>
            <a:r>
              <a:rPr lang="zh-CN" altLang="en-US" sz="1600"/>
              <a:t>设计模式是人们基于以上诸多设计原则，在面对同类型软件工程设计问题所总结出的一些有用经验。模式不是代码，而是某类问题的通用设计解决方案。</a:t>
            </a:r>
            <a:endParaRPr lang="zh-CN" altLang="en-US" sz="1600"/>
          </a:p>
        </p:txBody>
      </p:sp>
      <p:sp>
        <p:nvSpPr>
          <p:cNvPr id="8" name="文本框 7"/>
          <p:cNvSpPr txBox="1"/>
          <p:nvPr/>
        </p:nvSpPr>
        <p:spPr>
          <a:xfrm>
            <a:off x="676275" y="1917700"/>
            <a:ext cx="7957185" cy="2430145"/>
          </a:xfrm>
          <a:prstGeom prst="rect">
            <a:avLst/>
          </a:prstGeom>
          <a:noFill/>
        </p:spPr>
        <p:txBody>
          <a:bodyPr wrap="square" rtlCol="0">
            <a:spAutoFit/>
          </a:bodyPr>
          <a:p>
            <a:r>
              <a:rPr lang="zh-CN" altLang="en-US" sz="1600"/>
              <a:t>GOF设计模式共23种，分为三种类型：</a:t>
            </a:r>
            <a:endParaRPr lang="zh-CN" altLang="en-US" sz="1600"/>
          </a:p>
          <a:p>
            <a:endParaRPr lang="zh-CN" altLang="en-US" sz="1600"/>
          </a:p>
          <a:p>
            <a:pPr marL="285750" indent="-285750">
              <a:lnSpc>
                <a:spcPct val="150000"/>
              </a:lnSpc>
              <a:buFont typeface="Wingdings" panose="05000000000000000000" charset="0"/>
              <a:buChar char=""/>
            </a:pPr>
            <a:r>
              <a:rPr lang="zh-CN" altLang="en-US" sz="1600"/>
              <a:t>创建型模式：单例模式、抽象工厂模式、工厂方法模式、建造者模式、原型模式。</a:t>
            </a:r>
            <a:endParaRPr lang="zh-CN" altLang="en-US" sz="1600"/>
          </a:p>
          <a:p>
            <a:pPr marL="285750" indent="-285750">
              <a:lnSpc>
                <a:spcPct val="150000"/>
              </a:lnSpc>
              <a:buFont typeface="Wingdings" panose="05000000000000000000" charset="0"/>
              <a:buChar char=""/>
            </a:pPr>
            <a:r>
              <a:rPr lang="zh-CN" altLang="en-US" sz="1600"/>
              <a:t>结构型模式：适配器模式、桥接模式、装饰模式、组合模式、外观模式、享元模式、代理模式。</a:t>
            </a:r>
            <a:endParaRPr lang="zh-CN" altLang="en-US" sz="1600"/>
          </a:p>
          <a:p>
            <a:pPr marL="285750" indent="-285750">
              <a:lnSpc>
                <a:spcPct val="150000"/>
              </a:lnSpc>
              <a:buFont typeface="Wingdings" panose="05000000000000000000" charset="0"/>
              <a:buChar char=""/>
            </a:pPr>
            <a:r>
              <a:rPr lang="zh-CN" altLang="en-US" sz="1600"/>
              <a:t>行为型模式：模版方法模式、命令模式、迭代器模式、观察者模式、中介者模式、备忘录模式、解释器模式、状态模式、策略模式、职责链模式、访问者模式。</a:t>
            </a:r>
            <a:endParaRPr lang="zh-CN" altLang="en-US" sz="16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to="" calcmode="lin" valueType="num">
                                      <p:cBhvr>
                                        <p:cTn id="13"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五、重构</a:t>
            </a:r>
            <a:r>
              <a:rPr lang="en-US" altLang="zh-CN" dirty="0" smtClean="0">
                <a:sym typeface="+mn-ea"/>
              </a:rPr>
              <a:t>——</a:t>
            </a:r>
            <a:r>
              <a:rPr lang="zh-CN" altLang="en-US" dirty="0" smtClean="0">
                <a:sym typeface="+mn-ea"/>
              </a:rPr>
              <a:t>概述</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3" name="文本框 2"/>
          <p:cNvSpPr txBox="1"/>
          <p:nvPr/>
        </p:nvSpPr>
        <p:spPr>
          <a:xfrm>
            <a:off x="830580" y="2084070"/>
            <a:ext cx="7845425" cy="1076325"/>
          </a:xfrm>
          <a:prstGeom prst="rect">
            <a:avLst/>
          </a:prstGeom>
          <a:noFill/>
        </p:spPr>
        <p:txBody>
          <a:bodyPr wrap="square" rtlCol="0">
            <a:spAutoFit/>
          </a:bodyPr>
          <a:p>
            <a:r>
              <a:rPr lang="zh-CN" altLang="en-US" sz="1600">
                <a:sym typeface="+mn-ea"/>
              </a:rPr>
              <a:t>软件的复杂性来自于大量的不确定性，而这个不确定性上是无法避免的。</a:t>
            </a:r>
            <a:r>
              <a:rPr lang="zh-CN" altLang="en-US" sz="1600">
                <a:sym typeface="+mn-ea"/>
              </a:rPr>
              <a:t>而有了重构技术之后，前期设计的压力就小了，毕竟可以随时通过重构来改善设计，应对变化。重构教会了我如何通过高效安全地改善内部设计以使之适应外部的不确定性和频繁变化。</a:t>
            </a:r>
            <a:endParaRPr lang="zh-CN" altLang="en-US" sz="1600"/>
          </a:p>
        </p:txBody>
      </p:sp>
      <p:sp>
        <p:nvSpPr>
          <p:cNvPr id="6" name="文本框 5"/>
          <p:cNvSpPr txBox="1"/>
          <p:nvPr/>
        </p:nvSpPr>
        <p:spPr>
          <a:xfrm>
            <a:off x="814070" y="927735"/>
            <a:ext cx="7845425" cy="829945"/>
          </a:xfrm>
          <a:prstGeom prst="rect">
            <a:avLst/>
          </a:prstGeom>
          <a:noFill/>
        </p:spPr>
        <p:txBody>
          <a:bodyPr wrap="square" rtlCol="0">
            <a:spAutoFit/>
          </a:bodyPr>
          <a:p>
            <a:r>
              <a:rPr lang="zh-CN" altLang="en-US" sz="1600">
                <a:sym typeface="+mn-ea"/>
              </a:rPr>
              <a:t>以前在开始编码之前要进行非常详细的设计，考虑应对未来出现的各种变化，项目一旦进入编码阶段，工作主要就是机械的把设计转换成可执行语句，而这种态度是许多程序低效、不可维护的最大原因。</a:t>
            </a:r>
            <a:endParaRPr lang="zh-CN" altLang="en-US" sz="1600">
              <a:sym typeface="+mn-ea"/>
            </a:endParaRPr>
          </a:p>
        </p:txBody>
      </p:sp>
      <p:sp>
        <p:nvSpPr>
          <p:cNvPr id="9" name="文本框 8"/>
          <p:cNvSpPr txBox="1"/>
          <p:nvPr/>
        </p:nvSpPr>
        <p:spPr>
          <a:xfrm>
            <a:off x="814070" y="3484880"/>
            <a:ext cx="7845425" cy="1076325"/>
          </a:xfrm>
          <a:prstGeom prst="rect">
            <a:avLst/>
          </a:prstGeom>
          <a:noFill/>
        </p:spPr>
        <p:txBody>
          <a:bodyPr wrap="square" rtlCol="0">
            <a:spAutoFit/>
          </a:bodyPr>
          <a:p>
            <a:r>
              <a:rPr lang="zh-CN" altLang="en-US" sz="1600" b="1">
                <a:solidFill>
                  <a:srgbClr val="0070C0"/>
                </a:solidFill>
                <a:sym typeface="+mn-ea"/>
              </a:rPr>
              <a:t>你大可不必一上来就应用《设计模式》把代码搞复杂，先用简单的实现满足当前需求即可。等变化真正来临时，再通过重构技术调整设计，模式给我们提供了一个方向，但并不是最终目标。</a:t>
            </a:r>
            <a:r>
              <a:rPr lang="zh-CN" altLang="en-US" sz="1600">
                <a:sym typeface="+mn-ea"/>
              </a:rPr>
              <a:t>只要最终的代码符合好的原则，干净整洁没有坏味道，管它符不符合某个模式呢？</a:t>
            </a:r>
            <a:endParaRPr lang="zh-CN" altLang="en-US" sz="160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5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to="" calcmode="lin" valueType="num">
                                      <p:cBhvr>
                                        <p:cTn id="15" dur="1" fill="hold"/>
                                        <p:tgtEl>
                                          <p:spTgt spid="3"/>
                                        </p:tgtEl>
                                      </p:cBhvr>
                                    </p:anim>
                                  </p:childTnLst>
                                </p:cTn>
                              </p:par>
                            </p:childTnLst>
                          </p:cTn>
                        </p:par>
                      </p:childTnLst>
                    </p:cTn>
                  </p:par>
                  <p:par>
                    <p:cTn id="16" fill="hold">
                      <p:stCondLst>
                        <p:cond delay="indefinite"/>
                      </p:stCondLst>
                      <p:childTnLst>
                        <p:par>
                          <p:cTn id="17" fill="hold">
                            <p:stCondLst>
                              <p:cond delay="0"/>
                            </p:stCondLst>
                            <p:childTnLst>
                              <p:par>
                                <p:cTn id="18" presetID="24"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 to="" calcmode="lin" valueType="num">
                                      <p:cBhvr>
                                        <p:cTn id="20"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五、重构</a:t>
            </a:r>
            <a:r>
              <a:rPr lang="en-US" altLang="zh-CN" dirty="0" smtClean="0">
                <a:sym typeface="+mn-ea"/>
              </a:rPr>
              <a:t>——</a:t>
            </a:r>
            <a:r>
              <a:rPr lang="zh-CN" altLang="en-US" dirty="0" smtClean="0">
                <a:sym typeface="+mn-ea"/>
              </a:rPr>
              <a:t>理解</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7" name="文本框 6"/>
          <p:cNvSpPr txBox="1"/>
          <p:nvPr/>
        </p:nvSpPr>
        <p:spPr>
          <a:xfrm>
            <a:off x="687070" y="3314065"/>
            <a:ext cx="3524250" cy="1076325"/>
          </a:xfrm>
          <a:prstGeom prst="rect">
            <a:avLst/>
          </a:prstGeom>
          <a:noFill/>
        </p:spPr>
        <p:txBody>
          <a:bodyPr wrap="square" rtlCol="0">
            <a:spAutoFit/>
          </a:bodyPr>
          <a:p>
            <a:pPr indent="0">
              <a:lnSpc>
                <a:spcPct val="100000"/>
              </a:lnSpc>
              <a:buFont typeface="Wingdings" panose="05000000000000000000" charset="0"/>
              <a:buNone/>
            </a:pPr>
            <a:r>
              <a:rPr lang="zh-CN" altLang="en-US" sz="1600"/>
              <a:t>重构主要有以下好处：</a:t>
            </a:r>
            <a:endParaRPr lang="zh-CN" altLang="en-US" sz="1600"/>
          </a:p>
          <a:p>
            <a:pPr indent="0">
              <a:lnSpc>
                <a:spcPct val="100000"/>
              </a:lnSpc>
              <a:buFont typeface="Wingdings" panose="05000000000000000000" charset="0"/>
              <a:buNone/>
            </a:pPr>
            <a:endParaRPr lang="zh-CN" altLang="en-US" sz="1600"/>
          </a:p>
          <a:p>
            <a:pPr marL="285750" indent="-285750">
              <a:lnSpc>
                <a:spcPct val="100000"/>
              </a:lnSpc>
              <a:buFont typeface="Wingdings" panose="05000000000000000000" charset="0"/>
              <a:buChar char=""/>
            </a:pPr>
            <a:r>
              <a:rPr lang="zh-CN" altLang="en-US" sz="1600"/>
              <a:t>重构可以改进软件设计。</a:t>
            </a:r>
            <a:endParaRPr lang="zh-CN" altLang="en-US" sz="1600"/>
          </a:p>
          <a:p>
            <a:pPr marL="285750" indent="-285750">
              <a:lnSpc>
                <a:spcPct val="100000"/>
              </a:lnSpc>
              <a:buFont typeface="Wingdings" panose="05000000000000000000" charset="0"/>
              <a:buChar char=""/>
            </a:pPr>
            <a:r>
              <a:rPr lang="zh-CN" altLang="en-US" sz="1600"/>
              <a:t>重构可以帮助理解代码。</a:t>
            </a:r>
            <a:endParaRPr lang="zh-CN" altLang="en-US" sz="1600"/>
          </a:p>
        </p:txBody>
      </p:sp>
      <p:sp>
        <p:nvSpPr>
          <p:cNvPr id="3" name="文本框 2"/>
          <p:cNvSpPr txBox="1"/>
          <p:nvPr/>
        </p:nvSpPr>
        <p:spPr>
          <a:xfrm>
            <a:off x="687070" y="944245"/>
            <a:ext cx="7845425" cy="1076325"/>
          </a:xfrm>
          <a:prstGeom prst="rect">
            <a:avLst/>
          </a:prstGeom>
          <a:noFill/>
        </p:spPr>
        <p:txBody>
          <a:bodyPr wrap="square" rtlCol="0">
            <a:spAutoFit/>
          </a:bodyPr>
          <a:p>
            <a:pPr indent="0">
              <a:lnSpc>
                <a:spcPct val="100000"/>
              </a:lnSpc>
              <a:buFont typeface="Wingdings" panose="05000000000000000000" charset="0"/>
              <a:buNone/>
            </a:pPr>
            <a:r>
              <a:rPr lang="zh-CN" altLang="en-US" sz="1600" b="1">
                <a:sym typeface="+mn-ea"/>
              </a:rPr>
              <a:t>重构（名词）</a:t>
            </a:r>
            <a:r>
              <a:rPr lang="zh-CN" altLang="en-US" sz="1600">
                <a:sym typeface="+mn-ea"/>
              </a:rPr>
              <a:t>：对软件内部结构的一种调整，目的是在不改变软件可观察行为的前提下，提高其可理解性，降低其修改成本。</a:t>
            </a:r>
            <a:endParaRPr lang="zh-CN" altLang="en-US" sz="1600"/>
          </a:p>
          <a:p>
            <a:pPr indent="0">
              <a:lnSpc>
                <a:spcPct val="100000"/>
              </a:lnSpc>
              <a:buFont typeface="Wingdings" panose="05000000000000000000" charset="0"/>
              <a:buNone/>
            </a:pPr>
            <a:r>
              <a:rPr lang="zh-CN" altLang="en-US" sz="1600" b="1">
                <a:sym typeface="+mn-ea"/>
              </a:rPr>
              <a:t>重构（动词）</a:t>
            </a:r>
            <a:r>
              <a:rPr lang="zh-CN" altLang="en-US" sz="1600">
                <a:sym typeface="+mn-ea"/>
              </a:rPr>
              <a:t>：使用一系列重构手法，在不改变软件可观察行为的前提下，调整其结构。</a:t>
            </a:r>
            <a:endParaRPr lang="zh-CN" altLang="en-US" sz="1600"/>
          </a:p>
        </p:txBody>
      </p:sp>
      <p:pic>
        <p:nvPicPr>
          <p:cNvPr id="6" name="图片 5"/>
          <p:cNvPicPr>
            <a:picLocks noChangeAspect="1"/>
          </p:cNvPicPr>
          <p:nvPr/>
        </p:nvPicPr>
        <p:blipFill>
          <a:blip r:embed="rId1"/>
          <a:stretch>
            <a:fillRect/>
          </a:stretch>
        </p:blipFill>
        <p:spPr>
          <a:xfrm>
            <a:off x="4433570" y="2072640"/>
            <a:ext cx="3838575" cy="255905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4"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to="" calcmode="lin" valueType="num">
                                      <p:cBhvr>
                                        <p:cTn id="13" dur="1" fill="hold"/>
                                        <p:tgtEl>
                                          <p:spTgt spid="6"/>
                                        </p:tgtEl>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to="" calcmode="lin" valueType="num">
                                      <p:cBhvr>
                                        <p:cTn id="18"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五、重构</a:t>
            </a:r>
            <a:r>
              <a:rPr lang="en-US" altLang="zh-CN" dirty="0" smtClean="0">
                <a:sym typeface="+mn-ea"/>
              </a:rPr>
              <a:t>——</a:t>
            </a:r>
            <a:r>
              <a:rPr lang="zh-CN" altLang="en-US" dirty="0" smtClean="0">
                <a:sym typeface="+mn-ea"/>
              </a:rPr>
              <a:t>技巧</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sp>
        <p:nvSpPr>
          <p:cNvPr id="3" name="文本框 2"/>
          <p:cNvSpPr txBox="1"/>
          <p:nvPr/>
        </p:nvSpPr>
        <p:spPr>
          <a:xfrm>
            <a:off x="615315" y="800735"/>
            <a:ext cx="4009390" cy="3291840"/>
          </a:xfrm>
          <a:prstGeom prst="rect">
            <a:avLst/>
          </a:prstGeom>
          <a:noFill/>
        </p:spPr>
        <p:txBody>
          <a:bodyPr wrap="square" rtlCol="0">
            <a:spAutoFit/>
          </a:bodyPr>
          <a:p>
            <a:pPr marL="285750" indent="-285750">
              <a:lnSpc>
                <a:spcPct val="100000"/>
              </a:lnSpc>
              <a:buFont typeface="Wingdings" panose="05000000000000000000" charset="0"/>
              <a:buChar char=""/>
            </a:pPr>
            <a:r>
              <a:rPr lang="zh-CN" altLang="en-US" sz="1600">
                <a:sym typeface="+mn-ea"/>
              </a:rPr>
              <a:t>遵循好的代码风格。</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静态检查。</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删除冗余代码和僵尸代码。</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重命名。</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消除魔法数字魔法常量。</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减少函数参数。</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过大的类拆分成多个类。</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将过长的方法分解成多个功能相对单一、命名良好的小方法。</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消除重复代码。</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提取方法或函数。</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优先使用组合而非继承。</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降低圈复杂度。</a:t>
            </a:r>
            <a:endParaRPr lang="zh-CN" altLang="en-US" sz="1600">
              <a:sym typeface="+mn-ea"/>
            </a:endParaRPr>
          </a:p>
        </p:txBody>
      </p:sp>
      <p:sp>
        <p:nvSpPr>
          <p:cNvPr id="8" name="文本框 7"/>
          <p:cNvSpPr txBox="1"/>
          <p:nvPr/>
        </p:nvSpPr>
        <p:spPr>
          <a:xfrm>
            <a:off x="4884420" y="821690"/>
            <a:ext cx="4009390" cy="1076325"/>
          </a:xfrm>
          <a:prstGeom prst="rect">
            <a:avLst/>
          </a:prstGeom>
          <a:noFill/>
        </p:spPr>
        <p:txBody>
          <a:bodyPr wrap="square" rtlCol="0">
            <a:spAutoFit/>
          </a:bodyPr>
          <a:p>
            <a:pPr marL="285750" indent="-285750">
              <a:lnSpc>
                <a:spcPct val="100000"/>
              </a:lnSpc>
              <a:buFont typeface="Wingdings" panose="05000000000000000000" charset="0"/>
              <a:buChar char=""/>
            </a:pPr>
            <a:r>
              <a:rPr lang="zh-CN" altLang="en-US" sz="1600">
                <a:sym typeface="+mn-ea"/>
              </a:rPr>
              <a:t>合并/简化条件表达式。</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避免多层嵌套条件表达式。</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使用多态取代条件表达式。</a:t>
            </a:r>
            <a:endParaRPr lang="zh-CN" altLang="en-US" sz="1600">
              <a:sym typeface="+mn-ea"/>
            </a:endParaRPr>
          </a:p>
          <a:p>
            <a:pPr marL="285750" indent="-285750">
              <a:lnSpc>
                <a:spcPct val="100000"/>
              </a:lnSpc>
              <a:buFont typeface="Wingdings" panose="05000000000000000000" charset="0"/>
              <a:buChar char=""/>
            </a:pPr>
            <a:r>
              <a:rPr lang="zh-CN" altLang="en-US" sz="1600">
                <a:sym typeface="+mn-ea"/>
              </a:rPr>
              <a:t>免过度超前设计。</a:t>
            </a:r>
            <a:endParaRPr lang="zh-CN" altLang="en-US" sz="1600">
              <a:sym typeface="+mn-ea"/>
            </a:endParaRPr>
          </a:p>
        </p:txBody>
      </p:sp>
      <p:pic>
        <p:nvPicPr>
          <p:cNvPr id="9" name="图片 8"/>
          <p:cNvPicPr>
            <a:picLocks noChangeAspect="1"/>
          </p:cNvPicPr>
          <p:nvPr/>
        </p:nvPicPr>
        <p:blipFill>
          <a:blip r:embed="rId1"/>
          <a:stretch>
            <a:fillRect/>
          </a:stretch>
        </p:blipFill>
        <p:spPr>
          <a:xfrm>
            <a:off x="5569585" y="2896870"/>
            <a:ext cx="2987040" cy="1847215"/>
          </a:xfrm>
          <a:prstGeom prst="rect">
            <a:avLst/>
          </a:prstGeom>
        </p:spPr>
      </p:pic>
      <p:sp>
        <p:nvSpPr>
          <p:cNvPr id="10" name="文本框 9"/>
          <p:cNvSpPr txBox="1"/>
          <p:nvPr/>
        </p:nvSpPr>
        <p:spPr>
          <a:xfrm>
            <a:off x="6094730" y="2387600"/>
            <a:ext cx="1974850" cy="368300"/>
          </a:xfrm>
          <a:prstGeom prst="rect">
            <a:avLst/>
          </a:prstGeom>
          <a:noFill/>
        </p:spPr>
        <p:txBody>
          <a:bodyPr wrap="square" rtlCol="0">
            <a:spAutoFit/>
          </a:bodyPr>
          <a:p>
            <a:r>
              <a:rPr lang="zh-CN" altLang="en-US"/>
              <a:t>重构十六字心法</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to="" calcmode="lin" valueType="num">
                                      <p:cBhvr>
                                        <p:cTn id="12" dur="1" fill="hold"/>
                                        <p:tgtEl>
                                          <p:spTgt spid="3">
                                            <p:txEl>
                                              <p:pRg st="1" end="1"/>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to="" calcmode="lin" valueType="num">
                                      <p:cBhvr>
                                        <p:cTn id="17" dur="1" fill="hold"/>
                                        <p:tgtEl>
                                          <p:spTgt spid="3">
                                            <p:txEl>
                                              <p:pRg st="2" end="2"/>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to="" calcmode="lin" valueType="num">
                                      <p:cBhvr>
                                        <p:cTn id="22" dur="1" fill="hold"/>
                                        <p:tgtEl>
                                          <p:spTgt spid="3">
                                            <p:txEl>
                                              <p:pRg st="3" end="3"/>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to="" calcmode="lin" valueType="num">
                                      <p:cBhvr>
                                        <p:cTn id="27" dur="1" fill="hold"/>
                                        <p:tgtEl>
                                          <p:spTgt spid="3">
                                            <p:txEl>
                                              <p:pRg st="4" end="4"/>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to="" calcmode="lin" valueType="num">
                                      <p:cBhvr>
                                        <p:cTn id="32" dur="1" fill="hold"/>
                                        <p:tgtEl>
                                          <p:spTgt spid="3">
                                            <p:txEl>
                                              <p:pRg st="5" end="5"/>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to="" calcmode="lin" valueType="num">
                                      <p:cBhvr>
                                        <p:cTn id="37" dur="1" fill="hold"/>
                                        <p:tgtEl>
                                          <p:spTgt spid="3">
                                            <p:txEl>
                                              <p:pRg st="6" end="6"/>
                                            </p:txEl>
                                          </p:spTgt>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to="" calcmode="lin" valueType="num">
                                      <p:cBhvr>
                                        <p:cTn id="42" dur="1" fill="hold"/>
                                        <p:tgtEl>
                                          <p:spTgt spid="3">
                                            <p:txEl>
                                              <p:pRg st="7" end="7"/>
                                            </p:txEl>
                                          </p:spTgt>
                                        </p:tgtEl>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to="" calcmode="lin" valueType="num">
                                      <p:cBhvr>
                                        <p:cTn id="47" dur="1" fill="hold"/>
                                        <p:tgtEl>
                                          <p:spTgt spid="3">
                                            <p:txEl>
                                              <p:pRg st="8" end="8"/>
                                            </p:txEl>
                                          </p:spTgt>
                                        </p:tgtEl>
                                      </p:cBhvr>
                                    </p:anim>
                                  </p:childTnLst>
                                </p:cTn>
                              </p:par>
                            </p:childTnLst>
                          </p:cTn>
                        </p:par>
                      </p:childTnLst>
                    </p:cTn>
                  </p:par>
                  <p:par>
                    <p:cTn id="48" fill="hold">
                      <p:stCondLst>
                        <p:cond delay="indefinite"/>
                      </p:stCondLst>
                      <p:childTnLst>
                        <p:par>
                          <p:cTn id="49" fill="hold">
                            <p:stCondLst>
                              <p:cond delay="0"/>
                            </p:stCondLst>
                            <p:childTnLst>
                              <p:par>
                                <p:cTn id="50" presetID="24"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to="" calcmode="lin" valueType="num">
                                      <p:cBhvr>
                                        <p:cTn id="52" dur="1" fill="hold"/>
                                        <p:tgtEl>
                                          <p:spTgt spid="3">
                                            <p:txEl>
                                              <p:pRg st="9" end="9"/>
                                            </p:txEl>
                                          </p:spTgt>
                                        </p:tgtEl>
                                      </p:cBhvr>
                                    </p:anim>
                                  </p:childTnLst>
                                </p:cTn>
                              </p:par>
                            </p:childTnLst>
                          </p:cTn>
                        </p:par>
                      </p:childTnLst>
                    </p:cTn>
                  </p:par>
                  <p:par>
                    <p:cTn id="53" fill="hold">
                      <p:stCondLst>
                        <p:cond delay="indefinite"/>
                      </p:stCondLst>
                      <p:childTnLst>
                        <p:par>
                          <p:cTn id="54" fill="hold">
                            <p:stCondLst>
                              <p:cond delay="0"/>
                            </p:stCondLst>
                            <p:childTnLst>
                              <p:par>
                                <p:cTn id="55" presetID="24"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to="" calcmode="lin" valueType="num">
                                      <p:cBhvr>
                                        <p:cTn id="57" dur="1" fill="hold"/>
                                        <p:tgtEl>
                                          <p:spTgt spid="3">
                                            <p:txEl>
                                              <p:pRg st="10" end="10"/>
                                            </p:txEl>
                                          </p:spTgt>
                                        </p:tgtEl>
                                      </p:cBhvr>
                                    </p:anim>
                                  </p:childTnLst>
                                </p:cTn>
                              </p:par>
                            </p:childTnLst>
                          </p:cTn>
                        </p:par>
                      </p:childTnLst>
                    </p:cTn>
                  </p:par>
                  <p:par>
                    <p:cTn id="58" fill="hold">
                      <p:stCondLst>
                        <p:cond delay="indefinite"/>
                      </p:stCondLst>
                      <p:childTnLst>
                        <p:par>
                          <p:cTn id="59" fill="hold">
                            <p:stCondLst>
                              <p:cond delay="0"/>
                            </p:stCondLst>
                            <p:childTnLst>
                              <p:par>
                                <p:cTn id="60" presetID="24"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 to="" calcmode="lin" valueType="num">
                                      <p:cBhvr>
                                        <p:cTn id="62" dur="1" fill="hold"/>
                                        <p:tgtEl>
                                          <p:spTgt spid="3">
                                            <p:txEl>
                                              <p:pRg st="11" end="11"/>
                                            </p:txEl>
                                          </p:spTgt>
                                        </p:tgtEl>
                                      </p:cBhvr>
                                    </p:anim>
                                  </p:childTnLst>
                                </p:cTn>
                              </p:par>
                            </p:childTnLst>
                          </p:cTn>
                        </p:par>
                      </p:childTnLst>
                    </p:cTn>
                  </p:par>
                  <p:par>
                    <p:cTn id="63" fill="hold">
                      <p:stCondLst>
                        <p:cond delay="indefinite"/>
                      </p:stCondLst>
                      <p:childTnLst>
                        <p:par>
                          <p:cTn id="64" fill="hold">
                            <p:stCondLst>
                              <p:cond delay="0"/>
                            </p:stCondLst>
                            <p:childTnLst>
                              <p:par>
                                <p:cTn id="65" presetID="24" presetClass="entr" presetSubtype="0" fill="hold" nodeType="clickEffect">
                                  <p:stCondLst>
                                    <p:cond delay="0"/>
                                  </p:stCondLst>
                                  <p:childTnLst>
                                    <p:set>
                                      <p:cBhvr>
                                        <p:cTn id="66" dur="1" fill="hold">
                                          <p:stCondLst>
                                            <p:cond delay="0"/>
                                          </p:stCondLst>
                                        </p:cTn>
                                        <p:tgtEl>
                                          <p:spTgt spid="8">
                                            <p:txEl>
                                              <p:pRg st="0" end="0"/>
                                            </p:txEl>
                                          </p:spTgt>
                                        </p:tgtEl>
                                        <p:attrNameLst>
                                          <p:attrName>style.visibility</p:attrName>
                                        </p:attrNameLst>
                                      </p:cBhvr>
                                      <p:to>
                                        <p:strVal val="visible"/>
                                      </p:to>
                                    </p:set>
                                    <p:anim to="" calcmode="lin" valueType="num">
                                      <p:cBhvr>
                                        <p:cTn id="67" dur="1" fill="hold"/>
                                        <p:tgtEl>
                                          <p:spTgt spid="8">
                                            <p:txEl>
                                              <p:pRg st="0" end="0"/>
                                            </p:txEl>
                                          </p:spTgt>
                                        </p:tgtEl>
                                      </p:cBhvr>
                                    </p:anim>
                                  </p:childTnLst>
                                </p:cTn>
                              </p:par>
                            </p:childTnLst>
                          </p:cTn>
                        </p:par>
                      </p:childTnLst>
                    </p:cTn>
                  </p:par>
                  <p:par>
                    <p:cTn id="68" fill="hold">
                      <p:stCondLst>
                        <p:cond delay="indefinite"/>
                      </p:stCondLst>
                      <p:childTnLst>
                        <p:par>
                          <p:cTn id="69" fill="hold">
                            <p:stCondLst>
                              <p:cond delay="0"/>
                            </p:stCondLst>
                            <p:childTnLst>
                              <p:par>
                                <p:cTn id="70" presetID="24" presetClass="entr" presetSubtype="0" fill="hold" nodeType="clickEffect">
                                  <p:stCondLst>
                                    <p:cond delay="0"/>
                                  </p:stCondLst>
                                  <p:childTnLst>
                                    <p:set>
                                      <p:cBhvr>
                                        <p:cTn id="71" dur="1" fill="hold">
                                          <p:stCondLst>
                                            <p:cond delay="0"/>
                                          </p:stCondLst>
                                        </p:cTn>
                                        <p:tgtEl>
                                          <p:spTgt spid="8">
                                            <p:txEl>
                                              <p:pRg st="1" end="1"/>
                                            </p:txEl>
                                          </p:spTgt>
                                        </p:tgtEl>
                                        <p:attrNameLst>
                                          <p:attrName>style.visibility</p:attrName>
                                        </p:attrNameLst>
                                      </p:cBhvr>
                                      <p:to>
                                        <p:strVal val="visible"/>
                                      </p:to>
                                    </p:set>
                                    <p:anim to="" calcmode="lin" valueType="num">
                                      <p:cBhvr>
                                        <p:cTn id="72" dur="1" fill="hold"/>
                                        <p:tgtEl>
                                          <p:spTgt spid="8">
                                            <p:txEl>
                                              <p:pRg st="1" end="1"/>
                                            </p:txEl>
                                          </p:spTgt>
                                        </p:tgtEl>
                                      </p:cBhvr>
                                    </p:anim>
                                  </p:childTnLst>
                                </p:cTn>
                              </p:par>
                            </p:childTnLst>
                          </p:cTn>
                        </p:par>
                      </p:childTnLst>
                    </p:cTn>
                  </p:par>
                  <p:par>
                    <p:cTn id="73" fill="hold">
                      <p:stCondLst>
                        <p:cond delay="indefinite"/>
                      </p:stCondLst>
                      <p:childTnLst>
                        <p:par>
                          <p:cTn id="74" fill="hold">
                            <p:stCondLst>
                              <p:cond delay="0"/>
                            </p:stCondLst>
                            <p:childTnLst>
                              <p:par>
                                <p:cTn id="75" presetID="24" presetClass="entr" presetSubtype="0" fill="hold" nodeType="clickEffect">
                                  <p:stCondLst>
                                    <p:cond delay="0"/>
                                  </p:stCondLst>
                                  <p:childTnLst>
                                    <p:set>
                                      <p:cBhvr>
                                        <p:cTn id="76" dur="1" fill="hold">
                                          <p:stCondLst>
                                            <p:cond delay="0"/>
                                          </p:stCondLst>
                                        </p:cTn>
                                        <p:tgtEl>
                                          <p:spTgt spid="8">
                                            <p:txEl>
                                              <p:pRg st="2" end="2"/>
                                            </p:txEl>
                                          </p:spTgt>
                                        </p:tgtEl>
                                        <p:attrNameLst>
                                          <p:attrName>style.visibility</p:attrName>
                                        </p:attrNameLst>
                                      </p:cBhvr>
                                      <p:to>
                                        <p:strVal val="visible"/>
                                      </p:to>
                                    </p:set>
                                    <p:anim to="" calcmode="lin" valueType="num">
                                      <p:cBhvr>
                                        <p:cTn id="77" dur="1" fill="hold"/>
                                        <p:tgtEl>
                                          <p:spTgt spid="8">
                                            <p:txEl>
                                              <p:pRg st="2" end="2"/>
                                            </p:txEl>
                                          </p:spTgt>
                                        </p:tgtEl>
                                      </p:cBhvr>
                                    </p:anim>
                                  </p:childTnLst>
                                </p:cTn>
                              </p:par>
                            </p:childTnLst>
                          </p:cTn>
                        </p:par>
                      </p:childTnLst>
                    </p:cTn>
                  </p:par>
                  <p:par>
                    <p:cTn id="78" fill="hold">
                      <p:stCondLst>
                        <p:cond delay="indefinite"/>
                      </p:stCondLst>
                      <p:childTnLst>
                        <p:par>
                          <p:cTn id="79" fill="hold">
                            <p:stCondLst>
                              <p:cond delay="0"/>
                            </p:stCondLst>
                            <p:childTnLst>
                              <p:par>
                                <p:cTn id="80" presetID="24" presetClass="entr" presetSubtype="0" fill="hold" nodeType="clickEffect">
                                  <p:stCondLst>
                                    <p:cond delay="0"/>
                                  </p:stCondLst>
                                  <p:childTnLst>
                                    <p:set>
                                      <p:cBhvr>
                                        <p:cTn id="81" dur="1" fill="hold">
                                          <p:stCondLst>
                                            <p:cond delay="0"/>
                                          </p:stCondLst>
                                        </p:cTn>
                                        <p:tgtEl>
                                          <p:spTgt spid="8">
                                            <p:txEl>
                                              <p:pRg st="3" end="3"/>
                                            </p:txEl>
                                          </p:spTgt>
                                        </p:tgtEl>
                                        <p:attrNameLst>
                                          <p:attrName>style.visibility</p:attrName>
                                        </p:attrNameLst>
                                      </p:cBhvr>
                                      <p:to>
                                        <p:strVal val="visible"/>
                                      </p:to>
                                    </p:set>
                                    <p:anim to="" calcmode="lin" valueType="num">
                                      <p:cBhvr>
                                        <p:cTn id="82" dur="1" fill="hold"/>
                                        <p:tgtEl>
                                          <p:spTgt spid="8">
                                            <p:txEl>
                                              <p:pRg st="3" end="3"/>
                                            </p:txEl>
                                          </p:spTgt>
                                        </p:tgtEl>
                                      </p:cBhvr>
                                    </p:anim>
                                  </p:childTnLst>
                                </p:cTn>
                              </p:par>
                            </p:childTnLst>
                          </p:cTn>
                        </p:par>
                      </p:childTnLst>
                    </p:cTn>
                  </p:par>
                  <p:par>
                    <p:cTn id="83" fill="hold">
                      <p:stCondLst>
                        <p:cond delay="indefinite"/>
                      </p:stCondLst>
                      <p:childTnLst>
                        <p:par>
                          <p:cTn id="84" fill="hold">
                            <p:stCondLst>
                              <p:cond delay="0"/>
                            </p:stCondLst>
                            <p:childTnLst>
                              <p:par>
                                <p:cTn id="85" presetID="24" presetClass="entr" presetSubtype="0" fill="hold" grpId="0" nodeType="clickEffect">
                                  <p:stCondLst>
                                    <p:cond delay="0"/>
                                  </p:stCondLst>
                                  <p:childTnLst>
                                    <p:set>
                                      <p:cBhvr>
                                        <p:cTn id="86" dur="1" fill="hold">
                                          <p:stCondLst>
                                            <p:cond delay="0"/>
                                          </p:stCondLst>
                                        </p:cTn>
                                        <p:tgtEl>
                                          <p:spTgt spid="10"/>
                                        </p:tgtEl>
                                        <p:attrNameLst>
                                          <p:attrName>style.visibility</p:attrName>
                                        </p:attrNameLst>
                                      </p:cBhvr>
                                      <p:to>
                                        <p:strVal val="visible"/>
                                      </p:to>
                                    </p:set>
                                    <p:anim to="" calcmode="lin" valueType="num">
                                      <p:cBhvr>
                                        <p:cTn id="87" dur="1" fill="hold"/>
                                        <p:tgtEl>
                                          <p:spTgt spid="10"/>
                                        </p:tgtEl>
                                      </p:cBhvr>
                                    </p:anim>
                                  </p:childTnLst>
                                </p:cTn>
                              </p:par>
                              <p:par>
                                <p:cTn id="88" presetID="24" presetClass="entr" presetSubtype="0" fill="hold" nodeType="withEffect">
                                  <p:stCondLst>
                                    <p:cond delay="0"/>
                                  </p:stCondLst>
                                  <p:childTnLst>
                                    <p:set>
                                      <p:cBhvr>
                                        <p:cTn id="89" dur="1" fill="hold">
                                          <p:stCondLst>
                                            <p:cond delay="0"/>
                                          </p:stCondLst>
                                        </p:cTn>
                                        <p:tgtEl>
                                          <p:spTgt spid="9"/>
                                        </p:tgtEl>
                                        <p:attrNameLst>
                                          <p:attrName>style.visibility</p:attrName>
                                        </p:attrNameLst>
                                      </p:cBhvr>
                                      <p:to>
                                        <p:strVal val="visible"/>
                                      </p:to>
                                    </p:set>
                                    <p:anim to="" calcmode="lin" valueType="num">
                                      <p:cBhvr>
                                        <p:cTn id="90"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五、重构</a:t>
            </a:r>
            <a:r>
              <a:rPr lang="en-US" altLang="zh-CN" dirty="0" smtClean="0">
                <a:sym typeface="+mn-ea"/>
              </a:rPr>
              <a:t>——高Npath复杂度的</a:t>
            </a:r>
            <a:r>
              <a:rPr lang="zh-CN" altLang="en-US" dirty="0" smtClean="0">
                <a:sym typeface="+mn-ea"/>
              </a:rPr>
              <a:t>重构</a:t>
            </a:r>
            <a:r>
              <a:rPr lang="zh-CN" altLang="en-US" dirty="0" smtClean="0">
                <a:sym typeface="+mn-ea"/>
              </a:rPr>
              <a:t>示例</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pic>
        <p:nvPicPr>
          <p:cNvPr id="7" name="图片 6" descr="Snip20181206_1"/>
          <p:cNvPicPr>
            <a:picLocks noChangeAspect="1"/>
          </p:cNvPicPr>
          <p:nvPr/>
        </p:nvPicPr>
        <p:blipFill>
          <a:blip r:embed="rId1"/>
          <a:stretch>
            <a:fillRect/>
          </a:stretch>
        </p:blipFill>
        <p:spPr>
          <a:xfrm>
            <a:off x="1736090" y="676910"/>
            <a:ext cx="6071235" cy="4351655"/>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五、重构</a:t>
            </a:r>
            <a:r>
              <a:rPr lang="en-US" altLang="zh-CN" dirty="0" smtClean="0">
                <a:sym typeface="+mn-ea"/>
              </a:rPr>
              <a:t>——</a:t>
            </a:r>
            <a:r>
              <a:rPr lang="zh-CN" altLang="en-US" dirty="0" smtClean="0">
                <a:sym typeface="+mn-ea"/>
              </a:rPr>
              <a:t>重构之后的代码</a:t>
            </a:r>
            <a:r>
              <a:rPr lang="zh-CN" altLang="en-US" dirty="0" smtClean="0">
                <a:sym typeface="+mn-ea"/>
              </a:rPr>
              <a:t>示例</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pic>
        <p:nvPicPr>
          <p:cNvPr id="3" name="图片 2" descr="Snip20181206_2"/>
          <p:cNvPicPr>
            <a:picLocks noChangeAspect="1"/>
          </p:cNvPicPr>
          <p:nvPr/>
        </p:nvPicPr>
        <p:blipFill>
          <a:blip r:embed="rId1"/>
          <a:stretch>
            <a:fillRect/>
          </a:stretch>
        </p:blipFill>
        <p:spPr>
          <a:xfrm>
            <a:off x="318135" y="1703070"/>
            <a:ext cx="8542655" cy="176276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五、重构</a:t>
            </a:r>
            <a:r>
              <a:rPr lang="en-US" altLang="zh-CN" dirty="0" smtClean="0">
                <a:sym typeface="+mn-ea"/>
              </a:rPr>
              <a:t>——</a:t>
            </a:r>
            <a:r>
              <a:rPr lang="zh-CN" altLang="en-US" dirty="0" smtClean="0">
                <a:sym typeface="+mn-ea"/>
              </a:rPr>
              <a:t>重构之后的代码示例</a:t>
            </a:r>
            <a:endParaRPr lang="zh-CN" altLang="en-US" dirty="0" smtClean="0">
              <a:sym typeface="+mn-ea"/>
            </a:endParaRPr>
          </a:p>
        </p:txBody>
      </p:sp>
      <p:sp>
        <p:nvSpPr>
          <p:cNvPr id="4" name="日期占位符 3"/>
          <p:cNvSpPr>
            <a:spLocks noGrp="1"/>
          </p:cNvSpPr>
          <p:nvPr>
            <p:ph type="dt" sz="half" idx="10"/>
          </p:nvPr>
        </p:nvSpPr>
        <p:spPr/>
        <p:txBody>
          <a:bodyPr/>
          <a:p>
            <a:fld id="{E367A7DA-86D1-420F-A51D-4AFD9CBED3AA}" type="datetime1">
              <a:rPr lang="zh-CN" altLang="en-US" smtClean="0"/>
            </a:fld>
            <a:endParaRPr lang="zh-CN" altLang="en-US" dirty="0"/>
          </a:p>
        </p:txBody>
      </p:sp>
      <p:sp>
        <p:nvSpPr>
          <p:cNvPr id="5" name="灯片编号占位符 4"/>
          <p:cNvSpPr>
            <a:spLocks noGrp="1"/>
          </p:cNvSpPr>
          <p:nvPr>
            <p:ph type="sldNum" sz="quarter" idx="12"/>
          </p:nvPr>
        </p:nvSpPr>
        <p:spPr/>
        <p:txBody>
          <a:bodyPr/>
          <a:p>
            <a:fld id="{68A76D54-3549-4889-A063-7624046C7348}" type="slidenum">
              <a:rPr lang="zh-CN" altLang="en-US" smtClean="0"/>
            </a:fld>
            <a:endParaRPr lang="zh-CN" altLang="en-US" dirty="0"/>
          </a:p>
        </p:txBody>
      </p:sp>
      <p:pic>
        <p:nvPicPr>
          <p:cNvPr id="6" name="图片 5" descr="Snip20181206_4"/>
          <p:cNvPicPr>
            <a:picLocks noChangeAspect="1"/>
          </p:cNvPicPr>
          <p:nvPr/>
        </p:nvPicPr>
        <p:blipFill>
          <a:blip r:embed="rId1"/>
          <a:stretch>
            <a:fillRect/>
          </a:stretch>
        </p:blipFill>
        <p:spPr>
          <a:xfrm>
            <a:off x="1795145" y="682625"/>
            <a:ext cx="6186805" cy="434340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latin typeface="微软雅黑" panose="020B0503020204020204" pitchFamily="34" charset="-122"/>
                <a:ea typeface="微软雅黑" panose="020B0503020204020204" pitchFamily="34" charset="-122"/>
              </a:rPr>
              <a:t>谢 谢</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20160819-吴惟刚-前后端分离分析">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20160819-吴惟刚-前后端分离分析</Template>
  <TotalTime>0</TotalTime>
  <Words>7774</Words>
  <Application>WPS 演示</Application>
  <PresentationFormat>全屏显示(16:9)</PresentationFormat>
  <Paragraphs>458</Paragraphs>
  <Slides>33</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33</vt:i4>
      </vt:variant>
    </vt:vector>
  </HeadingPairs>
  <TitlesOfParts>
    <vt:vector size="50" baseType="lpstr">
      <vt:lpstr>Arial</vt:lpstr>
      <vt:lpstr>方正书宋_GBK</vt:lpstr>
      <vt:lpstr>Wingdings</vt:lpstr>
      <vt:lpstr>微软雅黑</vt:lpstr>
      <vt:lpstr>Exo</vt:lpstr>
      <vt:lpstr>宋体</vt:lpstr>
      <vt:lpstr>Arial Black</vt:lpstr>
      <vt:lpstr>黑体</vt:lpstr>
      <vt:lpstr>Wingdings</vt:lpstr>
      <vt:lpstr>苹方-简</vt:lpstr>
      <vt:lpstr>宋体</vt:lpstr>
      <vt:lpstr>Arial Unicode MS</vt:lpstr>
      <vt:lpstr>宋体-简</vt:lpstr>
      <vt:lpstr>Calibri</vt:lpstr>
      <vt:lpstr>Helvetica Neue</vt:lpstr>
      <vt:lpstr>黑体-简</vt:lpstr>
      <vt:lpstr>20160819-吴惟刚-前后端分离分析</vt:lpstr>
      <vt:lpstr>PowerPoint 演示文稿</vt:lpstr>
      <vt:lpstr>PowerPoint 演示文稿</vt:lpstr>
      <vt:lpstr>一、为什么需要软件设计</vt:lpstr>
      <vt:lpstr>二、通用设计原则-KISS</vt:lpstr>
      <vt:lpstr>二、通用设计原则-KISS</vt:lpstr>
      <vt:lpstr>二、通用设计原则-DRY</vt:lpstr>
      <vt:lpstr>二、通用设计原则-DRY</vt:lpstr>
      <vt:lpstr>二、通用设计原则-2MC</vt:lpstr>
      <vt:lpstr>二、通用设计原则-SOC</vt:lpstr>
      <vt:lpstr>二、通用设计原则-SOC</vt:lpstr>
      <vt:lpstr>二、通用设计原则-YAGNI</vt:lpstr>
      <vt:lpstr>二、通用设计原则-YAGNI</vt:lpstr>
      <vt:lpstr>二、通用设计原则-Boy-Scout Rule</vt:lpstr>
      <vt:lpstr>二、通用设计原则-Boy-Scout Rule</vt:lpstr>
      <vt:lpstr>二、通用设计原则-Boy-Scout Rule</vt:lpstr>
      <vt:lpstr>二、通用设计原则-其它原则</vt:lpstr>
      <vt:lpstr>三、面向对象设计原则-SRP</vt:lpstr>
      <vt:lpstr>三、面向对象设计原则-LSP</vt:lpstr>
      <vt:lpstr>三、面向对象设计原则-ISP</vt:lpstr>
      <vt:lpstr>三、面向对象设计原则-ISP</vt:lpstr>
      <vt:lpstr>三、面向对象设计原则-OCP</vt:lpstr>
      <vt:lpstr>三、面向对象设计原则-DIP</vt:lpstr>
      <vt:lpstr>三、面向对象设计原则-DIP</vt:lpstr>
      <vt:lpstr>三、面向对象设计原则-LOD | LKP</vt:lpstr>
      <vt:lpstr>三、面向对象设计原则-C/ARP</vt:lpstr>
      <vt:lpstr>三、面向对象设计原则-DIP</vt:lpstr>
      <vt:lpstr>五、重构</vt:lpstr>
      <vt:lpstr>四、设计模式简介</vt:lpstr>
      <vt:lpstr>五、重构——重构的理解</vt:lpstr>
      <vt:lpstr>五、重构——技巧</vt:lpstr>
      <vt:lpstr>五、重构——高Npath复杂度的重构示例</vt:lpstr>
      <vt:lpstr>五、重构——重构之后的代码示例</vt:lpstr>
      <vt:lpstr>谢 谢</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Windows 用户</dc:creator>
  <cp:lastModifiedBy>blinkfox</cp:lastModifiedBy>
  <cp:revision>390</cp:revision>
  <dcterms:created xsi:type="dcterms:W3CDTF">2018-12-06T15:55:11Z</dcterms:created>
  <dcterms:modified xsi:type="dcterms:W3CDTF">2018-12-06T15:55:11Z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2052-2.2.1.646</vt:lpwstr>
  </property>
</Properties>
</file>